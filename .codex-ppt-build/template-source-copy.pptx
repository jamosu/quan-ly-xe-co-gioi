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67" r:id="rId4"/>
    <p:sldId id="281" r:id="rId5"/>
    <p:sldId id="269" r:id="rId6"/>
    <p:sldId id="271" r:id="rId7"/>
    <p:sldId id="279" r:id="rId8"/>
    <p:sldId id="272" r:id="rId9"/>
    <p:sldId id="284" r:id="rId10"/>
    <p:sldId id="285" r:id="rId11"/>
    <p:sldId id="274" r:id="rId12"/>
    <p:sldId id="261" r:id="rId13"/>
    <p:sldId id="273" r:id="rId14"/>
    <p:sldId id="276" r:id="rId15"/>
    <p:sldId id="278" r:id="rId16"/>
    <p:sldId id="266"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829"/>
    <a:srgbClr val="69CA08"/>
    <a:srgbClr val="0B6F2A"/>
    <a:srgbClr val="444444"/>
    <a:srgbClr val="3C5C2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526"/>
    <p:restoredTop sz="94610"/>
  </p:normalViewPr>
  <p:slideViewPr>
    <p:cSldViewPr snapToGrid="0" snapToObjects="1">
      <p:cViewPr>
        <p:scale>
          <a:sx n="97" d="100"/>
          <a:sy n="97" d="100"/>
        </p:scale>
        <p:origin x="1136" y="7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946523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3EABAD-E44B-2501-ED93-2F7D2352D2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C944D8-D21E-2F9C-8ED8-095A22DF1B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2CE942-C62D-CFFA-FB80-16E17D32409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2C474AF-4E27-F6D0-ACE2-DF0747DD96CE}"/>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27748716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E43662-C80D-D9D4-E8E2-BD8E782238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C65C06-E746-C24F-677E-1E4F59BEFB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F6759A-254A-CBCE-6083-42044F14519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D3E7079-7D2E-65A4-A077-E9728B5DE41D}"/>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4816846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85" y="0"/>
            <a:ext cx="12189630" cy="6858000"/>
          </a:xfrm>
          <a:prstGeom prst="rect">
            <a:avLst/>
          </a:prstGeom>
        </p:spPr>
      </p:pic>
      <p:sp>
        <p:nvSpPr>
          <p:cNvPr id="5" name="Title 4">
            <a:extLst>
              <a:ext uri="{FF2B5EF4-FFF2-40B4-BE49-F238E27FC236}">
                <a16:creationId xmlns:a16="http://schemas.microsoft.com/office/drawing/2014/main" id="{F18D8631-A97C-F3DC-31A8-9BCA136F6078}"/>
              </a:ext>
            </a:extLst>
          </p:cNvPr>
          <p:cNvSpPr>
            <a:spLocks noGrp="1"/>
          </p:cNvSpPr>
          <p:nvPr>
            <p:ph type="title"/>
          </p:nvPr>
        </p:nvSpPr>
        <p:spPr>
          <a:xfrm>
            <a:off x="2295524" y="0"/>
            <a:ext cx="9896475" cy="752475"/>
          </a:xfrm>
        </p:spPr>
        <p:txBody>
          <a:bodyPr>
            <a:normAutofit/>
          </a:bodyPr>
          <a:lstStyle>
            <a:lvl1pPr algn="ctr">
              <a:lnSpc>
                <a:spcPct val="100000"/>
              </a:lnSpc>
              <a:defRPr sz="2000" b="1">
                <a:solidFill>
                  <a:srgbClr val="39853F"/>
                </a:solidFill>
              </a:defRPr>
            </a:lvl1pPr>
          </a:lstStyle>
          <a:p>
            <a:endParaRPr lang="en-US"/>
          </a:p>
        </p:txBody>
      </p:sp>
    </p:spTree>
    <p:extLst>
      <p:ext uri="{BB962C8B-B14F-4D97-AF65-F5344CB8AC3E}">
        <p14:creationId xmlns:p14="http://schemas.microsoft.com/office/powerpoint/2010/main" val="8599089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home/claude/work/assets/bg_cover.jpeg"/>
          <p:cNvPicPr>
            <a:picLocks noChangeAspect="1"/>
          </p:cNvPicPr>
          <p:nvPr/>
        </p:nvPicPr>
        <p:blipFill>
          <a:blip r:embed="rId3"/>
          <a:stretch>
            <a:fillRect/>
          </a:stretch>
        </p:blipFill>
        <p:spPr>
          <a:xfrm>
            <a:off x="-83975" y="0"/>
            <a:ext cx="12191695" cy="6858000"/>
          </a:xfrm>
          <a:prstGeom prst="rect">
            <a:avLst/>
          </a:prstGeom>
        </p:spPr>
      </p:pic>
      <p:sp>
        <p:nvSpPr>
          <p:cNvPr id="3" name="Text 0"/>
          <p:cNvSpPr/>
          <p:nvPr/>
        </p:nvSpPr>
        <p:spPr>
          <a:xfrm>
            <a:off x="0" y="1828800"/>
            <a:ext cx="12191695" cy="457200"/>
          </a:xfrm>
          <a:prstGeom prst="rect">
            <a:avLst/>
          </a:prstGeom>
          <a:noFill/>
          <a:ln/>
        </p:spPr>
        <p:txBody>
          <a:bodyPr wrap="square" lIns="0" tIns="0" rIns="0" bIns="0" rtlCol="0" anchor="ctr"/>
          <a:lstStyle/>
          <a:p>
            <a:pPr marL="0" indent="0" algn="ctr">
              <a:buNone/>
            </a:pPr>
            <a:r>
              <a:rPr lang="en-US" sz="1600" b="1" dirty="0">
                <a:solidFill>
                  <a:srgbClr val="00682B"/>
                </a:solidFill>
                <a:latin typeface="Cambria" pitchFamily="34" charset="0"/>
                <a:ea typeface="Cambria" pitchFamily="34" charset="-122"/>
                <a:cs typeface="Cambria" pitchFamily="34" charset="-120"/>
              </a:rPr>
              <a:t>TÀI LIỆU GIỚI THIỆU</a:t>
            </a:r>
            <a:endParaRPr lang="en-US" sz="1600" dirty="0"/>
          </a:p>
        </p:txBody>
      </p:sp>
      <p:sp>
        <p:nvSpPr>
          <p:cNvPr id="4" name="Text 1"/>
          <p:cNvSpPr/>
          <p:nvPr/>
        </p:nvSpPr>
        <p:spPr>
          <a:xfrm>
            <a:off x="640080" y="2286000"/>
            <a:ext cx="10911535" cy="1005840"/>
          </a:xfrm>
          <a:prstGeom prst="rect">
            <a:avLst/>
          </a:prstGeom>
          <a:noFill/>
          <a:ln/>
        </p:spPr>
        <p:txBody>
          <a:bodyPr wrap="square" lIns="0" tIns="0" rIns="0" bIns="0" rtlCol="0" anchor="ctr"/>
          <a:lstStyle/>
          <a:p>
            <a:pPr marL="0" indent="0" algn="ctr">
              <a:buNone/>
            </a:pPr>
            <a:r>
              <a:rPr lang="en-US" sz="3200" b="1" dirty="0">
                <a:solidFill>
                  <a:srgbClr val="FF0000"/>
                </a:solidFill>
                <a:latin typeface="Cambria" pitchFamily="34" charset="0"/>
                <a:ea typeface="Cambria" pitchFamily="34" charset="-122"/>
                <a:cs typeface="Cambria" pitchFamily="34" charset="-120"/>
              </a:rPr>
              <a:t>PHẦN MỀM QUẢN LÝ XE CÔNG VỤ (VMS)</a:t>
            </a:r>
            <a:endParaRPr lang="en-US" sz="3200" dirty="0">
              <a:solidFill>
                <a:srgbClr val="FF0000"/>
              </a:solidFill>
            </a:endParaRPr>
          </a:p>
        </p:txBody>
      </p:sp>
      <p:sp>
        <p:nvSpPr>
          <p:cNvPr id="5" name="Text 2"/>
          <p:cNvSpPr/>
          <p:nvPr/>
        </p:nvSpPr>
        <p:spPr>
          <a:xfrm>
            <a:off x="0" y="3246120"/>
            <a:ext cx="12191695" cy="457200"/>
          </a:xfrm>
          <a:prstGeom prst="rect">
            <a:avLst/>
          </a:prstGeom>
          <a:noFill/>
          <a:ln/>
        </p:spPr>
        <p:txBody>
          <a:bodyPr wrap="square" lIns="0" tIns="0" rIns="0" bIns="0" rtlCol="0" anchor="ctr"/>
          <a:lstStyle/>
          <a:p>
            <a:pPr marL="0" indent="0" algn="ctr">
              <a:buNone/>
            </a:pPr>
            <a:r>
              <a:rPr lang="en-US" sz="1700" i="1" dirty="0">
                <a:solidFill>
                  <a:srgbClr val="444444"/>
                </a:solidFill>
                <a:latin typeface="Cambria" pitchFamily="34" charset="0"/>
                <a:ea typeface="Cambria" pitchFamily="34" charset="-122"/>
                <a:cs typeface="Cambria" pitchFamily="34" charset="-120"/>
              </a:rPr>
              <a:t>Vehicle Management System</a:t>
            </a:r>
            <a:endParaRPr lang="en-US" sz="1700" dirty="0"/>
          </a:p>
        </p:txBody>
      </p:sp>
      <p:sp>
        <p:nvSpPr>
          <p:cNvPr id="6" name="Text 3"/>
          <p:cNvSpPr/>
          <p:nvPr/>
        </p:nvSpPr>
        <p:spPr>
          <a:xfrm>
            <a:off x="0" y="5594635"/>
            <a:ext cx="12191695" cy="640080"/>
          </a:xfrm>
          <a:prstGeom prst="rect">
            <a:avLst/>
          </a:prstGeom>
          <a:noFill/>
          <a:ln/>
        </p:spPr>
        <p:txBody>
          <a:bodyPr wrap="square" lIns="0" tIns="0" rIns="0" bIns="0" rtlCol="0" anchor="ctr"/>
          <a:lstStyle/>
          <a:p>
            <a:pPr marL="0" indent="0" algn="ctr">
              <a:lnSpc>
                <a:spcPct val="130000"/>
              </a:lnSpc>
              <a:buNone/>
            </a:pPr>
            <a:r>
              <a:rPr lang="en-US" b="1" dirty="0">
                <a:solidFill>
                  <a:srgbClr val="00682B"/>
                </a:solidFill>
                <a:latin typeface="Cambria" pitchFamily="34" charset="0"/>
                <a:ea typeface="Cambria" pitchFamily="34" charset="-122"/>
                <a:cs typeface="Cambria" pitchFamily="34" charset="-120"/>
              </a:rPr>
              <a:t>PHÒNG VẬN HÀNH SỐ </a:t>
            </a:r>
            <a:endParaRPr lang="en-US" dirty="0"/>
          </a:p>
          <a:p>
            <a:pPr marL="0" indent="0" algn="ctr">
              <a:lnSpc>
                <a:spcPct val="130000"/>
              </a:lnSpc>
              <a:buNone/>
            </a:pPr>
            <a:r>
              <a:rPr lang="en-US" sz="1400" b="1" dirty="0">
                <a:solidFill>
                  <a:srgbClr val="00682B"/>
                </a:solidFill>
                <a:latin typeface="Cambria" pitchFamily="34" charset="0"/>
                <a:ea typeface="Cambria" pitchFamily="34" charset="-122"/>
                <a:cs typeface="Cambria" pitchFamily="34" charset="-120"/>
              </a:rPr>
              <a:t>KLH Koun mom, Ratanakiri, Cambodia / 08.2026</a:t>
            </a:r>
            <a:endParaRPr lang="en-US" sz="1400" dirty="0"/>
          </a:p>
        </p:txBody>
      </p:sp>
      <p:sp>
        <p:nvSpPr>
          <p:cNvPr id="7" name="Text 4"/>
          <p:cNvSpPr/>
          <p:nvPr/>
        </p:nvSpPr>
        <p:spPr>
          <a:xfrm>
            <a:off x="0" y="5943600"/>
            <a:ext cx="12191695" cy="365760"/>
          </a:xfrm>
          <a:prstGeom prst="rect">
            <a:avLst/>
          </a:prstGeom>
          <a:noFill/>
          <a:ln/>
        </p:spPr>
        <p:txBody>
          <a:bodyPr wrap="square" lIns="0" tIns="0" rIns="0" bIns="0" rtlCol="0" anchor="ctr"/>
          <a:lstStyle/>
          <a:p>
            <a:pPr marL="0" indent="0" algn="ctr">
              <a:buNone/>
            </a:pPr>
            <a:endParaRPr lang="en-US" sz="1100" dirty="0"/>
          </a:p>
        </p:txBody>
      </p:sp>
      <p:sp>
        <p:nvSpPr>
          <p:cNvPr id="9" name="Text 0">
            <a:extLst>
              <a:ext uri="{FF2B5EF4-FFF2-40B4-BE49-F238E27FC236}">
                <a16:creationId xmlns:a16="http://schemas.microsoft.com/office/drawing/2014/main" id="{1790A522-F9C5-F90B-5F99-66254CAF67D2}"/>
              </a:ext>
            </a:extLst>
          </p:cNvPr>
          <p:cNvSpPr/>
          <p:nvPr/>
        </p:nvSpPr>
        <p:spPr>
          <a:xfrm>
            <a:off x="289249" y="3886200"/>
            <a:ext cx="12191695" cy="457200"/>
          </a:xfrm>
          <a:prstGeom prst="rect">
            <a:avLst/>
          </a:prstGeom>
          <a:noFill/>
          <a:ln/>
        </p:spPr>
        <p:txBody>
          <a:bodyPr wrap="square" lIns="0" tIns="0" rIns="0" bIns="0" rtlCol="0" anchor="ctr"/>
          <a:lstStyle/>
          <a:p>
            <a:pPr marL="0" indent="0" algn="ctr">
              <a:buNone/>
            </a:pPr>
            <a:r>
              <a:rPr lang="en-US" sz="1600" b="1" dirty="0" err="1">
                <a:solidFill>
                  <a:srgbClr val="00682B"/>
                </a:solidFill>
                <a:latin typeface="Cambria" pitchFamily="34" charset="0"/>
                <a:ea typeface="Cambria" pitchFamily="34" charset="-122"/>
                <a:cs typeface="Cambria" pitchFamily="34" charset="-120"/>
              </a:rPr>
              <a:t>Trình</a:t>
            </a:r>
            <a:r>
              <a:rPr lang="en-US" sz="1600" b="1" dirty="0">
                <a:solidFill>
                  <a:srgbClr val="00682B"/>
                </a:solidFill>
                <a:latin typeface="Cambria" pitchFamily="34" charset="0"/>
                <a:ea typeface="Cambria" pitchFamily="34" charset="-122"/>
                <a:cs typeface="Cambria" pitchFamily="34" charset="-120"/>
              </a:rPr>
              <a:t> </a:t>
            </a:r>
            <a:r>
              <a:rPr lang="en-US" sz="1600" b="1" dirty="0" err="1">
                <a:solidFill>
                  <a:srgbClr val="00682B"/>
                </a:solidFill>
                <a:latin typeface="Cambria" pitchFamily="34" charset="0"/>
                <a:ea typeface="Cambria" pitchFamily="34" charset="-122"/>
                <a:cs typeface="Cambria" pitchFamily="34" charset="-120"/>
              </a:rPr>
              <a:t>bày</a:t>
            </a:r>
            <a:r>
              <a:rPr lang="en-US" sz="1600" b="1" dirty="0">
                <a:solidFill>
                  <a:srgbClr val="00682B"/>
                </a:solidFill>
                <a:latin typeface="Cambria" pitchFamily="34" charset="0"/>
                <a:ea typeface="Cambria" pitchFamily="34" charset="-122"/>
                <a:cs typeface="Cambria" pitchFamily="34" charset="-120"/>
              </a:rPr>
              <a:t>: Phan Văn </a:t>
            </a:r>
            <a:r>
              <a:rPr lang="en-US" sz="1600" b="1" dirty="0" err="1">
                <a:solidFill>
                  <a:srgbClr val="00682B"/>
                </a:solidFill>
                <a:latin typeface="Cambria" pitchFamily="34" charset="0"/>
                <a:ea typeface="Cambria" pitchFamily="34" charset="-122"/>
                <a:cs typeface="Cambria" pitchFamily="34" charset="-120"/>
              </a:rPr>
              <a:t>Bình</a:t>
            </a:r>
            <a:r>
              <a:rPr lang="en-US" sz="1600" b="1" dirty="0">
                <a:solidFill>
                  <a:srgbClr val="00682B"/>
                </a:solidFill>
                <a:latin typeface="Cambria" pitchFamily="34" charset="0"/>
                <a:ea typeface="Cambria" pitchFamily="34" charset="-122"/>
                <a:cs typeface="Cambria" pitchFamily="34" charset="-120"/>
              </a:rPr>
              <a:t> – Chuyên </a:t>
            </a:r>
            <a:r>
              <a:rPr lang="en-US" sz="1600" b="1" dirty="0" err="1">
                <a:solidFill>
                  <a:srgbClr val="00682B"/>
                </a:solidFill>
                <a:latin typeface="Cambria" pitchFamily="34" charset="0"/>
                <a:ea typeface="Cambria" pitchFamily="34" charset="-122"/>
                <a:cs typeface="Cambria" pitchFamily="34" charset="-120"/>
              </a:rPr>
              <a:t>viên</a:t>
            </a:r>
            <a:r>
              <a:rPr lang="en-US" sz="1600" b="1" dirty="0">
                <a:solidFill>
                  <a:srgbClr val="00682B"/>
                </a:solidFill>
                <a:latin typeface="Cambria" pitchFamily="34" charset="0"/>
                <a:ea typeface="Cambria" pitchFamily="34" charset="-122"/>
                <a:cs typeface="Cambria" pitchFamily="34" charset="-120"/>
              </a:rPr>
              <a:t> </a:t>
            </a:r>
            <a:r>
              <a:rPr lang="en-US" sz="1600" b="1" dirty="0" err="1">
                <a:solidFill>
                  <a:srgbClr val="00682B"/>
                </a:solidFill>
                <a:latin typeface="Cambria" pitchFamily="34" charset="0"/>
                <a:ea typeface="Cambria" pitchFamily="34" charset="-122"/>
                <a:cs typeface="Cambria" pitchFamily="34" charset="-120"/>
              </a:rPr>
              <a:t>triển</a:t>
            </a:r>
            <a:r>
              <a:rPr lang="en-US" sz="1600" b="1" dirty="0">
                <a:solidFill>
                  <a:srgbClr val="00682B"/>
                </a:solidFill>
                <a:latin typeface="Cambria" pitchFamily="34" charset="0"/>
                <a:ea typeface="Cambria" pitchFamily="34" charset="-122"/>
                <a:cs typeface="Cambria" pitchFamily="34" charset="-120"/>
              </a:rPr>
              <a:t> </a:t>
            </a:r>
            <a:r>
              <a:rPr lang="en-US" sz="1600" b="1" dirty="0" err="1">
                <a:solidFill>
                  <a:srgbClr val="00682B"/>
                </a:solidFill>
                <a:latin typeface="Cambria" pitchFamily="34" charset="0"/>
                <a:ea typeface="Cambria" pitchFamily="34" charset="-122"/>
                <a:cs typeface="Cambria" pitchFamily="34" charset="-120"/>
              </a:rPr>
              <a:t>khai</a:t>
            </a:r>
            <a:r>
              <a:rPr lang="en-US" sz="1600" b="1" dirty="0">
                <a:solidFill>
                  <a:srgbClr val="00682B"/>
                </a:solidFill>
                <a:latin typeface="Cambria" pitchFamily="34" charset="0"/>
                <a:ea typeface="Cambria" pitchFamily="34" charset="-122"/>
                <a:cs typeface="Cambria" pitchFamily="34" charset="-120"/>
              </a:rPr>
              <a:t>, </a:t>
            </a:r>
            <a:r>
              <a:rPr lang="en-US" sz="1600" b="1" dirty="0" err="1">
                <a:solidFill>
                  <a:srgbClr val="00682B"/>
                </a:solidFill>
                <a:latin typeface="Cambria" pitchFamily="34" charset="0"/>
                <a:ea typeface="Cambria" pitchFamily="34" charset="-122"/>
                <a:cs typeface="Cambria" pitchFamily="34" charset="-120"/>
              </a:rPr>
              <a:t>vận</a:t>
            </a:r>
            <a:r>
              <a:rPr lang="en-US" sz="1600" b="1" dirty="0">
                <a:solidFill>
                  <a:srgbClr val="00682B"/>
                </a:solidFill>
                <a:latin typeface="Cambria" pitchFamily="34" charset="0"/>
                <a:ea typeface="Cambria" pitchFamily="34" charset="-122"/>
                <a:cs typeface="Cambria" pitchFamily="34" charset="-120"/>
              </a:rPr>
              <a:t> </a:t>
            </a:r>
            <a:r>
              <a:rPr lang="en-US" sz="1600" b="1" dirty="0" err="1">
                <a:solidFill>
                  <a:srgbClr val="00682B"/>
                </a:solidFill>
                <a:latin typeface="Cambria" pitchFamily="34" charset="0"/>
                <a:ea typeface="Cambria" pitchFamily="34" charset="-122"/>
                <a:cs typeface="Cambria" pitchFamily="34" charset="-120"/>
              </a:rPr>
              <a:t>hành</a:t>
            </a:r>
            <a:r>
              <a:rPr lang="en-US" sz="1600" b="1" dirty="0">
                <a:solidFill>
                  <a:srgbClr val="00682B"/>
                </a:solidFill>
                <a:latin typeface="Cambria" pitchFamily="34" charset="0"/>
                <a:ea typeface="Cambria" pitchFamily="34" charset="-122"/>
                <a:cs typeface="Cambria" pitchFamily="34" charset="-120"/>
              </a:rPr>
              <a:t> </a:t>
            </a:r>
            <a:r>
              <a:rPr lang="en-US" sz="1600" b="1" dirty="0" err="1">
                <a:solidFill>
                  <a:srgbClr val="00682B"/>
                </a:solidFill>
                <a:latin typeface="Cambria" pitchFamily="34" charset="0"/>
                <a:ea typeface="Cambria" pitchFamily="34" charset="-122"/>
                <a:cs typeface="Cambria" pitchFamily="34" charset="-120"/>
              </a:rPr>
              <a:t>phần</a:t>
            </a:r>
            <a:r>
              <a:rPr lang="en-US" sz="1600" b="1" dirty="0">
                <a:solidFill>
                  <a:srgbClr val="00682B"/>
                </a:solidFill>
                <a:latin typeface="Cambria" pitchFamily="34" charset="0"/>
                <a:ea typeface="Cambria" pitchFamily="34" charset="-122"/>
                <a:cs typeface="Cambria" pitchFamily="34" charset="-120"/>
              </a:rPr>
              <a:t> </a:t>
            </a:r>
            <a:r>
              <a:rPr lang="en-US" sz="1600" b="1" dirty="0" err="1">
                <a:solidFill>
                  <a:srgbClr val="00682B"/>
                </a:solidFill>
                <a:latin typeface="Cambria" pitchFamily="34" charset="0"/>
                <a:ea typeface="Cambria" pitchFamily="34" charset="-122"/>
                <a:cs typeface="Cambria" pitchFamily="34" charset="-120"/>
              </a:rPr>
              <a:t>mềm</a:t>
            </a:r>
            <a:r>
              <a:rPr lang="en-US" sz="1600" b="1" dirty="0">
                <a:solidFill>
                  <a:srgbClr val="00682B"/>
                </a:solidFill>
                <a:latin typeface="Cambria" pitchFamily="34" charset="0"/>
                <a:ea typeface="Cambria" pitchFamily="34" charset="-122"/>
                <a:cs typeface="Cambria" pitchFamily="34" charset="-120"/>
              </a:rPr>
              <a:t> </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home/claude/work/assets/bg_content.jpe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998533" y="91440"/>
            <a:ext cx="11612880" cy="594360"/>
          </a:xfrm>
          <a:prstGeom prst="rect">
            <a:avLst/>
          </a:prstGeom>
          <a:noFill/>
          <a:ln/>
        </p:spPr>
        <p:txBody>
          <a:bodyPr wrap="square" lIns="0" tIns="0" rIns="0" bIns="0" rtlCol="0" anchor="ctr"/>
          <a:lstStyle/>
          <a:p>
            <a:pPr marL="0" indent="0" algn="ctr">
              <a:buNone/>
            </a:pPr>
            <a:r>
              <a:rPr lang="en-US" sz="1900" b="1" dirty="0">
                <a:solidFill>
                  <a:srgbClr val="FF0000"/>
                </a:solidFill>
                <a:latin typeface="Cambria" pitchFamily="34" charset="0"/>
                <a:ea typeface="Cambria" pitchFamily="34" charset="-122"/>
                <a:cs typeface="Cambria" pitchFamily="34" charset="-120"/>
              </a:rPr>
              <a:t>NỘI DUNG GIỚI THIỆU</a:t>
            </a:r>
            <a:endParaRPr lang="en-US" sz="1900" dirty="0"/>
          </a:p>
        </p:txBody>
      </p:sp>
      <p:sp>
        <p:nvSpPr>
          <p:cNvPr id="4" name="Shape 1"/>
          <p:cNvSpPr/>
          <p:nvPr/>
        </p:nvSpPr>
        <p:spPr>
          <a:xfrm>
            <a:off x="457200" y="1051560"/>
            <a:ext cx="672440" cy="372054"/>
          </a:xfrm>
          <a:prstGeom prst="rect">
            <a:avLst/>
          </a:prstGeom>
          <a:solidFill>
            <a:srgbClr val="00682B"/>
          </a:solidFill>
          <a:ln w="12700">
            <a:solidFill>
              <a:srgbClr val="00682B"/>
            </a:solidFill>
            <a:prstDash val="solid"/>
          </a:ln>
        </p:spPr>
        <p:txBody>
          <a:bodyPr/>
          <a:lstStyle/>
          <a:p>
            <a:endParaRPr lang="en-US"/>
          </a:p>
        </p:txBody>
      </p:sp>
      <p:sp>
        <p:nvSpPr>
          <p:cNvPr id="5" name="Text 2"/>
          <p:cNvSpPr/>
          <p:nvPr/>
        </p:nvSpPr>
        <p:spPr>
          <a:xfrm>
            <a:off x="457200" y="1051560"/>
            <a:ext cx="672440" cy="372054"/>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01</a:t>
            </a:r>
            <a:endParaRPr lang="en-US" sz="2000" dirty="0"/>
          </a:p>
        </p:txBody>
      </p:sp>
      <p:sp>
        <p:nvSpPr>
          <p:cNvPr id="6" name="Shape 3"/>
          <p:cNvSpPr/>
          <p:nvPr/>
        </p:nvSpPr>
        <p:spPr>
          <a:xfrm>
            <a:off x="1234440" y="1051560"/>
            <a:ext cx="9952116" cy="372054"/>
          </a:xfrm>
          <a:prstGeom prst="rect">
            <a:avLst/>
          </a:prstGeom>
          <a:solidFill>
            <a:srgbClr val="FAFAFA"/>
          </a:solidFill>
          <a:ln w="12700">
            <a:solidFill>
              <a:srgbClr val="DDDDDD"/>
            </a:solidFill>
            <a:prstDash val="solid"/>
          </a:ln>
        </p:spPr>
        <p:txBody>
          <a:bodyPr/>
          <a:lstStyle/>
          <a:p>
            <a:endParaRPr lang="en-US" sz="1400">
              <a:solidFill>
                <a:srgbClr val="006829"/>
              </a:solidFill>
              <a:latin typeface="Cambria" panose="02040503050406030204" pitchFamily="18" charset="0"/>
            </a:endParaRPr>
          </a:p>
        </p:txBody>
      </p:sp>
      <p:sp>
        <p:nvSpPr>
          <p:cNvPr id="7" name="Text 4"/>
          <p:cNvSpPr/>
          <p:nvPr/>
        </p:nvSpPr>
        <p:spPr>
          <a:xfrm>
            <a:off x="1463040" y="1063435"/>
            <a:ext cx="9593481" cy="372054"/>
          </a:xfrm>
          <a:prstGeom prst="rect">
            <a:avLst/>
          </a:prstGeom>
          <a:noFill/>
          <a:ln/>
        </p:spPr>
        <p:txBody>
          <a:bodyPr wrap="square" lIns="0" tIns="0" rIns="0" bIns="0" rtlCol="0" anchor="ctr"/>
          <a:lstStyle/>
          <a:p>
            <a:r>
              <a:rPr lang="en-US" sz="1400" dirty="0">
                <a:solidFill>
                  <a:srgbClr val="006829"/>
                </a:solidFill>
                <a:latin typeface="Cambria" panose="02040503050406030204" pitchFamily="18" charset="0"/>
              </a:rPr>
              <a:t>KHÓ KHĂN KHI QUẢN LÝ XE CÔNG</a:t>
            </a:r>
          </a:p>
        </p:txBody>
      </p:sp>
      <p:sp>
        <p:nvSpPr>
          <p:cNvPr id="8" name="Shape 5"/>
          <p:cNvSpPr/>
          <p:nvPr/>
        </p:nvSpPr>
        <p:spPr>
          <a:xfrm>
            <a:off x="457200" y="1594203"/>
            <a:ext cx="672440" cy="372054"/>
          </a:xfrm>
          <a:prstGeom prst="rect">
            <a:avLst/>
          </a:prstGeom>
          <a:solidFill>
            <a:srgbClr val="01529C"/>
          </a:solidFill>
          <a:ln w="12700">
            <a:solidFill>
              <a:srgbClr val="01529C"/>
            </a:solidFill>
            <a:prstDash val="solid"/>
          </a:ln>
        </p:spPr>
        <p:txBody>
          <a:bodyPr/>
          <a:lstStyle/>
          <a:p>
            <a:endParaRPr lang="en-US"/>
          </a:p>
        </p:txBody>
      </p:sp>
      <p:sp>
        <p:nvSpPr>
          <p:cNvPr id="9" name="Text 6"/>
          <p:cNvSpPr/>
          <p:nvPr/>
        </p:nvSpPr>
        <p:spPr>
          <a:xfrm>
            <a:off x="457200" y="1594203"/>
            <a:ext cx="672440" cy="372054"/>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02</a:t>
            </a:r>
            <a:endParaRPr lang="en-US" sz="2000" dirty="0"/>
          </a:p>
        </p:txBody>
      </p:sp>
      <p:sp>
        <p:nvSpPr>
          <p:cNvPr id="10" name="Shape 7"/>
          <p:cNvSpPr/>
          <p:nvPr/>
        </p:nvSpPr>
        <p:spPr>
          <a:xfrm>
            <a:off x="1234440" y="1594203"/>
            <a:ext cx="9952116" cy="372054"/>
          </a:xfrm>
          <a:prstGeom prst="rect">
            <a:avLst/>
          </a:prstGeom>
          <a:solidFill>
            <a:srgbClr val="FAFAFA"/>
          </a:solidFill>
          <a:ln w="12700">
            <a:solidFill>
              <a:srgbClr val="DDDDDD"/>
            </a:solidFill>
            <a:prstDash val="solid"/>
          </a:ln>
        </p:spPr>
        <p:txBody>
          <a:bodyPr/>
          <a:lstStyle/>
          <a:p>
            <a:endParaRPr lang="en-US" sz="1400">
              <a:solidFill>
                <a:srgbClr val="006829"/>
              </a:solidFill>
              <a:latin typeface="Cambria" panose="02040503050406030204" pitchFamily="18" charset="0"/>
            </a:endParaRPr>
          </a:p>
        </p:txBody>
      </p:sp>
      <p:sp>
        <p:nvSpPr>
          <p:cNvPr id="11" name="Text 8"/>
          <p:cNvSpPr/>
          <p:nvPr/>
        </p:nvSpPr>
        <p:spPr>
          <a:xfrm>
            <a:off x="1463040" y="1594203"/>
            <a:ext cx="9593481" cy="372054"/>
          </a:xfrm>
          <a:prstGeom prst="rect">
            <a:avLst/>
          </a:prstGeom>
          <a:noFill/>
          <a:ln/>
        </p:spPr>
        <p:txBody>
          <a:bodyPr wrap="square" lIns="0" tIns="0" rIns="0" bIns="0" rtlCol="0" anchor="ctr"/>
          <a:lstStyle/>
          <a:p>
            <a:r>
              <a:rPr lang="en-US" sz="1400" dirty="0">
                <a:solidFill>
                  <a:srgbClr val="006829"/>
                </a:solidFill>
                <a:latin typeface="Cambria" panose="02040503050406030204" pitchFamily="18" charset="0"/>
              </a:rPr>
              <a:t>DANH SÁCH THUẬT NGỮ SỬ DỤNG TRONG PHẦN MỀM</a:t>
            </a:r>
          </a:p>
        </p:txBody>
      </p:sp>
      <p:sp>
        <p:nvSpPr>
          <p:cNvPr id="12" name="Shape 9"/>
          <p:cNvSpPr/>
          <p:nvPr/>
        </p:nvSpPr>
        <p:spPr>
          <a:xfrm>
            <a:off x="457200" y="2124971"/>
            <a:ext cx="672440" cy="372054"/>
          </a:xfrm>
          <a:prstGeom prst="rect">
            <a:avLst/>
          </a:prstGeom>
          <a:solidFill>
            <a:srgbClr val="00682B"/>
          </a:solidFill>
          <a:ln w="12700">
            <a:solidFill>
              <a:srgbClr val="00682B"/>
            </a:solidFill>
            <a:prstDash val="solid"/>
          </a:ln>
        </p:spPr>
        <p:txBody>
          <a:bodyPr/>
          <a:lstStyle/>
          <a:p>
            <a:endParaRPr lang="en-US"/>
          </a:p>
        </p:txBody>
      </p:sp>
      <p:sp>
        <p:nvSpPr>
          <p:cNvPr id="13" name="Text 10"/>
          <p:cNvSpPr/>
          <p:nvPr/>
        </p:nvSpPr>
        <p:spPr>
          <a:xfrm>
            <a:off x="457200" y="2124971"/>
            <a:ext cx="672440" cy="372054"/>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03</a:t>
            </a:r>
            <a:endParaRPr lang="en-US" sz="2000" dirty="0"/>
          </a:p>
        </p:txBody>
      </p:sp>
      <p:sp>
        <p:nvSpPr>
          <p:cNvPr id="14" name="Shape 11"/>
          <p:cNvSpPr/>
          <p:nvPr/>
        </p:nvSpPr>
        <p:spPr>
          <a:xfrm>
            <a:off x="1234440" y="2124971"/>
            <a:ext cx="9952116" cy="372054"/>
          </a:xfrm>
          <a:prstGeom prst="rect">
            <a:avLst/>
          </a:prstGeom>
          <a:solidFill>
            <a:srgbClr val="FAFAFA"/>
          </a:solidFill>
          <a:ln w="12700">
            <a:solidFill>
              <a:srgbClr val="DDDDDD"/>
            </a:solidFill>
            <a:prstDash val="solid"/>
          </a:ln>
        </p:spPr>
        <p:txBody>
          <a:bodyPr/>
          <a:lstStyle/>
          <a:p>
            <a:endParaRPr lang="en-US" sz="1400">
              <a:solidFill>
                <a:srgbClr val="006829"/>
              </a:solidFill>
              <a:latin typeface="Cambria" panose="02040503050406030204" pitchFamily="18" charset="0"/>
            </a:endParaRPr>
          </a:p>
        </p:txBody>
      </p:sp>
      <p:sp>
        <p:nvSpPr>
          <p:cNvPr id="15" name="Text 12"/>
          <p:cNvSpPr/>
          <p:nvPr/>
        </p:nvSpPr>
        <p:spPr>
          <a:xfrm>
            <a:off x="1463040" y="2124971"/>
            <a:ext cx="9593481" cy="372054"/>
          </a:xfrm>
          <a:prstGeom prst="rect">
            <a:avLst/>
          </a:prstGeom>
          <a:noFill/>
          <a:ln/>
        </p:spPr>
        <p:txBody>
          <a:bodyPr wrap="square" lIns="0" tIns="0" rIns="0" bIns="0" rtlCol="0" anchor="ctr"/>
          <a:lstStyle/>
          <a:p>
            <a:r>
              <a:rPr lang="en-US" sz="1400" dirty="0">
                <a:solidFill>
                  <a:srgbClr val="006829"/>
                </a:solidFill>
                <a:latin typeface="Cambria" panose="02040503050406030204" pitchFamily="18" charset="0"/>
              </a:rPr>
              <a:t>TỔNG QUAN CCACS TÍNH NĂNG CỦA PHẦN MỀM</a:t>
            </a:r>
          </a:p>
        </p:txBody>
      </p:sp>
      <p:sp>
        <p:nvSpPr>
          <p:cNvPr id="16" name="Shape 13"/>
          <p:cNvSpPr/>
          <p:nvPr/>
        </p:nvSpPr>
        <p:spPr>
          <a:xfrm>
            <a:off x="457200" y="2655739"/>
            <a:ext cx="672440" cy="372054"/>
          </a:xfrm>
          <a:prstGeom prst="rect">
            <a:avLst/>
          </a:prstGeom>
          <a:solidFill>
            <a:srgbClr val="01529C"/>
          </a:solidFill>
          <a:ln w="12700">
            <a:solidFill>
              <a:srgbClr val="01529C"/>
            </a:solidFill>
            <a:prstDash val="solid"/>
          </a:ln>
        </p:spPr>
        <p:txBody>
          <a:bodyPr/>
          <a:lstStyle/>
          <a:p>
            <a:endParaRPr lang="en-US"/>
          </a:p>
        </p:txBody>
      </p:sp>
      <p:sp>
        <p:nvSpPr>
          <p:cNvPr id="17" name="Text 14"/>
          <p:cNvSpPr/>
          <p:nvPr/>
        </p:nvSpPr>
        <p:spPr>
          <a:xfrm>
            <a:off x="457200" y="2655739"/>
            <a:ext cx="672440" cy="372054"/>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04</a:t>
            </a:r>
            <a:endParaRPr lang="en-US" sz="2000" dirty="0"/>
          </a:p>
        </p:txBody>
      </p:sp>
      <p:sp>
        <p:nvSpPr>
          <p:cNvPr id="18" name="Shape 15"/>
          <p:cNvSpPr/>
          <p:nvPr/>
        </p:nvSpPr>
        <p:spPr>
          <a:xfrm>
            <a:off x="1234440" y="2655739"/>
            <a:ext cx="9952116" cy="372054"/>
          </a:xfrm>
          <a:prstGeom prst="rect">
            <a:avLst/>
          </a:prstGeom>
          <a:solidFill>
            <a:srgbClr val="FAFAFA"/>
          </a:solidFill>
          <a:ln w="12700">
            <a:solidFill>
              <a:srgbClr val="DDDDDD"/>
            </a:solidFill>
            <a:prstDash val="solid"/>
          </a:ln>
        </p:spPr>
        <p:txBody>
          <a:bodyPr/>
          <a:lstStyle/>
          <a:p>
            <a:endParaRPr lang="en-US" sz="1400">
              <a:solidFill>
                <a:srgbClr val="006829"/>
              </a:solidFill>
              <a:latin typeface="Cambria" panose="02040503050406030204" pitchFamily="18" charset="0"/>
            </a:endParaRPr>
          </a:p>
        </p:txBody>
      </p:sp>
      <p:sp>
        <p:nvSpPr>
          <p:cNvPr id="19" name="Text 16"/>
          <p:cNvSpPr/>
          <p:nvPr/>
        </p:nvSpPr>
        <p:spPr>
          <a:xfrm>
            <a:off x="1463040" y="2655739"/>
            <a:ext cx="9593481" cy="372054"/>
          </a:xfrm>
          <a:prstGeom prst="rect">
            <a:avLst/>
          </a:prstGeom>
          <a:noFill/>
          <a:ln/>
        </p:spPr>
        <p:txBody>
          <a:bodyPr wrap="square" lIns="0" tIns="0" rIns="0" bIns="0" rtlCol="0" anchor="ctr"/>
          <a:lstStyle/>
          <a:p>
            <a:r>
              <a:rPr lang="en-US" sz="1400" dirty="0">
                <a:solidFill>
                  <a:srgbClr val="006829"/>
                </a:solidFill>
                <a:latin typeface="Cambria" panose="02040503050406030204" pitchFamily="18" charset="0"/>
              </a:rPr>
              <a:t>PHÂN QUYỀN TRONG PHẦN MỀM</a:t>
            </a:r>
          </a:p>
        </p:txBody>
      </p:sp>
      <p:sp>
        <p:nvSpPr>
          <p:cNvPr id="20" name="Shape 17"/>
          <p:cNvSpPr/>
          <p:nvPr/>
        </p:nvSpPr>
        <p:spPr>
          <a:xfrm>
            <a:off x="457200" y="3186507"/>
            <a:ext cx="672440" cy="372054"/>
          </a:xfrm>
          <a:prstGeom prst="rect">
            <a:avLst/>
          </a:prstGeom>
          <a:solidFill>
            <a:srgbClr val="00682B"/>
          </a:solidFill>
          <a:ln w="12700">
            <a:solidFill>
              <a:srgbClr val="00682B"/>
            </a:solidFill>
            <a:prstDash val="solid"/>
          </a:ln>
        </p:spPr>
        <p:txBody>
          <a:bodyPr/>
          <a:lstStyle/>
          <a:p>
            <a:endParaRPr lang="en-US"/>
          </a:p>
        </p:txBody>
      </p:sp>
      <p:sp>
        <p:nvSpPr>
          <p:cNvPr id="21" name="Text 18"/>
          <p:cNvSpPr/>
          <p:nvPr/>
        </p:nvSpPr>
        <p:spPr>
          <a:xfrm>
            <a:off x="457200" y="3186507"/>
            <a:ext cx="672440" cy="372054"/>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05</a:t>
            </a:r>
            <a:endParaRPr lang="en-US" sz="2000" dirty="0"/>
          </a:p>
        </p:txBody>
      </p:sp>
      <p:sp>
        <p:nvSpPr>
          <p:cNvPr id="22" name="Shape 19"/>
          <p:cNvSpPr/>
          <p:nvPr/>
        </p:nvSpPr>
        <p:spPr>
          <a:xfrm>
            <a:off x="1234440" y="3186507"/>
            <a:ext cx="9952116" cy="372054"/>
          </a:xfrm>
          <a:prstGeom prst="rect">
            <a:avLst/>
          </a:prstGeom>
          <a:solidFill>
            <a:srgbClr val="FAFAFA"/>
          </a:solidFill>
          <a:ln w="12700">
            <a:solidFill>
              <a:srgbClr val="DDDDDD"/>
            </a:solidFill>
            <a:prstDash val="solid"/>
          </a:ln>
        </p:spPr>
        <p:txBody>
          <a:bodyPr/>
          <a:lstStyle/>
          <a:p>
            <a:endParaRPr lang="en-US" sz="1400" dirty="0">
              <a:solidFill>
                <a:srgbClr val="006829"/>
              </a:solidFill>
              <a:latin typeface="Cambria" panose="02040503050406030204" pitchFamily="18" charset="0"/>
            </a:endParaRPr>
          </a:p>
        </p:txBody>
      </p:sp>
      <p:sp>
        <p:nvSpPr>
          <p:cNvPr id="23" name="Text 20"/>
          <p:cNvSpPr/>
          <p:nvPr/>
        </p:nvSpPr>
        <p:spPr>
          <a:xfrm>
            <a:off x="1463040" y="3186507"/>
            <a:ext cx="9593481" cy="372054"/>
          </a:xfrm>
          <a:prstGeom prst="rect">
            <a:avLst/>
          </a:prstGeom>
          <a:noFill/>
          <a:ln/>
        </p:spPr>
        <p:txBody>
          <a:bodyPr wrap="square" lIns="0" tIns="0" rIns="0" bIns="0" rtlCol="0" anchor="ctr"/>
          <a:lstStyle/>
          <a:p>
            <a:r>
              <a:rPr lang="en-US" sz="1400" dirty="0">
                <a:solidFill>
                  <a:srgbClr val="006829"/>
                </a:solidFill>
                <a:latin typeface="Cambria" panose="02040503050406030204" pitchFamily="18" charset="0"/>
              </a:rPr>
              <a:t>QUY TRÌNH ĐIỀU PHỐI XE CÔNG VỤ</a:t>
            </a:r>
          </a:p>
        </p:txBody>
      </p:sp>
      <p:sp>
        <p:nvSpPr>
          <p:cNvPr id="24" name="Shape 21"/>
          <p:cNvSpPr/>
          <p:nvPr/>
        </p:nvSpPr>
        <p:spPr>
          <a:xfrm>
            <a:off x="457200" y="3717275"/>
            <a:ext cx="672440" cy="372054"/>
          </a:xfrm>
          <a:prstGeom prst="rect">
            <a:avLst/>
          </a:prstGeom>
          <a:solidFill>
            <a:srgbClr val="01529C"/>
          </a:solidFill>
          <a:ln w="12700">
            <a:solidFill>
              <a:srgbClr val="01529C"/>
            </a:solidFill>
            <a:prstDash val="solid"/>
          </a:ln>
        </p:spPr>
        <p:txBody>
          <a:bodyPr/>
          <a:lstStyle/>
          <a:p>
            <a:endParaRPr lang="en-US"/>
          </a:p>
        </p:txBody>
      </p:sp>
      <p:sp>
        <p:nvSpPr>
          <p:cNvPr id="25" name="Text 22"/>
          <p:cNvSpPr/>
          <p:nvPr/>
        </p:nvSpPr>
        <p:spPr>
          <a:xfrm>
            <a:off x="457200" y="3717275"/>
            <a:ext cx="672440" cy="372054"/>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06</a:t>
            </a:r>
            <a:endParaRPr lang="en-US" sz="2000" dirty="0"/>
          </a:p>
        </p:txBody>
      </p:sp>
      <p:sp>
        <p:nvSpPr>
          <p:cNvPr id="26" name="Shape 23"/>
          <p:cNvSpPr/>
          <p:nvPr/>
        </p:nvSpPr>
        <p:spPr>
          <a:xfrm>
            <a:off x="1234440" y="3717275"/>
            <a:ext cx="9952116" cy="372054"/>
          </a:xfrm>
          <a:prstGeom prst="rect">
            <a:avLst/>
          </a:prstGeom>
          <a:solidFill>
            <a:srgbClr val="FAFAFA"/>
          </a:solidFill>
          <a:ln w="12700">
            <a:solidFill>
              <a:srgbClr val="DDDDDD"/>
            </a:solidFill>
            <a:prstDash val="solid"/>
          </a:ln>
        </p:spPr>
        <p:txBody>
          <a:bodyPr/>
          <a:lstStyle/>
          <a:p>
            <a:endParaRPr lang="en-US" sz="1400">
              <a:solidFill>
                <a:srgbClr val="006829"/>
              </a:solidFill>
              <a:latin typeface="Cambria" panose="02040503050406030204" pitchFamily="18" charset="0"/>
            </a:endParaRPr>
          </a:p>
        </p:txBody>
      </p:sp>
      <p:sp>
        <p:nvSpPr>
          <p:cNvPr id="27" name="Text 24"/>
          <p:cNvSpPr/>
          <p:nvPr/>
        </p:nvSpPr>
        <p:spPr>
          <a:xfrm>
            <a:off x="1463040" y="3717275"/>
            <a:ext cx="9593481" cy="372054"/>
          </a:xfrm>
          <a:prstGeom prst="rect">
            <a:avLst/>
          </a:prstGeom>
          <a:noFill/>
          <a:ln/>
        </p:spPr>
        <p:txBody>
          <a:bodyPr wrap="square" lIns="0" tIns="0" rIns="0" bIns="0" rtlCol="0" anchor="ctr"/>
          <a:lstStyle/>
          <a:p>
            <a:r>
              <a:rPr lang="en-US" sz="1400" dirty="0">
                <a:solidFill>
                  <a:srgbClr val="006829"/>
                </a:solidFill>
                <a:latin typeface="Cambria" panose="02040503050406030204" pitchFamily="18" charset="0"/>
              </a:rPr>
              <a:t>GIÁM SÁT GPS &amp; DASHBOARD TỔNG QUAN</a:t>
            </a:r>
          </a:p>
        </p:txBody>
      </p:sp>
      <p:sp>
        <p:nvSpPr>
          <p:cNvPr id="28" name="Shape 25"/>
          <p:cNvSpPr/>
          <p:nvPr/>
        </p:nvSpPr>
        <p:spPr>
          <a:xfrm>
            <a:off x="457200" y="4248043"/>
            <a:ext cx="672440" cy="372054"/>
          </a:xfrm>
          <a:prstGeom prst="rect">
            <a:avLst/>
          </a:prstGeom>
          <a:solidFill>
            <a:srgbClr val="00682B"/>
          </a:solidFill>
          <a:ln w="12700">
            <a:solidFill>
              <a:srgbClr val="00682B"/>
            </a:solidFill>
            <a:prstDash val="solid"/>
          </a:ln>
        </p:spPr>
        <p:txBody>
          <a:bodyPr/>
          <a:lstStyle/>
          <a:p>
            <a:endParaRPr lang="en-US"/>
          </a:p>
        </p:txBody>
      </p:sp>
      <p:sp>
        <p:nvSpPr>
          <p:cNvPr id="29" name="Text 26"/>
          <p:cNvSpPr/>
          <p:nvPr/>
        </p:nvSpPr>
        <p:spPr>
          <a:xfrm>
            <a:off x="457200" y="4248043"/>
            <a:ext cx="672440" cy="372054"/>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07</a:t>
            </a:r>
            <a:endParaRPr lang="en-US" sz="2000" dirty="0"/>
          </a:p>
        </p:txBody>
      </p:sp>
      <p:sp>
        <p:nvSpPr>
          <p:cNvPr id="30" name="Shape 27"/>
          <p:cNvSpPr/>
          <p:nvPr/>
        </p:nvSpPr>
        <p:spPr>
          <a:xfrm>
            <a:off x="1234440" y="4248043"/>
            <a:ext cx="9952116" cy="372054"/>
          </a:xfrm>
          <a:prstGeom prst="rect">
            <a:avLst/>
          </a:prstGeom>
          <a:solidFill>
            <a:srgbClr val="FAFAFA"/>
          </a:solidFill>
          <a:ln w="12700">
            <a:solidFill>
              <a:srgbClr val="DDDDDD"/>
            </a:solidFill>
            <a:prstDash val="solid"/>
          </a:ln>
        </p:spPr>
        <p:txBody>
          <a:bodyPr/>
          <a:lstStyle/>
          <a:p>
            <a:endParaRPr lang="en-US" sz="1400" dirty="0">
              <a:solidFill>
                <a:srgbClr val="006829"/>
              </a:solidFill>
              <a:latin typeface="Cambria" panose="02040503050406030204" pitchFamily="18" charset="0"/>
            </a:endParaRPr>
          </a:p>
        </p:txBody>
      </p:sp>
      <p:sp>
        <p:nvSpPr>
          <p:cNvPr id="31" name="Text 28"/>
          <p:cNvSpPr/>
          <p:nvPr/>
        </p:nvSpPr>
        <p:spPr>
          <a:xfrm>
            <a:off x="1463040" y="4248043"/>
            <a:ext cx="9593481" cy="372054"/>
          </a:xfrm>
          <a:prstGeom prst="rect">
            <a:avLst/>
          </a:prstGeom>
          <a:noFill/>
          <a:ln/>
        </p:spPr>
        <p:txBody>
          <a:bodyPr wrap="square" lIns="0" tIns="0" rIns="0" bIns="0" rtlCol="0" anchor="ctr"/>
          <a:lstStyle/>
          <a:p>
            <a:r>
              <a:rPr lang="en-US" sz="1400" dirty="0">
                <a:solidFill>
                  <a:srgbClr val="006829"/>
                </a:solidFill>
                <a:latin typeface="Cambria" panose="02040503050406030204" pitchFamily="18" charset="0"/>
              </a:rPr>
              <a:t>QUY TRÌNH ĐĂNG KIỂM - BẢO TRÌ / QUẢN LY NHIÊN LIỆU - CHI PHÍ</a:t>
            </a:r>
          </a:p>
        </p:txBody>
      </p:sp>
      <p:sp>
        <p:nvSpPr>
          <p:cNvPr id="32" name="Text 29"/>
          <p:cNvSpPr/>
          <p:nvPr/>
        </p:nvSpPr>
        <p:spPr>
          <a:xfrm>
            <a:off x="274320" y="6537960"/>
            <a:ext cx="8229600" cy="274320"/>
          </a:xfrm>
          <a:prstGeom prst="rect">
            <a:avLst/>
          </a:prstGeom>
          <a:noFill/>
          <a:ln/>
        </p:spPr>
        <p:txBody>
          <a:bodyPr wrap="square" lIns="0" tIns="0" rIns="0" bIns="0" rtlCol="0" anchor="ctr"/>
          <a:lstStyle/>
          <a:p>
            <a:pPr marL="0" indent="0" algn="l">
              <a:buNone/>
            </a:pPr>
            <a:r>
              <a:rPr lang="en-US" sz="800" dirty="0">
                <a:solidFill>
                  <a:srgbClr val="999999"/>
                </a:solidFill>
                <a:latin typeface="Cambria" pitchFamily="34" charset="0"/>
                <a:ea typeface="Cambria" pitchFamily="34" charset="-122"/>
                <a:cs typeface="Cambria" pitchFamily="34" charset="-120"/>
              </a:rPr>
              <a:t>VMS – Vehicle Management System | THACO AGRI – KLH Koun Mom</a:t>
            </a:r>
            <a:endParaRPr lang="en-US" sz="800" dirty="0"/>
          </a:p>
        </p:txBody>
      </p:sp>
      <p:sp>
        <p:nvSpPr>
          <p:cNvPr id="33" name="Text 30"/>
          <p:cNvSpPr/>
          <p:nvPr/>
        </p:nvSpPr>
        <p:spPr>
          <a:xfrm>
            <a:off x="11521440" y="6537960"/>
            <a:ext cx="457200" cy="274320"/>
          </a:xfrm>
          <a:prstGeom prst="rect">
            <a:avLst/>
          </a:prstGeom>
          <a:noFill/>
          <a:ln/>
        </p:spPr>
        <p:txBody>
          <a:bodyPr wrap="square" lIns="0" tIns="0" rIns="0" bIns="0" rtlCol="0" anchor="ctr"/>
          <a:lstStyle/>
          <a:p>
            <a:pPr marL="0" indent="0" algn="r">
              <a:buNone/>
            </a:pPr>
            <a:r>
              <a:rPr lang="en-US" sz="800" dirty="0">
                <a:solidFill>
                  <a:srgbClr val="999999"/>
                </a:solidFill>
                <a:latin typeface="Cambria" pitchFamily="34" charset="0"/>
                <a:ea typeface="Cambria" pitchFamily="34" charset="-122"/>
                <a:cs typeface="Cambria" pitchFamily="34" charset="-120"/>
              </a:rPr>
              <a:t>2</a:t>
            </a:r>
            <a:endParaRPr lang="en-US" sz="800" dirty="0"/>
          </a:p>
        </p:txBody>
      </p:sp>
      <p:sp>
        <p:nvSpPr>
          <p:cNvPr id="38" name="Shape 21">
            <a:extLst>
              <a:ext uri="{FF2B5EF4-FFF2-40B4-BE49-F238E27FC236}">
                <a16:creationId xmlns:a16="http://schemas.microsoft.com/office/drawing/2014/main" id="{E97FA9F4-8587-7229-B987-4367F1E259E7}"/>
              </a:ext>
            </a:extLst>
          </p:cNvPr>
          <p:cNvSpPr/>
          <p:nvPr/>
        </p:nvSpPr>
        <p:spPr>
          <a:xfrm>
            <a:off x="457200" y="4778811"/>
            <a:ext cx="672440" cy="372054"/>
          </a:xfrm>
          <a:prstGeom prst="rect">
            <a:avLst/>
          </a:prstGeom>
          <a:solidFill>
            <a:srgbClr val="01529C"/>
          </a:solidFill>
          <a:ln w="12700">
            <a:solidFill>
              <a:srgbClr val="01529C"/>
            </a:solidFill>
            <a:prstDash val="solid"/>
          </a:ln>
        </p:spPr>
        <p:txBody>
          <a:bodyPr/>
          <a:lstStyle/>
          <a:p>
            <a:endParaRPr lang="en-US"/>
          </a:p>
        </p:txBody>
      </p:sp>
      <p:sp>
        <p:nvSpPr>
          <p:cNvPr id="39" name="Text 22">
            <a:extLst>
              <a:ext uri="{FF2B5EF4-FFF2-40B4-BE49-F238E27FC236}">
                <a16:creationId xmlns:a16="http://schemas.microsoft.com/office/drawing/2014/main" id="{B9837467-65B1-11E0-A9A8-4AA001206477}"/>
              </a:ext>
            </a:extLst>
          </p:cNvPr>
          <p:cNvSpPr/>
          <p:nvPr/>
        </p:nvSpPr>
        <p:spPr>
          <a:xfrm>
            <a:off x="457200" y="4778811"/>
            <a:ext cx="672440" cy="372054"/>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08</a:t>
            </a:r>
            <a:endParaRPr lang="en-US" sz="2000" dirty="0"/>
          </a:p>
        </p:txBody>
      </p:sp>
      <p:sp>
        <p:nvSpPr>
          <p:cNvPr id="40" name="Shape 23">
            <a:extLst>
              <a:ext uri="{FF2B5EF4-FFF2-40B4-BE49-F238E27FC236}">
                <a16:creationId xmlns:a16="http://schemas.microsoft.com/office/drawing/2014/main" id="{703D2888-23A1-F5D5-6CB2-1E0BE62536F3}"/>
              </a:ext>
            </a:extLst>
          </p:cNvPr>
          <p:cNvSpPr/>
          <p:nvPr/>
        </p:nvSpPr>
        <p:spPr>
          <a:xfrm>
            <a:off x="1234440" y="4778811"/>
            <a:ext cx="9952116" cy="372054"/>
          </a:xfrm>
          <a:prstGeom prst="rect">
            <a:avLst/>
          </a:prstGeom>
          <a:solidFill>
            <a:srgbClr val="FAFAFA"/>
          </a:solidFill>
          <a:ln w="12700">
            <a:solidFill>
              <a:srgbClr val="DDDDDD"/>
            </a:solidFill>
            <a:prstDash val="solid"/>
          </a:ln>
        </p:spPr>
        <p:txBody>
          <a:bodyPr/>
          <a:lstStyle/>
          <a:p>
            <a:endParaRPr lang="en-US" sz="1400">
              <a:solidFill>
                <a:srgbClr val="006829"/>
              </a:solidFill>
              <a:latin typeface="Cambria" panose="02040503050406030204" pitchFamily="18" charset="0"/>
            </a:endParaRPr>
          </a:p>
        </p:txBody>
      </p:sp>
      <p:sp>
        <p:nvSpPr>
          <p:cNvPr id="41" name="Text 24">
            <a:extLst>
              <a:ext uri="{FF2B5EF4-FFF2-40B4-BE49-F238E27FC236}">
                <a16:creationId xmlns:a16="http://schemas.microsoft.com/office/drawing/2014/main" id="{F0DBBE16-9D78-8107-18DA-8A474912875D}"/>
              </a:ext>
            </a:extLst>
          </p:cNvPr>
          <p:cNvSpPr/>
          <p:nvPr/>
        </p:nvSpPr>
        <p:spPr>
          <a:xfrm>
            <a:off x="1463040" y="4778811"/>
            <a:ext cx="9593481" cy="372054"/>
          </a:xfrm>
          <a:prstGeom prst="rect">
            <a:avLst/>
          </a:prstGeom>
          <a:noFill/>
          <a:ln/>
        </p:spPr>
        <p:txBody>
          <a:bodyPr wrap="square" lIns="0" tIns="0" rIns="0" bIns="0" rtlCol="0" anchor="ctr"/>
          <a:lstStyle/>
          <a:p>
            <a:r>
              <a:rPr lang="en-US" sz="1400" dirty="0">
                <a:solidFill>
                  <a:srgbClr val="006829"/>
                </a:solidFill>
                <a:latin typeface="Cambria" panose="02040503050406030204" pitchFamily="18" charset="0"/>
              </a:rPr>
              <a:t>PHỤ LỤC – DỮ LIỆU ĐẦU VÀO CHO HỆ THỐNG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D33D78-7EA8-BE16-5293-B32AE866292A}"/>
              </a:ext>
            </a:extLst>
          </p:cNvPr>
          <p:cNvSpPr>
            <a:spLocks noGrp="1"/>
          </p:cNvSpPr>
          <p:nvPr>
            <p:ph type="title"/>
          </p:nvPr>
        </p:nvSpPr>
        <p:spPr/>
        <p:txBody>
          <a:bodyPr anchor="ctr"/>
          <a:lstStyle/>
          <a:p>
            <a:r>
              <a:rPr lang="en-US" dirty="0">
                <a:solidFill>
                  <a:srgbClr val="FF0000"/>
                </a:solidFill>
                <a:latin typeface="Cambria" panose="02040503050406030204" pitchFamily="18" charset="0"/>
              </a:rPr>
              <a:t>KHÓ KHĂN KHI QUẢN LÝ XE CÔNG VỤ</a:t>
            </a:r>
          </a:p>
        </p:txBody>
      </p:sp>
      <p:sp>
        <p:nvSpPr>
          <p:cNvPr id="3" name="Alternate Process 2">
            <a:extLst>
              <a:ext uri="{FF2B5EF4-FFF2-40B4-BE49-F238E27FC236}">
                <a16:creationId xmlns:a16="http://schemas.microsoft.com/office/drawing/2014/main" id="{A701C3C6-2158-444F-3935-5FDCB1A2F168}"/>
              </a:ext>
            </a:extLst>
          </p:cNvPr>
          <p:cNvSpPr/>
          <p:nvPr/>
        </p:nvSpPr>
        <p:spPr>
          <a:xfrm>
            <a:off x="3126878" y="3083144"/>
            <a:ext cx="2149365" cy="1418897"/>
          </a:xfrm>
          <a:prstGeom prst="flowChartAlternateProcess">
            <a:avLst/>
          </a:prstGeom>
          <a:solidFill>
            <a:schemeClr val="accent4">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VN" dirty="0">
                <a:solidFill>
                  <a:srgbClr val="0B6F2A"/>
                </a:solidFill>
                <a:latin typeface="Cambria" panose="02040503050406030204" pitchFamily="18" charset="0"/>
              </a:rPr>
              <a:t>Phải đăng ký xe qua điện thoại, Zalo, Excel hoặc giấy</a:t>
            </a:r>
            <a:endParaRPr lang="vi-VN" dirty="0">
              <a:solidFill>
                <a:srgbClr val="0B6F2A"/>
              </a:solidFill>
              <a:latin typeface="Cambria" panose="02040503050406030204" pitchFamily="18" charset="0"/>
            </a:endParaRPr>
          </a:p>
        </p:txBody>
      </p:sp>
      <p:sp>
        <p:nvSpPr>
          <p:cNvPr id="4" name="Alternate Process 3">
            <a:extLst>
              <a:ext uri="{FF2B5EF4-FFF2-40B4-BE49-F238E27FC236}">
                <a16:creationId xmlns:a16="http://schemas.microsoft.com/office/drawing/2014/main" id="{CD0D46D9-C43C-8B24-9721-846D467DA0B8}"/>
              </a:ext>
            </a:extLst>
          </p:cNvPr>
          <p:cNvSpPr/>
          <p:nvPr/>
        </p:nvSpPr>
        <p:spPr>
          <a:xfrm>
            <a:off x="525566" y="1280563"/>
            <a:ext cx="2149365" cy="1418897"/>
          </a:xfrm>
          <a:prstGeom prst="flowChartAlternateProcess">
            <a:avLst/>
          </a:prstGeom>
          <a:solidFill>
            <a:schemeClr val="accent4">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VN" dirty="0">
                <a:solidFill>
                  <a:srgbClr val="0B6F2A"/>
                </a:solidFill>
                <a:latin typeface="Cambria" panose="02040503050406030204" pitchFamily="18" charset="0"/>
              </a:rPr>
              <a:t>Khó biết xe nào đang rảnh / đang sử dụng</a:t>
            </a:r>
            <a:endParaRPr lang="vi-VN" dirty="0">
              <a:solidFill>
                <a:srgbClr val="0B6F2A"/>
              </a:solidFill>
              <a:latin typeface="Cambria" panose="02040503050406030204" pitchFamily="18" charset="0"/>
            </a:endParaRPr>
          </a:p>
        </p:txBody>
      </p:sp>
      <p:sp>
        <p:nvSpPr>
          <p:cNvPr id="7" name="Alternate Process 6">
            <a:extLst>
              <a:ext uri="{FF2B5EF4-FFF2-40B4-BE49-F238E27FC236}">
                <a16:creationId xmlns:a16="http://schemas.microsoft.com/office/drawing/2014/main" id="{6A148036-E11E-24D3-621E-12F201064BB7}"/>
              </a:ext>
            </a:extLst>
          </p:cNvPr>
          <p:cNvSpPr/>
          <p:nvPr/>
        </p:nvSpPr>
        <p:spPr>
          <a:xfrm>
            <a:off x="525566" y="3083144"/>
            <a:ext cx="2149365" cy="1418897"/>
          </a:xfrm>
          <a:prstGeom prst="flowChartAlternateProcess">
            <a:avLst/>
          </a:prstGeom>
          <a:solidFill>
            <a:schemeClr val="accent4">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VN" dirty="0">
                <a:solidFill>
                  <a:srgbClr val="0B6F2A"/>
                </a:solidFill>
                <a:latin typeface="Cambria" panose="02040503050406030204" pitchFamily="18" charset="0"/>
              </a:rPr>
              <a:t>Quản lý nhiên liệu, bảo dưỡng chưa tập trung</a:t>
            </a:r>
            <a:endParaRPr lang="vi-VN" dirty="0">
              <a:solidFill>
                <a:srgbClr val="0B6F2A"/>
              </a:solidFill>
              <a:latin typeface="Cambria" panose="02040503050406030204" pitchFamily="18" charset="0"/>
            </a:endParaRPr>
          </a:p>
        </p:txBody>
      </p:sp>
      <p:sp>
        <p:nvSpPr>
          <p:cNvPr id="8" name="Alternate Process 7">
            <a:extLst>
              <a:ext uri="{FF2B5EF4-FFF2-40B4-BE49-F238E27FC236}">
                <a16:creationId xmlns:a16="http://schemas.microsoft.com/office/drawing/2014/main" id="{3EF1AE1D-F996-BBFB-590B-957A003F62CD}"/>
              </a:ext>
            </a:extLst>
          </p:cNvPr>
          <p:cNvSpPr/>
          <p:nvPr/>
        </p:nvSpPr>
        <p:spPr>
          <a:xfrm>
            <a:off x="3126877" y="1322641"/>
            <a:ext cx="2149365" cy="1418897"/>
          </a:xfrm>
          <a:prstGeom prst="flowChartAlternateProcess">
            <a:avLst/>
          </a:prstGeom>
          <a:solidFill>
            <a:schemeClr val="accent4">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VN" dirty="0">
                <a:solidFill>
                  <a:srgbClr val="0B6F2A"/>
                </a:solidFill>
                <a:latin typeface="Cambria" panose="02040503050406030204" pitchFamily="18" charset="0"/>
              </a:rPr>
              <a:t>Khó theo dõi lịch trình và tài xế</a:t>
            </a:r>
            <a:endParaRPr lang="vi-VN" dirty="0">
              <a:solidFill>
                <a:srgbClr val="0B6F2A"/>
              </a:solidFill>
              <a:latin typeface="Cambria" panose="02040503050406030204" pitchFamily="18" charset="0"/>
            </a:endParaRPr>
          </a:p>
        </p:txBody>
      </p:sp>
      <p:sp>
        <p:nvSpPr>
          <p:cNvPr id="9" name="Alternate Process 8">
            <a:extLst>
              <a:ext uri="{FF2B5EF4-FFF2-40B4-BE49-F238E27FC236}">
                <a16:creationId xmlns:a16="http://schemas.microsoft.com/office/drawing/2014/main" id="{A8D5FF09-B04D-7D23-B35D-224155CC82F6}"/>
              </a:ext>
            </a:extLst>
          </p:cNvPr>
          <p:cNvSpPr/>
          <p:nvPr/>
        </p:nvSpPr>
        <p:spPr>
          <a:xfrm>
            <a:off x="3126878" y="4885725"/>
            <a:ext cx="2149365" cy="1418897"/>
          </a:xfrm>
          <a:prstGeom prst="flowChartAlternateProcess">
            <a:avLst/>
          </a:prstGeom>
          <a:solidFill>
            <a:schemeClr val="accent4">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VN" dirty="0">
                <a:solidFill>
                  <a:srgbClr val="0B6F2A"/>
                </a:solidFill>
                <a:latin typeface="Cambria" panose="02040503050406030204" pitchFamily="18" charset="0"/>
              </a:rPr>
              <a:t>Khó tổng hợp chi phí theo xe / đơn vị / chuyến </a:t>
            </a:r>
          </a:p>
        </p:txBody>
      </p:sp>
      <p:sp>
        <p:nvSpPr>
          <p:cNvPr id="10" name="Alternate Process 9">
            <a:extLst>
              <a:ext uri="{FF2B5EF4-FFF2-40B4-BE49-F238E27FC236}">
                <a16:creationId xmlns:a16="http://schemas.microsoft.com/office/drawing/2014/main" id="{A895E7E8-40B4-F344-D195-71E1D8D2543E}"/>
              </a:ext>
            </a:extLst>
          </p:cNvPr>
          <p:cNvSpPr/>
          <p:nvPr/>
        </p:nvSpPr>
        <p:spPr>
          <a:xfrm>
            <a:off x="525566" y="4885725"/>
            <a:ext cx="2149365" cy="1418897"/>
          </a:xfrm>
          <a:prstGeom prst="flowChartAlternateProcess">
            <a:avLst/>
          </a:prstGeom>
          <a:solidFill>
            <a:schemeClr val="accent4">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VN" dirty="0">
                <a:solidFill>
                  <a:srgbClr val="0B6F2A"/>
                </a:solidFill>
                <a:latin typeface="Cambria" panose="02040503050406030204" pitchFamily="18" charset="0"/>
              </a:rPr>
              <a:t>Báo cáo mất nhiều thời gian</a:t>
            </a:r>
          </a:p>
        </p:txBody>
      </p:sp>
      <p:sp>
        <p:nvSpPr>
          <p:cNvPr id="12" name="Oval 11">
            <a:extLst>
              <a:ext uri="{FF2B5EF4-FFF2-40B4-BE49-F238E27FC236}">
                <a16:creationId xmlns:a16="http://schemas.microsoft.com/office/drawing/2014/main" id="{6409682D-DE57-C4A7-24FF-20FE22690270}"/>
              </a:ext>
            </a:extLst>
          </p:cNvPr>
          <p:cNvSpPr/>
          <p:nvPr/>
        </p:nvSpPr>
        <p:spPr>
          <a:xfrm>
            <a:off x="299593" y="1149201"/>
            <a:ext cx="451946" cy="444302"/>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atin typeface="Cambria" panose="02040503050406030204" pitchFamily="18" charset="0"/>
              </a:rPr>
              <a:t>1</a:t>
            </a:r>
          </a:p>
        </p:txBody>
      </p:sp>
      <p:sp>
        <p:nvSpPr>
          <p:cNvPr id="14" name="Oval 13">
            <a:extLst>
              <a:ext uri="{FF2B5EF4-FFF2-40B4-BE49-F238E27FC236}">
                <a16:creationId xmlns:a16="http://schemas.microsoft.com/office/drawing/2014/main" id="{4D54EC68-4E5C-45E8-7B32-DBD4561F337F}"/>
              </a:ext>
            </a:extLst>
          </p:cNvPr>
          <p:cNvSpPr/>
          <p:nvPr/>
        </p:nvSpPr>
        <p:spPr>
          <a:xfrm>
            <a:off x="2900905" y="1086161"/>
            <a:ext cx="451946" cy="444302"/>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atin typeface="Cambria" panose="02040503050406030204" pitchFamily="18" charset="0"/>
              </a:rPr>
              <a:t>2</a:t>
            </a:r>
          </a:p>
        </p:txBody>
      </p:sp>
      <p:sp>
        <p:nvSpPr>
          <p:cNvPr id="15" name="Oval 14">
            <a:extLst>
              <a:ext uri="{FF2B5EF4-FFF2-40B4-BE49-F238E27FC236}">
                <a16:creationId xmlns:a16="http://schemas.microsoft.com/office/drawing/2014/main" id="{CEEFB58F-2A51-ECAB-ADFD-08E7897A3FEE}"/>
              </a:ext>
            </a:extLst>
          </p:cNvPr>
          <p:cNvSpPr/>
          <p:nvPr/>
        </p:nvSpPr>
        <p:spPr>
          <a:xfrm>
            <a:off x="299593" y="2860993"/>
            <a:ext cx="451946" cy="444302"/>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atin typeface="Cambria" panose="02040503050406030204" pitchFamily="18" charset="0"/>
              </a:rPr>
              <a:t>3</a:t>
            </a:r>
          </a:p>
        </p:txBody>
      </p:sp>
      <p:sp>
        <p:nvSpPr>
          <p:cNvPr id="16" name="Oval 15">
            <a:extLst>
              <a:ext uri="{FF2B5EF4-FFF2-40B4-BE49-F238E27FC236}">
                <a16:creationId xmlns:a16="http://schemas.microsoft.com/office/drawing/2014/main" id="{0C7BAA41-B404-C5E3-489D-FC41F303445A}"/>
              </a:ext>
            </a:extLst>
          </p:cNvPr>
          <p:cNvSpPr/>
          <p:nvPr/>
        </p:nvSpPr>
        <p:spPr>
          <a:xfrm>
            <a:off x="2900904" y="2958326"/>
            <a:ext cx="451946" cy="444302"/>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atin typeface="Cambria" panose="02040503050406030204" pitchFamily="18" charset="0"/>
              </a:rPr>
              <a:t>4</a:t>
            </a:r>
          </a:p>
        </p:txBody>
      </p:sp>
      <p:sp>
        <p:nvSpPr>
          <p:cNvPr id="17" name="Oval 16">
            <a:extLst>
              <a:ext uri="{FF2B5EF4-FFF2-40B4-BE49-F238E27FC236}">
                <a16:creationId xmlns:a16="http://schemas.microsoft.com/office/drawing/2014/main" id="{2E332A12-8EA2-1524-C071-240328A1921C}"/>
              </a:ext>
            </a:extLst>
          </p:cNvPr>
          <p:cNvSpPr/>
          <p:nvPr/>
        </p:nvSpPr>
        <p:spPr>
          <a:xfrm>
            <a:off x="299593" y="4663574"/>
            <a:ext cx="451946" cy="444302"/>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atin typeface="Cambria" panose="02040503050406030204" pitchFamily="18" charset="0"/>
              </a:rPr>
              <a:t>5</a:t>
            </a:r>
          </a:p>
        </p:txBody>
      </p:sp>
      <p:sp>
        <p:nvSpPr>
          <p:cNvPr id="18" name="Oval 17">
            <a:extLst>
              <a:ext uri="{FF2B5EF4-FFF2-40B4-BE49-F238E27FC236}">
                <a16:creationId xmlns:a16="http://schemas.microsoft.com/office/drawing/2014/main" id="{124E561A-ADEA-73B9-3B41-DBA3D9DE16B2}"/>
              </a:ext>
            </a:extLst>
          </p:cNvPr>
          <p:cNvSpPr/>
          <p:nvPr/>
        </p:nvSpPr>
        <p:spPr>
          <a:xfrm>
            <a:off x="2900905" y="4754363"/>
            <a:ext cx="451946" cy="444302"/>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atin typeface="Cambria" panose="02040503050406030204" pitchFamily="18" charset="0"/>
              </a:rPr>
              <a:t>6</a:t>
            </a:r>
          </a:p>
        </p:txBody>
      </p:sp>
      <p:sp>
        <p:nvSpPr>
          <p:cNvPr id="6" name="Alternate Process 5">
            <a:extLst>
              <a:ext uri="{FF2B5EF4-FFF2-40B4-BE49-F238E27FC236}">
                <a16:creationId xmlns:a16="http://schemas.microsoft.com/office/drawing/2014/main" id="{6393EFFE-548D-35AA-F668-30DB28871476}"/>
              </a:ext>
            </a:extLst>
          </p:cNvPr>
          <p:cNvSpPr/>
          <p:nvPr/>
        </p:nvSpPr>
        <p:spPr>
          <a:xfrm>
            <a:off x="6437537" y="1946984"/>
            <a:ext cx="5454870" cy="752476"/>
          </a:xfrm>
          <a:prstGeom prst="flowChartAlternateProcess">
            <a:avLst/>
          </a:prstGeom>
          <a:solidFill>
            <a:schemeClr val="accent6">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vi-VN" dirty="0">
                <a:solidFill>
                  <a:srgbClr val="0B6F2A"/>
                </a:solidFill>
                <a:latin typeface="Cambria" panose="02040503050406030204" pitchFamily="18" charset="0"/>
              </a:rPr>
              <a:t>Đăng ký đặt xe tiện lợi thông qua phần mềm giảm tải cho người đặt xe và người quản lý xe công</a:t>
            </a:r>
          </a:p>
        </p:txBody>
      </p:sp>
      <p:sp>
        <p:nvSpPr>
          <p:cNvPr id="11" name="Alternate Process 10">
            <a:extLst>
              <a:ext uri="{FF2B5EF4-FFF2-40B4-BE49-F238E27FC236}">
                <a16:creationId xmlns:a16="http://schemas.microsoft.com/office/drawing/2014/main" id="{6BD18358-7402-42EB-F25A-49FC73A93F52}"/>
              </a:ext>
            </a:extLst>
          </p:cNvPr>
          <p:cNvSpPr/>
          <p:nvPr/>
        </p:nvSpPr>
        <p:spPr>
          <a:xfrm>
            <a:off x="6437537" y="3035046"/>
            <a:ext cx="5454870" cy="709449"/>
          </a:xfrm>
          <a:prstGeom prst="flowChartAlternateProcess">
            <a:avLst/>
          </a:prstGeom>
          <a:solidFill>
            <a:schemeClr val="accent6">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vi-VN" dirty="0">
                <a:solidFill>
                  <a:srgbClr val="0B6F2A"/>
                </a:solidFill>
                <a:latin typeface="Cambria" panose="02040503050406030204" pitchFamily="18" charset="0"/>
              </a:rPr>
              <a:t>Theo dõi lịch trình xe và tài xế theo thời gian thực, đơn giản và nhanh chóng</a:t>
            </a:r>
          </a:p>
        </p:txBody>
      </p:sp>
      <p:sp>
        <p:nvSpPr>
          <p:cNvPr id="22" name="Alternate Process 21">
            <a:extLst>
              <a:ext uri="{FF2B5EF4-FFF2-40B4-BE49-F238E27FC236}">
                <a16:creationId xmlns:a16="http://schemas.microsoft.com/office/drawing/2014/main" id="{BFD547F3-0D84-8075-0922-206AC1E63AF8}"/>
              </a:ext>
            </a:extLst>
          </p:cNvPr>
          <p:cNvSpPr/>
          <p:nvPr/>
        </p:nvSpPr>
        <p:spPr>
          <a:xfrm>
            <a:off x="6437537" y="4080082"/>
            <a:ext cx="5454870" cy="709450"/>
          </a:xfrm>
          <a:prstGeom prst="flowChartAlternateProcess">
            <a:avLst/>
          </a:prstGeom>
          <a:solidFill>
            <a:schemeClr val="accent6">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VN" dirty="0">
                <a:solidFill>
                  <a:srgbClr val="0B6F2A"/>
                </a:solidFill>
                <a:latin typeface="Cambria" panose="02040503050406030204" pitchFamily="18" charset="0"/>
              </a:rPr>
              <a:t>Báo cáo tổng quan, xuyên suốt từ XN, KLH đến toàn tập đoàn</a:t>
            </a:r>
          </a:p>
        </p:txBody>
      </p:sp>
      <p:sp>
        <p:nvSpPr>
          <p:cNvPr id="23" name="Oval 22">
            <a:extLst>
              <a:ext uri="{FF2B5EF4-FFF2-40B4-BE49-F238E27FC236}">
                <a16:creationId xmlns:a16="http://schemas.microsoft.com/office/drawing/2014/main" id="{D189D9A4-82B5-E6CE-A4A0-383E1D65664C}"/>
              </a:ext>
            </a:extLst>
          </p:cNvPr>
          <p:cNvSpPr/>
          <p:nvPr/>
        </p:nvSpPr>
        <p:spPr>
          <a:xfrm>
            <a:off x="6211564" y="1815621"/>
            <a:ext cx="451946" cy="444302"/>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atin typeface="Cambria" panose="02040503050406030204" pitchFamily="18" charset="0"/>
              </a:rPr>
              <a:t>1</a:t>
            </a:r>
          </a:p>
        </p:txBody>
      </p:sp>
      <p:sp>
        <p:nvSpPr>
          <p:cNvPr id="25" name="Oval 24">
            <a:extLst>
              <a:ext uri="{FF2B5EF4-FFF2-40B4-BE49-F238E27FC236}">
                <a16:creationId xmlns:a16="http://schemas.microsoft.com/office/drawing/2014/main" id="{437D0C3C-6A0C-C074-9918-78D0616F044B}"/>
              </a:ext>
            </a:extLst>
          </p:cNvPr>
          <p:cNvSpPr/>
          <p:nvPr/>
        </p:nvSpPr>
        <p:spPr>
          <a:xfrm>
            <a:off x="6211564" y="2812895"/>
            <a:ext cx="451946" cy="444302"/>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atin typeface="Cambria" panose="02040503050406030204" pitchFamily="18" charset="0"/>
              </a:rPr>
              <a:t>2</a:t>
            </a:r>
          </a:p>
        </p:txBody>
      </p:sp>
      <p:sp>
        <p:nvSpPr>
          <p:cNvPr id="27" name="Oval 26">
            <a:extLst>
              <a:ext uri="{FF2B5EF4-FFF2-40B4-BE49-F238E27FC236}">
                <a16:creationId xmlns:a16="http://schemas.microsoft.com/office/drawing/2014/main" id="{FF634B78-C310-070E-24CB-DDE2C32FBD2D}"/>
              </a:ext>
            </a:extLst>
          </p:cNvPr>
          <p:cNvSpPr/>
          <p:nvPr/>
        </p:nvSpPr>
        <p:spPr>
          <a:xfrm>
            <a:off x="6211564" y="3857930"/>
            <a:ext cx="451946" cy="444302"/>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atin typeface="Cambria" panose="02040503050406030204" pitchFamily="18" charset="0"/>
              </a:rPr>
              <a:t>3</a:t>
            </a:r>
          </a:p>
        </p:txBody>
      </p:sp>
      <p:sp>
        <p:nvSpPr>
          <p:cNvPr id="29" name="Alternate Process 28">
            <a:extLst>
              <a:ext uri="{FF2B5EF4-FFF2-40B4-BE49-F238E27FC236}">
                <a16:creationId xmlns:a16="http://schemas.microsoft.com/office/drawing/2014/main" id="{93324B22-A1B4-5FCF-AA0A-933809209B44}"/>
              </a:ext>
            </a:extLst>
          </p:cNvPr>
          <p:cNvSpPr/>
          <p:nvPr/>
        </p:nvSpPr>
        <p:spPr>
          <a:xfrm>
            <a:off x="6437537" y="5125119"/>
            <a:ext cx="5454870" cy="709450"/>
          </a:xfrm>
          <a:prstGeom prst="flowChartAlternateProcess">
            <a:avLst/>
          </a:prstGeom>
          <a:solidFill>
            <a:schemeClr val="accent6">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VN" dirty="0">
                <a:solidFill>
                  <a:srgbClr val="0B6F2A"/>
                </a:solidFill>
                <a:latin typeface="Cambria" panose="02040503050406030204" pitchFamily="18" charset="0"/>
              </a:rPr>
              <a:t>Quản lý nhiên liệu, bảo trì bảo dưỡng dễ dàng nhanh chóng</a:t>
            </a:r>
          </a:p>
        </p:txBody>
      </p:sp>
      <p:sp>
        <p:nvSpPr>
          <p:cNvPr id="30" name="Oval 29">
            <a:extLst>
              <a:ext uri="{FF2B5EF4-FFF2-40B4-BE49-F238E27FC236}">
                <a16:creationId xmlns:a16="http://schemas.microsoft.com/office/drawing/2014/main" id="{C184E443-0520-8B78-C784-A6416E6426B2}"/>
              </a:ext>
            </a:extLst>
          </p:cNvPr>
          <p:cNvSpPr/>
          <p:nvPr/>
        </p:nvSpPr>
        <p:spPr>
          <a:xfrm>
            <a:off x="6211564" y="4902967"/>
            <a:ext cx="451946" cy="444302"/>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atin typeface="Cambria" panose="02040503050406030204" pitchFamily="18" charset="0"/>
              </a:rPr>
              <a:t>4</a:t>
            </a:r>
          </a:p>
        </p:txBody>
      </p:sp>
      <p:sp>
        <p:nvSpPr>
          <p:cNvPr id="31" name="Right Arrow 30">
            <a:extLst>
              <a:ext uri="{FF2B5EF4-FFF2-40B4-BE49-F238E27FC236}">
                <a16:creationId xmlns:a16="http://schemas.microsoft.com/office/drawing/2014/main" id="{B4AE1C6D-2027-7427-4922-41D7A248D2F2}"/>
              </a:ext>
            </a:extLst>
          </p:cNvPr>
          <p:cNvSpPr/>
          <p:nvPr/>
        </p:nvSpPr>
        <p:spPr>
          <a:xfrm>
            <a:off x="5507421" y="3466138"/>
            <a:ext cx="588579" cy="326454"/>
          </a:xfrm>
          <a:prstGeom prst="rightArrow">
            <a:avLst/>
          </a:prstGeom>
          <a:solidFill>
            <a:srgbClr val="0068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Tree>
    <p:extLst>
      <p:ext uri="{BB962C8B-B14F-4D97-AF65-F5344CB8AC3E}">
        <p14:creationId xmlns:p14="http://schemas.microsoft.com/office/powerpoint/2010/main" val="20502282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4EF5AB-07C4-07F2-590D-8A8A88558D44}"/>
              </a:ext>
            </a:extLst>
          </p:cNvPr>
          <p:cNvSpPr>
            <a:spLocks noGrp="1"/>
          </p:cNvSpPr>
          <p:nvPr>
            <p:ph type="title"/>
          </p:nvPr>
        </p:nvSpPr>
        <p:spPr/>
        <p:txBody>
          <a:bodyPr anchor="ctr"/>
          <a:lstStyle/>
          <a:p>
            <a:r>
              <a:rPr lang="vi-VN" dirty="0">
                <a:solidFill>
                  <a:srgbClr val="FF0000"/>
                </a:solidFill>
              </a:rPr>
              <a:t>DANH SÁCH THUẬT NGỮ</a:t>
            </a:r>
          </a:p>
        </p:txBody>
      </p:sp>
      <p:graphicFrame>
        <p:nvGraphicFramePr>
          <p:cNvPr id="4" name="Table 3">
            <a:extLst>
              <a:ext uri="{FF2B5EF4-FFF2-40B4-BE49-F238E27FC236}">
                <a16:creationId xmlns:a16="http://schemas.microsoft.com/office/drawing/2014/main" id="{FA4B4B0F-F502-FD7D-9B90-FD025FE0F27D}"/>
              </a:ext>
            </a:extLst>
          </p:cNvPr>
          <p:cNvGraphicFramePr>
            <a:graphicFrameLocks noGrp="1"/>
          </p:cNvGraphicFramePr>
          <p:nvPr>
            <p:extLst>
              <p:ext uri="{D42A27DB-BD31-4B8C-83A1-F6EECF244321}">
                <p14:modId xmlns:p14="http://schemas.microsoft.com/office/powerpoint/2010/main" val="358141071"/>
              </p:ext>
            </p:extLst>
          </p:nvPr>
        </p:nvGraphicFramePr>
        <p:xfrm>
          <a:off x="1" y="752476"/>
          <a:ext cx="12191997" cy="6105524"/>
        </p:xfrm>
        <a:graphic>
          <a:graphicData uri="http://schemas.openxmlformats.org/drawingml/2006/table">
            <a:tbl>
              <a:tblPr>
                <a:tableStyleId>{5C22544A-7EE6-4342-B048-85BDC9FD1C3A}</a:tableStyleId>
              </a:tblPr>
              <a:tblGrid>
                <a:gridCol w="384312">
                  <a:extLst>
                    <a:ext uri="{9D8B030D-6E8A-4147-A177-3AD203B41FA5}">
                      <a16:colId xmlns:a16="http://schemas.microsoft.com/office/drawing/2014/main" val="2515368379"/>
                    </a:ext>
                  </a:extLst>
                </a:gridCol>
                <a:gridCol w="2133600">
                  <a:extLst>
                    <a:ext uri="{9D8B030D-6E8A-4147-A177-3AD203B41FA5}">
                      <a16:colId xmlns:a16="http://schemas.microsoft.com/office/drawing/2014/main" val="3883130852"/>
                    </a:ext>
                  </a:extLst>
                </a:gridCol>
                <a:gridCol w="9674085">
                  <a:extLst>
                    <a:ext uri="{9D8B030D-6E8A-4147-A177-3AD203B41FA5}">
                      <a16:colId xmlns:a16="http://schemas.microsoft.com/office/drawing/2014/main" val="1836973734"/>
                    </a:ext>
                  </a:extLst>
                </a:gridCol>
              </a:tblGrid>
              <a:tr h="644823">
                <a:tc>
                  <a:txBody>
                    <a:bodyPr/>
                    <a:lstStyle/>
                    <a:p>
                      <a:pPr algn="ctr">
                        <a:buNone/>
                      </a:pPr>
                      <a:r>
                        <a:rPr lang="en-VN" sz="1400" b="1" dirty="0">
                          <a:solidFill>
                            <a:schemeClr val="bg1"/>
                          </a:solidFill>
                          <a:latin typeface="Cambria" panose="02040503050406030204" pitchFamily="18" charset="0"/>
                        </a:rPr>
                        <a:t>TT</a:t>
                      </a:r>
                    </a:p>
                  </a:txBody>
                  <a:tcPr marL="20333" marR="20333" marT="10167" marB="10167"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006829"/>
                    </a:solidFill>
                  </a:tcPr>
                </a:tc>
                <a:tc>
                  <a:txBody>
                    <a:bodyPr/>
                    <a:lstStyle/>
                    <a:p>
                      <a:pPr algn="ctr">
                        <a:buNone/>
                      </a:pPr>
                      <a:r>
                        <a:rPr lang="en-VN" sz="1400" b="1" dirty="0">
                          <a:solidFill>
                            <a:schemeClr val="bg1"/>
                          </a:solidFill>
                          <a:latin typeface="Cambria" panose="02040503050406030204" pitchFamily="18" charset="0"/>
                        </a:rPr>
                        <a:t>THUẬT NGỮ</a:t>
                      </a:r>
                    </a:p>
                  </a:txBody>
                  <a:tcPr marL="20333" marR="20333" marT="10167" marB="10167"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006829"/>
                    </a:solidFill>
                  </a:tcPr>
                </a:tc>
                <a:tc>
                  <a:txBody>
                    <a:bodyPr/>
                    <a:lstStyle/>
                    <a:p>
                      <a:pPr algn="ctr">
                        <a:buNone/>
                      </a:pPr>
                      <a:r>
                        <a:rPr lang="en-VN" sz="1400" b="1" dirty="0">
                          <a:solidFill>
                            <a:schemeClr val="bg1"/>
                          </a:solidFill>
                          <a:latin typeface="Cambria" panose="02040503050406030204" pitchFamily="18" charset="0"/>
                        </a:rPr>
                        <a:t>ĐỊNH NGHĨA</a:t>
                      </a:r>
                    </a:p>
                  </a:txBody>
                  <a:tcPr marL="20333" marR="20333" marT="10167" marB="10167"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006829"/>
                    </a:solidFill>
                  </a:tcPr>
                </a:tc>
                <a:extLst>
                  <a:ext uri="{0D108BD9-81ED-4DB2-BD59-A6C34878D82A}">
                    <a16:rowId xmlns:a16="http://schemas.microsoft.com/office/drawing/2014/main" val="1968715294"/>
                  </a:ext>
                </a:extLst>
              </a:tr>
              <a:tr h="474983">
                <a:tc>
                  <a:txBody>
                    <a:bodyPr/>
                    <a:lstStyle/>
                    <a:p>
                      <a:pPr algn="l">
                        <a:buNone/>
                      </a:pPr>
                      <a:r>
                        <a:rPr lang="en-VN" sz="1400" dirty="0">
                          <a:latin typeface="Cambria" panose="02040503050406030204" pitchFamily="18" charset="0"/>
                        </a:rPr>
                        <a:t>1</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buNone/>
                      </a:pPr>
                      <a:r>
                        <a:rPr lang="en-VN" sz="1400" dirty="0">
                          <a:latin typeface="Cambria" panose="02040503050406030204" pitchFamily="18" charset="0"/>
                        </a:rPr>
                        <a:t>Phiếu</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buNone/>
                      </a:pPr>
                      <a:r>
                        <a:rPr lang="en-VN" sz="1400">
                          <a:latin typeface="Cambria" panose="02040503050406030204" pitchFamily="18" charset="0"/>
                        </a:rPr>
                        <a:t>Yêu cầu sử dụng xe công vụ do người dùng đăng ký.</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917128193"/>
                  </a:ext>
                </a:extLst>
              </a:tr>
              <a:tr h="474983">
                <a:tc>
                  <a:txBody>
                    <a:bodyPr/>
                    <a:lstStyle/>
                    <a:p>
                      <a:pPr algn="l">
                        <a:buNone/>
                      </a:pPr>
                      <a:r>
                        <a:rPr lang="en-VN" sz="1400" dirty="0">
                          <a:latin typeface="Cambria" panose="02040503050406030204" pitchFamily="18" charset="0"/>
                        </a:rPr>
                        <a:t>2</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buNone/>
                      </a:pPr>
                      <a:r>
                        <a:rPr lang="en-VN" sz="1400" dirty="0">
                          <a:latin typeface="Cambria" panose="02040503050406030204" pitchFamily="18" charset="0"/>
                        </a:rPr>
                        <a:t>Chuyến</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buNone/>
                      </a:pPr>
                      <a:r>
                        <a:rPr lang="en-VN" sz="1400">
                          <a:latin typeface="Cambria" panose="02040503050406030204" pitchFamily="18" charset="0"/>
                        </a:rPr>
                        <a:t>Một lần xe thực hiện hành trình theo kế hoạch, có thời gian, xe và tài xế cụ thể.</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885458055"/>
                  </a:ext>
                </a:extLst>
              </a:tr>
              <a:tr h="474983">
                <a:tc>
                  <a:txBody>
                    <a:bodyPr/>
                    <a:lstStyle/>
                    <a:p>
                      <a:pPr algn="l">
                        <a:buNone/>
                      </a:pPr>
                      <a:r>
                        <a:rPr lang="en-VN" sz="1400" dirty="0">
                          <a:latin typeface="Cambria" panose="02040503050406030204" pitchFamily="18" charset="0"/>
                        </a:rPr>
                        <a:t>3</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buNone/>
                      </a:pPr>
                      <a:r>
                        <a:rPr lang="en-VN" sz="1400" dirty="0">
                          <a:latin typeface="Cambria" panose="02040503050406030204" pitchFamily="18" charset="0"/>
                        </a:rPr>
                        <a:t>Tuyến</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buNone/>
                      </a:pPr>
                      <a:r>
                        <a:rPr lang="en-VN" sz="1400" dirty="0">
                          <a:latin typeface="Cambria" panose="02040503050406030204" pitchFamily="18" charset="0"/>
                        </a:rPr>
                        <a:t>Lộ trình kết nối các điểm trên mạng lưới giao thông, làm cơ sở để tạo chuyến.</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725444026"/>
                  </a:ext>
                </a:extLst>
              </a:tr>
              <a:tr h="474983">
                <a:tc>
                  <a:txBody>
                    <a:bodyPr/>
                    <a:lstStyle/>
                    <a:p>
                      <a:pPr algn="l">
                        <a:buNone/>
                      </a:pPr>
                      <a:r>
                        <a:rPr lang="en-VN" sz="1400">
                          <a:latin typeface="Cambria" panose="02040503050406030204" pitchFamily="18" charset="0"/>
                        </a:rPr>
                        <a:t>6</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buNone/>
                      </a:pPr>
                      <a:r>
                        <a:rPr lang="en-VN" sz="1400" dirty="0">
                          <a:latin typeface="Cambria" panose="02040503050406030204" pitchFamily="18" charset="0"/>
                        </a:rPr>
                        <a:t>Điểm trung chuyển</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buNone/>
                      </a:pPr>
                      <a:r>
                        <a:rPr lang="en-VN" sz="1400" dirty="0">
                          <a:latin typeface="Cambria" panose="02040503050406030204" pitchFamily="18" charset="0"/>
                        </a:rPr>
                        <a:t>Địa điểm hành khách hoặc xe chuyển tiếp sang chặng/chuyến khác.</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371835823"/>
                  </a:ext>
                </a:extLst>
              </a:tr>
              <a:tr h="474983">
                <a:tc>
                  <a:txBody>
                    <a:bodyPr/>
                    <a:lstStyle/>
                    <a:p>
                      <a:pPr algn="l">
                        <a:buNone/>
                      </a:pPr>
                      <a:r>
                        <a:rPr lang="en-VN" sz="1400" dirty="0">
                          <a:latin typeface="Cambria" panose="02040503050406030204" pitchFamily="18" charset="0"/>
                        </a:rPr>
                        <a:t>7</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buNone/>
                      </a:pPr>
                      <a:r>
                        <a:rPr lang="en-VN" sz="1400" dirty="0">
                          <a:latin typeface="Cambria" panose="02040503050406030204" pitchFamily="18" charset="0"/>
                        </a:rPr>
                        <a:t>Chuyến thẳng</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buNone/>
                      </a:pPr>
                      <a:r>
                        <a:rPr lang="en-VN" sz="1400" dirty="0">
                          <a:latin typeface="Cambria" panose="02040503050406030204" pitchFamily="18" charset="0"/>
                        </a:rPr>
                        <a:t>Chuyến mà hành khách đi từ điểm đi đến điểm đến bằng một xe, không đổi xe.</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4281278993"/>
                  </a:ext>
                </a:extLst>
              </a:tr>
              <a:tr h="474983">
                <a:tc>
                  <a:txBody>
                    <a:bodyPr/>
                    <a:lstStyle/>
                    <a:p>
                      <a:pPr algn="l">
                        <a:buNone/>
                      </a:pPr>
                      <a:r>
                        <a:rPr lang="en-VN" sz="1400" dirty="0">
                          <a:latin typeface="Cambria" panose="02040503050406030204" pitchFamily="18" charset="0"/>
                        </a:rPr>
                        <a:t>8</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buNone/>
                      </a:pPr>
                      <a:r>
                        <a:rPr lang="en-VN" sz="1400" dirty="0">
                          <a:latin typeface="Cambria" panose="02040503050406030204" pitchFamily="18" charset="0"/>
                        </a:rPr>
                        <a:t>Nối chuyến</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buNone/>
                      </a:pPr>
                      <a:r>
                        <a:rPr lang="en-VN" sz="1400" dirty="0">
                          <a:latin typeface="Cambria" panose="02040503050406030204" pitchFamily="18" charset="0"/>
                        </a:rPr>
                        <a:t>Hình thức hành trình sử dụng từ hai chuyến xe trở lên và đổi xe tại điểm trung chuyển.</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971632544"/>
                  </a:ext>
                </a:extLst>
              </a:tr>
              <a:tr h="474983">
                <a:tc>
                  <a:txBody>
                    <a:bodyPr/>
                    <a:lstStyle/>
                    <a:p>
                      <a:pPr algn="l">
                        <a:buNone/>
                      </a:pPr>
                      <a:r>
                        <a:rPr lang="en-VN" sz="1400" dirty="0">
                          <a:latin typeface="Cambria" panose="02040503050406030204" pitchFamily="18" charset="0"/>
                        </a:rPr>
                        <a:t>9</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buNone/>
                      </a:pPr>
                      <a:r>
                        <a:rPr lang="en-VN" sz="1400" dirty="0">
                          <a:latin typeface="Cambria" panose="02040503050406030204" pitchFamily="18" charset="0"/>
                        </a:rPr>
                        <a:t>Ghép chuyến</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buNone/>
                      </a:pPr>
                      <a:r>
                        <a:rPr lang="en-VN" sz="1400" dirty="0">
                          <a:latin typeface="Cambria" panose="02040503050406030204" pitchFamily="18" charset="0"/>
                        </a:rPr>
                        <a:t>Việc đưa nhiều phiếu có nhu cầu phù hợp vào cùng một chuyến xe.</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505993977"/>
                  </a:ext>
                </a:extLst>
              </a:tr>
              <a:tr h="533955">
                <a:tc>
                  <a:txBody>
                    <a:bodyPr/>
                    <a:lstStyle/>
                    <a:p>
                      <a:pPr algn="l">
                        <a:buNone/>
                      </a:pPr>
                      <a:r>
                        <a:rPr lang="en-VN" sz="1400" dirty="0">
                          <a:latin typeface="Cambria" panose="02040503050406030204" pitchFamily="18" charset="0"/>
                        </a:rPr>
                        <a:t>10</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buNone/>
                      </a:pPr>
                      <a:r>
                        <a:rPr lang="en-VN" sz="1400" dirty="0">
                          <a:latin typeface="Cambria" panose="02040503050406030204" pitchFamily="18" charset="0"/>
                        </a:rPr>
                        <a:t>Cùng hướng</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buNone/>
                      </a:pPr>
                      <a:r>
                        <a:rPr lang="en-VN" sz="1400" dirty="0">
                          <a:latin typeface="Cambria" panose="02040503050406030204" pitchFamily="18" charset="0"/>
                        </a:rPr>
                        <a:t>Các nhu cầu có phần hành trình trùng hoặc gần trùng nhau trong cùng khoảng thời gian và có khả năng đi chung xe.</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92927999"/>
                  </a:ext>
                </a:extLst>
              </a:tr>
              <a:tr h="533955">
                <a:tc>
                  <a:txBody>
                    <a:bodyPr/>
                    <a:lstStyle/>
                    <a:p>
                      <a:pPr algn="l">
                        <a:buNone/>
                      </a:pPr>
                      <a:r>
                        <a:rPr lang="en-VN" sz="1400" dirty="0">
                          <a:latin typeface="Cambria" panose="02040503050406030204" pitchFamily="18" charset="0"/>
                        </a:rPr>
                        <a:t>11</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buNone/>
                      </a:pPr>
                      <a:r>
                        <a:rPr lang="en-VN" sz="1400" dirty="0">
                          <a:latin typeface="Cambria" panose="02040503050406030204" pitchFamily="18" charset="0"/>
                        </a:rPr>
                        <a:t>Chuyến nội bộ</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buNone/>
                      </a:pPr>
                      <a:r>
                        <a:rPr lang="en-VN" sz="1400" dirty="0">
                          <a:latin typeface="Cambria" panose="02040503050406030204" pitchFamily="18" charset="0"/>
                        </a:rPr>
                        <a:t>Chuyến xe thực hiện trên một tuyến nội bộ.</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91880849"/>
                  </a:ext>
                </a:extLst>
              </a:tr>
              <a:tr h="533955">
                <a:tc>
                  <a:txBody>
                    <a:bodyPr/>
                    <a:lstStyle/>
                    <a:p>
                      <a:pPr algn="l">
                        <a:buNone/>
                      </a:pPr>
                      <a:r>
                        <a:rPr lang="en-VN" sz="1400" dirty="0">
                          <a:latin typeface="Cambria" panose="02040503050406030204" pitchFamily="18" charset="0"/>
                        </a:rPr>
                        <a:t>12</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buNone/>
                      </a:pPr>
                      <a:r>
                        <a:rPr lang="en-VN" sz="1400" dirty="0">
                          <a:latin typeface="Cambria" panose="02040503050406030204" pitchFamily="18" charset="0"/>
                        </a:rPr>
                        <a:t>Chuyến liên khu vực</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buNone/>
                      </a:pPr>
                      <a:r>
                        <a:rPr lang="en-VN" sz="1400" dirty="0">
                          <a:latin typeface="Cambria" panose="02040503050406030204" pitchFamily="18" charset="0"/>
                        </a:rPr>
                        <a:t>Chuyến xe thực hiện trên tuyến kết nối giữa các khu vực.</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4856627"/>
                  </a:ext>
                </a:extLst>
              </a:tr>
              <a:tr h="533955">
                <a:tc>
                  <a:txBody>
                    <a:bodyPr/>
                    <a:lstStyle/>
                    <a:p>
                      <a:pPr algn="l">
                        <a:buNone/>
                      </a:pPr>
                      <a:r>
                        <a:rPr lang="en-VN" sz="1400" dirty="0">
                          <a:latin typeface="Cambria" panose="02040503050406030204" pitchFamily="18" charset="0"/>
                        </a:rPr>
                        <a:t>13</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buNone/>
                      </a:pPr>
                      <a:r>
                        <a:rPr lang="en-VN" sz="1400" dirty="0">
                          <a:latin typeface="Cambria" panose="02040503050406030204" pitchFamily="18" charset="0"/>
                        </a:rPr>
                        <a:t>Sơ đồ hành trình</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buNone/>
                      </a:pPr>
                      <a:r>
                        <a:rPr lang="en-VN" sz="1400" dirty="0">
                          <a:latin typeface="Cambria" panose="02040503050406030204" pitchFamily="18" charset="0"/>
                        </a:rPr>
                        <a:t>Hiển thị toàn bộ các điểm đi – điểm đến và khoảng cách giữa các điểm.</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904613426"/>
                  </a:ext>
                </a:extLst>
              </a:tr>
            </a:tbl>
          </a:graphicData>
        </a:graphic>
      </p:graphicFrame>
    </p:spTree>
    <p:extLst>
      <p:ext uri="{BB962C8B-B14F-4D97-AF65-F5344CB8AC3E}">
        <p14:creationId xmlns:p14="http://schemas.microsoft.com/office/powerpoint/2010/main" val="3046596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B14679-28EA-8002-AC17-5FEB7B65C158}"/>
            </a:ext>
          </a:extLst>
        </p:cNvPr>
        <p:cNvGrpSpPr/>
        <p:nvPr/>
      </p:nvGrpSpPr>
      <p:grpSpPr>
        <a:xfrm>
          <a:off x="0" y="0"/>
          <a:ext cx="0" cy="0"/>
          <a:chOff x="0" y="0"/>
          <a:chExt cx="0" cy="0"/>
        </a:xfrm>
      </p:grpSpPr>
      <p:sp>
        <p:nvSpPr>
          <p:cNvPr id="6" name="Alternate Process 5">
            <a:extLst>
              <a:ext uri="{FF2B5EF4-FFF2-40B4-BE49-F238E27FC236}">
                <a16:creationId xmlns:a16="http://schemas.microsoft.com/office/drawing/2014/main" id="{1682231B-5D1C-7F5A-8110-4218AA4CA3CC}"/>
              </a:ext>
            </a:extLst>
          </p:cNvPr>
          <p:cNvSpPr/>
          <p:nvPr/>
        </p:nvSpPr>
        <p:spPr>
          <a:xfrm>
            <a:off x="1891937" y="1206611"/>
            <a:ext cx="2522433" cy="4064636"/>
          </a:xfrm>
          <a:prstGeom prst="flowChartAlternateProcess">
            <a:avLst/>
          </a:prstGeom>
          <a:solidFill>
            <a:schemeClr val="accent5">
              <a:lumMod val="75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vi-VN" dirty="0">
              <a:solidFill>
                <a:srgbClr val="0B6F2A"/>
              </a:solidFill>
              <a:latin typeface="Cambria" panose="02040503050406030204" pitchFamily="18" charset="0"/>
            </a:endParaRPr>
          </a:p>
        </p:txBody>
      </p:sp>
      <p:sp>
        <p:nvSpPr>
          <p:cNvPr id="2" name="Title 1">
            <a:extLst>
              <a:ext uri="{FF2B5EF4-FFF2-40B4-BE49-F238E27FC236}">
                <a16:creationId xmlns:a16="http://schemas.microsoft.com/office/drawing/2014/main" id="{42941AEB-054F-0CAF-765B-20C72DEB1AB6}"/>
              </a:ext>
            </a:extLst>
          </p:cNvPr>
          <p:cNvSpPr>
            <a:spLocks noGrp="1"/>
          </p:cNvSpPr>
          <p:nvPr>
            <p:ph type="title"/>
          </p:nvPr>
        </p:nvSpPr>
        <p:spPr/>
        <p:txBody>
          <a:bodyPr anchor="ctr"/>
          <a:lstStyle/>
          <a:p>
            <a:r>
              <a:rPr lang="en-US" dirty="0">
                <a:solidFill>
                  <a:srgbClr val="FF0000"/>
                </a:solidFill>
                <a:latin typeface="Cambria" panose="02040503050406030204" pitchFamily="18" charset="0"/>
              </a:rPr>
              <a:t>TỔNG QUAN CÁC TÍNH NĂNG CỦA PHẦN MỀM</a:t>
            </a:r>
          </a:p>
        </p:txBody>
      </p:sp>
      <p:sp>
        <p:nvSpPr>
          <p:cNvPr id="5" name="Alternate Process 4">
            <a:extLst>
              <a:ext uri="{FF2B5EF4-FFF2-40B4-BE49-F238E27FC236}">
                <a16:creationId xmlns:a16="http://schemas.microsoft.com/office/drawing/2014/main" id="{22A92B53-08F7-64C1-6D84-469CBFE953A6}"/>
              </a:ext>
            </a:extLst>
          </p:cNvPr>
          <p:cNvSpPr/>
          <p:nvPr/>
        </p:nvSpPr>
        <p:spPr>
          <a:xfrm>
            <a:off x="2023316" y="1445425"/>
            <a:ext cx="2259676" cy="588660"/>
          </a:xfrm>
          <a:prstGeom prst="flowChartAlternateProcess">
            <a:avLst/>
          </a:prstGeom>
          <a:solidFill>
            <a:schemeClr val="accent6">
              <a:lumMod val="75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vi-VN" dirty="0">
                <a:solidFill>
                  <a:schemeClr val="bg1"/>
                </a:solidFill>
                <a:latin typeface="Cambria" panose="02040503050406030204" pitchFamily="18" charset="0"/>
              </a:rPr>
              <a:t>Điều phối xe tập trung</a:t>
            </a:r>
          </a:p>
        </p:txBody>
      </p:sp>
      <p:sp>
        <p:nvSpPr>
          <p:cNvPr id="11" name="Alternate Process 10">
            <a:extLst>
              <a:ext uri="{FF2B5EF4-FFF2-40B4-BE49-F238E27FC236}">
                <a16:creationId xmlns:a16="http://schemas.microsoft.com/office/drawing/2014/main" id="{2E3D91D5-9D5D-0C9B-C940-0C9F7D26E9E0}"/>
              </a:ext>
            </a:extLst>
          </p:cNvPr>
          <p:cNvSpPr/>
          <p:nvPr/>
        </p:nvSpPr>
        <p:spPr>
          <a:xfrm>
            <a:off x="2023316" y="2155108"/>
            <a:ext cx="2259676" cy="2995116"/>
          </a:xfrm>
          <a:prstGeom prst="flowChartAlternateProcess">
            <a:avLst/>
          </a:prstGeom>
          <a:solidFill>
            <a:schemeClr val="accent4">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t"/>
          <a:lstStyle/>
          <a:p>
            <a:pPr marL="187325" indent="-187325">
              <a:buAutoNum type="arabicPeriod"/>
            </a:pPr>
            <a:r>
              <a:rPr lang="vi-VN" sz="1400" dirty="0">
                <a:solidFill>
                  <a:srgbClr val="0B6F2A"/>
                </a:solidFill>
                <a:latin typeface="Cambria" panose="02040503050406030204" pitchFamily="18" charset="0"/>
              </a:rPr>
              <a:t>Đăng ký xe.</a:t>
            </a:r>
          </a:p>
          <a:p>
            <a:pPr marL="187325" indent="-187325">
              <a:buAutoNum type="arabicPeriod"/>
            </a:pPr>
            <a:r>
              <a:rPr lang="vi-VN" sz="1400" dirty="0">
                <a:solidFill>
                  <a:srgbClr val="0B6F2A"/>
                </a:solidFill>
                <a:latin typeface="Cambria" panose="02040503050406030204" pitchFamily="18" charset="0"/>
              </a:rPr>
              <a:t>Điều phối xe</a:t>
            </a:r>
          </a:p>
          <a:p>
            <a:pPr marL="187325" indent="-187325">
              <a:buAutoNum type="arabicPeriod"/>
            </a:pPr>
            <a:r>
              <a:rPr lang="vi-VN" sz="1400" dirty="0">
                <a:solidFill>
                  <a:srgbClr val="0B6F2A"/>
                </a:solidFill>
                <a:latin typeface="Cambria" panose="02040503050406030204" pitchFamily="18" charset="0"/>
              </a:rPr>
              <a:t>Giám sát lái xe trong quá trình di chuyển</a:t>
            </a:r>
          </a:p>
          <a:p>
            <a:pPr marL="187325" indent="-187325">
              <a:buAutoNum type="arabicPeriod"/>
            </a:pPr>
            <a:r>
              <a:rPr lang="vi-VN" sz="1400" dirty="0">
                <a:solidFill>
                  <a:srgbClr val="0B6F2A"/>
                </a:solidFill>
                <a:latin typeface="Cambria" panose="02040503050406030204" pitchFamily="18" charset="0"/>
              </a:rPr>
              <a:t>Báo cáo sự cố – tai nạn</a:t>
            </a:r>
          </a:p>
          <a:p>
            <a:pPr marL="187325" indent="-187325">
              <a:buAutoNum type="arabicPeriod"/>
            </a:pPr>
            <a:r>
              <a:rPr lang="vi-VN" sz="1400" dirty="0">
                <a:solidFill>
                  <a:srgbClr val="0B6F2A"/>
                </a:solidFill>
                <a:latin typeface="Cambria" panose="02040503050406030204" pitchFamily="18" charset="0"/>
              </a:rPr>
              <a:t>Ghi nhận thông tin di chuyển và chi phí chuyến đi</a:t>
            </a:r>
          </a:p>
        </p:txBody>
      </p:sp>
      <p:sp>
        <p:nvSpPr>
          <p:cNvPr id="13" name="Alternate Process 12">
            <a:extLst>
              <a:ext uri="{FF2B5EF4-FFF2-40B4-BE49-F238E27FC236}">
                <a16:creationId xmlns:a16="http://schemas.microsoft.com/office/drawing/2014/main" id="{ABE3F796-47EA-5F43-029B-F04944B22E32}"/>
              </a:ext>
            </a:extLst>
          </p:cNvPr>
          <p:cNvSpPr/>
          <p:nvPr/>
        </p:nvSpPr>
        <p:spPr>
          <a:xfrm>
            <a:off x="4813762" y="1206611"/>
            <a:ext cx="2522433" cy="4064636"/>
          </a:xfrm>
          <a:prstGeom prst="flowChartAlternateProcess">
            <a:avLst/>
          </a:prstGeom>
          <a:solidFill>
            <a:schemeClr val="accent5">
              <a:lumMod val="75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vi-VN" dirty="0">
              <a:solidFill>
                <a:srgbClr val="0B6F2A"/>
              </a:solidFill>
              <a:latin typeface="Cambria" panose="02040503050406030204" pitchFamily="18" charset="0"/>
            </a:endParaRPr>
          </a:p>
        </p:txBody>
      </p:sp>
      <p:sp>
        <p:nvSpPr>
          <p:cNvPr id="21" name="Alternate Process 20">
            <a:extLst>
              <a:ext uri="{FF2B5EF4-FFF2-40B4-BE49-F238E27FC236}">
                <a16:creationId xmlns:a16="http://schemas.microsoft.com/office/drawing/2014/main" id="{AF3A18EB-E340-6DC8-9D13-972F1809F870}"/>
              </a:ext>
            </a:extLst>
          </p:cNvPr>
          <p:cNvSpPr/>
          <p:nvPr/>
        </p:nvSpPr>
        <p:spPr>
          <a:xfrm>
            <a:off x="5022655" y="1433535"/>
            <a:ext cx="2146690" cy="600550"/>
          </a:xfrm>
          <a:prstGeom prst="flowChartAlternateProcess">
            <a:avLst/>
          </a:prstGeom>
          <a:solidFill>
            <a:schemeClr val="accent6">
              <a:lumMod val="75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vi-VN" dirty="0">
                <a:solidFill>
                  <a:schemeClr val="bg1"/>
                </a:solidFill>
                <a:latin typeface="Cambria" panose="02040503050406030204" pitchFamily="18" charset="0"/>
              </a:rPr>
              <a:t>Quản lý xe – tài xế</a:t>
            </a:r>
          </a:p>
        </p:txBody>
      </p:sp>
      <p:sp>
        <p:nvSpPr>
          <p:cNvPr id="22" name="Alternate Process 21">
            <a:extLst>
              <a:ext uri="{FF2B5EF4-FFF2-40B4-BE49-F238E27FC236}">
                <a16:creationId xmlns:a16="http://schemas.microsoft.com/office/drawing/2014/main" id="{7D5FFAA5-4146-1BD5-54FE-7639D6F363FF}"/>
              </a:ext>
            </a:extLst>
          </p:cNvPr>
          <p:cNvSpPr/>
          <p:nvPr/>
        </p:nvSpPr>
        <p:spPr>
          <a:xfrm>
            <a:off x="4945141" y="2155108"/>
            <a:ext cx="2259676" cy="2995116"/>
          </a:xfrm>
          <a:prstGeom prst="flowChartAlternateProcess">
            <a:avLst/>
          </a:prstGeom>
          <a:solidFill>
            <a:schemeClr val="accent4">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t"/>
          <a:lstStyle/>
          <a:p>
            <a:pPr marL="228600" indent="-228600">
              <a:buAutoNum type="arabicPeriod"/>
            </a:pPr>
            <a:r>
              <a:rPr lang="vi-VN" sz="1400" dirty="0">
                <a:solidFill>
                  <a:srgbClr val="0B6F2A"/>
                </a:solidFill>
                <a:latin typeface="Cambria" panose="02040503050406030204" pitchFamily="18" charset="0"/>
              </a:rPr>
              <a:t>Quản lý thông tin xe</a:t>
            </a:r>
          </a:p>
          <a:p>
            <a:pPr marL="228600" indent="-228600">
              <a:buAutoNum type="arabicPeriod"/>
            </a:pPr>
            <a:r>
              <a:rPr lang="vi-VN" sz="1400" dirty="0">
                <a:solidFill>
                  <a:srgbClr val="0B6F2A"/>
                </a:solidFill>
                <a:latin typeface="Cambria" panose="02040503050406030204" pitchFamily="18" charset="0"/>
              </a:rPr>
              <a:t>Quản lý thời gian bảo dưỡng.</a:t>
            </a:r>
          </a:p>
          <a:p>
            <a:pPr marL="228600" indent="-228600">
              <a:buAutoNum type="arabicPeriod"/>
            </a:pPr>
            <a:r>
              <a:rPr lang="vi-VN" sz="1400" dirty="0">
                <a:solidFill>
                  <a:srgbClr val="0B6F2A"/>
                </a:solidFill>
                <a:latin typeface="Cambria" panose="02040503050406030204" pitchFamily="18" charset="0"/>
              </a:rPr>
              <a:t>Quản lý đăng kiểm, transit.</a:t>
            </a:r>
          </a:p>
          <a:p>
            <a:pPr marL="228600" indent="-228600">
              <a:buAutoNum type="arabicPeriod"/>
            </a:pPr>
            <a:r>
              <a:rPr lang="vi-VN" sz="1400" dirty="0">
                <a:solidFill>
                  <a:srgbClr val="0B6F2A"/>
                </a:solidFill>
                <a:latin typeface="Cambria" panose="02040503050406030204" pitchFamily="18" charset="0"/>
              </a:rPr>
              <a:t>Quản lý định mức nhiên liệu.</a:t>
            </a:r>
          </a:p>
          <a:p>
            <a:pPr marL="228600" indent="-228600">
              <a:buAutoNum type="arabicPeriod"/>
            </a:pPr>
            <a:r>
              <a:rPr lang="vi-VN" sz="1400" dirty="0">
                <a:solidFill>
                  <a:srgbClr val="0B6F2A"/>
                </a:solidFill>
                <a:latin typeface="Cambria" panose="02040503050406030204" pitchFamily="18" charset="0"/>
              </a:rPr>
              <a:t>Quản lý thông tin tài xế, phân vùng tài xế theo khu vực quản lý</a:t>
            </a:r>
          </a:p>
          <a:p>
            <a:pPr marL="228600" indent="-228600">
              <a:buAutoNum type="arabicPeriod"/>
            </a:pPr>
            <a:r>
              <a:rPr lang="vi-VN" sz="1400" dirty="0">
                <a:solidFill>
                  <a:srgbClr val="0B6F2A"/>
                </a:solidFill>
                <a:latin typeface="Cambria" panose="02040503050406030204" pitchFamily="18" charset="0"/>
              </a:rPr>
              <a:t>Giám sát vị trí xe (GPS) theo thời gian thực.</a:t>
            </a:r>
          </a:p>
        </p:txBody>
      </p:sp>
      <p:sp>
        <p:nvSpPr>
          <p:cNvPr id="23" name="Alternate Process 22">
            <a:extLst>
              <a:ext uri="{FF2B5EF4-FFF2-40B4-BE49-F238E27FC236}">
                <a16:creationId xmlns:a16="http://schemas.microsoft.com/office/drawing/2014/main" id="{A90E34FD-A334-86E1-E563-69ED4D15DAF6}"/>
              </a:ext>
            </a:extLst>
          </p:cNvPr>
          <p:cNvSpPr/>
          <p:nvPr/>
        </p:nvSpPr>
        <p:spPr>
          <a:xfrm>
            <a:off x="7735587" y="1206611"/>
            <a:ext cx="2522433" cy="4064636"/>
          </a:xfrm>
          <a:prstGeom prst="flowChartAlternateProcess">
            <a:avLst/>
          </a:prstGeom>
          <a:solidFill>
            <a:schemeClr val="accent5">
              <a:lumMod val="75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vi-VN" dirty="0">
              <a:solidFill>
                <a:srgbClr val="0B6F2A"/>
              </a:solidFill>
              <a:latin typeface="Cambria" panose="02040503050406030204" pitchFamily="18" charset="0"/>
            </a:endParaRPr>
          </a:p>
        </p:txBody>
      </p:sp>
      <p:sp>
        <p:nvSpPr>
          <p:cNvPr id="24" name="Alternate Process 23">
            <a:extLst>
              <a:ext uri="{FF2B5EF4-FFF2-40B4-BE49-F238E27FC236}">
                <a16:creationId xmlns:a16="http://schemas.microsoft.com/office/drawing/2014/main" id="{CB3CABA5-B3E3-3D63-4676-9688FEED337F}"/>
              </a:ext>
            </a:extLst>
          </p:cNvPr>
          <p:cNvSpPr/>
          <p:nvPr/>
        </p:nvSpPr>
        <p:spPr>
          <a:xfrm>
            <a:off x="8000971" y="1458625"/>
            <a:ext cx="1991663" cy="575459"/>
          </a:xfrm>
          <a:prstGeom prst="flowChartAlternateProcess">
            <a:avLst/>
          </a:prstGeom>
          <a:solidFill>
            <a:schemeClr val="accent6">
              <a:lumMod val="75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vi-VN" dirty="0">
                <a:solidFill>
                  <a:schemeClr val="bg1"/>
                </a:solidFill>
                <a:latin typeface="Cambria" panose="02040503050406030204" pitchFamily="18" charset="0"/>
              </a:rPr>
              <a:t>Báo cáo - Chi phí</a:t>
            </a:r>
          </a:p>
        </p:txBody>
      </p:sp>
      <p:sp>
        <p:nvSpPr>
          <p:cNvPr id="25" name="Alternate Process 24">
            <a:extLst>
              <a:ext uri="{FF2B5EF4-FFF2-40B4-BE49-F238E27FC236}">
                <a16:creationId xmlns:a16="http://schemas.microsoft.com/office/drawing/2014/main" id="{2CC43D08-1CCA-E625-2C16-A3C4A00E4829}"/>
              </a:ext>
            </a:extLst>
          </p:cNvPr>
          <p:cNvSpPr/>
          <p:nvPr/>
        </p:nvSpPr>
        <p:spPr>
          <a:xfrm>
            <a:off x="7866966" y="2155108"/>
            <a:ext cx="2259676" cy="2995116"/>
          </a:xfrm>
          <a:prstGeom prst="flowChartAlternateProcess">
            <a:avLst/>
          </a:prstGeom>
          <a:solidFill>
            <a:schemeClr val="accent4">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t"/>
          <a:lstStyle/>
          <a:p>
            <a:pPr marL="228600" indent="-228600">
              <a:buAutoNum type="arabicPeriod"/>
            </a:pPr>
            <a:r>
              <a:rPr lang="vi-VN" sz="1400" dirty="0">
                <a:solidFill>
                  <a:srgbClr val="0B6F2A"/>
                </a:solidFill>
                <a:latin typeface="Cambria" panose="02040503050406030204" pitchFamily="18" charset="0"/>
              </a:rPr>
              <a:t>Màn hình Dashboard mô hình hóa thông tin hệ thống.</a:t>
            </a:r>
          </a:p>
          <a:p>
            <a:pPr marL="228600" indent="-228600">
              <a:buAutoNum type="arabicPeriod"/>
            </a:pPr>
            <a:r>
              <a:rPr lang="vi-VN" sz="1400" dirty="0">
                <a:solidFill>
                  <a:srgbClr val="0B6F2A"/>
                </a:solidFill>
                <a:latin typeface="Cambria" panose="02040503050406030204" pitchFamily="18" charset="0"/>
              </a:rPr>
              <a:t>Báo cáo đa hình: tài xế, xe, chuyến đi.</a:t>
            </a:r>
          </a:p>
          <a:p>
            <a:pPr marL="228600" indent="-228600">
              <a:buAutoNum type="arabicPeriod"/>
            </a:pPr>
            <a:r>
              <a:rPr lang="vi-VN" sz="1400" dirty="0">
                <a:solidFill>
                  <a:srgbClr val="0B6F2A"/>
                </a:solidFill>
                <a:latin typeface="Cambria" panose="02040503050406030204" pitchFamily="18" charset="0"/>
              </a:rPr>
              <a:t>Quản lý nhiên liệu.</a:t>
            </a:r>
          </a:p>
          <a:p>
            <a:pPr marL="228600" indent="-228600">
              <a:buAutoNum type="arabicPeriod"/>
            </a:pPr>
            <a:r>
              <a:rPr lang="vi-VN" sz="1400" dirty="0">
                <a:solidFill>
                  <a:srgbClr val="0B6F2A"/>
                </a:solidFill>
                <a:latin typeface="Cambria" panose="02040503050406030204" pitchFamily="18" charset="0"/>
              </a:rPr>
              <a:t>Quản lý chi phí phát sinh khác.</a:t>
            </a:r>
          </a:p>
        </p:txBody>
      </p:sp>
      <p:sp>
        <p:nvSpPr>
          <p:cNvPr id="29" name="Alternate Process 28">
            <a:extLst>
              <a:ext uri="{FF2B5EF4-FFF2-40B4-BE49-F238E27FC236}">
                <a16:creationId xmlns:a16="http://schemas.microsoft.com/office/drawing/2014/main" id="{4B6218B4-7634-02CD-FD85-B0FBBF8031B1}"/>
              </a:ext>
            </a:extLst>
          </p:cNvPr>
          <p:cNvSpPr/>
          <p:nvPr/>
        </p:nvSpPr>
        <p:spPr>
          <a:xfrm>
            <a:off x="790207" y="5836023"/>
            <a:ext cx="10611586" cy="567841"/>
          </a:xfrm>
          <a:prstGeom prst="flowChartAlternateProcess">
            <a:avLst/>
          </a:prstGeom>
          <a:solidFill>
            <a:srgbClr val="006829"/>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VN" sz="1600" dirty="0">
                <a:solidFill>
                  <a:schemeClr val="bg1"/>
                </a:solidFill>
                <a:latin typeface="Cambria" panose="02040503050406030204" pitchFamily="18" charset="0"/>
              </a:rPr>
              <a:t>Nền tảng quản lý tập trung toàn bộ hoạt động điều phối, vận hành đội xe công vụ theo các cấp từ VPĐH đến KLH và XN.</a:t>
            </a:r>
            <a:endParaRPr lang="vi-VN" sz="1600" dirty="0">
              <a:solidFill>
                <a:schemeClr val="bg1"/>
              </a:solidFill>
              <a:latin typeface="Cambria" panose="02040503050406030204" pitchFamily="18" charset="0"/>
            </a:endParaRPr>
          </a:p>
        </p:txBody>
      </p:sp>
    </p:spTree>
    <p:extLst>
      <p:ext uri="{BB962C8B-B14F-4D97-AF65-F5344CB8AC3E}">
        <p14:creationId xmlns:p14="http://schemas.microsoft.com/office/powerpoint/2010/main" val="39174887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59F364-EE2B-0F59-A799-D27874C9625C}"/>
              </a:ext>
            </a:extLst>
          </p:cNvPr>
          <p:cNvSpPr>
            <a:spLocks noGrp="1"/>
          </p:cNvSpPr>
          <p:nvPr>
            <p:ph type="title"/>
          </p:nvPr>
        </p:nvSpPr>
        <p:spPr/>
        <p:txBody>
          <a:bodyPr anchor="ctr"/>
          <a:lstStyle/>
          <a:p>
            <a:r>
              <a:rPr lang="vi-VN" dirty="0">
                <a:solidFill>
                  <a:srgbClr val="FF0000"/>
                </a:solidFill>
                <a:latin typeface="Cambria" panose="02040503050406030204" pitchFamily="18" charset="0"/>
              </a:rPr>
              <a:t>PHÂN QUYỀN NGƯỜI DÙNG (</a:t>
            </a:r>
            <a:r>
              <a:rPr lang="en-VN" dirty="0">
                <a:solidFill>
                  <a:srgbClr val="FF0000"/>
                </a:solidFill>
                <a:latin typeface="Cambria" panose="02040503050406030204" pitchFamily="18" charset="0"/>
              </a:rPr>
              <a:t>RBAC</a:t>
            </a:r>
            <a:r>
              <a:rPr lang="vi-VN" dirty="0">
                <a:solidFill>
                  <a:srgbClr val="FF0000"/>
                </a:solidFill>
                <a:latin typeface="Cambria" panose="02040503050406030204" pitchFamily="18" charset="0"/>
              </a:rPr>
              <a:t>) TRONG PHẦN MỀM</a:t>
            </a:r>
          </a:p>
        </p:txBody>
      </p:sp>
      <p:graphicFrame>
        <p:nvGraphicFramePr>
          <p:cNvPr id="9" name="Table 8">
            <a:extLst>
              <a:ext uri="{FF2B5EF4-FFF2-40B4-BE49-F238E27FC236}">
                <a16:creationId xmlns:a16="http://schemas.microsoft.com/office/drawing/2014/main" id="{D9364B33-855F-5151-8A0E-79A98F681277}"/>
              </a:ext>
            </a:extLst>
          </p:cNvPr>
          <p:cNvGraphicFramePr>
            <a:graphicFrameLocks noGrp="1"/>
          </p:cNvGraphicFramePr>
          <p:nvPr>
            <p:extLst>
              <p:ext uri="{D42A27DB-BD31-4B8C-83A1-F6EECF244321}">
                <p14:modId xmlns:p14="http://schemas.microsoft.com/office/powerpoint/2010/main" val="583445866"/>
              </p:ext>
            </p:extLst>
          </p:nvPr>
        </p:nvGraphicFramePr>
        <p:xfrm>
          <a:off x="266262" y="1034977"/>
          <a:ext cx="11726049" cy="3566160"/>
        </p:xfrm>
        <a:graphic>
          <a:graphicData uri="http://schemas.openxmlformats.org/drawingml/2006/table">
            <a:tbl>
              <a:tblPr firstRow="1" bandRow="1">
                <a:tableStyleId>{5C22544A-7EE6-4342-B048-85BDC9FD1C3A}</a:tableStyleId>
              </a:tblPr>
              <a:tblGrid>
                <a:gridCol w="393932">
                  <a:extLst>
                    <a:ext uri="{9D8B030D-6E8A-4147-A177-3AD203B41FA5}">
                      <a16:colId xmlns:a16="http://schemas.microsoft.com/office/drawing/2014/main" val="4225549989"/>
                    </a:ext>
                  </a:extLst>
                </a:gridCol>
                <a:gridCol w="2066887">
                  <a:extLst>
                    <a:ext uri="{9D8B030D-6E8A-4147-A177-3AD203B41FA5}">
                      <a16:colId xmlns:a16="http://schemas.microsoft.com/office/drawing/2014/main" val="11578164"/>
                    </a:ext>
                  </a:extLst>
                </a:gridCol>
                <a:gridCol w="1029470">
                  <a:extLst>
                    <a:ext uri="{9D8B030D-6E8A-4147-A177-3AD203B41FA5}">
                      <a16:colId xmlns:a16="http://schemas.microsoft.com/office/drawing/2014/main" val="1094040752"/>
                    </a:ext>
                  </a:extLst>
                </a:gridCol>
                <a:gridCol w="1029470">
                  <a:extLst>
                    <a:ext uri="{9D8B030D-6E8A-4147-A177-3AD203B41FA5}">
                      <a16:colId xmlns:a16="http://schemas.microsoft.com/office/drawing/2014/main" val="214838729"/>
                    </a:ext>
                  </a:extLst>
                </a:gridCol>
                <a:gridCol w="1029470">
                  <a:extLst>
                    <a:ext uri="{9D8B030D-6E8A-4147-A177-3AD203B41FA5}">
                      <a16:colId xmlns:a16="http://schemas.microsoft.com/office/drawing/2014/main" val="4290553535"/>
                    </a:ext>
                  </a:extLst>
                </a:gridCol>
                <a:gridCol w="1029470">
                  <a:extLst>
                    <a:ext uri="{9D8B030D-6E8A-4147-A177-3AD203B41FA5}">
                      <a16:colId xmlns:a16="http://schemas.microsoft.com/office/drawing/2014/main" val="3061086983"/>
                    </a:ext>
                  </a:extLst>
                </a:gridCol>
                <a:gridCol w="1029470">
                  <a:extLst>
                    <a:ext uri="{9D8B030D-6E8A-4147-A177-3AD203B41FA5}">
                      <a16:colId xmlns:a16="http://schemas.microsoft.com/office/drawing/2014/main" val="4183021731"/>
                    </a:ext>
                  </a:extLst>
                </a:gridCol>
                <a:gridCol w="1029470">
                  <a:extLst>
                    <a:ext uri="{9D8B030D-6E8A-4147-A177-3AD203B41FA5}">
                      <a16:colId xmlns:a16="http://schemas.microsoft.com/office/drawing/2014/main" val="1594369746"/>
                    </a:ext>
                  </a:extLst>
                </a:gridCol>
                <a:gridCol w="1029470">
                  <a:extLst>
                    <a:ext uri="{9D8B030D-6E8A-4147-A177-3AD203B41FA5}">
                      <a16:colId xmlns:a16="http://schemas.microsoft.com/office/drawing/2014/main" val="820304493"/>
                    </a:ext>
                  </a:extLst>
                </a:gridCol>
                <a:gridCol w="1029470">
                  <a:extLst>
                    <a:ext uri="{9D8B030D-6E8A-4147-A177-3AD203B41FA5}">
                      <a16:colId xmlns:a16="http://schemas.microsoft.com/office/drawing/2014/main" val="2824248314"/>
                    </a:ext>
                  </a:extLst>
                </a:gridCol>
                <a:gridCol w="1029470">
                  <a:extLst>
                    <a:ext uri="{9D8B030D-6E8A-4147-A177-3AD203B41FA5}">
                      <a16:colId xmlns:a16="http://schemas.microsoft.com/office/drawing/2014/main" val="1305849638"/>
                    </a:ext>
                  </a:extLst>
                </a:gridCol>
              </a:tblGrid>
              <a:tr h="370840">
                <a:tc>
                  <a:txBody>
                    <a:bodyPr/>
                    <a:lstStyle/>
                    <a:p>
                      <a:pPr algn="ctr"/>
                      <a:r>
                        <a:rPr lang="vi-VN" sz="1300" dirty="0">
                          <a:latin typeface="Cambria" panose="02040503050406030204" pitchFamily="18" charset="0"/>
                        </a:rPr>
                        <a:t>TT</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006829"/>
                    </a:solidFill>
                  </a:tcPr>
                </a:tc>
                <a:tc>
                  <a:txBody>
                    <a:bodyPr/>
                    <a:lstStyle/>
                    <a:p>
                      <a:pPr algn="ctr"/>
                      <a:r>
                        <a:rPr lang="vi-VN" sz="1300" dirty="0">
                          <a:latin typeface="Cambria" panose="02040503050406030204" pitchFamily="18" charset="0"/>
                        </a:rPr>
                        <a:t>TÊN ĐỐI TƯỢNG</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006829"/>
                    </a:solidFill>
                  </a:tcPr>
                </a:tc>
                <a:tc>
                  <a:txBody>
                    <a:bodyPr/>
                    <a:lstStyle/>
                    <a:p>
                      <a:pPr algn="ctr"/>
                      <a:r>
                        <a:rPr lang="vi-VN" sz="1200" dirty="0">
                          <a:latin typeface="Cambria" panose="02040503050406030204" pitchFamily="18" charset="0"/>
                        </a:rPr>
                        <a:t>ĐẶT XE</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006829"/>
                    </a:solidFill>
                  </a:tcPr>
                </a:tc>
                <a:tc>
                  <a:txBody>
                    <a:bodyPr/>
                    <a:lstStyle/>
                    <a:p>
                      <a:pPr algn="ctr"/>
                      <a:r>
                        <a:rPr lang="vi-VN" sz="1200" dirty="0">
                          <a:latin typeface="Cambria" panose="02040503050406030204" pitchFamily="18" charset="0"/>
                        </a:rPr>
                        <a:t>ĐIỀU PHỐI CHUYẾN</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006829"/>
                    </a:solidFill>
                  </a:tcPr>
                </a:tc>
                <a:tc>
                  <a:txBody>
                    <a:bodyPr/>
                    <a:lstStyle/>
                    <a:p>
                      <a:pPr algn="ctr"/>
                      <a:r>
                        <a:rPr lang="vi-VN" sz="1200" dirty="0">
                          <a:latin typeface="Cambria" panose="02040503050406030204" pitchFamily="18" charset="0"/>
                        </a:rPr>
                        <a:t>QL THÔNG TIN XE</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006829"/>
                    </a:solidFill>
                  </a:tcPr>
                </a:tc>
                <a:tc>
                  <a:txBody>
                    <a:bodyPr/>
                    <a:lstStyle/>
                    <a:p>
                      <a:pPr algn="ctr"/>
                      <a:r>
                        <a:rPr lang="vi-VN" sz="1200" dirty="0">
                          <a:latin typeface="Cambria" panose="02040503050406030204" pitchFamily="18" charset="0"/>
                        </a:rPr>
                        <a:t>QL THÔNG TIN TÀI XẾ</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006829"/>
                    </a:solidFill>
                  </a:tcPr>
                </a:tc>
                <a:tc>
                  <a:txBody>
                    <a:bodyPr/>
                    <a:lstStyle/>
                    <a:p>
                      <a:pPr algn="ctr"/>
                      <a:r>
                        <a:rPr lang="vi-VN" sz="1200" dirty="0">
                          <a:latin typeface="Cambria" panose="02040503050406030204" pitchFamily="18" charset="0"/>
                        </a:rPr>
                        <a:t>QL CẤP PHÁT NHIÊN LIỆU</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006829"/>
                    </a:solidFill>
                  </a:tcPr>
                </a:tc>
                <a:tc>
                  <a:txBody>
                    <a:bodyPr/>
                    <a:lstStyle/>
                    <a:p>
                      <a:pPr algn="ctr"/>
                      <a:r>
                        <a:rPr lang="vi-VN" sz="1200" dirty="0">
                          <a:latin typeface="Cambria" panose="02040503050406030204" pitchFamily="18" charset="0"/>
                        </a:rPr>
                        <a:t>BÁO CÁO</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006829"/>
                    </a:solidFill>
                  </a:tcPr>
                </a:tc>
                <a:tc>
                  <a:txBody>
                    <a:bodyPr/>
                    <a:lstStyle/>
                    <a:p>
                      <a:pPr algn="ctr"/>
                      <a:r>
                        <a:rPr lang="vi-VN" sz="1200" dirty="0">
                          <a:latin typeface="Cambria" panose="02040503050406030204" pitchFamily="18" charset="0"/>
                        </a:rPr>
                        <a:t>QL HÀNH TRÌNH / BẢO DƯỠNG XE</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006829"/>
                    </a:solidFill>
                  </a:tcPr>
                </a:tc>
                <a:tc>
                  <a:txBody>
                    <a:bodyPr/>
                    <a:lstStyle/>
                    <a:p>
                      <a:pPr algn="ctr"/>
                      <a:r>
                        <a:rPr lang="vi-VN" sz="1200" dirty="0">
                          <a:latin typeface="Cambria" panose="02040503050406030204" pitchFamily="18" charset="0"/>
                        </a:rPr>
                        <a:t>NHẬP CHI PHÍ VẬN HÀNH</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006829"/>
                    </a:solidFill>
                  </a:tcPr>
                </a:tc>
                <a:tc>
                  <a:txBody>
                    <a:bodyPr/>
                    <a:lstStyle/>
                    <a:p>
                      <a:pPr algn="ctr"/>
                      <a:r>
                        <a:rPr lang="vi-VN" sz="1200" dirty="0">
                          <a:latin typeface="Cambria" panose="02040503050406030204" pitchFamily="18" charset="0"/>
                        </a:rPr>
                        <a:t>GIÁM SÁT GPS</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006829"/>
                    </a:solidFill>
                  </a:tcPr>
                </a:tc>
                <a:extLst>
                  <a:ext uri="{0D108BD9-81ED-4DB2-BD59-A6C34878D82A}">
                    <a16:rowId xmlns:a16="http://schemas.microsoft.com/office/drawing/2014/main" val="3324887556"/>
                  </a:ext>
                </a:extLst>
              </a:tr>
              <a:tr h="370840">
                <a:tc>
                  <a:txBody>
                    <a:bodyPr/>
                    <a:lstStyle/>
                    <a:p>
                      <a:pPr algn="ctr"/>
                      <a:r>
                        <a:rPr lang="vi-VN" sz="1400" dirty="0">
                          <a:latin typeface="Cambria" panose="02040503050406030204" pitchFamily="18" charset="0"/>
                        </a:rPr>
                        <a:t>1</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r>
                        <a:rPr lang="vi-VN" sz="1400" dirty="0">
                          <a:latin typeface="Cambria" panose="02040503050406030204" pitchFamily="18" charset="0"/>
                        </a:rPr>
                        <a:t>CÁN BỘ NHÂN VIÊN</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endParaRPr lang="vi-VN" dirty="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endParaRPr lang="vi-VN" dirty="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endParaRPr lang="vi-VN" dirty="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endParaRPr lang="vi-VN" dirty="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endParaRPr lang="vi-VN" dirty="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endParaRPr lang="vi-VN" dirty="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endParaRPr lang="vi-VN" dirty="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endParaRPr lang="vi-VN" dirty="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endParaRPr lang="vi-VN" dirty="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570929095"/>
                  </a:ext>
                </a:extLst>
              </a:tr>
              <a:tr h="370840">
                <a:tc>
                  <a:txBody>
                    <a:bodyPr/>
                    <a:lstStyle/>
                    <a:p>
                      <a:pPr algn="ctr"/>
                      <a:r>
                        <a:rPr lang="vi-VN" sz="1400" dirty="0">
                          <a:latin typeface="Cambria" panose="02040503050406030204" pitchFamily="18" charset="0"/>
                        </a:rPr>
                        <a:t>2</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r>
                        <a:rPr lang="vi-VN" sz="1400" dirty="0">
                          <a:latin typeface="Cambria" panose="02040503050406030204" pitchFamily="18" charset="0"/>
                        </a:rPr>
                        <a:t>QUẢN TRỊ VĂN PHÒNG</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endParaRPr lang="vi-VN" dirty="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endParaRPr lang="vi-VN" dirty="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endParaRPr lang="vi-VN" dirty="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endParaRPr lang="vi-VN" dirty="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endParaRPr lang="vi-VN" dirty="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endParaRPr lang="vi-VN" dirty="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endParaRPr lang="vi-VN" dirty="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endParaRPr lang="vi-VN" dirty="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endParaRPr lang="vi-VN" dirty="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441482843"/>
                  </a:ext>
                </a:extLst>
              </a:tr>
              <a:tr h="370840">
                <a:tc>
                  <a:txBody>
                    <a:bodyPr/>
                    <a:lstStyle/>
                    <a:p>
                      <a:pPr algn="ctr"/>
                      <a:r>
                        <a:rPr lang="vi-VN" sz="1400" dirty="0">
                          <a:latin typeface="Cambria" panose="02040503050406030204" pitchFamily="18" charset="0"/>
                        </a:rPr>
                        <a:t>3</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dirty="0">
                          <a:solidFill>
                            <a:schemeClr val="tx1">
                              <a:lumMod val="95000"/>
                              <a:lumOff val="5000"/>
                            </a:schemeClr>
                          </a:solidFill>
                          <a:latin typeface="Cambria" panose="02040503050406030204" pitchFamily="18" charset="0"/>
                        </a:rPr>
                        <a:t>TRƯỞNG NHÓM LÁI XE</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endParaRPr lang="vi-VN" dirty="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endParaRPr lang="vi-VN" dirty="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endParaRPr lang="vi-VN" dirty="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endParaRPr lang="vi-VN" dirty="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endParaRPr lang="vi-VN" dirty="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endParaRPr lang="vi-VN" dirty="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endParaRPr lang="vi-VN" dirty="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endParaRPr lang="vi-VN" dirty="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endParaRPr lang="vi-VN" dirty="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548345667"/>
                  </a:ext>
                </a:extLst>
              </a:tr>
              <a:tr h="370840">
                <a:tc>
                  <a:txBody>
                    <a:bodyPr/>
                    <a:lstStyle/>
                    <a:p>
                      <a:pPr algn="ctr"/>
                      <a:r>
                        <a:rPr lang="vi-VN" sz="1400" dirty="0">
                          <a:latin typeface="Cambria" panose="02040503050406030204" pitchFamily="18" charset="0"/>
                        </a:rPr>
                        <a:t>4</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dirty="0">
                          <a:solidFill>
                            <a:schemeClr val="tx1">
                              <a:lumMod val="95000"/>
                              <a:lumOff val="5000"/>
                            </a:schemeClr>
                          </a:solidFill>
                          <a:latin typeface="Cambria" panose="02040503050406030204" pitchFamily="18" charset="0"/>
                        </a:rPr>
                        <a:t>NHÂN VIÊN LÁI XE</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endParaRPr lang="vi-VN" dirty="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endParaRPr lang="vi-VN" dirty="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endParaRPr lang="vi-VN" dirty="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endParaRPr lang="vi-VN" dirty="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endParaRPr lang="vi-VN" dirty="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endParaRPr lang="vi-VN" dirty="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endParaRPr lang="vi-VN" dirty="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endParaRPr lang="vi-VN" dirty="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endParaRPr lang="vi-VN" dirty="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859461992"/>
                  </a:ext>
                </a:extLst>
              </a:tr>
              <a:tr h="370840">
                <a:tc>
                  <a:txBody>
                    <a:bodyPr/>
                    <a:lstStyle/>
                    <a:p>
                      <a:pPr algn="ctr"/>
                      <a:r>
                        <a:rPr lang="vi-VN" sz="1400" dirty="0">
                          <a:latin typeface="Cambria" panose="02040503050406030204" pitchFamily="18" charset="0"/>
                        </a:rPr>
                        <a:t>5</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dirty="0">
                          <a:solidFill>
                            <a:schemeClr val="tx1">
                              <a:lumMod val="95000"/>
                              <a:lumOff val="5000"/>
                            </a:schemeClr>
                          </a:solidFill>
                          <a:latin typeface="Cambria" panose="02040503050406030204" pitchFamily="18" charset="0"/>
                        </a:rPr>
                        <a:t>KÊ TOÁN</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endParaRPr lang="vi-VN" dirty="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endParaRPr lang="vi-VN" dirty="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endParaRPr lang="vi-VN" dirty="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endParaRPr lang="vi-VN" dirty="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endParaRPr lang="vi-VN" dirty="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endParaRPr lang="vi-VN" dirty="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endParaRPr lang="vi-VN" dirty="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endParaRPr lang="vi-VN" dirty="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endParaRPr lang="vi-VN" dirty="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739501658"/>
                  </a:ext>
                </a:extLst>
              </a:tr>
              <a:tr h="370840">
                <a:tc>
                  <a:txBody>
                    <a:bodyPr/>
                    <a:lstStyle/>
                    <a:p>
                      <a:pPr algn="ctr"/>
                      <a:r>
                        <a:rPr lang="vi-VN" sz="1400" dirty="0">
                          <a:latin typeface="Cambria" panose="02040503050406030204" pitchFamily="18" charset="0"/>
                        </a:rPr>
                        <a:t>6</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dirty="0">
                          <a:solidFill>
                            <a:schemeClr val="tx1">
                              <a:lumMod val="95000"/>
                              <a:lumOff val="5000"/>
                            </a:schemeClr>
                          </a:solidFill>
                          <a:latin typeface="Cambria" panose="02040503050406030204" pitchFamily="18" charset="0"/>
                        </a:rPr>
                        <a:t>LÃNH ĐẠO SỬ DỤNG XE RIÊNG</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endParaRPr lang="vi-VN" dirty="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endParaRPr lang="vi-VN" dirty="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endParaRPr lang="vi-VN" dirty="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endParaRPr lang="vi-VN" dirty="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endParaRPr lang="vi-VN" dirty="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endParaRPr lang="vi-VN" dirty="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endParaRPr lang="vi-VN" dirty="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endParaRPr lang="vi-VN" dirty="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endParaRPr lang="vi-VN" dirty="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52891890"/>
                  </a:ext>
                </a:extLst>
              </a:tr>
              <a:tr h="370840">
                <a:tc>
                  <a:txBody>
                    <a:bodyPr/>
                    <a:lstStyle/>
                    <a:p>
                      <a:pPr algn="ctr"/>
                      <a:r>
                        <a:rPr lang="vi-VN" sz="1400" dirty="0">
                          <a:latin typeface="Cambria" panose="02040503050406030204" pitchFamily="18" charset="0"/>
                        </a:rPr>
                        <a:t>7</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dirty="0">
                          <a:solidFill>
                            <a:schemeClr val="tx1">
                              <a:lumMod val="95000"/>
                              <a:lumOff val="5000"/>
                            </a:schemeClr>
                          </a:solidFill>
                          <a:latin typeface="Cambria" panose="02040503050406030204" pitchFamily="18" charset="0"/>
                        </a:rPr>
                        <a:t>QUẢN TRỊ HỆ THỐNG</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endParaRPr lang="vi-VN" dirty="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endParaRPr lang="vi-VN" dirty="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endParaRPr lang="vi-VN" dirty="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endParaRPr lang="vi-VN" dirty="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endParaRPr lang="vi-VN" dirty="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endParaRPr lang="vi-VN" dirty="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endParaRPr lang="vi-VN" dirty="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endParaRPr lang="vi-VN" dirty="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endParaRPr lang="vi-VN" dirty="0"/>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21107708"/>
                  </a:ext>
                </a:extLst>
              </a:tr>
            </a:tbl>
          </a:graphicData>
        </a:graphic>
      </p:graphicFrame>
      <p:pic>
        <p:nvPicPr>
          <p:cNvPr id="13" name="Graphic 12" descr="Checkbox Checked with solid fill">
            <a:extLst>
              <a:ext uri="{FF2B5EF4-FFF2-40B4-BE49-F238E27FC236}">
                <a16:creationId xmlns:a16="http://schemas.microsoft.com/office/drawing/2014/main" id="{C438C5CB-140C-4815-A7A6-39B12EF7ADA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985989" y="1785287"/>
            <a:ext cx="457200" cy="457200"/>
          </a:xfrm>
          <a:prstGeom prst="rect">
            <a:avLst/>
          </a:prstGeom>
        </p:spPr>
      </p:pic>
      <p:pic>
        <p:nvPicPr>
          <p:cNvPr id="14" name="Graphic 13" descr="Checkbox Checked with solid fill">
            <a:extLst>
              <a:ext uri="{FF2B5EF4-FFF2-40B4-BE49-F238E27FC236}">
                <a16:creationId xmlns:a16="http://schemas.microsoft.com/office/drawing/2014/main" id="{C3C81041-6F47-C77F-B29F-12DAF58A31D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985989" y="2184102"/>
            <a:ext cx="457200" cy="457200"/>
          </a:xfrm>
          <a:prstGeom prst="rect">
            <a:avLst/>
          </a:prstGeom>
        </p:spPr>
      </p:pic>
      <p:pic>
        <p:nvPicPr>
          <p:cNvPr id="15" name="Graphic 14" descr="Checkbox Checked with solid fill">
            <a:extLst>
              <a:ext uri="{FF2B5EF4-FFF2-40B4-BE49-F238E27FC236}">
                <a16:creationId xmlns:a16="http://schemas.microsoft.com/office/drawing/2014/main" id="{79ED9501-D674-A139-5F2C-C4717660742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108551" y="2187517"/>
            <a:ext cx="457200" cy="457200"/>
          </a:xfrm>
          <a:prstGeom prst="rect">
            <a:avLst/>
          </a:prstGeom>
        </p:spPr>
      </p:pic>
      <p:pic>
        <p:nvPicPr>
          <p:cNvPr id="16" name="Graphic 15" descr="Checkbox Checked with solid fill">
            <a:extLst>
              <a:ext uri="{FF2B5EF4-FFF2-40B4-BE49-F238E27FC236}">
                <a16:creationId xmlns:a16="http://schemas.microsoft.com/office/drawing/2014/main" id="{83D0379C-47AD-1C3D-D0C5-0E57562E22F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84417" y="2181874"/>
            <a:ext cx="457200" cy="457200"/>
          </a:xfrm>
          <a:prstGeom prst="rect">
            <a:avLst/>
          </a:prstGeom>
        </p:spPr>
      </p:pic>
      <p:pic>
        <p:nvPicPr>
          <p:cNvPr id="17" name="Graphic 16" descr="Checkbox Checked with solid fill">
            <a:extLst>
              <a:ext uri="{FF2B5EF4-FFF2-40B4-BE49-F238E27FC236}">
                <a16:creationId xmlns:a16="http://schemas.microsoft.com/office/drawing/2014/main" id="{4AC9E27F-99AF-4CB3-D51A-21915B0F490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088827" y="2187517"/>
            <a:ext cx="457200" cy="457200"/>
          </a:xfrm>
          <a:prstGeom prst="rect">
            <a:avLst/>
          </a:prstGeom>
        </p:spPr>
      </p:pic>
      <p:pic>
        <p:nvPicPr>
          <p:cNvPr id="18" name="Graphic 17" descr="Checkbox Checked with solid fill">
            <a:extLst>
              <a:ext uri="{FF2B5EF4-FFF2-40B4-BE49-F238E27FC236}">
                <a16:creationId xmlns:a16="http://schemas.microsoft.com/office/drawing/2014/main" id="{C00DB20E-D4AF-027F-1124-F271314A011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107584" y="2187517"/>
            <a:ext cx="457200" cy="457200"/>
          </a:xfrm>
          <a:prstGeom prst="rect">
            <a:avLst/>
          </a:prstGeom>
        </p:spPr>
      </p:pic>
      <p:pic>
        <p:nvPicPr>
          <p:cNvPr id="19" name="Graphic 18" descr="Checkbox Checked with solid fill">
            <a:extLst>
              <a:ext uri="{FF2B5EF4-FFF2-40B4-BE49-F238E27FC236}">
                <a16:creationId xmlns:a16="http://schemas.microsoft.com/office/drawing/2014/main" id="{F90CD431-9134-2A05-9A27-B96011CBE73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227730" y="2170303"/>
            <a:ext cx="457200" cy="457200"/>
          </a:xfrm>
          <a:prstGeom prst="rect">
            <a:avLst/>
          </a:prstGeom>
        </p:spPr>
      </p:pic>
      <p:pic>
        <p:nvPicPr>
          <p:cNvPr id="20" name="Graphic 19" descr="Checkbox Checked with solid fill">
            <a:extLst>
              <a:ext uri="{FF2B5EF4-FFF2-40B4-BE49-F238E27FC236}">
                <a16:creationId xmlns:a16="http://schemas.microsoft.com/office/drawing/2014/main" id="{7F78EFEA-1C3B-A653-D025-EBCC42EB827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208006" y="2170303"/>
            <a:ext cx="457200" cy="457200"/>
          </a:xfrm>
          <a:prstGeom prst="rect">
            <a:avLst/>
          </a:prstGeom>
        </p:spPr>
      </p:pic>
      <p:pic>
        <p:nvPicPr>
          <p:cNvPr id="21" name="Graphic 20" descr="Checkbox Checked with solid fill">
            <a:extLst>
              <a:ext uri="{FF2B5EF4-FFF2-40B4-BE49-F238E27FC236}">
                <a16:creationId xmlns:a16="http://schemas.microsoft.com/office/drawing/2014/main" id="{CABBED1C-7AD2-27A2-8FB7-FFD73EEEA84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985989" y="2536577"/>
            <a:ext cx="457200" cy="457200"/>
          </a:xfrm>
          <a:prstGeom prst="rect">
            <a:avLst/>
          </a:prstGeom>
        </p:spPr>
      </p:pic>
      <p:pic>
        <p:nvPicPr>
          <p:cNvPr id="22" name="Graphic 21" descr="Checkbox Checked with solid fill">
            <a:extLst>
              <a:ext uri="{FF2B5EF4-FFF2-40B4-BE49-F238E27FC236}">
                <a16:creationId xmlns:a16="http://schemas.microsoft.com/office/drawing/2014/main" id="{3076ADC2-F08F-F849-D722-FC154F7C3AF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95286" y="2536577"/>
            <a:ext cx="457200" cy="457200"/>
          </a:xfrm>
          <a:prstGeom prst="rect">
            <a:avLst/>
          </a:prstGeom>
        </p:spPr>
      </p:pic>
      <p:pic>
        <p:nvPicPr>
          <p:cNvPr id="23" name="Graphic 22" descr="Checkbox Checked with solid fill">
            <a:extLst>
              <a:ext uri="{FF2B5EF4-FFF2-40B4-BE49-F238E27FC236}">
                <a16:creationId xmlns:a16="http://schemas.microsoft.com/office/drawing/2014/main" id="{CD543BB5-D4DD-F5BE-9191-4721B735749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082021" y="2536577"/>
            <a:ext cx="457200" cy="457200"/>
          </a:xfrm>
          <a:prstGeom prst="rect">
            <a:avLst/>
          </a:prstGeom>
        </p:spPr>
      </p:pic>
      <p:pic>
        <p:nvPicPr>
          <p:cNvPr id="24" name="Graphic 23" descr="Checkbox Checked with solid fill">
            <a:extLst>
              <a:ext uri="{FF2B5EF4-FFF2-40B4-BE49-F238E27FC236}">
                <a16:creationId xmlns:a16="http://schemas.microsoft.com/office/drawing/2014/main" id="{5DA436B2-938F-144A-4020-548E1BBD03C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227730" y="2522778"/>
            <a:ext cx="457200" cy="457200"/>
          </a:xfrm>
          <a:prstGeom prst="rect">
            <a:avLst/>
          </a:prstGeom>
        </p:spPr>
      </p:pic>
      <p:pic>
        <p:nvPicPr>
          <p:cNvPr id="25" name="Graphic 24" descr="Checkbox Checked with solid fill">
            <a:extLst>
              <a:ext uri="{FF2B5EF4-FFF2-40B4-BE49-F238E27FC236}">
                <a16:creationId xmlns:a16="http://schemas.microsoft.com/office/drawing/2014/main" id="{645F8DC3-4457-8602-2A0B-69708C84376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203596" y="2181874"/>
            <a:ext cx="457200" cy="457200"/>
          </a:xfrm>
          <a:prstGeom prst="rect">
            <a:avLst/>
          </a:prstGeom>
        </p:spPr>
      </p:pic>
      <p:pic>
        <p:nvPicPr>
          <p:cNvPr id="26" name="Graphic 25" descr="Checkbox Checked with solid fill">
            <a:extLst>
              <a:ext uri="{FF2B5EF4-FFF2-40B4-BE49-F238E27FC236}">
                <a16:creationId xmlns:a16="http://schemas.microsoft.com/office/drawing/2014/main" id="{84714D38-EFF3-58FF-8202-AB9869841AD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210422" y="2522778"/>
            <a:ext cx="457200" cy="457200"/>
          </a:xfrm>
          <a:prstGeom prst="rect">
            <a:avLst/>
          </a:prstGeom>
        </p:spPr>
      </p:pic>
      <p:pic>
        <p:nvPicPr>
          <p:cNvPr id="27" name="Graphic 26" descr="Checkbox Checked with solid fill">
            <a:extLst>
              <a:ext uri="{FF2B5EF4-FFF2-40B4-BE49-F238E27FC236}">
                <a16:creationId xmlns:a16="http://schemas.microsoft.com/office/drawing/2014/main" id="{760408CE-DC7B-27DE-12DA-7C9EEEC8217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985989" y="2902511"/>
            <a:ext cx="457200" cy="457200"/>
          </a:xfrm>
          <a:prstGeom prst="rect">
            <a:avLst/>
          </a:prstGeom>
        </p:spPr>
      </p:pic>
      <p:pic>
        <p:nvPicPr>
          <p:cNvPr id="29" name="Graphic 28" descr="Checkbox Checked with solid fill">
            <a:extLst>
              <a:ext uri="{FF2B5EF4-FFF2-40B4-BE49-F238E27FC236}">
                <a16:creationId xmlns:a16="http://schemas.microsoft.com/office/drawing/2014/main" id="{2C6D6EFF-A2E9-B725-7423-14F1AC75572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208006" y="2888712"/>
            <a:ext cx="457200" cy="457200"/>
          </a:xfrm>
          <a:prstGeom prst="rect">
            <a:avLst/>
          </a:prstGeom>
        </p:spPr>
      </p:pic>
      <p:pic>
        <p:nvPicPr>
          <p:cNvPr id="30" name="Graphic 29" descr="Checkbox Checked with solid fill">
            <a:extLst>
              <a:ext uri="{FF2B5EF4-FFF2-40B4-BE49-F238E27FC236}">
                <a16:creationId xmlns:a16="http://schemas.microsoft.com/office/drawing/2014/main" id="{AF4B751B-CD6C-AD6D-0CE7-A50FAA66EC2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985989" y="3252273"/>
            <a:ext cx="457200" cy="457200"/>
          </a:xfrm>
          <a:prstGeom prst="rect">
            <a:avLst/>
          </a:prstGeom>
        </p:spPr>
      </p:pic>
      <p:pic>
        <p:nvPicPr>
          <p:cNvPr id="31" name="Graphic 30" descr="Checkbox Checked with solid fill">
            <a:extLst>
              <a:ext uri="{FF2B5EF4-FFF2-40B4-BE49-F238E27FC236}">
                <a16:creationId xmlns:a16="http://schemas.microsoft.com/office/drawing/2014/main" id="{6DE3D84E-23CF-CEF4-63CF-BFC968DFD43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227730" y="3238474"/>
            <a:ext cx="457200" cy="457200"/>
          </a:xfrm>
          <a:prstGeom prst="rect">
            <a:avLst/>
          </a:prstGeom>
        </p:spPr>
      </p:pic>
      <p:pic>
        <p:nvPicPr>
          <p:cNvPr id="32" name="Graphic 31" descr="Checkbox Checked with solid fill">
            <a:extLst>
              <a:ext uri="{FF2B5EF4-FFF2-40B4-BE49-F238E27FC236}">
                <a16:creationId xmlns:a16="http://schemas.microsoft.com/office/drawing/2014/main" id="{498BC610-328F-7B30-3DB2-82DAEF9174F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251678" y="2181874"/>
            <a:ext cx="457200" cy="457200"/>
          </a:xfrm>
          <a:prstGeom prst="rect">
            <a:avLst/>
          </a:prstGeom>
        </p:spPr>
      </p:pic>
      <p:pic>
        <p:nvPicPr>
          <p:cNvPr id="33" name="Graphic 32" descr="Checkbox Checked with solid fill">
            <a:extLst>
              <a:ext uri="{FF2B5EF4-FFF2-40B4-BE49-F238E27FC236}">
                <a16:creationId xmlns:a16="http://schemas.microsoft.com/office/drawing/2014/main" id="{7FDC00D0-99F0-C362-07EA-C2E5B7F1A69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251678" y="2539329"/>
            <a:ext cx="457200" cy="457200"/>
          </a:xfrm>
          <a:prstGeom prst="rect">
            <a:avLst/>
          </a:prstGeom>
        </p:spPr>
      </p:pic>
      <p:pic>
        <p:nvPicPr>
          <p:cNvPr id="34" name="Graphic 33" descr="Checkbox Checked with solid fill">
            <a:extLst>
              <a:ext uri="{FF2B5EF4-FFF2-40B4-BE49-F238E27FC236}">
                <a16:creationId xmlns:a16="http://schemas.microsoft.com/office/drawing/2014/main" id="{5E44AAC2-37B0-1E0E-DC91-FF8FED744E4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108551" y="2536577"/>
            <a:ext cx="457200" cy="457200"/>
          </a:xfrm>
          <a:prstGeom prst="rect">
            <a:avLst/>
          </a:prstGeom>
        </p:spPr>
      </p:pic>
      <p:pic>
        <p:nvPicPr>
          <p:cNvPr id="36" name="Graphic 35" descr="Checkbox Checked with solid fill">
            <a:extLst>
              <a:ext uri="{FF2B5EF4-FFF2-40B4-BE49-F238E27FC236}">
                <a16:creationId xmlns:a16="http://schemas.microsoft.com/office/drawing/2014/main" id="{A961B591-6518-0828-1203-9928AC17511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082021" y="3743966"/>
            <a:ext cx="457200" cy="457200"/>
          </a:xfrm>
          <a:prstGeom prst="rect">
            <a:avLst/>
          </a:prstGeom>
        </p:spPr>
      </p:pic>
      <p:pic>
        <p:nvPicPr>
          <p:cNvPr id="37" name="Graphic 36" descr="Checkbox Checked with solid fill">
            <a:extLst>
              <a:ext uri="{FF2B5EF4-FFF2-40B4-BE49-F238E27FC236}">
                <a16:creationId xmlns:a16="http://schemas.microsoft.com/office/drawing/2014/main" id="{8E12599B-FA28-9A8E-DDE3-A10EA6DC3BC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107584" y="3741285"/>
            <a:ext cx="457200" cy="457200"/>
          </a:xfrm>
          <a:prstGeom prst="rect">
            <a:avLst/>
          </a:prstGeom>
        </p:spPr>
      </p:pic>
      <p:pic>
        <p:nvPicPr>
          <p:cNvPr id="38" name="Graphic 37" descr="Checkbox Checked with solid fill">
            <a:extLst>
              <a:ext uri="{FF2B5EF4-FFF2-40B4-BE49-F238E27FC236}">
                <a16:creationId xmlns:a16="http://schemas.microsoft.com/office/drawing/2014/main" id="{0FE9E380-2937-0D7C-D5DC-14C03EAD1EF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985989" y="4175749"/>
            <a:ext cx="457200" cy="457200"/>
          </a:xfrm>
          <a:prstGeom prst="rect">
            <a:avLst/>
          </a:prstGeom>
        </p:spPr>
      </p:pic>
      <p:pic>
        <p:nvPicPr>
          <p:cNvPr id="39" name="Graphic 38" descr="Checkbox Checked with solid fill">
            <a:extLst>
              <a:ext uri="{FF2B5EF4-FFF2-40B4-BE49-F238E27FC236}">
                <a16:creationId xmlns:a16="http://schemas.microsoft.com/office/drawing/2014/main" id="{58C37E19-A228-807D-3017-287F420C646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108551" y="4179164"/>
            <a:ext cx="457200" cy="457200"/>
          </a:xfrm>
          <a:prstGeom prst="rect">
            <a:avLst/>
          </a:prstGeom>
        </p:spPr>
      </p:pic>
      <p:pic>
        <p:nvPicPr>
          <p:cNvPr id="40" name="Graphic 39" descr="Checkbox Checked with solid fill">
            <a:extLst>
              <a:ext uri="{FF2B5EF4-FFF2-40B4-BE49-F238E27FC236}">
                <a16:creationId xmlns:a16="http://schemas.microsoft.com/office/drawing/2014/main" id="{32AA5049-335B-4B72-3264-7BDA3EBA7E3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84417" y="4173521"/>
            <a:ext cx="457200" cy="457200"/>
          </a:xfrm>
          <a:prstGeom prst="rect">
            <a:avLst/>
          </a:prstGeom>
        </p:spPr>
      </p:pic>
      <p:pic>
        <p:nvPicPr>
          <p:cNvPr id="41" name="Graphic 40" descr="Checkbox Checked with solid fill">
            <a:extLst>
              <a:ext uri="{FF2B5EF4-FFF2-40B4-BE49-F238E27FC236}">
                <a16:creationId xmlns:a16="http://schemas.microsoft.com/office/drawing/2014/main" id="{AF3D1C67-E851-B052-CACC-291342B1EDF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088827" y="4179164"/>
            <a:ext cx="457200" cy="457200"/>
          </a:xfrm>
          <a:prstGeom prst="rect">
            <a:avLst/>
          </a:prstGeom>
        </p:spPr>
      </p:pic>
      <p:pic>
        <p:nvPicPr>
          <p:cNvPr id="42" name="Graphic 41" descr="Checkbox Checked with solid fill">
            <a:extLst>
              <a:ext uri="{FF2B5EF4-FFF2-40B4-BE49-F238E27FC236}">
                <a16:creationId xmlns:a16="http://schemas.microsoft.com/office/drawing/2014/main" id="{2A1CCCF9-4B37-E264-F351-885708F69F4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107584" y="4179164"/>
            <a:ext cx="457200" cy="457200"/>
          </a:xfrm>
          <a:prstGeom prst="rect">
            <a:avLst/>
          </a:prstGeom>
        </p:spPr>
      </p:pic>
      <p:pic>
        <p:nvPicPr>
          <p:cNvPr id="43" name="Graphic 42" descr="Checkbox Checked with solid fill">
            <a:extLst>
              <a:ext uri="{FF2B5EF4-FFF2-40B4-BE49-F238E27FC236}">
                <a16:creationId xmlns:a16="http://schemas.microsoft.com/office/drawing/2014/main" id="{274026B5-2422-BF22-CCBF-A9341DB83A9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227730" y="4161950"/>
            <a:ext cx="457200" cy="457200"/>
          </a:xfrm>
          <a:prstGeom prst="rect">
            <a:avLst/>
          </a:prstGeom>
        </p:spPr>
      </p:pic>
      <p:pic>
        <p:nvPicPr>
          <p:cNvPr id="44" name="Graphic 43" descr="Checkbox Checked with solid fill">
            <a:extLst>
              <a:ext uri="{FF2B5EF4-FFF2-40B4-BE49-F238E27FC236}">
                <a16:creationId xmlns:a16="http://schemas.microsoft.com/office/drawing/2014/main" id="{7C23C89A-104D-FAAC-E375-97002EC9E61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208006" y="4161950"/>
            <a:ext cx="457200" cy="457200"/>
          </a:xfrm>
          <a:prstGeom prst="rect">
            <a:avLst/>
          </a:prstGeom>
        </p:spPr>
      </p:pic>
      <p:pic>
        <p:nvPicPr>
          <p:cNvPr id="45" name="Graphic 44" descr="Checkbox Checked with solid fill">
            <a:extLst>
              <a:ext uri="{FF2B5EF4-FFF2-40B4-BE49-F238E27FC236}">
                <a16:creationId xmlns:a16="http://schemas.microsoft.com/office/drawing/2014/main" id="{A7886B6E-FAEE-0B27-FF37-665F9E6813D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203596" y="4173521"/>
            <a:ext cx="457200" cy="457200"/>
          </a:xfrm>
          <a:prstGeom prst="rect">
            <a:avLst/>
          </a:prstGeom>
        </p:spPr>
      </p:pic>
      <p:pic>
        <p:nvPicPr>
          <p:cNvPr id="46" name="Graphic 45" descr="Checkbox Checked with solid fill">
            <a:extLst>
              <a:ext uri="{FF2B5EF4-FFF2-40B4-BE49-F238E27FC236}">
                <a16:creationId xmlns:a16="http://schemas.microsoft.com/office/drawing/2014/main" id="{F637ED11-7225-4AD2-A459-3329127A6B5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251678" y="4173521"/>
            <a:ext cx="457200" cy="457200"/>
          </a:xfrm>
          <a:prstGeom prst="rect">
            <a:avLst/>
          </a:prstGeom>
        </p:spPr>
      </p:pic>
      <p:pic>
        <p:nvPicPr>
          <p:cNvPr id="7" name="Graphic 6" descr="Checkbox Checked with solid fill">
            <a:extLst>
              <a:ext uri="{FF2B5EF4-FFF2-40B4-BE49-F238E27FC236}">
                <a16:creationId xmlns:a16="http://schemas.microsoft.com/office/drawing/2014/main" id="{DF6DAA00-4D96-4A4B-E9D4-3F8A54AF860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251678" y="3741285"/>
            <a:ext cx="457200" cy="457200"/>
          </a:xfrm>
          <a:prstGeom prst="rect">
            <a:avLst/>
          </a:prstGeom>
        </p:spPr>
      </p:pic>
      <p:sp>
        <p:nvSpPr>
          <p:cNvPr id="3" name="TextBox 2">
            <a:extLst>
              <a:ext uri="{FF2B5EF4-FFF2-40B4-BE49-F238E27FC236}">
                <a16:creationId xmlns:a16="http://schemas.microsoft.com/office/drawing/2014/main" id="{6CBAF5A2-6FA5-7328-D5F1-DA60FD092AFD}"/>
              </a:ext>
            </a:extLst>
          </p:cNvPr>
          <p:cNvSpPr txBox="1"/>
          <p:nvPr/>
        </p:nvSpPr>
        <p:spPr>
          <a:xfrm>
            <a:off x="257001" y="4989834"/>
            <a:ext cx="11726049" cy="584775"/>
          </a:xfrm>
          <a:prstGeom prst="rect">
            <a:avLst/>
          </a:prstGeom>
          <a:noFill/>
        </p:spPr>
        <p:txBody>
          <a:bodyPr wrap="square">
            <a:spAutoFit/>
          </a:bodyPr>
          <a:lstStyle/>
          <a:p>
            <a:pPr>
              <a:buNone/>
            </a:pPr>
            <a:r>
              <a:rPr lang="en-VN" sz="1600" i="1" dirty="0">
                <a:latin typeface="Cambria" panose="02040503050406030204" pitchFamily="18" charset="0"/>
              </a:rPr>
              <a:t>Phần mềm chia người dùng theo bảy nhóm cho. Mỗi nhóm có quyền hạn riêng đảm bảo cho việc bảo mật dữ liệu và không chồng chéo chức năng giữa các người dùng</a:t>
            </a:r>
          </a:p>
        </p:txBody>
      </p:sp>
    </p:spTree>
    <p:extLst>
      <p:ext uri="{BB962C8B-B14F-4D97-AF65-F5344CB8AC3E}">
        <p14:creationId xmlns:p14="http://schemas.microsoft.com/office/powerpoint/2010/main" val="42083942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ED494E-D2D3-0712-EBA8-B7C78B1B3BBF}"/>
              </a:ext>
            </a:extLst>
          </p:cNvPr>
          <p:cNvSpPr>
            <a:spLocks noGrp="1"/>
          </p:cNvSpPr>
          <p:nvPr>
            <p:ph type="title"/>
          </p:nvPr>
        </p:nvSpPr>
        <p:spPr/>
        <p:txBody>
          <a:bodyPr anchor="ctr"/>
          <a:lstStyle/>
          <a:p>
            <a:r>
              <a:rPr lang="vi-VN" dirty="0">
                <a:solidFill>
                  <a:srgbClr val="FF0000"/>
                </a:solidFill>
                <a:latin typeface="Cambria" panose="02040503050406030204" pitchFamily="18" charset="0"/>
              </a:rPr>
              <a:t>PHÂN QUYỀN QUẢN LÝ THEO KHU VỰC</a:t>
            </a:r>
            <a:endParaRPr lang="vi-VN" dirty="0"/>
          </a:p>
        </p:txBody>
      </p:sp>
      <p:sp>
        <p:nvSpPr>
          <p:cNvPr id="5" name="TextBox 4">
            <a:extLst>
              <a:ext uri="{FF2B5EF4-FFF2-40B4-BE49-F238E27FC236}">
                <a16:creationId xmlns:a16="http://schemas.microsoft.com/office/drawing/2014/main" id="{F7564648-2C19-C257-7EBD-55A3F50FC9F2}"/>
              </a:ext>
            </a:extLst>
          </p:cNvPr>
          <p:cNvSpPr txBox="1"/>
          <p:nvPr/>
        </p:nvSpPr>
        <p:spPr>
          <a:xfrm>
            <a:off x="229052" y="5465273"/>
            <a:ext cx="5230454" cy="1384995"/>
          </a:xfrm>
          <a:prstGeom prst="rect">
            <a:avLst/>
          </a:prstGeom>
          <a:noFill/>
        </p:spPr>
        <p:txBody>
          <a:bodyPr wrap="square">
            <a:spAutoFit/>
          </a:bodyPr>
          <a:lstStyle/>
          <a:p>
            <a:pPr>
              <a:buNone/>
            </a:pPr>
            <a:r>
              <a:rPr lang="en-VN" sz="1400" b="1" i="1" dirty="0">
                <a:solidFill>
                  <a:srgbClr val="FF0000"/>
                </a:solidFill>
                <a:latin typeface="Cambria" panose="02040503050406030204" pitchFamily="18" charset="0"/>
              </a:rPr>
              <a:t>Ký hiệu:</a:t>
            </a:r>
          </a:p>
          <a:p>
            <a:pPr marL="342900" lvl="0" indent="-342900">
              <a:buFont typeface="Arial" panose="020B0604020202020204" pitchFamily="34" charset="0"/>
              <a:buChar char="•"/>
            </a:pPr>
            <a:r>
              <a:rPr lang="en-VN" sz="1400" b="1" dirty="0">
                <a:latin typeface="Cambria" panose="02040503050406030204" pitchFamily="18" charset="0"/>
              </a:rPr>
              <a:t>X</a:t>
            </a:r>
            <a:r>
              <a:rPr lang="en-VN" sz="1400" dirty="0">
                <a:latin typeface="Cambria" panose="02040503050406030204" pitchFamily="18" charset="0"/>
              </a:rPr>
              <a:t>: Toàn quyền </a:t>
            </a:r>
          </a:p>
          <a:p>
            <a:pPr marL="342900" lvl="0" indent="-342900">
              <a:buFont typeface="Arial" panose="020B0604020202020204" pitchFamily="34" charset="0"/>
              <a:buChar char="•"/>
            </a:pPr>
            <a:r>
              <a:rPr lang="en-VN" sz="1400" b="1" dirty="0">
                <a:latin typeface="Cambria" panose="02040503050406030204" pitchFamily="18" charset="0"/>
              </a:rPr>
              <a:t>Đ</a:t>
            </a:r>
            <a:r>
              <a:rPr lang="en-VN" sz="1400" dirty="0">
                <a:latin typeface="Cambria" panose="02040503050406030204" pitchFamily="18" charset="0"/>
              </a:rPr>
              <a:t>: Được xem </a:t>
            </a:r>
          </a:p>
          <a:p>
            <a:pPr marL="342900" lvl="0" indent="-342900">
              <a:buFont typeface="Arial" panose="020B0604020202020204" pitchFamily="34" charset="0"/>
              <a:buChar char="•"/>
            </a:pPr>
            <a:r>
              <a:rPr lang="en-VN" sz="1400" b="1" dirty="0">
                <a:latin typeface="Cambria" panose="02040503050406030204" pitchFamily="18" charset="0"/>
              </a:rPr>
              <a:t>T</a:t>
            </a:r>
            <a:r>
              <a:rPr lang="en-VN" sz="1400" dirty="0">
                <a:latin typeface="Cambria" panose="02040503050406030204" pitchFamily="18" charset="0"/>
              </a:rPr>
              <a:t>: Được tạo/sửa </a:t>
            </a:r>
          </a:p>
          <a:p>
            <a:pPr marL="342900" lvl="0" indent="-342900">
              <a:buFont typeface="Arial" panose="020B0604020202020204" pitchFamily="34" charset="0"/>
              <a:buChar char="•"/>
            </a:pPr>
            <a:r>
              <a:rPr lang="en-VN" sz="1400" b="1" dirty="0">
                <a:latin typeface="Cambria" panose="02040503050406030204" pitchFamily="18" charset="0"/>
              </a:rPr>
              <a:t>D</a:t>
            </a:r>
            <a:r>
              <a:rPr lang="en-VN" sz="1400" dirty="0">
                <a:latin typeface="Cambria" panose="02040503050406030204" pitchFamily="18" charset="0"/>
              </a:rPr>
              <a:t>: điều phối </a:t>
            </a:r>
          </a:p>
          <a:p>
            <a:pPr marL="342900" lvl="0" indent="-342900">
              <a:buFont typeface="Arial" panose="020B0604020202020204" pitchFamily="34" charset="0"/>
              <a:buChar char="•"/>
            </a:pPr>
            <a:r>
              <a:rPr lang="en-VN" sz="1400" b="1" dirty="0">
                <a:latin typeface="Cambria" panose="02040503050406030204" pitchFamily="18" charset="0"/>
              </a:rPr>
              <a:t>–</a:t>
            </a:r>
            <a:r>
              <a:rPr lang="en-VN" sz="1400" dirty="0">
                <a:latin typeface="Cambria" panose="02040503050406030204" pitchFamily="18" charset="0"/>
              </a:rPr>
              <a:t>: Không được truy cập</a:t>
            </a:r>
          </a:p>
        </p:txBody>
      </p:sp>
      <p:graphicFrame>
        <p:nvGraphicFramePr>
          <p:cNvPr id="6" name="Table 5">
            <a:extLst>
              <a:ext uri="{FF2B5EF4-FFF2-40B4-BE49-F238E27FC236}">
                <a16:creationId xmlns:a16="http://schemas.microsoft.com/office/drawing/2014/main" id="{8E8D21A0-4870-EB4B-45C4-936EEFF50354}"/>
              </a:ext>
            </a:extLst>
          </p:cNvPr>
          <p:cNvGraphicFramePr>
            <a:graphicFrameLocks noGrp="1"/>
          </p:cNvGraphicFramePr>
          <p:nvPr>
            <p:extLst>
              <p:ext uri="{D42A27DB-BD31-4B8C-83A1-F6EECF244321}">
                <p14:modId xmlns:p14="http://schemas.microsoft.com/office/powerpoint/2010/main" val="2264281598"/>
              </p:ext>
            </p:extLst>
          </p:nvPr>
        </p:nvGraphicFramePr>
        <p:xfrm>
          <a:off x="229054" y="968189"/>
          <a:ext cx="5763975" cy="4497084"/>
        </p:xfrm>
        <a:graphic>
          <a:graphicData uri="http://schemas.openxmlformats.org/drawingml/2006/table">
            <a:tbl>
              <a:tblPr>
                <a:tableStyleId>{5C22544A-7EE6-4342-B048-85BDC9FD1C3A}</a:tableStyleId>
              </a:tblPr>
              <a:tblGrid>
                <a:gridCol w="1276187">
                  <a:extLst>
                    <a:ext uri="{9D8B030D-6E8A-4147-A177-3AD203B41FA5}">
                      <a16:colId xmlns:a16="http://schemas.microsoft.com/office/drawing/2014/main" val="4007549750"/>
                    </a:ext>
                  </a:extLst>
                </a:gridCol>
                <a:gridCol w="1121947">
                  <a:extLst>
                    <a:ext uri="{9D8B030D-6E8A-4147-A177-3AD203B41FA5}">
                      <a16:colId xmlns:a16="http://schemas.microsoft.com/office/drawing/2014/main" val="1521814120"/>
                    </a:ext>
                  </a:extLst>
                </a:gridCol>
                <a:gridCol w="1121947">
                  <a:extLst>
                    <a:ext uri="{9D8B030D-6E8A-4147-A177-3AD203B41FA5}">
                      <a16:colId xmlns:a16="http://schemas.microsoft.com/office/drawing/2014/main" val="1243083157"/>
                    </a:ext>
                  </a:extLst>
                </a:gridCol>
                <a:gridCol w="1121947">
                  <a:extLst>
                    <a:ext uri="{9D8B030D-6E8A-4147-A177-3AD203B41FA5}">
                      <a16:colId xmlns:a16="http://schemas.microsoft.com/office/drawing/2014/main" val="2620391394"/>
                    </a:ext>
                  </a:extLst>
                </a:gridCol>
                <a:gridCol w="1121947">
                  <a:extLst>
                    <a:ext uri="{9D8B030D-6E8A-4147-A177-3AD203B41FA5}">
                      <a16:colId xmlns:a16="http://schemas.microsoft.com/office/drawing/2014/main" val="3688149088"/>
                    </a:ext>
                  </a:extLst>
                </a:gridCol>
              </a:tblGrid>
              <a:tr h="449115">
                <a:tc>
                  <a:txBody>
                    <a:bodyPr/>
                    <a:lstStyle/>
                    <a:p>
                      <a:pPr algn="ctr">
                        <a:buNone/>
                      </a:pPr>
                      <a:endParaRPr lang="en-VN" sz="1400" b="1" dirty="0">
                        <a:solidFill>
                          <a:schemeClr val="bg1"/>
                        </a:solidFill>
                        <a:latin typeface="Cambria" panose="02040503050406030204" pitchFamily="18" charset="0"/>
                      </a:endParaRPr>
                    </a:p>
                  </a:txBody>
                  <a:tcPr marL="58802" marR="58802" marT="29401" marB="29401"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006829"/>
                    </a:solidFill>
                  </a:tcPr>
                </a:tc>
                <a:tc gridSpan="2">
                  <a:txBody>
                    <a:bodyPr/>
                    <a:lstStyle/>
                    <a:p>
                      <a:pPr algn="ctr">
                        <a:buNone/>
                      </a:pPr>
                      <a:r>
                        <a:rPr lang="en-VN" sz="1400" b="1" dirty="0">
                          <a:solidFill>
                            <a:schemeClr val="bg1"/>
                          </a:solidFill>
                          <a:latin typeface="Cambria" panose="02040503050406030204" pitchFamily="18" charset="0"/>
                        </a:rPr>
                        <a:t>P</a:t>
                      </a:r>
                      <a:r>
                        <a:rPr lang="en-US" sz="1400" b="1" dirty="0">
                          <a:solidFill>
                            <a:schemeClr val="bg1"/>
                          </a:solidFill>
                          <a:latin typeface="Cambria" panose="02040503050406030204" pitchFamily="18" charset="0"/>
                        </a:rPr>
                        <a:t>HIẾU</a:t>
                      </a:r>
                      <a:endParaRPr lang="en-VN" sz="1400" b="1" dirty="0">
                        <a:solidFill>
                          <a:schemeClr val="bg1"/>
                        </a:solidFill>
                        <a:latin typeface="Cambria" panose="02040503050406030204" pitchFamily="18" charset="0"/>
                      </a:endParaRPr>
                    </a:p>
                  </a:txBody>
                  <a:tcPr marL="58802" marR="58802" marT="29401" marB="29401"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006829"/>
                    </a:solidFill>
                  </a:tcPr>
                </a:tc>
                <a:tc hMerge="1">
                  <a:txBody>
                    <a:bodyPr/>
                    <a:lstStyle/>
                    <a:p>
                      <a:pPr algn="ctr">
                        <a:buNone/>
                      </a:pPr>
                      <a:endParaRPr lang="en-VN" sz="1400" b="1" dirty="0">
                        <a:solidFill>
                          <a:schemeClr val="bg1"/>
                        </a:solidFill>
                        <a:latin typeface="Cambria" panose="02040503050406030204" pitchFamily="18" charset="0"/>
                      </a:endParaRPr>
                    </a:p>
                  </a:txBody>
                  <a:tcPr marL="58802" marR="58802" marT="29401" marB="29401"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006829"/>
                    </a:solidFill>
                  </a:tcPr>
                </a:tc>
                <a:tc gridSpan="2">
                  <a:txBody>
                    <a:bodyPr/>
                    <a:lstStyle/>
                    <a:p>
                      <a:pPr algn="ctr">
                        <a:buNone/>
                      </a:pPr>
                      <a:r>
                        <a:rPr lang="en-VN" sz="1400" b="1" dirty="0">
                          <a:solidFill>
                            <a:schemeClr val="bg1"/>
                          </a:solidFill>
                          <a:latin typeface="Cambria" panose="02040503050406030204" pitchFamily="18" charset="0"/>
                        </a:rPr>
                        <a:t>CHUYẾN</a:t>
                      </a:r>
                    </a:p>
                  </a:txBody>
                  <a:tcPr marL="58802" marR="58802" marT="29401" marB="29401"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006829"/>
                    </a:solidFill>
                  </a:tcPr>
                </a:tc>
                <a:tc hMerge="1">
                  <a:txBody>
                    <a:bodyPr/>
                    <a:lstStyle/>
                    <a:p>
                      <a:pPr algn="ctr">
                        <a:buNone/>
                      </a:pPr>
                      <a:endParaRPr lang="en-VN" sz="1400" b="1" dirty="0">
                        <a:solidFill>
                          <a:schemeClr val="bg1"/>
                        </a:solidFill>
                        <a:latin typeface="Cambria" panose="02040503050406030204" pitchFamily="18" charset="0"/>
                      </a:endParaRPr>
                    </a:p>
                  </a:txBody>
                  <a:tcPr marL="58802" marR="58802" marT="29401" marB="29401"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006829"/>
                    </a:solidFill>
                  </a:tcPr>
                </a:tc>
                <a:extLst>
                  <a:ext uri="{0D108BD9-81ED-4DB2-BD59-A6C34878D82A}">
                    <a16:rowId xmlns:a16="http://schemas.microsoft.com/office/drawing/2014/main" val="1528884155"/>
                  </a:ext>
                </a:extLst>
              </a:tr>
              <a:tr h="449115">
                <a:tc>
                  <a:txBody>
                    <a:bodyPr/>
                    <a:lstStyle/>
                    <a:p>
                      <a:pPr algn="ctr">
                        <a:buNone/>
                      </a:pPr>
                      <a:r>
                        <a:rPr lang="en-VN" sz="1400" b="1" dirty="0">
                          <a:solidFill>
                            <a:schemeClr val="bg1"/>
                          </a:solidFill>
                          <a:latin typeface="Cambria" panose="02040503050406030204" pitchFamily="18" charset="0"/>
                        </a:rPr>
                        <a:t>ĐỐI TƯỢNG</a:t>
                      </a:r>
                    </a:p>
                  </a:txBody>
                  <a:tcPr marL="58802" marR="58802" marT="29401" marB="29401"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006829"/>
                    </a:solidFill>
                  </a:tcPr>
                </a:tc>
                <a:tc>
                  <a:txBody>
                    <a:bodyPr/>
                    <a:lstStyle/>
                    <a:p>
                      <a:pPr algn="ctr">
                        <a:buNone/>
                      </a:pPr>
                      <a:r>
                        <a:rPr lang="en-VN" sz="1400" b="1" dirty="0">
                          <a:solidFill>
                            <a:schemeClr val="bg1"/>
                          </a:solidFill>
                          <a:latin typeface="Cambria" panose="02040503050406030204" pitchFamily="18" charset="0"/>
                        </a:rPr>
                        <a:t>KHU VỰC CỦA MÌNH</a:t>
                      </a:r>
                    </a:p>
                  </a:txBody>
                  <a:tcPr marL="58802" marR="58802" marT="29401" marB="29401"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006829"/>
                    </a:solidFill>
                  </a:tcPr>
                </a:tc>
                <a:tc>
                  <a:txBody>
                    <a:bodyPr/>
                    <a:lstStyle/>
                    <a:p>
                      <a:pPr algn="ctr">
                        <a:buNone/>
                      </a:pPr>
                      <a:r>
                        <a:rPr lang="en-VN" sz="1400" b="1" dirty="0">
                          <a:solidFill>
                            <a:schemeClr val="bg1"/>
                          </a:solidFill>
                          <a:latin typeface="Cambria" panose="02040503050406030204" pitchFamily="18" charset="0"/>
                        </a:rPr>
                        <a:t>KHU VỰC KHÁC</a:t>
                      </a:r>
                    </a:p>
                  </a:txBody>
                  <a:tcPr marL="58802" marR="58802" marT="29401" marB="29401"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006829"/>
                    </a:solidFill>
                  </a:tcPr>
                </a:tc>
                <a:tc>
                  <a:txBody>
                    <a:bodyPr/>
                    <a:lstStyle/>
                    <a:p>
                      <a:pPr algn="ctr">
                        <a:buNone/>
                      </a:pPr>
                      <a:r>
                        <a:rPr lang="en-VN" sz="1400" b="1" dirty="0">
                          <a:solidFill>
                            <a:schemeClr val="bg1"/>
                          </a:solidFill>
                          <a:latin typeface="Cambria" panose="02040503050406030204" pitchFamily="18" charset="0"/>
                        </a:rPr>
                        <a:t>TUYẾN NỘI BỘ</a:t>
                      </a:r>
                    </a:p>
                  </a:txBody>
                  <a:tcPr marL="58802" marR="58802" marT="29401" marB="29401"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006829"/>
                    </a:solidFill>
                  </a:tcPr>
                </a:tc>
                <a:tc>
                  <a:txBody>
                    <a:bodyPr/>
                    <a:lstStyle/>
                    <a:p>
                      <a:pPr algn="ctr">
                        <a:buNone/>
                      </a:pPr>
                      <a:r>
                        <a:rPr lang="en-VN" sz="1400" b="1" dirty="0">
                          <a:solidFill>
                            <a:schemeClr val="bg1"/>
                          </a:solidFill>
                          <a:latin typeface="Cambria" panose="02040503050406030204" pitchFamily="18" charset="0"/>
                        </a:rPr>
                        <a:t>TUYẾN LIÊN KHU VỰC</a:t>
                      </a:r>
                    </a:p>
                  </a:txBody>
                  <a:tcPr marL="58802" marR="58802" marT="29401" marB="29401"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006829"/>
                    </a:solidFill>
                  </a:tcPr>
                </a:tc>
                <a:extLst>
                  <a:ext uri="{0D108BD9-81ED-4DB2-BD59-A6C34878D82A}">
                    <a16:rowId xmlns:a16="http://schemas.microsoft.com/office/drawing/2014/main" val="3280945361"/>
                  </a:ext>
                </a:extLst>
              </a:tr>
              <a:tr h="435955">
                <a:tc>
                  <a:txBody>
                    <a:bodyPr/>
                    <a:lstStyle/>
                    <a:p>
                      <a:pPr>
                        <a:buNone/>
                      </a:pPr>
                      <a:r>
                        <a:rPr lang="en-VN" sz="1400" dirty="0">
                          <a:latin typeface="Cambria" panose="02040503050406030204" pitchFamily="18" charset="0"/>
                        </a:rPr>
                        <a:t>CÁN BỘ NHÂN VIÊN</a:t>
                      </a:r>
                    </a:p>
                  </a:txBody>
                  <a:tcPr marL="58802" marR="58802" marT="29401" marB="29401"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buNone/>
                      </a:pPr>
                      <a:r>
                        <a:rPr lang="en-VN" sz="1400" b="1" dirty="0">
                          <a:solidFill>
                            <a:srgbClr val="006829"/>
                          </a:solidFill>
                          <a:latin typeface="Cambria" panose="02040503050406030204" pitchFamily="18" charset="0"/>
                        </a:rPr>
                        <a:t>T/Sửa của mình</a:t>
                      </a:r>
                    </a:p>
                  </a:txBody>
                  <a:tcPr marL="58802" marR="58802" marT="29401" marB="29401"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buNone/>
                      </a:pPr>
                      <a:r>
                        <a:rPr lang="en-VN" sz="1400" b="1" dirty="0">
                          <a:solidFill>
                            <a:srgbClr val="006829"/>
                          </a:solidFill>
                          <a:latin typeface="Cambria" panose="02040503050406030204" pitchFamily="18" charset="0"/>
                        </a:rPr>
                        <a:t>T/Sửa của mình</a:t>
                      </a:r>
                    </a:p>
                  </a:txBody>
                  <a:tcPr marL="58802" marR="58802" marT="29401" marB="29401"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buNone/>
                      </a:pPr>
                      <a:r>
                        <a:rPr lang="en-VN" sz="1400" b="1" dirty="0">
                          <a:solidFill>
                            <a:srgbClr val="006829"/>
                          </a:solidFill>
                          <a:latin typeface="Cambria" panose="02040503050406030204" pitchFamily="18" charset="0"/>
                        </a:rPr>
                        <a:t>Xem chuyến của mình</a:t>
                      </a:r>
                    </a:p>
                  </a:txBody>
                  <a:tcPr marL="58802" marR="58802" marT="29401" marB="29401"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buNone/>
                      </a:pPr>
                      <a:r>
                        <a:rPr lang="en-VN" sz="1400" b="1" dirty="0">
                          <a:solidFill>
                            <a:srgbClr val="006829"/>
                          </a:solidFill>
                          <a:latin typeface="Cambria" panose="02040503050406030204" pitchFamily="18" charset="0"/>
                        </a:rPr>
                        <a:t>Xem chuyến của mình</a:t>
                      </a:r>
                    </a:p>
                  </a:txBody>
                  <a:tcPr marL="58802" marR="58802" marT="29401" marB="29401"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483228633"/>
                  </a:ext>
                </a:extLst>
              </a:tr>
              <a:tr h="435955">
                <a:tc>
                  <a:txBody>
                    <a:bodyPr/>
                    <a:lstStyle/>
                    <a:p>
                      <a:pPr>
                        <a:buNone/>
                      </a:pPr>
                      <a:r>
                        <a:rPr lang="en-VN" sz="1400" dirty="0">
                          <a:latin typeface="Cambria" panose="02040503050406030204" pitchFamily="18" charset="0"/>
                        </a:rPr>
                        <a:t>QUẢN TRỊ VĂN PHÒNG</a:t>
                      </a:r>
                    </a:p>
                  </a:txBody>
                  <a:tcPr marL="58802" marR="58802" marT="29401" marB="29401"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buNone/>
                      </a:pPr>
                      <a:r>
                        <a:rPr lang="en-VN" sz="1400" b="1" dirty="0">
                          <a:solidFill>
                            <a:srgbClr val="006829"/>
                          </a:solidFill>
                          <a:latin typeface="Cambria" panose="02040503050406030204" pitchFamily="18" charset="0"/>
                        </a:rPr>
                        <a:t>X</a:t>
                      </a:r>
                    </a:p>
                  </a:txBody>
                  <a:tcPr marL="58802" marR="58802" marT="29401" marB="29401"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buNone/>
                      </a:pPr>
                      <a:r>
                        <a:rPr lang="en-VN" sz="1400" b="1" dirty="0">
                          <a:solidFill>
                            <a:srgbClr val="006829"/>
                          </a:solidFill>
                          <a:latin typeface="Cambria" panose="02040503050406030204" pitchFamily="18" charset="0"/>
                        </a:rPr>
                        <a:t>Đ*</a:t>
                      </a:r>
                    </a:p>
                  </a:txBody>
                  <a:tcPr marL="58802" marR="58802" marT="29401" marB="29401"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buNone/>
                      </a:pPr>
                      <a:r>
                        <a:rPr lang="en-VN" sz="1400" b="1" dirty="0">
                          <a:solidFill>
                            <a:srgbClr val="006829"/>
                          </a:solidFill>
                          <a:latin typeface="Cambria" panose="02040503050406030204" pitchFamily="18" charset="0"/>
                        </a:rPr>
                        <a:t>X</a:t>
                      </a:r>
                    </a:p>
                  </a:txBody>
                  <a:tcPr marL="58802" marR="58802" marT="29401" marB="29401"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buNone/>
                      </a:pPr>
                      <a:r>
                        <a:rPr lang="en-VN" sz="1400" b="1" dirty="0">
                          <a:solidFill>
                            <a:srgbClr val="006829"/>
                          </a:solidFill>
                          <a:latin typeface="Cambria" panose="02040503050406030204" pitchFamily="18" charset="0"/>
                        </a:rPr>
                        <a:t>X*</a:t>
                      </a:r>
                    </a:p>
                  </a:txBody>
                  <a:tcPr marL="58802" marR="58802" marT="29401" marB="29401"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75902920"/>
                  </a:ext>
                </a:extLst>
              </a:tr>
              <a:tr h="435955">
                <a:tc>
                  <a:txBody>
                    <a:bodyPr/>
                    <a:lstStyle/>
                    <a:p>
                      <a:pPr>
                        <a:buNone/>
                      </a:pPr>
                      <a:r>
                        <a:rPr lang="en-VN" sz="1400" dirty="0">
                          <a:latin typeface="Cambria" panose="02040503050406030204" pitchFamily="18" charset="0"/>
                        </a:rPr>
                        <a:t>TRƯỞNG NHÓM LÁI XE</a:t>
                      </a:r>
                    </a:p>
                  </a:txBody>
                  <a:tcPr marL="58802" marR="58802" marT="29401" marB="29401"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buNone/>
                      </a:pPr>
                      <a:r>
                        <a:rPr lang="en-VN" sz="1400" b="1" dirty="0">
                          <a:solidFill>
                            <a:srgbClr val="006829"/>
                          </a:solidFill>
                          <a:latin typeface="Cambria" panose="02040503050406030204" pitchFamily="18" charset="0"/>
                        </a:rPr>
                        <a:t>X</a:t>
                      </a:r>
                    </a:p>
                  </a:txBody>
                  <a:tcPr marL="58802" marR="58802" marT="29401" marB="29401"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VN" sz="1400" b="1" dirty="0">
                          <a:solidFill>
                            <a:srgbClr val="006829"/>
                          </a:solidFill>
                          <a:latin typeface="Cambria" panose="02040503050406030204" pitchFamily="18" charset="0"/>
                        </a:rPr>
                        <a:t>–</a:t>
                      </a:r>
                    </a:p>
                  </a:txBody>
                  <a:tcPr marL="58802" marR="58802" marT="29401" marB="29401"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buNone/>
                      </a:pPr>
                      <a:r>
                        <a:rPr lang="en-VN" sz="1400" b="1" dirty="0">
                          <a:solidFill>
                            <a:srgbClr val="006829"/>
                          </a:solidFill>
                          <a:latin typeface="Cambria" panose="02040503050406030204" pitchFamily="18" charset="0"/>
                        </a:rPr>
                        <a:t>X</a:t>
                      </a:r>
                    </a:p>
                  </a:txBody>
                  <a:tcPr marL="58802" marR="58802" marT="29401" marB="29401"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buNone/>
                      </a:pPr>
                      <a:r>
                        <a:rPr lang="en-VN" sz="1400" b="1" dirty="0">
                          <a:solidFill>
                            <a:srgbClr val="006829"/>
                          </a:solidFill>
                          <a:latin typeface="Cambria" panose="02040503050406030204" pitchFamily="18" charset="0"/>
                        </a:rPr>
                        <a:t>Đ</a:t>
                      </a:r>
                    </a:p>
                  </a:txBody>
                  <a:tcPr marL="58802" marR="58802" marT="29401" marB="29401"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043838713"/>
                  </a:ext>
                </a:extLst>
              </a:tr>
              <a:tr h="435955">
                <a:tc>
                  <a:txBody>
                    <a:bodyPr/>
                    <a:lstStyle/>
                    <a:p>
                      <a:pPr>
                        <a:buNone/>
                      </a:pPr>
                      <a:r>
                        <a:rPr lang="en-VN" sz="1400" dirty="0">
                          <a:latin typeface="Cambria" panose="02040503050406030204" pitchFamily="18" charset="0"/>
                        </a:rPr>
                        <a:t>NHÂN VIÊN LÁI XE</a:t>
                      </a:r>
                    </a:p>
                  </a:txBody>
                  <a:tcPr marL="58802" marR="58802" marT="29401" marB="29401"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buNone/>
                      </a:pPr>
                      <a:r>
                        <a:rPr lang="en-VN" sz="1400" b="1" dirty="0">
                          <a:solidFill>
                            <a:srgbClr val="006829"/>
                          </a:solidFill>
                          <a:latin typeface="Cambria" panose="02040503050406030204" pitchFamily="18" charset="0"/>
                        </a:rPr>
                        <a:t>Đ</a:t>
                      </a:r>
                    </a:p>
                  </a:txBody>
                  <a:tcPr marL="58802" marR="58802" marT="29401" marB="29401"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buNone/>
                      </a:pPr>
                      <a:r>
                        <a:rPr lang="en-VN" sz="1400" b="1" dirty="0">
                          <a:solidFill>
                            <a:srgbClr val="006829"/>
                          </a:solidFill>
                          <a:latin typeface="Cambria" panose="02040503050406030204" pitchFamily="18" charset="0"/>
                        </a:rPr>
                        <a:t>–</a:t>
                      </a:r>
                    </a:p>
                  </a:txBody>
                  <a:tcPr marL="58802" marR="58802" marT="29401" marB="29401"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buNone/>
                      </a:pPr>
                      <a:r>
                        <a:rPr lang="en-VN" sz="1400" b="1" dirty="0">
                          <a:solidFill>
                            <a:srgbClr val="006829"/>
                          </a:solidFill>
                          <a:latin typeface="Cambria" panose="02040503050406030204" pitchFamily="18" charset="0"/>
                        </a:rPr>
                        <a:t>Xem chuyến của mình</a:t>
                      </a:r>
                    </a:p>
                  </a:txBody>
                  <a:tcPr marL="58802" marR="58802" marT="29401" marB="29401"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buNone/>
                      </a:pPr>
                      <a:r>
                        <a:rPr lang="en-VN" sz="1400" b="1" dirty="0">
                          <a:solidFill>
                            <a:srgbClr val="006829"/>
                          </a:solidFill>
                          <a:latin typeface="Cambria" panose="02040503050406030204" pitchFamily="18" charset="0"/>
                        </a:rPr>
                        <a:t>Xem chuyến của mình</a:t>
                      </a:r>
                    </a:p>
                  </a:txBody>
                  <a:tcPr marL="58802" marR="58802" marT="29401" marB="29401"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537406803"/>
                  </a:ext>
                </a:extLst>
              </a:tr>
              <a:tr h="435955">
                <a:tc>
                  <a:txBody>
                    <a:bodyPr/>
                    <a:lstStyle/>
                    <a:p>
                      <a:pPr>
                        <a:buNone/>
                      </a:pPr>
                      <a:r>
                        <a:rPr lang="en-VN" sz="1400" dirty="0">
                          <a:latin typeface="Cambria" panose="02040503050406030204" pitchFamily="18" charset="0"/>
                        </a:rPr>
                        <a:t>KẾ TOÁN</a:t>
                      </a:r>
                    </a:p>
                  </a:txBody>
                  <a:tcPr marL="58802" marR="58802" marT="29401" marB="29401"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buNone/>
                      </a:pPr>
                      <a:r>
                        <a:rPr lang="en-VN" sz="1400" b="1" dirty="0">
                          <a:solidFill>
                            <a:srgbClr val="006829"/>
                          </a:solidFill>
                          <a:latin typeface="Cambria" panose="02040503050406030204" pitchFamily="18" charset="0"/>
                        </a:rPr>
                        <a:t>Đ</a:t>
                      </a:r>
                    </a:p>
                  </a:txBody>
                  <a:tcPr marL="58802" marR="58802" marT="29401" marB="29401"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buNone/>
                      </a:pPr>
                      <a:r>
                        <a:rPr lang="en-VN" sz="1400" b="1" dirty="0">
                          <a:solidFill>
                            <a:srgbClr val="006829"/>
                          </a:solidFill>
                          <a:latin typeface="Cambria" panose="02040503050406030204" pitchFamily="18" charset="0"/>
                        </a:rPr>
                        <a:t>–</a:t>
                      </a:r>
                    </a:p>
                  </a:txBody>
                  <a:tcPr marL="58802" marR="58802" marT="29401" marB="29401"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buNone/>
                      </a:pPr>
                      <a:r>
                        <a:rPr lang="en-VN" sz="1400" b="1" dirty="0">
                          <a:solidFill>
                            <a:srgbClr val="006829"/>
                          </a:solidFill>
                          <a:latin typeface="Cambria" panose="02040503050406030204" pitchFamily="18" charset="0"/>
                        </a:rPr>
                        <a:t>Xem</a:t>
                      </a:r>
                    </a:p>
                  </a:txBody>
                  <a:tcPr marL="58802" marR="58802" marT="29401" marB="29401"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buNone/>
                      </a:pPr>
                      <a:r>
                        <a:rPr lang="en-VN" sz="1400" b="1" dirty="0">
                          <a:solidFill>
                            <a:srgbClr val="006829"/>
                          </a:solidFill>
                          <a:latin typeface="Cambria" panose="02040503050406030204" pitchFamily="18" charset="0"/>
                        </a:rPr>
                        <a:t>Xem</a:t>
                      </a:r>
                    </a:p>
                  </a:txBody>
                  <a:tcPr marL="58802" marR="58802" marT="29401" marB="29401"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754457036"/>
                  </a:ext>
                </a:extLst>
              </a:tr>
              <a:tr h="435955">
                <a:tc>
                  <a:txBody>
                    <a:bodyPr/>
                    <a:lstStyle/>
                    <a:p>
                      <a:pPr>
                        <a:buNone/>
                      </a:pPr>
                      <a:r>
                        <a:rPr lang="en-VN" sz="1400" dirty="0">
                          <a:latin typeface="Cambria" panose="02040503050406030204" pitchFamily="18" charset="0"/>
                        </a:rPr>
                        <a:t>LÃNH ĐẠO SỬ DỤNG XE RIÊNG</a:t>
                      </a:r>
                    </a:p>
                  </a:txBody>
                  <a:tcPr marL="58802" marR="58802" marT="29401" marB="29401"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buNone/>
                      </a:pPr>
                      <a:r>
                        <a:rPr lang="en-VN" sz="1400" b="1" dirty="0">
                          <a:solidFill>
                            <a:srgbClr val="006829"/>
                          </a:solidFill>
                          <a:latin typeface="Cambria" panose="02040503050406030204" pitchFamily="18" charset="0"/>
                        </a:rPr>
                        <a:t>Đ</a:t>
                      </a:r>
                    </a:p>
                  </a:txBody>
                  <a:tcPr marL="58802" marR="58802" marT="29401" marB="29401"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buNone/>
                      </a:pPr>
                      <a:r>
                        <a:rPr lang="en-VN" sz="1400" b="1" dirty="0">
                          <a:solidFill>
                            <a:srgbClr val="006829"/>
                          </a:solidFill>
                          <a:latin typeface="Cambria" panose="02040503050406030204" pitchFamily="18" charset="0"/>
                        </a:rPr>
                        <a:t>–</a:t>
                      </a:r>
                    </a:p>
                  </a:txBody>
                  <a:tcPr marL="58802" marR="58802" marT="29401" marB="29401"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buNone/>
                      </a:pPr>
                      <a:r>
                        <a:rPr lang="en-VN" sz="1400" b="1" dirty="0">
                          <a:solidFill>
                            <a:srgbClr val="006829"/>
                          </a:solidFill>
                          <a:latin typeface="Cambria" panose="02040503050406030204" pitchFamily="18" charset="0"/>
                        </a:rPr>
                        <a:t>Xem</a:t>
                      </a:r>
                    </a:p>
                  </a:txBody>
                  <a:tcPr marL="58802" marR="58802" marT="29401" marB="29401"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buNone/>
                      </a:pPr>
                      <a:r>
                        <a:rPr lang="en-VN" sz="1400" b="1" dirty="0">
                          <a:solidFill>
                            <a:srgbClr val="006829"/>
                          </a:solidFill>
                          <a:latin typeface="Cambria" panose="02040503050406030204" pitchFamily="18" charset="0"/>
                        </a:rPr>
                        <a:t>Xem</a:t>
                      </a:r>
                    </a:p>
                  </a:txBody>
                  <a:tcPr marL="58802" marR="58802" marT="29401" marB="29401"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992751730"/>
                  </a:ext>
                </a:extLst>
              </a:tr>
              <a:tr h="435955">
                <a:tc>
                  <a:txBody>
                    <a:bodyPr/>
                    <a:lstStyle/>
                    <a:p>
                      <a:pPr>
                        <a:buNone/>
                      </a:pPr>
                      <a:r>
                        <a:rPr lang="en-VN" sz="1400" dirty="0">
                          <a:latin typeface="Cambria" panose="02040503050406030204" pitchFamily="18" charset="0"/>
                        </a:rPr>
                        <a:t>QUẢN TRỊ HỆ THỐNG</a:t>
                      </a:r>
                    </a:p>
                  </a:txBody>
                  <a:tcPr marL="58802" marR="58802" marT="29401" marB="29401"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buNone/>
                      </a:pPr>
                      <a:r>
                        <a:rPr lang="en-VN" sz="1400" b="1" dirty="0">
                          <a:solidFill>
                            <a:srgbClr val="006829"/>
                          </a:solidFill>
                          <a:latin typeface="Cambria" panose="02040503050406030204" pitchFamily="18" charset="0"/>
                        </a:rPr>
                        <a:t>X</a:t>
                      </a:r>
                    </a:p>
                  </a:txBody>
                  <a:tcPr marL="58802" marR="58802" marT="29401" marB="29401"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buNone/>
                      </a:pPr>
                      <a:r>
                        <a:rPr lang="en-VN" sz="1400" b="1" dirty="0">
                          <a:solidFill>
                            <a:srgbClr val="006829"/>
                          </a:solidFill>
                          <a:latin typeface="Cambria" panose="02040503050406030204" pitchFamily="18" charset="0"/>
                        </a:rPr>
                        <a:t>X</a:t>
                      </a:r>
                    </a:p>
                  </a:txBody>
                  <a:tcPr marL="58802" marR="58802" marT="29401" marB="29401"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buNone/>
                      </a:pPr>
                      <a:r>
                        <a:rPr lang="en-VN" sz="1400" b="1" dirty="0">
                          <a:solidFill>
                            <a:srgbClr val="006829"/>
                          </a:solidFill>
                          <a:latin typeface="Cambria" panose="02040503050406030204" pitchFamily="18" charset="0"/>
                        </a:rPr>
                        <a:t>X</a:t>
                      </a:r>
                    </a:p>
                  </a:txBody>
                  <a:tcPr marL="58802" marR="58802" marT="29401" marB="29401"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a:buNone/>
                      </a:pPr>
                      <a:r>
                        <a:rPr lang="en-VN" sz="1400" b="1" dirty="0">
                          <a:solidFill>
                            <a:srgbClr val="006829"/>
                          </a:solidFill>
                          <a:latin typeface="Cambria" panose="02040503050406030204" pitchFamily="18" charset="0"/>
                        </a:rPr>
                        <a:t>X</a:t>
                      </a:r>
                    </a:p>
                  </a:txBody>
                  <a:tcPr marL="58802" marR="58802" marT="29401" marB="29401"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934722704"/>
                  </a:ext>
                </a:extLst>
              </a:tr>
            </a:tbl>
          </a:graphicData>
        </a:graphic>
      </p:graphicFrame>
      <p:sp>
        <p:nvSpPr>
          <p:cNvPr id="7" name="TextBox 6">
            <a:extLst>
              <a:ext uri="{FF2B5EF4-FFF2-40B4-BE49-F238E27FC236}">
                <a16:creationId xmlns:a16="http://schemas.microsoft.com/office/drawing/2014/main" id="{B164D401-DB6A-AB67-2433-9CF25699FB3F}"/>
              </a:ext>
            </a:extLst>
          </p:cNvPr>
          <p:cNvSpPr txBox="1"/>
          <p:nvPr/>
        </p:nvSpPr>
        <p:spPr>
          <a:xfrm>
            <a:off x="5459506" y="5680717"/>
            <a:ext cx="5230454" cy="1169551"/>
          </a:xfrm>
          <a:prstGeom prst="rect">
            <a:avLst/>
          </a:prstGeom>
          <a:noFill/>
        </p:spPr>
        <p:txBody>
          <a:bodyPr wrap="square">
            <a:spAutoFit/>
          </a:bodyPr>
          <a:lstStyle/>
          <a:p>
            <a:pPr>
              <a:buNone/>
            </a:pPr>
            <a:endParaRPr lang="en-VN" sz="1400" b="1" i="1" dirty="0">
              <a:solidFill>
                <a:srgbClr val="FF0000"/>
              </a:solidFill>
              <a:latin typeface="Cambria" panose="02040503050406030204" pitchFamily="18" charset="0"/>
            </a:endParaRPr>
          </a:p>
          <a:p>
            <a:pPr marL="342900" lvl="0" indent="-342900">
              <a:buFont typeface="Arial" panose="020B0604020202020204" pitchFamily="34" charset="0"/>
              <a:buChar char="•"/>
            </a:pPr>
            <a:r>
              <a:rPr lang="en-VN" sz="1400" b="1" dirty="0">
                <a:latin typeface="Cambria" panose="02040503050406030204" pitchFamily="18" charset="0"/>
              </a:rPr>
              <a:t>Đ*</a:t>
            </a:r>
            <a:r>
              <a:rPr lang="en-VN" sz="1400" dirty="0">
                <a:latin typeface="Cambria" panose="02040503050406030204" pitchFamily="18" charset="0"/>
              </a:rPr>
              <a:t>: chỉ được xem dữ liệu liên khu vực liên quan đến khu vực của mình.</a:t>
            </a:r>
          </a:p>
          <a:p>
            <a:pPr marL="342900" lvl="0" indent="-342900">
              <a:buFont typeface="Arial" panose="020B0604020202020204" pitchFamily="34" charset="0"/>
              <a:buChar char="•"/>
            </a:pPr>
            <a:r>
              <a:rPr lang="en-VN" sz="1400" b="1" dirty="0">
                <a:latin typeface="Cambria" panose="02040503050406030204" pitchFamily="18" charset="0"/>
              </a:rPr>
              <a:t>X*</a:t>
            </a:r>
            <a:r>
              <a:rPr lang="en-VN" sz="1400" dirty="0">
                <a:latin typeface="Cambria" panose="02040503050406030204" pitchFamily="18" charset="0"/>
              </a:rPr>
              <a:t>: được điều phối tuyến liên khu vực nhưng nên có cơ chế </a:t>
            </a:r>
            <a:r>
              <a:rPr lang="en-VN" sz="1400" b="1" dirty="0">
                <a:latin typeface="Cambria" panose="02040503050406030204" pitchFamily="18" charset="0"/>
              </a:rPr>
              <a:t>đồng điều phối</a:t>
            </a:r>
            <a:r>
              <a:rPr lang="en-VN" sz="1400" dirty="0">
                <a:latin typeface="Cambria" panose="02040503050406030204" pitchFamily="18" charset="0"/>
              </a:rPr>
              <a:t> với khu vực đầu kia.</a:t>
            </a:r>
          </a:p>
        </p:txBody>
      </p:sp>
      <p:sp>
        <p:nvSpPr>
          <p:cNvPr id="3" name="Alternate Process 2">
            <a:extLst>
              <a:ext uri="{FF2B5EF4-FFF2-40B4-BE49-F238E27FC236}">
                <a16:creationId xmlns:a16="http://schemas.microsoft.com/office/drawing/2014/main" id="{89B63E9F-15AB-C938-91AA-6244C6840597}"/>
              </a:ext>
            </a:extLst>
          </p:cNvPr>
          <p:cNvSpPr/>
          <p:nvPr/>
        </p:nvSpPr>
        <p:spPr>
          <a:xfrm>
            <a:off x="6201239" y="2656826"/>
            <a:ext cx="1190368" cy="514891"/>
          </a:xfrm>
          <a:prstGeom prst="flowChartAlternateProcess">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200" dirty="0">
                <a:solidFill>
                  <a:srgbClr val="006829"/>
                </a:solidFill>
                <a:latin typeface="Cambria" panose="02040503050406030204" pitchFamily="18" charset="0"/>
              </a:rPr>
              <a:t>VPĐH GIA LAI</a:t>
            </a:r>
          </a:p>
        </p:txBody>
      </p:sp>
      <p:sp>
        <p:nvSpPr>
          <p:cNvPr id="4" name="Alternate Process 3">
            <a:extLst>
              <a:ext uri="{FF2B5EF4-FFF2-40B4-BE49-F238E27FC236}">
                <a16:creationId xmlns:a16="http://schemas.microsoft.com/office/drawing/2014/main" id="{CCF79FDE-76F2-6593-BA99-23F3105CE654}"/>
              </a:ext>
            </a:extLst>
          </p:cNvPr>
          <p:cNvSpPr/>
          <p:nvPr/>
        </p:nvSpPr>
        <p:spPr>
          <a:xfrm>
            <a:off x="8055782" y="982441"/>
            <a:ext cx="2206089" cy="416038"/>
          </a:xfrm>
          <a:prstGeom prst="flowChartAlternateProcess">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400" dirty="0">
                <a:solidFill>
                  <a:srgbClr val="006829"/>
                </a:solidFill>
                <a:latin typeface="Cambria" panose="02040503050406030204" pitchFamily="18" charset="0"/>
              </a:rPr>
              <a:t>TẬP ĐOÀN THACO AGRI</a:t>
            </a:r>
          </a:p>
        </p:txBody>
      </p:sp>
      <p:sp>
        <p:nvSpPr>
          <p:cNvPr id="8" name="Alternate Process 7">
            <a:extLst>
              <a:ext uri="{FF2B5EF4-FFF2-40B4-BE49-F238E27FC236}">
                <a16:creationId xmlns:a16="http://schemas.microsoft.com/office/drawing/2014/main" id="{371CC979-F3A5-2FCC-998F-9049AC71F2D2}"/>
              </a:ext>
            </a:extLst>
          </p:cNvPr>
          <p:cNvSpPr/>
          <p:nvPr/>
        </p:nvSpPr>
        <p:spPr>
          <a:xfrm>
            <a:off x="7494579" y="2656827"/>
            <a:ext cx="1025610" cy="514890"/>
          </a:xfrm>
          <a:prstGeom prst="flowChartAlternateProcess">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200" dirty="0">
                <a:solidFill>
                  <a:srgbClr val="006829"/>
                </a:solidFill>
                <a:latin typeface="Cambria" panose="02040503050406030204" pitchFamily="18" charset="0"/>
              </a:rPr>
              <a:t>KLH</a:t>
            </a:r>
          </a:p>
          <a:p>
            <a:pPr algn="ctr"/>
            <a:r>
              <a:rPr lang="vi-VN" sz="1200" dirty="0">
                <a:solidFill>
                  <a:srgbClr val="006829"/>
                </a:solidFill>
                <a:latin typeface="Cambria" panose="02040503050406030204" pitchFamily="18" charset="0"/>
              </a:rPr>
              <a:t>KOUN MOM</a:t>
            </a:r>
          </a:p>
        </p:txBody>
      </p:sp>
      <p:sp>
        <p:nvSpPr>
          <p:cNvPr id="9" name="Alternate Process 8">
            <a:extLst>
              <a:ext uri="{FF2B5EF4-FFF2-40B4-BE49-F238E27FC236}">
                <a16:creationId xmlns:a16="http://schemas.microsoft.com/office/drawing/2014/main" id="{CA6DDFD6-794C-330D-07AF-F52EA0501E4D}"/>
              </a:ext>
            </a:extLst>
          </p:cNvPr>
          <p:cNvSpPr/>
          <p:nvPr/>
        </p:nvSpPr>
        <p:spPr>
          <a:xfrm>
            <a:off x="8623161" y="2656827"/>
            <a:ext cx="1066802" cy="514890"/>
          </a:xfrm>
          <a:prstGeom prst="flowChartAlternateProcess">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200" dirty="0">
                <a:solidFill>
                  <a:srgbClr val="006829"/>
                </a:solidFill>
                <a:latin typeface="Cambria" panose="02040503050406030204" pitchFamily="18" charset="0"/>
              </a:rPr>
              <a:t>KLH SNUOL</a:t>
            </a:r>
          </a:p>
        </p:txBody>
      </p:sp>
      <p:sp>
        <p:nvSpPr>
          <p:cNvPr id="10" name="Alternate Process 9">
            <a:extLst>
              <a:ext uri="{FF2B5EF4-FFF2-40B4-BE49-F238E27FC236}">
                <a16:creationId xmlns:a16="http://schemas.microsoft.com/office/drawing/2014/main" id="{1EE96779-A71F-5F04-FDF1-E425F7111077}"/>
              </a:ext>
            </a:extLst>
          </p:cNvPr>
          <p:cNvSpPr/>
          <p:nvPr/>
        </p:nvSpPr>
        <p:spPr>
          <a:xfrm>
            <a:off x="9774604" y="2656827"/>
            <a:ext cx="1190368" cy="514890"/>
          </a:xfrm>
          <a:prstGeom prst="flowChartAlternateProcess">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200" dirty="0">
                <a:solidFill>
                  <a:srgbClr val="006829"/>
                </a:solidFill>
                <a:latin typeface="Cambria" panose="02040503050406030204" pitchFamily="18" charset="0"/>
              </a:rPr>
              <a:t>KLH</a:t>
            </a:r>
          </a:p>
          <a:p>
            <a:pPr algn="ctr"/>
            <a:r>
              <a:rPr lang="vi-VN" sz="1200" dirty="0">
                <a:solidFill>
                  <a:srgbClr val="006829"/>
                </a:solidFill>
                <a:latin typeface="Cambria" panose="02040503050406030204" pitchFamily="18" charset="0"/>
              </a:rPr>
              <a:t>CAO NGUYÊN</a:t>
            </a:r>
          </a:p>
        </p:txBody>
      </p:sp>
      <p:sp>
        <p:nvSpPr>
          <p:cNvPr id="11" name="Alternate Process 10">
            <a:extLst>
              <a:ext uri="{FF2B5EF4-FFF2-40B4-BE49-F238E27FC236}">
                <a16:creationId xmlns:a16="http://schemas.microsoft.com/office/drawing/2014/main" id="{B15B8EED-959C-E39F-CDF6-70CE800A1E87}"/>
              </a:ext>
            </a:extLst>
          </p:cNvPr>
          <p:cNvSpPr/>
          <p:nvPr/>
        </p:nvSpPr>
        <p:spPr>
          <a:xfrm>
            <a:off x="11049613" y="2646517"/>
            <a:ext cx="1066802" cy="525200"/>
          </a:xfrm>
          <a:prstGeom prst="flowChartAlternateProcess">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200" dirty="0">
                <a:solidFill>
                  <a:srgbClr val="006829"/>
                </a:solidFill>
                <a:latin typeface="Cambria" panose="02040503050406030204" pitchFamily="18" charset="0"/>
              </a:rPr>
              <a:t>KLH NAM LÀO</a:t>
            </a:r>
          </a:p>
        </p:txBody>
      </p:sp>
      <p:sp>
        <p:nvSpPr>
          <p:cNvPr id="12" name="Alternate Process 11">
            <a:extLst>
              <a:ext uri="{FF2B5EF4-FFF2-40B4-BE49-F238E27FC236}">
                <a16:creationId xmlns:a16="http://schemas.microsoft.com/office/drawing/2014/main" id="{13C1F755-D7F1-FCFD-5EAB-F5266E8D8480}"/>
              </a:ext>
            </a:extLst>
          </p:cNvPr>
          <p:cNvSpPr/>
          <p:nvPr/>
        </p:nvSpPr>
        <p:spPr>
          <a:xfrm>
            <a:off x="6201239" y="1704651"/>
            <a:ext cx="5915176" cy="506627"/>
          </a:xfrm>
          <a:prstGeom prst="flowChartAlternateProcess">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400" dirty="0">
                <a:solidFill>
                  <a:srgbClr val="006829"/>
                </a:solidFill>
                <a:latin typeface="Cambria" panose="02040503050406030204" pitchFamily="18" charset="0"/>
              </a:rPr>
              <a:t>TUYẾN LIÊN KHU VỰC</a:t>
            </a:r>
          </a:p>
        </p:txBody>
      </p:sp>
      <p:sp>
        <p:nvSpPr>
          <p:cNvPr id="13" name="Alternate Process 12">
            <a:extLst>
              <a:ext uri="{FF2B5EF4-FFF2-40B4-BE49-F238E27FC236}">
                <a16:creationId xmlns:a16="http://schemas.microsoft.com/office/drawing/2014/main" id="{860D6D67-AFB4-2B87-6F92-619135E08320}"/>
              </a:ext>
            </a:extLst>
          </p:cNvPr>
          <p:cNvSpPr/>
          <p:nvPr/>
        </p:nvSpPr>
        <p:spPr>
          <a:xfrm>
            <a:off x="6198973" y="3411215"/>
            <a:ext cx="1190368" cy="624016"/>
          </a:xfrm>
          <a:prstGeom prst="flowChartAlternateProcess">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400" dirty="0">
                <a:solidFill>
                  <a:srgbClr val="006829"/>
                </a:solidFill>
                <a:latin typeface="Cambria" panose="02040503050406030204" pitchFamily="18" charset="0"/>
              </a:rPr>
              <a:t>TUYẾN</a:t>
            </a:r>
          </a:p>
          <a:p>
            <a:pPr algn="ctr"/>
            <a:r>
              <a:rPr lang="vi-VN" sz="1400" dirty="0">
                <a:solidFill>
                  <a:srgbClr val="006829"/>
                </a:solidFill>
                <a:latin typeface="Cambria" panose="02040503050406030204" pitchFamily="18" charset="0"/>
              </a:rPr>
              <a:t> NỘI BỘ</a:t>
            </a:r>
          </a:p>
        </p:txBody>
      </p:sp>
      <p:sp>
        <p:nvSpPr>
          <p:cNvPr id="14" name="Alternate Process 13">
            <a:extLst>
              <a:ext uri="{FF2B5EF4-FFF2-40B4-BE49-F238E27FC236}">
                <a16:creationId xmlns:a16="http://schemas.microsoft.com/office/drawing/2014/main" id="{DE7B9B68-FE70-B7D9-8EFF-F5D6FB4FDA59}"/>
              </a:ext>
            </a:extLst>
          </p:cNvPr>
          <p:cNvSpPr/>
          <p:nvPr/>
        </p:nvSpPr>
        <p:spPr>
          <a:xfrm>
            <a:off x="7504668" y="3411215"/>
            <a:ext cx="1025610" cy="624016"/>
          </a:xfrm>
          <a:prstGeom prst="flowChartAlternateProcess">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400" dirty="0">
                <a:solidFill>
                  <a:srgbClr val="006829"/>
                </a:solidFill>
                <a:latin typeface="Cambria" panose="02040503050406030204" pitchFamily="18" charset="0"/>
              </a:rPr>
              <a:t>TUYẾN</a:t>
            </a:r>
          </a:p>
          <a:p>
            <a:pPr algn="ctr"/>
            <a:r>
              <a:rPr lang="vi-VN" sz="1400" dirty="0">
                <a:solidFill>
                  <a:srgbClr val="006829"/>
                </a:solidFill>
                <a:latin typeface="Cambria" panose="02040503050406030204" pitchFamily="18" charset="0"/>
              </a:rPr>
              <a:t> NỘI BỘ</a:t>
            </a:r>
          </a:p>
        </p:txBody>
      </p:sp>
      <p:sp>
        <p:nvSpPr>
          <p:cNvPr id="15" name="Alternate Process 14">
            <a:extLst>
              <a:ext uri="{FF2B5EF4-FFF2-40B4-BE49-F238E27FC236}">
                <a16:creationId xmlns:a16="http://schemas.microsoft.com/office/drawing/2014/main" id="{35F1C221-4F64-373E-A6A9-3292EF10CD7D}"/>
              </a:ext>
            </a:extLst>
          </p:cNvPr>
          <p:cNvSpPr/>
          <p:nvPr/>
        </p:nvSpPr>
        <p:spPr>
          <a:xfrm>
            <a:off x="8639635" y="3411215"/>
            <a:ext cx="1025610" cy="624016"/>
          </a:xfrm>
          <a:prstGeom prst="flowChartAlternateProcess">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400" dirty="0">
                <a:solidFill>
                  <a:srgbClr val="006829"/>
                </a:solidFill>
                <a:latin typeface="Cambria" panose="02040503050406030204" pitchFamily="18" charset="0"/>
              </a:rPr>
              <a:t>TUYẾN</a:t>
            </a:r>
          </a:p>
          <a:p>
            <a:pPr algn="ctr"/>
            <a:r>
              <a:rPr lang="vi-VN" sz="1400" dirty="0">
                <a:solidFill>
                  <a:srgbClr val="006829"/>
                </a:solidFill>
                <a:latin typeface="Cambria" panose="02040503050406030204" pitchFamily="18" charset="0"/>
              </a:rPr>
              <a:t> NỘI BỘ</a:t>
            </a:r>
          </a:p>
        </p:txBody>
      </p:sp>
      <p:sp>
        <p:nvSpPr>
          <p:cNvPr id="16" name="Alternate Process 15">
            <a:extLst>
              <a:ext uri="{FF2B5EF4-FFF2-40B4-BE49-F238E27FC236}">
                <a16:creationId xmlns:a16="http://schemas.microsoft.com/office/drawing/2014/main" id="{4FE5F0B0-9DCA-9F16-8F0C-06A9C408DBAA}"/>
              </a:ext>
            </a:extLst>
          </p:cNvPr>
          <p:cNvSpPr/>
          <p:nvPr/>
        </p:nvSpPr>
        <p:spPr>
          <a:xfrm>
            <a:off x="9774602" y="3411215"/>
            <a:ext cx="1190368" cy="624016"/>
          </a:xfrm>
          <a:prstGeom prst="flowChartAlternateProcess">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400" dirty="0">
                <a:solidFill>
                  <a:srgbClr val="006829"/>
                </a:solidFill>
                <a:latin typeface="Cambria" panose="02040503050406030204" pitchFamily="18" charset="0"/>
              </a:rPr>
              <a:t>TUYẾN</a:t>
            </a:r>
          </a:p>
          <a:p>
            <a:pPr algn="ctr"/>
            <a:r>
              <a:rPr lang="vi-VN" sz="1400" dirty="0">
                <a:solidFill>
                  <a:srgbClr val="006829"/>
                </a:solidFill>
                <a:latin typeface="Cambria" panose="02040503050406030204" pitchFamily="18" charset="0"/>
              </a:rPr>
              <a:t> NỘI BỘ</a:t>
            </a:r>
          </a:p>
        </p:txBody>
      </p:sp>
      <p:sp>
        <p:nvSpPr>
          <p:cNvPr id="17" name="Alternate Process 16">
            <a:extLst>
              <a:ext uri="{FF2B5EF4-FFF2-40B4-BE49-F238E27FC236}">
                <a16:creationId xmlns:a16="http://schemas.microsoft.com/office/drawing/2014/main" id="{A3F72D8B-98A1-F5A4-DD41-AE844C736A6E}"/>
              </a:ext>
            </a:extLst>
          </p:cNvPr>
          <p:cNvSpPr/>
          <p:nvPr/>
        </p:nvSpPr>
        <p:spPr>
          <a:xfrm>
            <a:off x="11055586" y="3411215"/>
            <a:ext cx="1060829" cy="624016"/>
          </a:xfrm>
          <a:prstGeom prst="flowChartAlternateProcess">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400" dirty="0">
                <a:solidFill>
                  <a:srgbClr val="006829"/>
                </a:solidFill>
                <a:latin typeface="Cambria" panose="02040503050406030204" pitchFamily="18" charset="0"/>
              </a:rPr>
              <a:t>TUYẾN</a:t>
            </a:r>
          </a:p>
          <a:p>
            <a:pPr algn="ctr"/>
            <a:r>
              <a:rPr lang="vi-VN" sz="1400" dirty="0">
                <a:solidFill>
                  <a:srgbClr val="006829"/>
                </a:solidFill>
                <a:latin typeface="Cambria" panose="02040503050406030204" pitchFamily="18" charset="0"/>
              </a:rPr>
              <a:t> NỘI BỘ</a:t>
            </a:r>
          </a:p>
        </p:txBody>
      </p:sp>
      <p:cxnSp>
        <p:nvCxnSpPr>
          <p:cNvPr id="19" name="Straight Arrow Connector 18">
            <a:extLst>
              <a:ext uri="{FF2B5EF4-FFF2-40B4-BE49-F238E27FC236}">
                <a16:creationId xmlns:a16="http://schemas.microsoft.com/office/drawing/2014/main" id="{5E49123C-4B49-9A5A-B730-8A31DDAC0F61}"/>
              </a:ext>
            </a:extLst>
          </p:cNvPr>
          <p:cNvCxnSpPr>
            <a:stCxn id="4" idx="2"/>
            <a:endCxn id="12" idx="0"/>
          </p:cNvCxnSpPr>
          <p:nvPr/>
        </p:nvCxnSpPr>
        <p:spPr>
          <a:xfrm>
            <a:off x="9158827" y="1398479"/>
            <a:ext cx="0" cy="306172"/>
          </a:xfrm>
          <a:prstGeom prst="straightConnector1">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5" name="Elbow Connector 24">
            <a:extLst>
              <a:ext uri="{FF2B5EF4-FFF2-40B4-BE49-F238E27FC236}">
                <a16:creationId xmlns:a16="http://schemas.microsoft.com/office/drawing/2014/main" id="{CEADA428-5902-5347-489F-9A7FA3583DB0}"/>
              </a:ext>
            </a:extLst>
          </p:cNvPr>
          <p:cNvCxnSpPr>
            <a:stCxn id="12" idx="2"/>
            <a:endCxn id="3" idx="0"/>
          </p:cNvCxnSpPr>
          <p:nvPr/>
        </p:nvCxnSpPr>
        <p:spPr>
          <a:xfrm rot="5400000">
            <a:off x="7754851" y="1252850"/>
            <a:ext cx="445548" cy="2362404"/>
          </a:xfrm>
          <a:prstGeom prst="bentConnector3">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6" name="Elbow Connector 25">
            <a:extLst>
              <a:ext uri="{FF2B5EF4-FFF2-40B4-BE49-F238E27FC236}">
                <a16:creationId xmlns:a16="http://schemas.microsoft.com/office/drawing/2014/main" id="{8764B289-CBD5-D12B-BDE6-9E22539DFD66}"/>
              </a:ext>
            </a:extLst>
          </p:cNvPr>
          <p:cNvCxnSpPr>
            <a:cxnSpLocks/>
            <a:stCxn id="12" idx="2"/>
            <a:endCxn id="11" idx="0"/>
          </p:cNvCxnSpPr>
          <p:nvPr/>
        </p:nvCxnSpPr>
        <p:spPr>
          <a:xfrm rot="16200000" flipH="1">
            <a:off x="10153301" y="1216803"/>
            <a:ext cx="435239" cy="2424187"/>
          </a:xfrm>
          <a:prstGeom prst="bentConnector3">
            <a:avLst>
              <a:gd name="adj1" fmla="val 50000"/>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9" name="Elbow Connector 28">
            <a:extLst>
              <a:ext uri="{FF2B5EF4-FFF2-40B4-BE49-F238E27FC236}">
                <a16:creationId xmlns:a16="http://schemas.microsoft.com/office/drawing/2014/main" id="{08E2A335-87A3-69BD-3685-9FD9109D65B4}"/>
              </a:ext>
            </a:extLst>
          </p:cNvPr>
          <p:cNvCxnSpPr>
            <a:cxnSpLocks/>
            <a:stCxn id="12" idx="2"/>
            <a:endCxn id="10" idx="0"/>
          </p:cNvCxnSpPr>
          <p:nvPr/>
        </p:nvCxnSpPr>
        <p:spPr>
          <a:xfrm rot="16200000" flipH="1">
            <a:off x="9541533" y="1828571"/>
            <a:ext cx="445549" cy="1210961"/>
          </a:xfrm>
          <a:prstGeom prst="bentConnector3">
            <a:avLst>
              <a:gd name="adj1" fmla="val 50000"/>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2" name="Elbow Connector 31">
            <a:extLst>
              <a:ext uri="{FF2B5EF4-FFF2-40B4-BE49-F238E27FC236}">
                <a16:creationId xmlns:a16="http://schemas.microsoft.com/office/drawing/2014/main" id="{0C51C0A3-BBC0-CE13-D78B-8CED75CC72DF}"/>
              </a:ext>
            </a:extLst>
          </p:cNvPr>
          <p:cNvCxnSpPr>
            <a:cxnSpLocks/>
            <a:stCxn id="12" idx="2"/>
            <a:endCxn id="8" idx="0"/>
          </p:cNvCxnSpPr>
          <p:nvPr/>
        </p:nvCxnSpPr>
        <p:spPr>
          <a:xfrm rot="5400000">
            <a:off x="8360332" y="1858331"/>
            <a:ext cx="445549" cy="1151443"/>
          </a:xfrm>
          <a:prstGeom prst="bentConnector3">
            <a:avLst>
              <a:gd name="adj1" fmla="val 50000"/>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5" name="Elbow Connector 34">
            <a:extLst>
              <a:ext uri="{FF2B5EF4-FFF2-40B4-BE49-F238E27FC236}">
                <a16:creationId xmlns:a16="http://schemas.microsoft.com/office/drawing/2014/main" id="{05447C1E-82A3-78BB-E2B3-1787E180B815}"/>
              </a:ext>
            </a:extLst>
          </p:cNvPr>
          <p:cNvCxnSpPr>
            <a:cxnSpLocks/>
            <a:stCxn id="12" idx="2"/>
            <a:endCxn id="9" idx="0"/>
          </p:cNvCxnSpPr>
          <p:nvPr/>
        </p:nvCxnSpPr>
        <p:spPr>
          <a:xfrm rot="5400000">
            <a:off x="8934921" y="2432920"/>
            <a:ext cx="445549" cy="2265"/>
          </a:xfrm>
          <a:prstGeom prst="bentConnector3">
            <a:avLst>
              <a:gd name="adj1" fmla="val 50000"/>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8" name="Straight Arrow Connector 37">
            <a:extLst>
              <a:ext uri="{FF2B5EF4-FFF2-40B4-BE49-F238E27FC236}">
                <a16:creationId xmlns:a16="http://schemas.microsoft.com/office/drawing/2014/main" id="{5D8DB63F-4E87-4E31-28E1-AE97DFD57C1B}"/>
              </a:ext>
            </a:extLst>
          </p:cNvPr>
          <p:cNvCxnSpPr>
            <a:cxnSpLocks/>
            <a:stCxn id="3" idx="2"/>
            <a:endCxn id="13" idx="0"/>
          </p:cNvCxnSpPr>
          <p:nvPr/>
        </p:nvCxnSpPr>
        <p:spPr>
          <a:xfrm flipH="1">
            <a:off x="6794157" y="3171717"/>
            <a:ext cx="2266" cy="239498"/>
          </a:xfrm>
          <a:prstGeom prst="straightConnector1">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1" name="Straight Arrow Connector 40">
            <a:extLst>
              <a:ext uri="{FF2B5EF4-FFF2-40B4-BE49-F238E27FC236}">
                <a16:creationId xmlns:a16="http://schemas.microsoft.com/office/drawing/2014/main" id="{02915422-6188-6EFF-530C-FBDCD7A0C750}"/>
              </a:ext>
            </a:extLst>
          </p:cNvPr>
          <p:cNvCxnSpPr>
            <a:cxnSpLocks/>
            <a:stCxn id="8" idx="2"/>
            <a:endCxn id="14" idx="0"/>
          </p:cNvCxnSpPr>
          <p:nvPr/>
        </p:nvCxnSpPr>
        <p:spPr>
          <a:xfrm>
            <a:off x="8007384" y="3171717"/>
            <a:ext cx="10089" cy="239498"/>
          </a:xfrm>
          <a:prstGeom prst="straightConnector1">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4" name="Straight Arrow Connector 43">
            <a:extLst>
              <a:ext uri="{FF2B5EF4-FFF2-40B4-BE49-F238E27FC236}">
                <a16:creationId xmlns:a16="http://schemas.microsoft.com/office/drawing/2014/main" id="{444C1F89-9786-C871-D4A1-4C7FBCF4E911}"/>
              </a:ext>
            </a:extLst>
          </p:cNvPr>
          <p:cNvCxnSpPr>
            <a:cxnSpLocks/>
            <a:stCxn id="9" idx="2"/>
            <a:endCxn id="15" idx="0"/>
          </p:cNvCxnSpPr>
          <p:nvPr/>
        </p:nvCxnSpPr>
        <p:spPr>
          <a:xfrm flipH="1">
            <a:off x="9152440" y="3171717"/>
            <a:ext cx="4122" cy="239498"/>
          </a:xfrm>
          <a:prstGeom prst="straightConnector1">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7" name="Straight Arrow Connector 46">
            <a:extLst>
              <a:ext uri="{FF2B5EF4-FFF2-40B4-BE49-F238E27FC236}">
                <a16:creationId xmlns:a16="http://schemas.microsoft.com/office/drawing/2014/main" id="{C33F6907-4B67-622F-74C8-396B20913E3E}"/>
              </a:ext>
            </a:extLst>
          </p:cNvPr>
          <p:cNvCxnSpPr>
            <a:cxnSpLocks/>
            <a:stCxn id="10" idx="2"/>
            <a:endCxn id="16" idx="0"/>
          </p:cNvCxnSpPr>
          <p:nvPr/>
        </p:nvCxnSpPr>
        <p:spPr>
          <a:xfrm flipH="1">
            <a:off x="10369786" y="3171717"/>
            <a:ext cx="2" cy="239498"/>
          </a:xfrm>
          <a:prstGeom prst="straightConnector1">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50" name="Straight Arrow Connector 49">
            <a:extLst>
              <a:ext uri="{FF2B5EF4-FFF2-40B4-BE49-F238E27FC236}">
                <a16:creationId xmlns:a16="http://schemas.microsoft.com/office/drawing/2014/main" id="{DD5FA0AD-9BE6-FCEB-B16F-738E1535610F}"/>
              </a:ext>
            </a:extLst>
          </p:cNvPr>
          <p:cNvCxnSpPr>
            <a:cxnSpLocks/>
            <a:stCxn id="11" idx="2"/>
            <a:endCxn id="17" idx="0"/>
          </p:cNvCxnSpPr>
          <p:nvPr/>
        </p:nvCxnSpPr>
        <p:spPr>
          <a:xfrm>
            <a:off x="11583014" y="3171717"/>
            <a:ext cx="2987" cy="239498"/>
          </a:xfrm>
          <a:prstGeom prst="straightConnector1">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53" name="TextBox 52">
            <a:extLst>
              <a:ext uri="{FF2B5EF4-FFF2-40B4-BE49-F238E27FC236}">
                <a16:creationId xmlns:a16="http://schemas.microsoft.com/office/drawing/2014/main" id="{D686DA5D-49C0-6A4F-04AD-06C8818459DE}"/>
              </a:ext>
            </a:extLst>
          </p:cNvPr>
          <p:cNvSpPr txBox="1"/>
          <p:nvPr/>
        </p:nvSpPr>
        <p:spPr>
          <a:xfrm>
            <a:off x="6201240" y="4302312"/>
            <a:ext cx="5915175" cy="738664"/>
          </a:xfrm>
          <a:prstGeom prst="rect">
            <a:avLst/>
          </a:prstGeom>
          <a:noFill/>
        </p:spPr>
        <p:txBody>
          <a:bodyPr wrap="square">
            <a:spAutoFit/>
          </a:bodyPr>
          <a:lstStyle/>
          <a:p>
            <a:pPr>
              <a:buNone/>
            </a:pPr>
            <a:r>
              <a:rPr lang="en-VN" sz="1400" i="1" dirty="0">
                <a:latin typeface="Cambria" panose="02040503050406030204" pitchFamily="18" charset="0"/>
              </a:rPr>
              <a:t>Phần mềm được chia theo cấu trúc đa khu vực cho phép đảm bảo dữ liệu của khu vực nào chỉ có khu vực đó được tiếp cận. Đồng thời quản trị hệ thống có thể xem tổng thể hệ thống</a:t>
            </a:r>
          </a:p>
        </p:txBody>
      </p:sp>
    </p:spTree>
    <p:extLst>
      <p:ext uri="{BB962C8B-B14F-4D97-AF65-F5344CB8AC3E}">
        <p14:creationId xmlns:p14="http://schemas.microsoft.com/office/powerpoint/2010/main" val="7480275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97E33-1EBA-CFDC-6D7A-FBE10216D7FA}"/>
              </a:ext>
            </a:extLst>
          </p:cNvPr>
          <p:cNvSpPr>
            <a:spLocks noGrp="1"/>
          </p:cNvSpPr>
          <p:nvPr>
            <p:ph type="title"/>
          </p:nvPr>
        </p:nvSpPr>
        <p:spPr/>
        <p:txBody>
          <a:bodyPr anchor="ctr"/>
          <a:lstStyle/>
          <a:p>
            <a:r>
              <a:rPr lang="vi-VN" dirty="0">
                <a:solidFill>
                  <a:srgbClr val="FF0000"/>
                </a:solidFill>
                <a:latin typeface="Cambria" panose="02040503050406030204" pitchFamily="18" charset="0"/>
              </a:rPr>
              <a:t>QUY TRÌNH ĐIỀU PHỐI XE CÔNG VỤ</a:t>
            </a:r>
          </a:p>
        </p:txBody>
      </p:sp>
      <p:sp>
        <p:nvSpPr>
          <p:cNvPr id="3" name="Rectangle 2">
            <a:extLst>
              <a:ext uri="{FF2B5EF4-FFF2-40B4-BE49-F238E27FC236}">
                <a16:creationId xmlns:a16="http://schemas.microsoft.com/office/drawing/2014/main" id="{97875359-BFC1-D135-FC14-67341AD96EDB}"/>
              </a:ext>
            </a:extLst>
          </p:cNvPr>
          <p:cNvSpPr/>
          <p:nvPr/>
        </p:nvSpPr>
        <p:spPr>
          <a:xfrm>
            <a:off x="540327" y="2462710"/>
            <a:ext cx="1772342" cy="520349"/>
          </a:xfrm>
          <a:prstGeom prst="rect">
            <a:avLst/>
          </a:prstGeom>
          <a:solidFill>
            <a:schemeClr val="accent4">
              <a:lumMod val="20000"/>
              <a:lumOff val="80000"/>
            </a:schemeClr>
          </a:solidFill>
          <a:ln>
            <a:solidFill>
              <a:srgbClr val="00682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200" dirty="0">
                <a:solidFill>
                  <a:srgbClr val="006829"/>
                </a:solidFill>
                <a:latin typeface="Cambria" panose="02040503050406030204" pitchFamily="18" charset="0"/>
              </a:rPr>
              <a:t>ĐĂNG KÝ ĐẶT XE </a:t>
            </a:r>
          </a:p>
        </p:txBody>
      </p:sp>
      <p:sp>
        <p:nvSpPr>
          <p:cNvPr id="4" name="Alternate Process 3">
            <a:extLst>
              <a:ext uri="{FF2B5EF4-FFF2-40B4-BE49-F238E27FC236}">
                <a16:creationId xmlns:a16="http://schemas.microsoft.com/office/drawing/2014/main" id="{2637965F-7AD5-F01B-13B7-B0DBA13E9BBA}"/>
              </a:ext>
            </a:extLst>
          </p:cNvPr>
          <p:cNvSpPr/>
          <p:nvPr/>
        </p:nvSpPr>
        <p:spPr>
          <a:xfrm>
            <a:off x="540327" y="1582821"/>
            <a:ext cx="1772342" cy="520349"/>
          </a:xfrm>
          <a:prstGeom prst="flowChartAlternateProcess">
            <a:avLst/>
          </a:prstGeom>
          <a:solidFill>
            <a:schemeClr val="accent6">
              <a:lumMod val="20000"/>
              <a:lumOff val="80000"/>
            </a:schemeClr>
          </a:solidFill>
          <a:ln>
            <a:solidFill>
              <a:srgbClr val="00682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200" b="1" dirty="0">
                <a:solidFill>
                  <a:srgbClr val="006829"/>
                </a:solidFill>
                <a:latin typeface="Cambria" panose="02040503050406030204" pitchFamily="18" charset="0"/>
              </a:rPr>
              <a:t>BẮT ĐẦU</a:t>
            </a:r>
          </a:p>
        </p:txBody>
      </p:sp>
      <p:sp>
        <p:nvSpPr>
          <p:cNvPr id="5" name="Decision 4">
            <a:extLst>
              <a:ext uri="{FF2B5EF4-FFF2-40B4-BE49-F238E27FC236}">
                <a16:creationId xmlns:a16="http://schemas.microsoft.com/office/drawing/2014/main" id="{638F9DE1-B134-E0B5-A206-8795E52F602A}"/>
              </a:ext>
            </a:extLst>
          </p:cNvPr>
          <p:cNvSpPr/>
          <p:nvPr/>
        </p:nvSpPr>
        <p:spPr>
          <a:xfrm>
            <a:off x="2630593" y="1402522"/>
            <a:ext cx="1951512" cy="1068779"/>
          </a:xfrm>
          <a:prstGeom prst="flowChartDecision">
            <a:avLst/>
          </a:prstGeom>
          <a:solidFill>
            <a:schemeClr val="accent2">
              <a:lumMod val="40000"/>
              <a:lumOff val="60000"/>
            </a:schemeClr>
          </a:solidFill>
          <a:ln>
            <a:solidFill>
              <a:srgbClr val="00682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200" dirty="0">
                <a:solidFill>
                  <a:srgbClr val="006829"/>
                </a:solidFill>
                <a:latin typeface="Cambria" panose="02040503050406030204" pitchFamily="18" charset="0"/>
              </a:rPr>
              <a:t>PHIẾU ĐƯỢC DUYỆT</a:t>
            </a:r>
          </a:p>
        </p:txBody>
      </p:sp>
      <p:sp>
        <p:nvSpPr>
          <p:cNvPr id="6" name="Alternate Process 5">
            <a:extLst>
              <a:ext uri="{FF2B5EF4-FFF2-40B4-BE49-F238E27FC236}">
                <a16:creationId xmlns:a16="http://schemas.microsoft.com/office/drawing/2014/main" id="{3BB6F2E8-3C4C-3807-CC19-03174B5FCA21}"/>
              </a:ext>
            </a:extLst>
          </p:cNvPr>
          <p:cNvSpPr/>
          <p:nvPr/>
        </p:nvSpPr>
        <p:spPr>
          <a:xfrm>
            <a:off x="540327" y="5640966"/>
            <a:ext cx="1772342" cy="520349"/>
          </a:xfrm>
          <a:prstGeom prst="flowChartAlternateProcess">
            <a:avLst/>
          </a:prstGeom>
          <a:solidFill>
            <a:schemeClr val="accent6">
              <a:lumMod val="20000"/>
              <a:lumOff val="80000"/>
            </a:schemeClr>
          </a:solidFill>
          <a:ln>
            <a:solidFill>
              <a:srgbClr val="00682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200" b="1" dirty="0">
                <a:solidFill>
                  <a:srgbClr val="006829"/>
                </a:solidFill>
                <a:latin typeface="Cambria" panose="02040503050406030204" pitchFamily="18" charset="0"/>
              </a:rPr>
              <a:t>KẾT THÚC</a:t>
            </a:r>
          </a:p>
        </p:txBody>
      </p:sp>
      <p:sp>
        <p:nvSpPr>
          <p:cNvPr id="8" name="Rectangle 7">
            <a:extLst>
              <a:ext uri="{FF2B5EF4-FFF2-40B4-BE49-F238E27FC236}">
                <a16:creationId xmlns:a16="http://schemas.microsoft.com/office/drawing/2014/main" id="{20A208D7-0430-8F8A-F9F9-260E8A918E74}"/>
              </a:ext>
            </a:extLst>
          </p:cNvPr>
          <p:cNvSpPr/>
          <p:nvPr/>
        </p:nvSpPr>
        <p:spPr>
          <a:xfrm>
            <a:off x="7362494" y="2593362"/>
            <a:ext cx="2198914" cy="520349"/>
          </a:xfrm>
          <a:prstGeom prst="rect">
            <a:avLst/>
          </a:prstGeom>
          <a:solidFill>
            <a:schemeClr val="accent4">
              <a:lumMod val="20000"/>
              <a:lumOff val="80000"/>
            </a:schemeClr>
          </a:solidFill>
          <a:ln>
            <a:solidFill>
              <a:srgbClr val="00682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200" dirty="0">
                <a:solidFill>
                  <a:srgbClr val="006829"/>
                </a:solidFill>
                <a:latin typeface="Cambria" panose="02040503050406030204" pitchFamily="18" charset="0"/>
              </a:rPr>
              <a:t>ĐỀ XUẤT CHUYẾN</a:t>
            </a:r>
          </a:p>
        </p:txBody>
      </p:sp>
      <p:sp>
        <p:nvSpPr>
          <p:cNvPr id="9" name="Rectangle 8">
            <a:extLst>
              <a:ext uri="{FF2B5EF4-FFF2-40B4-BE49-F238E27FC236}">
                <a16:creationId xmlns:a16="http://schemas.microsoft.com/office/drawing/2014/main" id="{9348A72C-F914-2078-6E05-6375D20393E5}"/>
              </a:ext>
            </a:extLst>
          </p:cNvPr>
          <p:cNvSpPr/>
          <p:nvPr/>
        </p:nvSpPr>
        <p:spPr>
          <a:xfrm>
            <a:off x="10293043" y="1653908"/>
            <a:ext cx="1793159" cy="520349"/>
          </a:xfrm>
          <a:prstGeom prst="rect">
            <a:avLst/>
          </a:prstGeom>
          <a:solidFill>
            <a:schemeClr val="accent4">
              <a:lumMod val="20000"/>
              <a:lumOff val="80000"/>
            </a:schemeClr>
          </a:solidFill>
          <a:ln>
            <a:solidFill>
              <a:srgbClr val="00682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200" dirty="0">
                <a:solidFill>
                  <a:srgbClr val="006829"/>
                </a:solidFill>
                <a:latin typeface="Cambria" panose="02040503050406030204" pitchFamily="18" charset="0"/>
              </a:rPr>
              <a:t>NHẬN THÔNG BÁO ĐẶT XE</a:t>
            </a:r>
          </a:p>
        </p:txBody>
      </p:sp>
      <p:sp>
        <p:nvSpPr>
          <p:cNvPr id="10" name="Rectangle 9">
            <a:extLst>
              <a:ext uri="{FF2B5EF4-FFF2-40B4-BE49-F238E27FC236}">
                <a16:creationId xmlns:a16="http://schemas.microsoft.com/office/drawing/2014/main" id="{3B5BF987-BF71-C538-A517-4CEB3F2C4197}"/>
              </a:ext>
            </a:extLst>
          </p:cNvPr>
          <p:cNvSpPr/>
          <p:nvPr/>
        </p:nvSpPr>
        <p:spPr>
          <a:xfrm>
            <a:off x="10293043" y="2449316"/>
            <a:ext cx="1793159" cy="520349"/>
          </a:xfrm>
          <a:prstGeom prst="rect">
            <a:avLst/>
          </a:prstGeom>
          <a:solidFill>
            <a:schemeClr val="accent4">
              <a:lumMod val="20000"/>
              <a:lumOff val="80000"/>
            </a:schemeClr>
          </a:solidFill>
          <a:ln>
            <a:solidFill>
              <a:srgbClr val="00682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200" dirty="0">
                <a:solidFill>
                  <a:srgbClr val="006829"/>
                </a:solidFill>
                <a:latin typeface="Cambria" panose="02040503050406030204" pitchFamily="18" charset="0"/>
              </a:rPr>
              <a:t>BẮT ĐẦU CHUYẾN – NHẬP SỐ CÔNG TƠ MÉT</a:t>
            </a:r>
          </a:p>
        </p:txBody>
      </p:sp>
      <p:sp>
        <p:nvSpPr>
          <p:cNvPr id="11" name="Rectangle 10">
            <a:extLst>
              <a:ext uri="{FF2B5EF4-FFF2-40B4-BE49-F238E27FC236}">
                <a16:creationId xmlns:a16="http://schemas.microsoft.com/office/drawing/2014/main" id="{13EDBC78-3C62-5D8D-ECC6-2D2631041134}"/>
              </a:ext>
            </a:extLst>
          </p:cNvPr>
          <p:cNvSpPr/>
          <p:nvPr/>
        </p:nvSpPr>
        <p:spPr>
          <a:xfrm>
            <a:off x="10293043" y="4663688"/>
            <a:ext cx="1793159" cy="520349"/>
          </a:xfrm>
          <a:prstGeom prst="rect">
            <a:avLst/>
          </a:prstGeom>
          <a:solidFill>
            <a:schemeClr val="accent4">
              <a:lumMod val="20000"/>
              <a:lumOff val="80000"/>
            </a:schemeClr>
          </a:solidFill>
          <a:ln>
            <a:solidFill>
              <a:srgbClr val="00682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200" dirty="0">
                <a:solidFill>
                  <a:srgbClr val="006829"/>
                </a:solidFill>
                <a:latin typeface="Cambria" panose="02040503050406030204" pitchFamily="18" charset="0"/>
              </a:rPr>
              <a:t>NHẬP CHI PHÍ / NHIÊN LIỆU</a:t>
            </a:r>
          </a:p>
        </p:txBody>
      </p:sp>
      <p:sp>
        <p:nvSpPr>
          <p:cNvPr id="12" name="Rectangle 11">
            <a:extLst>
              <a:ext uri="{FF2B5EF4-FFF2-40B4-BE49-F238E27FC236}">
                <a16:creationId xmlns:a16="http://schemas.microsoft.com/office/drawing/2014/main" id="{53012677-787A-1E6D-9481-3BCA81B4B102}"/>
              </a:ext>
            </a:extLst>
          </p:cNvPr>
          <p:cNvSpPr/>
          <p:nvPr/>
        </p:nvSpPr>
        <p:spPr>
          <a:xfrm>
            <a:off x="10293043" y="5396325"/>
            <a:ext cx="1793159" cy="520349"/>
          </a:xfrm>
          <a:prstGeom prst="rect">
            <a:avLst/>
          </a:prstGeom>
          <a:solidFill>
            <a:schemeClr val="accent4">
              <a:lumMod val="20000"/>
              <a:lumOff val="80000"/>
            </a:schemeClr>
          </a:solidFill>
          <a:ln>
            <a:solidFill>
              <a:srgbClr val="00682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200" dirty="0">
                <a:solidFill>
                  <a:srgbClr val="006829"/>
                </a:solidFill>
                <a:latin typeface="Cambria" panose="02040503050406030204" pitchFamily="18" charset="0"/>
              </a:rPr>
              <a:t>KẾT THÚC CHUYẾN – NHẬP SỐ CÔNG TƠ MÉT</a:t>
            </a:r>
          </a:p>
        </p:txBody>
      </p:sp>
      <p:sp>
        <p:nvSpPr>
          <p:cNvPr id="14" name="Decision 13">
            <a:extLst>
              <a:ext uri="{FF2B5EF4-FFF2-40B4-BE49-F238E27FC236}">
                <a16:creationId xmlns:a16="http://schemas.microsoft.com/office/drawing/2014/main" id="{33EFF29A-1AC8-1E9A-6E70-E5C64EBD28D3}"/>
              </a:ext>
            </a:extLst>
          </p:cNvPr>
          <p:cNvSpPr/>
          <p:nvPr/>
        </p:nvSpPr>
        <p:spPr>
          <a:xfrm>
            <a:off x="6707951" y="4582054"/>
            <a:ext cx="1951512" cy="1068779"/>
          </a:xfrm>
          <a:prstGeom prst="flowChartDecision">
            <a:avLst/>
          </a:prstGeom>
          <a:solidFill>
            <a:schemeClr val="accent2">
              <a:lumMod val="40000"/>
              <a:lumOff val="60000"/>
            </a:schemeClr>
          </a:solidFill>
          <a:ln>
            <a:solidFill>
              <a:srgbClr val="00682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200" dirty="0">
                <a:solidFill>
                  <a:srgbClr val="006829"/>
                </a:solidFill>
                <a:latin typeface="Cambria" panose="02040503050406030204" pitchFamily="18" charset="0"/>
              </a:rPr>
              <a:t>NHẬP THIẾU CHI PHÍ</a:t>
            </a:r>
          </a:p>
        </p:txBody>
      </p:sp>
      <p:sp>
        <p:nvSpPr>
          <p:cNvPr id="15" name="Rectangle 14">
            <a:extLst>
              <a:ext uri="{FF2B5EF4-FFF2-40B4-BE49-F238E27FC236}">
                <a16:creationId xmlns:a16="http://schemas.microsoft.com/office/drawing/2014/main" id="{86E8DEE3-99E0-9FF3-543F-E6837C4EDDCE}"/>
              </a:ext>
            </a:extLst>
          </p:cNvPr>
          <p:cNvSpPr/>
          <p:nvPr/>
        </p:nvSpPr>
        <p:spPr>
          <a:xfrm>
            <a:off x="3807909" y="4853421"/>
            <a:ext cx="2446317" cy="520349"/>
          </a:xfrm>
          <a:prstGeom prst="rect">
            <a:avLst/>
          </a:prstGeom>
          <a:solidFill>
            <a:schemeClr val="accent4">
              <a:lumMod val="20000"/>
              <a:lumOff val="80000"/>
            </a:schemeClr>
          </a:solidFill>
          <a:ln>
            <a:solidFill>
              <a:srgbClr val="00682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200" dirty="0">
                <a:solidFill>
                  <a:srgbClr val="006829"/>
                </a:solidFill>
                <a:latin typeface="Cambria" panose="02040503050406030204" pitchFamily="18" charset="0"/>
              </a:rPr>
              <a:t>THÊM CHI PHÍ CHƯA NHẬP</a:t>
            </a:r>
          </a:p>
        </p:txBody>
      </p:sp>
      <p:cxnSp>
        <p:nvCxnSpPr>
          <p:cNvPr id="20" name="Straight Arrow Connector 19">
            <a:extLst>
              <a:ext uri="{FF2B5EF4-FFF2-40B4-BE49-F238E27FC236}">
                <a16:creationId xmlns:a16="http://schemas.microsoft.com/office/drawing/2014/main" id="{E917A7D9-1273-4DFB-F68B-2ED3E9A50879}"/>
              </a:ext>
            </a:extLst>
          </p:cNvPr>
          <p:cNvCxnSpPr>
            <a:cxnSpLocks/>
            <a:stCxn id="4" idx="2"/>
            <a:endCxn id="3" idx="0"/>
          </p:cNvCxnSpPr>
          <p:nvPr/>
        </p:nvCxnSpPr>
        <p:spPr>
          <a:xfrm>
            <a:off x="1426498" y="2103170"/>
            <a:ext cx="0" cy="359540"/>
          </a:xfrm>
          <a:prstGeom prst="straightConnector1">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1" name="Straight Arrow Connector 30">
            <a:extLst>
              <a:ext uri="{FF2B5EF4-FFF2-40B4-BE49-F238E27FC236}">
                <a16:creationId xmlns:a16="http://schemas.microsoft.com/office/drawing/2014/main" id="{18DDDAD5-C92C-C202-732A-1D3435897C37}"/>
              </a:ext>
            </a:extLst>
          </p:cNvPr>
          <p:cNvCxnSpPr>
            <a:cxnSpLocks/>
            <a:stCxn id="9" idx="2"/>
            <a:endCxn id="10" idx="0"/>
          </p:cNvCxnSpPr>
          <p:nvPr/>
        </p:nvCxnSpPr>
        <p:spPr>
          <a:xfrm>
            <a:off x="11189623" y="2174257"/>
            <a:ext cx="0" cy="275059"/>
          </a:xfrm>
          <a:prstGeom prst="straightConnector1">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7" name="Straight Arrow Connector 36">
            <a:extLst>
              <a:ext uri="{FF2B5EF4-FFF2-40B4-BE49-F238E27FC236}">
                <a16:creationId xmlns:a16="http://schemas.microsoft.com/office/drawing/2014/main" id="{5F41473E-AE1A-FF58-ACD6-05784090DEA9}"/>
              </a:ext>
            </a:extLst>
          </p:cNvPr>
          <p:cNvCxnSpPr>
            <a:cxnSpLocks/>
            <a:stCxn id="11" idx="2"/>
            <a:endCxn id="12" idx="0"/>
          </p:cNvCxnSpPr>
          <p:nvPr/>
        </p:nvCxnSpPr>
        <p:spPr>
          <a:xfrm>
            <a:off x="11189623" y="5184037"/>
            <a:ext cx="0" cy="212288"/>
          </a:xfrm>
          <a:prstGeom prst="straightConnector1">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3" name="Straight Arrow Connector 42">
            <a:extLst>
              <a:ext uri="{FF2B5EF4-FFF2-40B4-BE49-F238E27FC236}">
                <a16:creationId xmlns:a16="http://schemas.microsoft.com/office/drawing/2014/main" id="{3DC8B79F-CCC1-942C-D35F-5C3F8A528AC4}"/>
              </a:ext>
            </a:extLst>
          </p:cNvPr>
          <p:cNvCxnSpPr>
            <a:cxnSpLocks/>
            <a:stCxn id="14" idx="1"/>
            <a:endCxn id="15" idx="3"/>
          </p:cNvCxnSpPr>
          <p:nvPr/>
        </p:nvCxnSpPr>
        <p:spPr>
          <a:xfrm flipH="1" flipV="1">
            <a:off x="6254226" y="5113596"/>
            <a:ext cx="453725" cy="2848"/>
          </a:xfrm>
          <a:prstGeom prst="straightConnector1">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7" name="Elbow Connector 46">
            <a:extLst>
              <a:ext uri="{FF2B5EF4-FFF2-40B4-BE49-F238E27FC236}">
                <a16:creationId xmlns:a16="http://schemas.microsoft.com/office/drawing/2014/main" id="{D66724CF-5293-1882-70CA-85276180578B}"/>
              </a:ext>
            </a:extLst>
          </p:cNvPr>
          <p:cNvCxnSpPr>
            <a:cxnSpLocks/>
            <a:stCxn id="15" idx="1"/>
            <a:endCxn id="6" idx="0"/>
          </p:cNvCxnSpPr>
          <p:nvPr/>
        </p:nvCxnSpPr>
        <p:spPr>
          <a:xfrm rot="10800000" flipV="1">
            <a:off x="1426499" y="5113596"/>
            <a:ext cx="2381411" cy="527370"/>
          </a:xfrm>
          <a:prstGeom prst="bentConnector2">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51" name="Elbow Connector 50">
            <a:extLst>
              <a:ext uri="{FF2B5EF4-FFF2-40B4-BE49-F238E27FC236}">
                <a16:creationId xmlns:a16="http://schemas.microsoft.com/office/drawing/2014/main" id="{64001DFD-312E-418F-7D95-57B2AFCC49CC}"/>
              </a:ext>
            </a:extLst>
          </p:cNvPr>
          <p:cNvCxnSpPr>
            <a:cxnSpLocks/>
            <a:stCxn id="14" idx="2"/>
            <a:endCxn id="6" idx="3"/>
          </p:cNvCxnSpPr>
          <p:nvPr/>
        </p:nvCxnSpPr>
        <p:spPr>
          <a:xfrm rot="5400000">
            <a:off x="4873034" y="3090468"/>
            <a:ext cx="250308" cy="5371038"/>
          </a:xfrm>
          <a:prstGeom prst="bentConnector2">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2" name="Straight Connector 61">
            <a:extLst>
              <a:ext uri="{FF2B5EF4-FFF2-40B4-BE49-F238E27FC236}">
                <a16:creationId xmlns:a16="http://schemas.microsoft.com/office/drawing/2014/main" id="{4458A180-EA3E-4A44-D874-E5BB118AE125}"/>
              </a:ext>
            </a:extLst>
          </p:cNvPr>
          <p:cNvCxnSpPr>
            <a:cxnSpLocks/>
          </p:cNvCxnSpPr>
          <p:nvPr/>
        </p:nvCxnSpPr>
        <p:spPr>
          <a:xfrm>
            <a:off x="2542894" y="1063299"/>
            <a:ext cx="0" cy="5378625"/>
          </a:xfrm>
          <a:prstGeom prst="line">
            <a:avLst/>
          </a:prstGeom>
        </p:spPr>
        <p:style>
          <a:lnRef idx="3">
            <a:schemeClr val="accent6"/>
          </a:lnRef>
          <a:fillRef idx="0">
            <a:schemeClr val="accent6"/>
          </a:fillRef>
          <a:effectRef idx="2">
            <a:schemeClr val="accent6"/>
          </a:effectRef>
          <a:fontRef idx="minor">
            <a:schemeClr val="tx1"/>
          </a:fontRef>
        </p:style>
      </p:cxnSp>
      <p:cxnSp>
        <p:nvCxnSpPr>
          <p:cNvPr id="64" name="Straight Connector 63">
            <a:extLst>
              <a:ext uri="{FF2B5EF4-FFF2-40B4-BE49-F238E27FC236}">
                <a16:creationId xmlns:a16="http://schemas.microsoft.com/office/drawing/2014/main" id="{57E980BD-5E46-ABE5-85F7-F2915349FA19}"/>
              </a:ext>
            </a:extLst>
          </p:cNvPr>
          <p:cNvCxnSpPr>
            <a:cxnSpLocks/>
          </p:cNvCxnSpPr>
          <p:nvPr/>
        </p:nvCxnSpPr>
        <p:spPr>
          <a:xfrm>
            <a:off x="9893627" y="1063299"/>
            <a:ext cx="0" cy="5378625"/>
          </a:xfrm>
          <a:prstGeom prst="line">
            <a:avLst/>
          </a:prstGeom>
        </p:spPr>
        <p:style>
          <a:lnRef idx="3">
            <a:schemeClr val="accent6"/>
          </a:lnRef>
          <a:fillRef idx="0">
            <a:schemeClr val="accent6"/>
          </a:fillRef>
          <a:effectRef idx="2">
            <a:schemeClr val="accent6"/>
          </a:effectRef>
          <a:fontRef idx="minor">
            <a:schemeClr val="tx1"/>
          </a:fontRef>
        </p:style>
      </p:cxnSp>
      <p:sp>
        <p:nvSpPr>
          <p:cNvPr id="65" name="TextBox 64">
            <a:extLst>
              <a:ext uri="{FF2B5EF4-FFF2-40B4-BE49-F238E27FC236}">
                <a16:creationId xmlns:a16="http://schemas.microsoft.com/office/drawing/2014/main" id="{A796B75A-8EC2-5BBD-83F4-E93C03EB7F20}"/>
              </a:ext>
            </a:extLst>
          </p:cNvPr>
          <p:cNvSpPr txBox="1"/>
          <p:nvPr/>
        </p:nvSpPr>
        <p:spPr>
          <a:xfrm>
            <a:off x="540324" y="956859"/>
            <a:ext cx="1772343" cy="307777"/>
          </a:xfrm>
          <a:prstGeom prst="rect">
            <a:avLst/>
          </a:prstGeom>
          <a:noFill/>
        </p:spPr>
        <p:txBody>
          <a:bodyPr wrap="square" rtlCol="0">
            <a:spAutoFit/>
          </a:bodyPr>
          <a:lstStyle/>
          <a:p>
            <a:pPr algn="ctr"/>
            <a:r>
              <a:rPr lang="vi-VN" sz="1400" b="1" dirty="0">
                <a:solidFill>
                  <a:srgbClr val="006829"/>
                </a:solidFill>
                <a:latin typeface="Cambria" panose="02040503050406030204" pitchFamily="18" charset="0"/>
              </a:rPr>
              <a:t>CBNV ĐẶT XE</a:t>
            </a:r>
          </a:p>
        </p:txBody>
      </p:sp>
      <p:sp>
        <p:nvSpPr>
          <p:cNvPr id="66" name="TextBox 65">
            <a:extLst>
              <a:ext uri="{FF2B5EF4-FFF2-40B4-BE49-F238E27FC236}">
                <a16:creationId xmlns:a16="http://schemas.microsoft.com/office/drawing/2014/main" id="{78D789D6-1C96-B57E-5CDE-89D61D5C243E}"/>
              </a:ext>
            </a:extLst>
          </p:cNvPr>
          <p:cNvSpPr txBox="1"/>
          <p:nvPr/>
        </p:nvSpPr>
        <p:spPr>
          <a:xfrm>
            <a:off x="4002002" y="971043"/>
            <a:ext cx="3740125" cy="307777"/>
          </a:xfrm>
          <a:prstGeom prst="rect">
            <a:avLst/>
          </a:prstGeom>
          <a:noFill/>
        </p:spPr>
        <p:txBody>
          <a:bodyPr wrap="square" rtlCol="0">
            <a:spAutoFit/>
          </a:bodyPr>
          <a:lstStyle/>
          <a:p>
            <a:pPr algn="ctr"/>
            <a:r>
              <a:rPr lang="vi-VN" sz="1400" b="1" dirty="0">
                <a:solidFill>
                  <a:srgbClr val="006829"/>
                </a:solidFill>
                <a:latin typeface="Cambria" panose="02040503050406030204" pitchFamily="18" charset="0"/>
              </a:rPr>
              <a:t>QUẢN LÝ ĐỘI XE / QUẢN TRỊ VĂN PHÒNG</a:t>
            </a:r>
          </a:p>
        </p:txBody>
      </p:sp>
      <p:sp>
        <p:nvSpPr>
          <p:cNvPr id="67" name="TextBox 66">
            <a:extLst>
              <a:ext uri="{FF2B5EF4-FFF2-40B4-BE49-F238E27FC236}">
                <a16:creationId xmlns:a16="http://schemas.microsoft.com/office/drawing/2014/main" id="{A154E84C-3940-4F93-5C00-AF76288B3F90}"/>
              </a:ext>
            </a:extLst>
          </p:cNvPr>
          <p:cNvSpPr txBox="1"/>
          <p:nvPr/>
        </p:nvSpPr>
        <p:spPr>
          <a:xfrm>
            <a:off x="10293043" y="955283"/>
            <a:ext cx="1793157" cy="307777"/>
          </a:xfrm>
          <a:prstGeom prst="rect">
            <a:avLst/>
          </a:prstGeom>
          <a:noFill/>
        </p:spPr>
        <p:txBody>
          <a:bodyPr wrap="square" rtlCol="0">
            <a:spAutoFit/>
          </a:bodyPr>
          <a:lstStyle/>
          <a:p>
            <a:pPr algn="ctr"/>
            <a:r>
              <a:rPr lang="vi-VN" sz="1400" b="1" dirty="0">
                <a:solidFill>
                  <a:srgbClr val="006829"/>
                </a:solidFill>
                <a:latin typeface="Cambria" panose="02040503050406030204" pitchFamily="18" charset="0"/>
              </a:rPr>
              <a:t>LÁI XE</a:t>
            </a:r>
          </a:p>
        </p:txBody>
      </p:sp>
      <p:cxnSp>
        <p:nvCxnSpPr>
          <p:cNvPr id="68" name="Elbow Connector 67">
            <a:extLst>
              <a:ext uri="{FF2B5EF4-FFF2-40B4-BE49-F238E27FC236}">
                <a16:creationId xmlns:a16="http://schemas.microsoft.com/office/drawing/2014/main" id="{6BF5CF0B-F979-9DBA-DCFD-B37615C66039}"/>
              </a:ext>
            </a:extLst>
          </p:cNvPr>
          <p:cNvCxnSpPr>
            <a:cxnSpLocks/>
            <a:stCxn id="5" idx="2"/>
            <a:endCxn id="6" idx="0"/>
          </p:cNvCxnSpPr>
          <p:nvPr/>
        </p:nvCxnSpPr>
        <p:spPr>
          <a:xfrm rot="5400000">
            <a:off x="931592" y="2966208"/>
            <a:ext cx="3169665" cy="2179851"/>
          </a:xfrm>
          <a:prstGeom prst="bentConnector3">
            <a:avLst>
              <a:gd name="adj1" fmla="val 50000"/>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74" name="TextBox 73">
            <a:extLst>
              <a:ext uri="{FF2B5EF4-FFF2-40B4-BE49-F238E27FC236}">
                <a16:creationId xmlns:a16="http://schemas.microsoft.com/office/drawing/2014/main" id="{8912C9C7-8BCF-ED6C-679F-FA3FB6C32B5B}"/>
              </a:ext>
            </a:extLst>
          </p:cNvPr>
          <p:cNvSpPr txBox="1"/>
          <p:nvPr/>
        </p:nvSpPr>
        <p:spPr>
          <a:xfrm>
            <a:off x="6933135" y="3553986"/>
            <a:ext cx="609462" cy="276999"/>
          </a:xfrm>
          <a:prstGeom prst="rect">
            <a:avLst/>
          </a:prstGeom>
          <a:noFill/>
        </p:spPr>
        <p:txBody>
          <a:bodyPr wrap="none" rtlCol="0">
            <a:spAutoFit/>
          </a:bodyPr>
          <a:lstStyle/>
          <a:p>
            <a:r>
              <a:rPr lang="vi-VN" sz="1200" dirty="0">
                <a:latin typeface="Cambria" panose="02040503050406030204" pitchFamily="18" charset="0"/>
              </a:rPr>
              <a:t>Không</a:t>
            </a:r>
          </a:p>
        </p:txBody>
      </p:sp>
      <p:sp>
        <p:nvSpPr>
          <p:cNvPr id="77" name="TextBox 76">
            <a:extLst>
              <a:ext uri="{FF2B5EF4-FFF2-40B4-BE49-F238E27FC236}">
                <a16:creationId xmlns:a16="http://schemas.microsoft.com/office/drawing/2014/main" id="{89DE50ED-61C9-0AA2-B758-0DFA3C80758E}"/>
              </a:ext>
            </a:extLst>
          </p:cNvPr>
          <p:cNvSpPr txBox="1"/>
          <p:nvPr/>
        </p:nvSpPr>
        <p:spPr>
          <a:xfrm>
            <a:off x="5839379" y="5901138"/>
            <a:ext cx="609462" cy="276999"/>
          </a:xfrm>
          <a:prstGeom prst="rect">
            <a:avLst/>
          </a:prstGeom>
          <a:noFill/>
        </p:spPr>
        <p:txBody>
          <a:bodyPr wrap="none" rtlCol="0">
            <a:spAutoFit/>
          </a:bodyPr>
          <a:lstStyle/>
          <a:p>
            <a:r>
              <a:rPr lang="vi-VN" sz="1200" dirty="0">
                <a:latin typeface="Cambria" panose="02040503050406030204" pitchFamily="18" charset="0"/>
              </a:rPr>
              <a:t>Không</a:t>
            </a:r>
          </a:p>
        </p:txBody>
      </p:sp>
      <p:sp>
        <p:nvSpPr>
          <p:cNvPr id="78" name="TextBox 77">
            <a:extLst>
              <a:ext uri="{FF2B5EF4-FFF2-40B4-BE49-F238E27FC236}">
                <a16:creationId xmlns:a16="http://schemas.microsoft.com/office/drawing/2014/main" id="{84A1E65C-3E39-023F-1755-015F69A4D311}"/>
              </a:ext>
            </a:extLst>
          </p:cNvPr>
          <p:cNvSpPr txBox="1"/>
          <p:nvPr/>
        </p:nvSpPr>
        <p:spPr>
          <a:xfrm>
            <a:off x="6379055" y="4798799"/>
            <a:ext cx="352982" cy="276999"/>
          </a:xfrm>
          <a:prstGeom prst="rect">
            <a:avLst/>
          </a:prstGeom>
          <a:noFill/>
        </p:spPr>
        <p:txBody>
          <a:bodyPr wrap="none" rtlCol="0">
            <a:spAutoFit/>
          </a:bodyPr>
          <a:lstStyle/>
          <a:p>
            <a:r>
              <a:rPr lang="vi-VN" sz="1200" dirty="0">
                <a:latin typeface="Cambria" panose="02040503050406030204" pitchFamily="18" charset="0"/>
              </a:rPr>
              <a:t>Có</a:t>
            </a:r>
          </a:p>
        </p:txBody>
      </p:sp>
      <p:sp>
        <p:nvSpPr>
          <p:cNvPr id="89" name="Decision 88">
            <a:extLst>
              <a:ext uri="{FF2B5EF4-FFF2-40B4-BE49-F238E27FC236}">
                <a16:creationId xmlns:a16="http://schemas.microsoft.com/office/drawing/2014/main" id="{9A996FF9-44DC-76F4-F6F3-A8B80DF1EA21}"/>
              </a:ext>
            </a:extLst>
          </p:cNvPr>
          <p:cNvSpPr/>
          <p:nvPr/>
        </p:nvSpPr>
        <p:spPr>
          <a:xfrm>
            <a:off x="10474390" y="3309938"/>
            <a:ext cx="1430465" cy="1068779"/>
          </a:xfrm>
          <a:prstGeom prst="flowChartDecision">
            <a:avLst/>
          </a:prstGeom>
          <a:solidFill>
            <a:schemeClr val="accent2">
              <a:lumMod val="40000"/>
              <a:lumOff val="60000"/>
            </a:schemeClr>
          </a:solidFill>
          <a:ln>
            <a:solidFill>
              <a:srgbClr val="00682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200" dirty="0">
                <a:solidFill>
                  <a:srgbClr val="006829"/>
                </a:solidFill>
                <a:latin typeface="Cambria" panose="02040503050406030204" pitchFamily="18" charset="0"/>
              </a:rPr>
              <a:t>CÓ SỰ CỐ</a:t>
            </a:r>
          </a:p>
        </p:txBody>
      </p:sp>
      <p:sp>
        <p:nvSpPr>
          <p:cNvPr id="101" name="Rectangle 100">
            <a:extLst>
              <a:ext uri="{FF2B5EF4-FFF2-40B4-BE49-F238E27FC236}">
                <a16:creationId xmlns:a16="http://schemas.microsoft.com/office/drawing/2014/main" id="{C0ABB799-DEE7-419A-025A-7278CD2771C6}"/>
              </a:ext>
            </a:extLst>
          </p:cNvPr>
          <p:cNvSpPr/>
          <p:nvPr/>
        </p:nvSpPr>
        <p:spPr>
          <a:xfrm>
            <a:off x="3832818" y="4151987"/>
            <a:ext cx="2446317" cy="520349"/>
          </a:xfrm>
          <a:prstGeom prst="rect">
            <a:avLst/>
          </a:prstGeom>
          <a:solidFill>
            <a:schemeClr val="accent4">
              <a:lumMod val="20000"/>
              <a:lumOff val="80000"/>
            </a:schemeClr>
          </a:solidFill>
          <a:ln>
            <a:solidFill>
              <a:srgbClr val="00682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200" dirty="0">
                <a:solidFill>
                  <a:srgbClr val="006829"/>
                </a:solidFill>
                <a:latin typeface="Cambria" panose="02040503050406030204" pitchFamily="18" charset="0"/>
              </a:rPr>
              <a:t>NHẬN THÔNG BÁO SỰ CỐ</a:t>
            </a:r>
          </a:p>
        </p:txBody>
      </p:sp>
      <p:cxnSp>
        <p:nvCxnSpPr>
          <p:cNvPr id="105" name="Elbow Connector 104">
            <a:extLst>
              <a:ext uri="{FF2B5EF4-FFF2-40B4-BE49-F238E27FC236}">
                <a16:creationId xmlns:a16="http://schemas.microsoft.com/office/drawing/2014/main" id="{1F982749-6428-C8D5-9BB4-E1F4DC3BFA53}"/>
              </a:ext>
            </a:extLst>
          </p:cNvPr>
          <p:cNvCxnSpPr>
            <a:cxnSpLocks/>
            <a:stCxn id="12" idx="1"/>
            <a:endCxn id="14" idx="3"/>
          </p:cNvCxnSpPr>
          <p:nvPr/>
        </p:nvCxnSpPr>
        <p:spPr>
          <a:xfrm rot="10800000">
            <a:off x="8659463" y="5116444"/>
            <a:ext cx="1633580" cy="540056"/>
          </a:xfrm>
          <a:prstGeom prst="bentConnector3">
            <a:avLst>
              <a:gd name="adj1" fmla="val 50000"/>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09" name="Straight Arrow Connector 108">
            <a:extLst>
              <a:ext uri="{FF2B5EF4-FFF2-40B4-BE49-F238E27FC236}">
                <a16:creationId xmlns:a16="http://schemas.microsoft.com/office/drawing/2014/main" id="{9F631C4A-AA72-4A4D-4C8B-8A76D3BF2998}"/>
              </a:ext>
            </a:extLst>
          </p:cNvPr>
          <p:cNvCxnSpPr>
            <a:cxnSpLocks/>
            <a:stCxn id="10" idx="2"/>
            <a:endCxn id="89" idx="0"/>
          </p:cNvCxnSpPr>
          <p:nvPr/>
        </p:nvCxnSpPr>
        <p:spPr>
          <a:xfrm>
            <a:off x="11189623" y="2969665"/>
            <a:ext cx="0" cy="340273"/>
          </a:xfrm>
          <a:prstGeom prst="straightConnector1">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12" name="Straight Arrow Connector 111">
            <a:extLst>
              <a:ext uri="{FF2B5EF4-FFF2-40B4-BE49-F238E27FC236}">
                <a16:creationId xmlns:a16="http://schemas.microsoft.com/office/drawing/2014/main" id="{D9F89E2F-B605-EB87-EDD6-397C8FA7F387}"/>
              </a:ext>
            </a:extLst>
          </p:cNvPr>
          <p:cNvCxnSpPr>
            <a:cxnSpLocks/>
            <a:stCxn id="89" idx="2"/>
            <a:endCxn id="11" idx="0"/>
          </p:cNvCxnSpPr>
          <p:nvPr/>
        </p:nvCxnSpPr>
        <p:spPr>
          <a:xfrm>
            <a:off x="11189623" y="4378717"/>
            <a:ext cx="0" cy="284971"/>
          </a:xfrm>
          <a:prstGeom prst="straightConnector1">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19" name="Elbow Connector 118">
            <a:extLst>
              <a:ext uri="{FF2B5EF4-FFF2-40B4-BE49-F238E27FC236}">
                <a16:creationId xmlns:a16="http://schemas.microsoft.com/office/drawing/2014/main" id="{15302233-6483-511C-0542-05AAA73D1535}"/>
              </a:ext>
            </a:extLst>
          </p:cNvPr>
          <p:cNvCxnSpPr>
            <a:cxnSpLocks/>
            <a:stCxn id="101" idx="1"/>
            <a:endCxn id="6" idx="0"/>
          </p:cNvCxnSpPr>
          <p:nvPr/>
        </p:nvCxnSpPr>
        <p:spPr>
          <a:xfrm rot="10800000" flipV="1">
            <a:off x="1426498" y="4412162"/>
            <a:ext cx="2406320" cy="1228804"/>
          </a:xfrm>
          <a:prstGeom prst="bentConnector2">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36" name="TextBox 135">
            <a:extLst>
              <a:ext uri="{FF2B5EF4-FFF2-40B4-BE49-F238E27FC236}">
                <a16:creationId xmlns:a16="http://schemas.microsoft.com/office/drawing/2014/main" id="{A6895001-04BE-5ABD-18F6-ECDA20867BF2}"/>
              </a:ext>
            </a:extLst>
          </p:cNvPr>
          <p:cNvSpPr txBox="1"/>
          <p:nvPr/>
        </p:nvSpPr>
        <p:spPr>
          <a:xfrm>
            <a:off x="11212991" y="4359898"/>
            <a:ext cx="832137" cy="276999"/>
          </a:xfrm>
          <a:prstGeom prst="rect">
            <a:avLst/>
          </a:prstGeom>
          <a:noFill/>
        </p:spPr>
        <p:txBody>
          <a:bodyPr wrap="square" rtlCol="0">
            <a:spAutoFit/>
          </a:bodyPr>
          <a:lstStyle/>
          <a:p>
            <a:r>
              <a:rPr lang="vi-VN" sz="1200" dirty="0">
                <a:latin typeface="Cambria" panose="02040503050406030204" pitchFamily="18" charset="0"/>
              </a:rPr>
              <a:t>Không</a:t>
            </a:r>
          </a:p>
        </p:txBody>
      </p:sp>
      <p:cxnSp>
        <p:nvCxnSpPr>
          <p:cNvPr id="137" name="Elbow Connector 136">
            <a:extLst>
              <a:ext uri="{FF2B5EF4-FFF2-40B4-BE49-F238E27FC236}">
                <a16:creationId xmlns:a16="http://schemas.microsoft.com/office/drawing/2014/main" id="{6C31E4A9-71BF-01EC-52C2-A3B25B7D2DF8}"/>
              </a:ext>
            </a:extLst>
          </p:cNvPr>
          <p:cNvCxnSpPr>
            <a:cxnSpLocks/>
            <a:stCxn id="3" idx="3"/>
            <a:endCxn id="5" idx="1"/>
          </p:cNvCxnSpPr>
          <p:nvPr/>
        </p:nvCxnSpPr>
        <p:spPr>
          <a:xfrm flipV="1">
            <a:off x="2312669" y="1936912"/>
            <a:ext cx="317924" cy="785973"/>
          </a:xfrm>
          <a:prstGeom prst="bentConnector3">
            <a:avLst>
              <a:gd name="adj1" fmla="val 50000"/>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46" name="Decision 145">
            <a:extLst>
              <a:ext uri="{FF2B5EF4-FFF2-40B4-BE49-F238E27FC236}">
                <a16:creationId xmlns:a16="http://schemas.microsoft.com/office/drawing/2014/main" id="{8BB97F24-027E-8EDE-50F9-886F34D4E691}"/>
              </a:ext>
            </a:extLst>
          </p:cNvPr>
          <p:cNvSpPr/>
          <p:nvPr/>
        </p:nvSpPr>
        <p:spPr>
          <a:xfrm>
            <a:off x="7481064" y="3437610"/>
            <a:ext cx="1951512" cy="813437"/>
          </a:xfrm>
          <a:prstGeom prst="flowChartDecision">
            <a:avLst/>
          </a:prstGeom>
          <a:solidFill>
            <a:schemeClr val="accent2">
              <a:lumMod val="40000"/>
              <a:lumOff val="60000"/>
            </a:schemeClr>
          </a:solidFill>
          <a:ln>
            <a:solidFill>
              <a:srgbClr val="00682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200" dirty="0">
                <a:solidFill>
                  <a:srgbClr val="006829"/>
                </a:solidFill>
                <a:latin typeface="Cambria" panose="02040503050406030204" pitchFamily="18" charset="0"/>
              </a:rPr>
              <a:t>CÒN XE TRỐNG</a:t>
            </a:r>
          </a:p>
        </p:txBody>
      </p:sp>
      <p:cxnSp>
        <p:nvCxnSpPr>
          <p:cNvPr id="163" name="Elbow Connector 162">
            <a:extLst>
              <a:ext uri="{FF2B5EF4-FFF2-40B4-BE49-F238E27FC236}">
                <a16:creationId xmlns:a16="http://schemas.microsoft.com/office/drawing/2014/main" id="{2286837F-03B9-EEBD-8867-8C0FF5987BBC}"/>
              </a:ext>
            </a:extLst>
          </p:cNvPr>
          <p:cNvCxnSpPr>
            <a:cxnSpLocks/>
            <a:stCxn id="89" idx="1"/>
            <a:endCxn id="101" idx="3"/>
          </p:cNvCxnSpPr>
          <p:nvPr/>
        </p:nvCxnSpPr>
        <p:spPr>
          <a:xfrm rot="10800000" flipV="1">
            <a:off x="6279136" y="3844328"/>
            <a:ext cx="4195255" cy="567834"/>
          </a:xfrm>
          <a:prstGeom prst="bentConnector3">
            <a:avLst>
              <a:gd name="adj1" fmla="val 4867"/>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81" name="Rectangle 180">
            <a:extLst>
              <a:ext uri="{FF2B5EF4-FFF2-40B4-BE49-F238E27FC236}">
                <a16:creationId xmlns:a16="http://schemas.microsoft.com/office/drawing/2014/main" id="{F571E3D9-FD81-3AEF-1E1D-5106EAE19460}"/>
              </a:ext>
            </a:extLst>
          </p:cNvPr>
          <p:cNvSpPr/>
          <p:nvPr/>
        </p:nvSpPr>
        <p:spPr>
          <a:xfrm>
            <a:off x="540327" y="3153352"/>
            <a:ext cx="1772342" cy="520349"/>
          </a:xfrm>
          <a:prstGeom prst="rect">
            <a:avLst/>
          </a:prstGeom>
          <a:solidFill>
            <a:schemeClr val="accent4">
              <a:lumMod val="20000"/>
              <a:lumOff val="80000"/>
            </a:schemeClr>
          </a:solidFill>
          <a:ln>
            <a:solidFill>
              <a:srgbClr val="00682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200" dirty="0">
                <a:solidFill>
                  <a:srgbClr val="006829"/>
                </a:solidFill>
                <a:latin typeface="Cambria" panose="02040503050406030204" pitchFamily="18" charset="0"/>
              </a:rPr>
              <a:t>NHẬN THÔNG BÁO HẾT XE</a:t>
            </a:r>
          </a:p>
        </p:txBody>
      </p:sp>
      <p:cxnSp>
        <p:nvCxnSpPr>
          <p:cNvPr id="182" name="Elbow Connector 181">
            <a:extLst>
              <a:ext uri="{FF2B5EF4-FFF2-40B4-BE49-F238E27FC236}">
                <a16:creationId xmlns:a16="http://schemas.microsoft.com/office/drawing/2014/main" id="{BD5128A4-E599-6549-5656-67E395FAB673}"/>
              </a:ext>
            </a:extLst>
          </p:cNvPr>
          <p:cNvCxnSpPr>
            <a:cxnSpLocks/>
            <a:stCxn id="146" idx="1"/>
            <a:endCxn id="181" idx="3"/>
          </p:cNvCxnSpPr>
          <p:nvPr/>
        </p:nvCxnSpPr>
        <p:spPr>
          <a:xfrm rot="10800000">
            <a:off x="2312670" y="3413527"/>
            <a:ext cx="5168395" cy="430802"/>
          </a:xfrm>
          <a:prstGeom prst="bentConnector3">
            <a:avLst>
              <a:gd name="adj1" fmla="val 50000"/>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86" name="TextBox 185">
            <a:extLst>
              <a:ext uri="{FF2B5EF4-FFF2-40B4-BE49-F238E27FC236}">
                <a16:creationId xmlns:a16="http://schemas.microsoft.com/office/drawing/2014/main" id="{8BDD5B29-6500-B1B2-F329-E8E8BA34AE7F}"/>
              </a:ext>
            </a:extLst>
          </p:cNvPr>
          <p:cNvSpPr txBox="1"/>
          <p:nvPr/>
        </p:nvSpPr>
        <p:spPr>
          <a:xfrm>
            <a:off x="2918627" y="3753314"/>
            <a:ext cx="609462" cy="276999"/>
          </a:xfrm>
          <a:prstGeom prst="rect">
            <a:avLst/>
          </a:prstGeom>
          <a:noFill/>
        </p:spPr>
        <p:txBody>
          <a:bodyPr wrap="none" rtlCol="0">
            <a:spAutoFit/>
          </a:bodyPr>
          <a:lstStyle/>
          <a:p>
            <a:r>
              <a:rPr lang="vi-VN" sz="1200" dirty="0">
                <a:latin typeface="Cambria" panose="02040503050406030204" pitchFamily="18" charset="0"/>
              </a:rPr>
              <a:t>Không</a:t>
            </a:r>
          </a:p>
        </p:txBody>
      </p:sp>
      <p:cxnSp>
        <p:nvCxnSpPr>
          <p:cNvPr id="198" name="Straight Arrow Connector 197">
            <a:extLst>
              <a:ext uri="{FF2B5EF4-FFF2-40B4-BE49-F238E27FC236}">
                <a16:creationId xmlns:a16="http://schemas.microsoft.com/office/drawing/2014/main" id="{D054C094-E63D-FA28-FF39-8B2F0D2C4FFB}"/>
              </a:ext>
            </a:extLst>
          </p:cNvPr>
          <p:cNvCxnSpPr>
            <a:cxnSpLocks/>
            <a:stCxn id="181" idx="2"/>
            <a:endCxn id="6" idx="0"/>
          </p:cNvCxnSpPr>
          <p:nvPr/>
        </p:nvCxnSpPr>
        <p:spPr>
          <a:xfrm>
            <a:off x="1426498" y="3673701"/>
            <a:ext cx="0" cy="1967265"/>
          </a:xfrm>
          <a:prstGeom prst="straightConnector1">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6" name="Alternate Process 15">
            <a:extLst>
              <a:ext uri="{FF2B5EF4-FFF2-40B4-BE49-F238E27FC236}">
                <a16:creationId xmlns:a16="http://schemas.microsoft.com/office/drawing/2014/main" id="{F785E435-CB1B-3FA7-1BA6-0F3707EA9591}"/>
              </a:ext>
            </a:extLst>
          </p:cNvPr>
          <p:cNvSpPr/>
          <p:nvPr/>
        </p:nvSpPr>
        <p:spPr>
          <a:xfrm>
            <a:off x="105798" y="3647688"/>
            <a:ext cx="1010372" cy="1424421"/>
          </a:xfrm>
          <a:prstGeom prst="flowChartAlternateProcess">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r>
              <a:rPr lang="vi-VN" sz="1200" dirty="0">
                <a:latin typeface="Cambria" panose="02040503050406030204" pitchFamily="18" charset="0"/>
              </a:rPr>
              <a:t>Cần phân tích thêm đặt xe khách</a:t>
            </a:r>
          </a:p>
        </p:txBody>
      </p:sp>
      <p:sp>
        <p:nvSpPr>
          <p:cNvPr id="41" name="Rectangle 40">
            <a:extLst>
              <a:ext uri="{FF2B5EF4-FFF2-40B4-BE49-F238E27FC236}">
                <a16:creationId xmlns:a16="http://schemas.microsoft.com/office/drawing/2014/main" id="{DF04568D-B111-9E82-3080-89E51E41F950}"/>
              </a:ext>
            </a:extLst>
          </p:cNvPr>
          <p:cNvSpPr/>
          <p:nvPr/>
        </p:nvSpPr>
        <p:spPr>
          <a:xfrm>
            <a:off x="4981520" y="1676736"/>
            <a:ext cx="1713079" cy="520349"/>
          </a:xfrm>
          <a:prstGeom prst="rect">
            <a:avLst/>
          </a:prstGeom>
          <a:solidFill>
            <a:schemeClr val="accent4">
              <a:lumMod val="20000"/>
              <a:lumOff val="80000"/>
            </a:schemeClr>
          </a:solidFill>
          <a:ln>
            <a:solidFill>
              <a:srgbClr val="00682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200" dirty="0">
                <a:solidFill>
                  <a:srgbClr val="006829"/>
                </a:solidFill>
                <a:latin typeface="Cambria" panose="02040503050406030204" pitchFamily="18" charset="0"/>
              </a:rPr>
              <a:t>GOM NHU CẦU DI CHUYỂN</a:t>
            </a:r>
          </a:p>
        </p:txBody>
      </p:sp>
      <p:sp>
        <p:nvSpPr>
          <p:cNvPr id="61" name="Rectangle 60">
            <a:extLst>
              <a:ext uri="{FF2B5EF4-FFF2-40B4-BE49-F238E27FC236}">
                <a16:creationId xmlns:a16="http://schemas.microsoft.com/office/drawing/2014/main" id="{33A63E73-38C3-A64A-F400-D0F1C26B40C0}"/>
              </a:ext>
            </a:extLst>
          </p:cNvPr>
          <p:cNvSpPr/>
          <p:nvPr/>
        </p:nvSpPr>
        <p:spPr>
          <a:xfrm>
            <a:off x="7362493" y="1674307"/>
            <a:ext cx="2198914" cy="520349"/>
          </a:xfrm>
          <a:prstGeom prst="rect">
            <a:avLst/>
          </a:prstGeom>
          <a:solidFill>
            <a:schemeClr val="accent4">
              <a:lumMod val="20000"/>
              <a:lumOff val="80000"/>
            </a:schemeClr>
          </a:solidFill>
          <a:ln>
            <a:solidFill>
              <a:srgbClr val="00682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200" dirty="0">
                <a:solidFill>
                  <a:srgbClr val="006829"/>
                </a:solidFill>
                <a:latin typeface="Cambria" panose="02040503050406030204" pitchFamily="18" charset="0"/>
              </a:rPr>
              <a:t>PHÂN TÍCH CÙNG HƯỚNG</a:t>
            </a:r>
          </a:p>
        </p:txBody>
      </p:sp>
      <p:cxnSp>
        <p:nvCxnSpPr>
          <p:cNvPr id="69" name="Straight Arrow Connector 68">
            <a:extLst>
              <a:ext uri="{FF2B5EF4-FFF2-40B4-BE49-F238E27FC236}">
                <a16:creationId xmlns:a16="http://schemas.microsoft.com/office/drawing/2014/main" id="{E1A86F57-C296-AB7E-267E-9F0C6734E3AD}"/>
              </a:ext>
            </a:extLst>
          </p:cNvPr>
          <p:cNvCxnSpPr>
            <a:cxnSpLocks/>
            <a:stCxn id="5" idx="3"/>
            <a:endCxn id="41" idx="1"/>
          </p:cNvCxnSpPr>
          <p:nvPr/>
        </p:nvCxnSpPr>
        <p:spPr>
          <a:xfrm flipV="1">
            <a:off x="4582105" y="1936911"/>
            <a:ext cx="399415" cy="1"/>
          </a:xfrm>
          <a:prstGeom prst="straightConnector1">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72" name="Straight Arrow Connector 71">
            <a:extLst>
              <a:ext uri="{FF2B5EF4-FFF2-40B4-BE49-F238E27FC236}">
                <a16:creationId xmlns:a16="http://schemas.microsoft.com/office/drawing/2014/main" id="{C53EC68F-9250-027F-7E4E-0D277F92863C}"/>
              </a:ext>
            </a:extLst>
          </p:cNvPr>
          <p:cNvCxnSpPr>
            <a:cxnSpLocks/>
            <a:stCxn id="41" idx="3"/>
            <a:endCxn id="61" idx="1"/>
          </p:cNvCxnSpPr>
          <p:nvPr/>
        </p:nvCxnSpPr>
        <p:spPr>
          <a:xfrm flipV="1">
            <a:off x="6694599" y="1934482"/>
            <a:ext cx="667894" cy="2429"/>
          </a:xfrm>
          <a:prstGeom prst="straightConnector1">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80" name="Straight Arrow Connector 79">
            <a:extLst>
              <a:ext uri="{FF2B5EF4-FFF2-40B4-BE49-F238E27FC236}">
                <a16:creationId xmlns:a16="http://schemas.microsoft.com/office/drawing/2014/main" id="{207ADCEF-025B-6238-48A1-29D640BDE138}"/>
              </a:ext>
            </a:extLst>
          </p:cNvPr>
          <p:cNvCxnSpPr>
            <a:cxnSpLocks/>
            <a:stCxn id="61" idx="2"/>
            <a:endCxn id="8" idx="0"/>
          </p:cNvCxnSpPr>
          <p:nvPr/>
        </p:nvCxnSpPr>
        <p:spPr>
          <a:xfrm>
            <a:off x="8461950" y="2194656"/>
            <a:ext cx="1" cy="398706"/>
          </a:xfrm>
          <a:prstGeom prst="straightConnector1">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83" name="Straight Arrow Connector 82">
            <a:extLst>
              <a:ext uri="{FF2B5EF4-FFF2-40B4-BE49-F238E27FC236}">
                <a16:creationId xmlns:a16="http://schemas.microsoft.com/office/drawing/2014/main" id="{86A5E8D0-A84F-965F-C65E-579522431698}"/>
              </a:ext>
            </a:extLst>
          </p:cNvPr>
          <p:cNvCxnSpPr>
            <a:cxnSpLocks/>
            <a:stCxn id="8" idx="2"/>
            <a:endCxn id="146" idx="0"/>
          </p:cNvCxnSpPr>
          <p:nvPr/>
        </p:nvCxnSpPr>
        <p:spPr>
          <a:xfrm flipH="1">
            <a:off x="8456820" y="3113711"/>
            <a:ext cx="5131" cy="323899"/>
          </a:xfrm>
          <a:prstGeom prst="straightConnector1">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91" name="Elbow Connector 90">
            <a:extLst>
              <a:ext uri="{FF2B5EF4-FFF2-40B4-BE49-F238E27FC236}">
                <a16:creationId xmlns:a16="http://schemas.microsoft.com/office/drawing/2014/main" id="{AC2FC250-B75C-7A4E-3E28-5E5963463C62}"/>
              </a:ext>
            </a:extLst>
          </p:cNvPr>
          <p:cNvCxnSpPr>
            <a:cxnSpLocks/>
            <a:stCxn id="146" idx="3"/>
            <a:endCxn id="9" idx="1"/>
          </p:cNvCxnSpPr>
          <p:nvPr/>
        </p:nvCxnSpPr>
        <p:spPr>
          <a:xfrm flipV="1">
            <a:off x="9432576" y="1914083"/>
            <a:ext cx="860467" cy="1930246"/>
          </a:xfrm>
          <a:prstGeom prst="bentConnector3">
            <a:avLst>
              <a:gd name="adj1" fmla="val 72564"/>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95" name="TextBox 94">
            <a:extLst>
              <a:ext uri="{FF2B5EF4-FFF2-40B4-BE49-F238E27FC236}">
                <a16:creationId xmlns:a16="http://schemas.microsoft.com/office/drawing/2014/main" id="{1D9AD2F7-22CF-9332-8C53-DC3A4C91CAC3}"/>
              </a:ext>
            </a:extLst>
          </p:cNvPr>
          <p:cNvSpPr txBox="1"/>
          <p:nvPr/>
        </p:nvSpPr>
        <p:spPr>
          <a:xfrm>
            <a:off x="9423076" y="3540994"/>
            <a:ext cx="352982" cy="276999"/>
          </a:xfrm>
          <a:prstGeom prst="rect">
            <a:avLst/>
          </a:prstGeom>
          <a:noFill/>
        </p:spPr>
        <p:txBody>
          <a:bodyPr wrap="none" rtlCol="0">
            <a:spAutoFit/>
          </a:bodyPr>
          <a:lstStyle/>
          <a:p>
            <a:r>
              <a:rPr lang="vi-VN" sz="1200" dirty="0">
                <a:latin typeface="Cambria" panose="02040503050406030204" pitchFamily="18" charset="0"/>
              </a:rPr>
              <a:t>Có</a:t>
            </a:r>
          </a:p>
        </p:txBody>
      </p:sp>
      <p:sp>
        <p:nvSpPr>
          <p:cNvPr id="100" name="TextBox 99">
            <a:extLst>
              <a:ext uri="{FF2B5EF4-FFF2-40B4-BE49-F238E27FC236}">
                <a16:creationId xmlns:a16="http://schemas.microsoft.com/office/drawing/2014/main" id="{C96864F3-0240-AB9A-7971-04D5E9655279}"/>
              </a:ext>
            </a:extLst>
          </p:cNvPr>
          <p:cNvSpPr txBox="1"/>
          <p:nvPr/>
        </p:nvSpPr>
        <p:spPr>
          <a:xfrm>
            <a:off x="10231374" y="4034548"/>
            <a:ext cx="352982" cy="276999"/>
          </a:xfrm>
          <a:prstGeom prst="rect">
            <a:avLst/>
          </a:prstGeom>
          <a:noFill/>
        </p:spPr>
        <p:txBody>
          <a:bodyPr wrap="none" rtlCol="0">
            <a:spAutoFit/>
          </a:bodyPr>
          <a:lstStyle/>
          <a:p>
            <a:r>
              <a:rPr lang="vi-VN" sz="1200" dirty="0">
                <a:latin typeface="Cambria" panose="02040503050406030204" pitchFamily="18" charset="0"/>
              </a:rPr>
              <a:t>Có</a:t>
            </a:r>
          </a:p>
        </p:txBody>
      </p:sp>
      <p:sp>
        <p:nvSpPr>
          <p:cNvPr id="102" name="TextBox 101">
            <a:extLst>
              <a:ext uri="{FF2B5EF4-FFF2-40B4-BE49-F238E27FC236}">
                <a16:creationId xmlns:a16="http://schemas.microsoft.com/office/drawing/2014/main" id="{4961A4EE-AD9C-B7F9-A559-F697195974F6}"/>
              </a:ext>
            </a:extLst>
          </p:cNvPr>
          <p:cNvSpPr txBox="1"/>
          <p:nvPr/>
        </p:nvSpPr>
        <p:spPr>
          <a:xfrm>
            <a:off x="4556645" y="1641366"/>
            <a:ext cx="352982" cy="276999"/>
          </a:xfrm>
          <a:prstGeom prst="rect">
            <a:avLst/>
          </a:prstGeom>
          <a:noFill/>
        </p:spPr>
        <p:txBody>
          <a:bodyPr wrap="none" rtlCol="0">
            <a:spAutoFit/>
          </a:bodyPr>
          <a:lstStyle/>
          <a:p>
            <a:r>
              <a:rPr lang="vi-VN" sz="1200" dirty="0">
                <a:latin typeface="Cambria" panose="02040503050406030204" pitchFamily="18" charset="0"/>
              </a:rPr>
              <a:t>Có</a:t>
            </a:r>
          </a:p>
        </p:txBody>
      </p:sp>
    </p:spTree>
    <p:extLst>
      <p:ext uri="{BB962C8B-B14F-4D97-AF65-F5344CB8AC3E}">
        <p14:creationId xmlns:p14="http://schemas.microsoft.com/office/powerpoint/2010/main" val="21221779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543531-7F53-6806-29BB-23061ADC50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80F02C-5D89-B4DB-1B88-5B400F5BE33B}"/>
              </a:ext>
            </a:extLst>
          </p:cNvPr>
          <p:cNvSpPr>
            <a:spLocks noGrp="1"/>
          </p:cNvSpPr>
          <p:nvPr>
            <p:ph type="title"/>
          </p:nvPr>
        </p:nvSpPr>
        <p:spPr/>
        <p:txBody>
          <a:bodyPr anchor="ctr"/>
          <a:lstStyle/>
          <a:p>
            <a:r>
              <a:rPr lang="en-US" dirty="0">
                <a:solidFill>
                  <a:srgbClr val="FF0000"/>
                </a:solidFill>
                <a:latin typeface="Cambria" panose="02040503050406030204" pitchFamily="18" charset="0"/>
              </a:rPr>
              <a:t>SƠ ĐỒ HÀNH TRÌNH – ĐIỂM TRUNG CHUYỂN</a:t>
            </a:r>
          </a:p>
        </p:txBody>
      </p:sp>
      <p:pic>
        <p:nvPicPr>
          <p:cNvPr id="4" name="Picture 3">
            <a:extLst>
              <a:ext uri="{FF2B5EF4-FFF2-40B4-BE49-F238E27FC236}">
                <a16:creationId xmlns:a16="http://schemas.microsoft.com/office/drawing/2014/main" id="{9DDECA96-5479-F971-E7B9-CEE4737B32DD}"/>
              </a:ext>
            </a:extLst>
          </p:cNvPr>
          <p:cNvPicPr>
            <a:picLocks noChangeAspect="1"/>
          </p:cNvPicPr>
          <p:nvPr/>
        </p:nvPicPr>
        <p:blipFill>
          <a:blip r:embed="rId2"/>
          <a:stretch>
            <a:fillRect/>
          </a:stretch>
        </p:blipFill>
        <p:spPr>
          <a:xfrm>
            <a:off x="6608274" y="1024684"/>
            <a:ext cx="5210188" cy="4808632"/>
          </a:xfrm>
          <a:prstGeom prst="rect">
            <a:avLst/>
          </a:prstGeom>
        </p:spPr>
      </p:pic>
      <p:sp>
        <p:nvSpPr>
          <p:cNvPr id="7" name="TextBox 6">
            <a:extLst>
              <a:ext uri="{FF2B5EF4-FFF2-40B4-BE49-F238E27FC236}">
                <a16:creationId xmlns:a16="http://schemas.microsoft.com/office/drawing/2014/main" id="{20F4D97B-82D4-2826-BCF1-F7104B8CC676}"/>
              </a:ext>
            </a:extLst>
          </p:cNvPr>
          <p:cNvSpPr txBox="1"/>
          <p:nvPr/>
        </p:nvSpPr>
        <p:spPr>
          <a:xfrm>
            <a:off x="320528" y="1024684"/>
            <a:ext cx="6011237" cy="2062103"/>
          </a:xfrm>
          <a:prstGeom prst="rect">
            <a:avLst/>
          </a:prstGeom>
          <a:noFill/>
        </p:spPr>
        <p:txBody>
          <a:bodyPr wrap="square" rtlCol="0">
            <a:spAutoFit/>
          </a:bodyPr>
          <a:lstStyle/>
          <a:p>
            <a:r>
              <a:rPr lang="vi-VN" sz="1600" b="1" dirty="0">
                <a:latin typeface="Cambria" panose="02040503050406030204" pitchFamily="18" charset="0"/>
              </a:rPr>
              <a:t>Sơ đồ hành trình </a:t>
            </a:r>
            <a:r>
              <a:rPr lang="vi-VN" sz="1600" dirty="0">
                <a:latin typeface="Cambria" panose="02040503050406030204" pitchFamily="18" charset="0"/>
              </a:rPr>
              <a:t>cho biết các điểm, chặng, khoảng cách:</a:t>
            </a:r>
          </a:p>
          <a:p>
            <a:pPr marL="342900" indent="-342900">
              <a:buAutoNum type="arabicPeriod"/>
            </a:pPr>
            <a:r>
              <a:rPr lang="vi-VN" sz="1600" dirty="0">
                <a:latin typeface="Cambria" panose="02040503050406030204" pitchFamily="18" charset="0"/>
              </a:rPr>
              <a:t>Người điều phối có thể nhìn tổng thể và trực quan về tuyến đường, khoảng cách các điểm -&gt; xác định được hướng di chuyển để điều xe phù hợp.</a:t>
            </a:r>
          </a:p>
          <a:p>
            <a:pPr marL="342900" indent="-342900">
              <a:buAutoNum type="arabicPeriod"/>
            </a:pPr>
            <a:r>
              <a:rPr lang="vi-VN" sz="1600" dirty="0">
                <a:latin typeface="Cambria" panose="02040503050406030204" pitchFamily="18" charset="0"/>
              </a:rPr>
              <a:t>Tính toán khoảng cách di chuyển -&gt; dự toán được chi phí nhiên liệu và các chi phí phát sinh khác trong quá trình di chuyển.</a:t>
            </a:r>
          </a:p>
          <a:p>
            <a:pPr marL="342900" indent="-342900">
              <a:buAutoNum type="arabicPeriod"/>
            </a:pPr>
            <a:r>
              <a:rPr lang="vi-VN" sz="1600" dirty="0">
                <a:latin typeface="Cambria" panose="02040503050406030204" pitchFamily="18" charset="0"/>
              </a:rPr>
              <a:t>Hệ thống tự suy luận tuyến được sắp xếp logictis phù hợp cho việc tối ưu điều phối xe.</a:t>
            </a:r>
          </a:p>
        </p:txBody>
      </p:sp>
      <p:sp>
        <p:nvSpPr>
          <p:cNvPr id="5" name="TextBox 4">
            <a:extLst>
              <a:ext uri="{FF2B5EF4-FFF2-40B4-BE49-F238E27FC236}">
                <a16:creationId xmlns:a16="http://schemas.microsoft.com/office/drawing/2014/main" id="{51FBD5EE-7871-1B34-CF02-3E79A4307CAB}"/>
              </a:ext>
            </a:extLst>
          </p:cNvPr>
          <p:cNvSpPr txBox="1"/>
          <p:nvPr/>
        </p:nvSpPr>
        <p:spPr>
          <a:xfrm>
            <a:off x="320527" y="3311611"/>
            <a:ext cx="6011237" cy="2554545"/>
          </a:xfrm>
          <a:prstGeom prst="rect">
            <a:avLst/>
          </a:prstGeom>
          <a:noFill/>
        </p:spPr>
        <p:txBody>
          <a:bodyPr wrap="square" rtlCol="0">
            <a:spAutoFit/>
          </a:bodyPr>
          <a:lstStyle/>
          <a:p>
            <a:r>
              <a:rPr lang="vi-VN" sz="1600" b="1" dirty="0">
                <a:latin typeface="Cambria" panose="02040503050406030204" pitchFamily="18" charset="0"/>
              </a:rPr>
              <a:t>Điểm trung chuyển</a:t>
            </a:r>
          </a:p>
          <a:p>
            <a:r>
              <a:rPr lang="vi-VN" sz="1600" dirty="0">
                <a:latin typeface="Cambria" panose="02040503050406030204" pitchFamily="18" charset="0"/>
              </a:rPr>
              <a:t>Như hình bên ta thấy trong chuyến đi từ Pleiku -&gt; KLH Koun Mom phải đi qua điểm trung chuyển là cửa khẩu lệ thanh với 2 phương án:</a:t>
            </a:r>
          </a:p>
          <a:p>
            <a:pPr marL="342900" indent="-342900">
              <a:buAutoNum type="arabicPeriod"/>
            </a:pPr>
            <a:r>
              <a:rPr lang="vi-VN" sz="1600" dirty="0">
                <a:latin typeface="Cambria" panose="02040503050406030204" pitchFamily="18" charset="0"/>
              </a:rPr>
              <a:t>Xe có transit đi thẳng từ Pleiku -&gt; KLH Koun Mom.</a:t>
            </a:r>
          </a:p>
          <a:p>
            <a:pPr marL="342900" indent="-342900">
              <a:buAutoNum type="arabicPeriod"/>
            </a:pPr>
            <a:r>
              <a:rPr lang="vi-VN" sz="1600" dirty="0">
                <a:latin typeface="Cambria" panose="02040503050406030204" pitchFamily="18" charset="0"/>
              </a:rPr>
              <a:t>Xe không có transit sẽ phải thực hiện nối chuyến. Pleiku -&gt; Cửa khẩu Lệ Thanh -&gt; KLH Koun Mom</a:t>
            </a:r>
          </a:p>
          <a:p>
            <a:r>
              <a:rPr lang="vi-VN" sz="1600" dirty="0">
                <a:latin typeface="Cambria" panose="02040503050406030204" pitchFamily="18" charset="0"/>
              </a:rPr>
              <a:t>Với phương án 2 phần mềm cho phép tách chuyến:</a:t>
            </a:r>
          </a:p>
          <a:p>
            <a:pPr marL="342900" indent="-342900">
              <a:buAutoNum type="arabicPeriod"/>
            </a:pPr>
            <a:r>
              <a:rPr lang="vi-VN" sz="1600" dirty="0">
                <a:latin typeface="Cambria" panose="02040503050406030204" pitchFamily="18" charset="0"/>
              </a:rPr>
              <a:t>Pleiku -&gt; Cửa khẩu lệ thanh: VPĐH Gia Lai điều xe.</a:t>
            </a:r>
          </a:p>
          <a:p>
            <a:pPr marL="342900" indent="-342900">
              <a:buAutoNum type="arabicPeriod"/>
            </a:pPr>
            <a:r>
              <a:rPr lang="vi-VN" sz="1600" dirty="0">
                <a:latin typeface="Cambria" panose="02040503050406030204" pitchFamily="18" charset="0"/>
              </a:rPr>
              <a:t>Cửa khẩu lệ thanh -&gt; KLH Koun Mom: KLH Koun Mom điều xe</a:t>
            </a:r>
          </a:p>
        </p:txBody>
      </p:sp>
      <p:sp>
        <p:nvSpPr>
          <p:cNvPr id="6" name="TextBox 5">
            <a:extLst>
              <a:ext uri="{FF2B5EF4-FFF2-40B4-BE49-F238E27FC236}">
                <a16:creationId xmlns:a16="http://schemas.microsoft.com/office/drawing/2014/main" id="{F928CE7F-98F0-DF03-8627-C0C2F9619BB2}"/>
              </a:ext>
            </a:extLst>
          </p:cNvPr>
          <p:cNvSpPr txBox="1"/>
          <p:nvPr/>
        </p:nvSpPr>
        <p:spPr>
          <a:xfrm>
            <a:off x="320527" y="6105525"/>
            <a:ext cx="11726049" cy="338554"/>
          </a:xfrm>
          <a:prstGeom prst="rect">
            <a:avLst/>
          </a:prstGeom>
          <a:noFill/>
        </p:spPr>
        <p:txBody>
          <a:bodyPr wrap="square">
            <a:spAutoFit/>
          </a:bodyPr>
          <a:lstStyle/>
          <a:p>
            <a:pPr>
              <a:buNone/>
            </a:pPr>
            <a:r>
              <a:rPr lang="en-VN" sz="1600" i="1" dirty="0">
                <a:latin typeface="Cambria" panose="02040503050406030204" pitchFamily="18" charset="0"/>
              </a:rPr>
              <a:t>Phần mềm cho phép cấu hình điểm đi, điểm đến, điểm trung chuyển phù hợp với nhu cầu điều xe, dự toán chi phí</a:t>
            </a:r>
          </a:p>
        </p:txBody>
      </p:sp>
    </p:spTree>
    <p:extLst>
      <p:ext uri="{BB962C8B-B14F-4D97-AF65-F5344CB8AC3E}">
        <p14:creationId xmlns:p14="http://schemas.microsoft.com/office/powerpoint/2010/main" val="39471715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B4811-D756-E090-BB9A-5E214F5C3FAB}"/>
              </a:ext>
            </a:extLst>
          </p:cNvPr>
          <p:cNvSpPr>
            <a:spLocks noGrp="1"/>
          </p:cNvSpPr>
          <p:nvPr>
            <p:ph type="title"/>
          </p:nvPr>
        </p:nvSpPr>
        <p:spPr/>
        <p:txBody>
          <a:bodyPr anchor="ctr"/>
          <a:lstStyle/>
          <a:p>
            <a:r>
              <a:rPr lang="vi-VN" dirty="0">
                <a:solidFill>
                  <a:srgbClr val="FF0000"/>
                </a:solidFill>
                <a:latin typeface="Cambria" panose="02040503050406030204" pitchFamily="18" charset="0"/>
              </a:rPr>
              <a:t>GHÉP CHUYẾN CÙNG HƯỚNG</a:t>
            </a:r>
            <a:endParaRPr lang="vi-VN" dirty="0"/>
          </a:p>
        </p:txBody>
      </p:sp>
      <p:sp>
        <p:nvSpPr>
          <p:cNvPr id="4" name="TextBox 3">
            <a:extLst>
              <a:ext uri="{FF2B5EF4-FFF2-40B4-BE49-F238E27FC236}">
                <a16:creationId xmlns:a16="http://schemas.microsoft.com/office/drawing/2014/main" id="{1F39ED85-0289-D5F6-7888-875C31C8A9A3}"/>
              </a:ext>
            </a:extLst>
          </p:cNvPr>
          <p:cNvSpPr txBox="1"/>
          <p:nvPr/>
        </p:nvSpPr>
        <p:spPr>
          <a:xfrm>
            <a:off x="256403" y="1014968"/>
            <a:ext cx="11840862" cy="584775"/>
          </a:xfrm>
          <a:prstGeom prst="rect">
            <a:avLst/>
          </a:prstGeom>
          <a:noFill/>
        </p:spPr>
        <p:txBody>
          <a:bodyPr wrap="square">
            <a:spAutoFit/>
          </a:bodyPr>
          <a:lstStyle/>
          <a:p>
            <a:r>
              <a:rPr lang="en-VN" sz="1600" b="1" dirty="0">
                <a:solidFill>
                  <a:srgbClr val="FF0000"/>
                </a:solidFill>
                <a:latin typeface="Cambria" panose="02040503050406030204" pitchFamily="18" charset="0"/>
              </a:rPr>
              <a:t>Mục tiêu</a:t>
            </a:r>
            <a:r>
              <a:rPr lang="en-VN" sz="1600" b="1" dirty="0">
                <a:latin typeface="Cambria" panose="02040503050406030204" pitchFamily="18" charset="0"/>
              </a:rPr>
              <a:t>:</a:t>
            </a:r>
            <a:r>
              <a:rPr lang="en-VN" sz="1600" dirty="0">
                <a:latin typeface="Cambria" panose="02040503050406030204" pitchFamily="18" charset="0"/>
              </a:rPr>
              <a:t> Tự động xác định các phiếu có nhu cầu di chuyển phù hợp để đề xuất ghép chung một chuyến, giảm số chuyến và tối ưu sử dụng xe.</a:t>
            </a:r>
            <a:endParaRPr lang="vi-VN" sz="1600" dirty="0">
              <a:latin typeface="Cambria" panose="02040503050406030204" pitchFamily="18" charset="0"/>
            </a:endParaRPr>
          </a:p>
        </p:txBody>
      </p:sp>
      <p:sp>
        <p:nvSpPr>
          <p:cNvPr id="6" name="TextBox 5">
            <a:extLst>
              <a:ext uri="{FF2B5EF4-FFF2-40B4-BE49-F238E27FC236}">
                <a16:creationId xmlns:a16="http://schemas.microsoft.com/office/drawing/2014/main" id="{07D311E5-FA85-2367-138E-CBEDA5430BC4}"/>
              </a:ext>
            </a:extLst>
          </p:cNvPr>
          <p:cNvSpPr txBox="1"/>
          <p:nvPr/>
        </p:nvSpPr>
        <p:spPr>
          <a:xfrm>
            <a:off x="256403" y="1599743"/>
            <a:ext cx="6098058" cy="1323439"/>
          </a:xfrm>
          <a:prstGeom prst="rect">
            <a:avLst/>
          </a:prstGeom>
          <a:noFill/>
        </p:spPr>
        <p:txBody>
          <a:bodyPr wrap="square">
            <a:spAutoFit/>
          </a:bodyPr>
          <a:lstStyle/>
          <a:p>
            <a:pPr>
              <a:buNone/>
            </a:pPr>
            <a:r>
              <a:rPr lang="en-VN" sz="1600" dirty="0">
                <a:latin typeface="Cambria" panose="02040503050406030204" pitchFamily="18" charset="0"/>
              </a:rPr>
              <a:t>Các phiếu được xem là </a:t>
            </a:r>
            <a:r>
              <a:rPr lang="en-VN" sz="1600" b="1" dirty="0">
                <a:latin typeface="Cambria" panose="02040503050406030204" pitchFamily="18" charset="0"/>
              </a:rPr>
              <a:t>cùng hướng</a:t>
            </a:r>
            <a:r>
              <a:rPr lang="en-VN" sz="1600" dirty="0">
                <a:latin typeface="Cambria" panose="02040503050406030204" pitchFamily="18" charset="0"/>
              </a:rPr>
              <a:t> khi:</a:t>
            </a:r>
          </a:p>
          <a:p>
            <a:pPr marL="342900" lvl="0" indent="-342900">
              <a:buFont typeface="Arial" panose="020B0604020202020204" pitchFamily="34" charset="0"/>
              <a:buChar char="•"/>
            </a:pPr>
            <a:r>
              <a:rPr lang="en-VN" sz="1600" dirty="0">
                <a:latin typeface="Cambria" panose="02040503050406030204" pitchFamily="18" charset="0"/>
              </a:rPr>
              <a:t>Có </a:t>
            </a:r>
            <a:r>
              <a:rPr lang="en-VN" sz="1600" b="1" dirty="0">
                <a:latin typeface="Cambria" panose="02040503050406030204" pitchFamily="18" charset="0"/>
              </a:rPr>
              <a:t>một phần hành trình trùng hoặc gần trùng nhau</a:t>
            </a:r>
            <a:r>
              <a:rPr lang="en-VN" sz="1600" dirty="0">
                <a:latin typeface="Cambria" panose="02040503050406030204" pitchFamily="18" charset="0"/>
              </a:rPr>
              <a:t> </a:t>
            </a:r>
          </a:p>
          <a:p>
            <a:pPr marL="342900" lvl="0" indent="-342900">
              <a:buFont typeface="Arial" panose="020B0604020202020204" pitchFamily="34" charset="0"/>
              <a:buChar char="•"/>
            </a:pPr>
            <a:r>
              <a:rPr lang="en-VN" sz="1600" dirty="0">
                <a:latin typeface="Cambria" panose="02040503050406030204" pitchFamily="18" charset="0"/>
              </a:rPr>
              <a:t>Thời gian khởi hành </a:t>
            </a:r>
            <a:r>
              <a:rPr lang="en-VN" sz="1600" b="1" dirty="0">
                <a:latin typeface="Cambria" panose="02040503050406030204" pitchFamily="18" charset="0"/>
              </a:rPr>
              <a:t>gần nhau</a:t>
            </a:r>
            <a:r>
              <a:rPr lang="en-VN" sz="1600" dirty="0">
                <a:latin typeface="Cambria" panose="02040503050406030204" pitchFamily="18" charset="0"/>
              </a:rPr>
              <a:t> </a:t>
            </a:r>
          </a:p>
          <a:p>
            <a:pPr marL="342900" lvl="0" indent="-342900">
              <a:buFont typeface="Arial" panose="020B0604020202020204" pitchFamily="34" charset="0"/>
              <a:buChar char="•"/>
            </a:pPr>
            <a:r>
              <a:rPr lang="en-VN" sz="1600" dirty="0">
                <a:latin typeface="Cambria" panose="02040503050406030204" pitchFamily="18" charset="0"/>
              </a:rPr>
              <a:t>Có khả năng phục vụ chung bằng một chuyến xe </a:t>
            </a:r>
          </a:p>
          <a:p>
            <a:pPr marL="342900" lvl="0" indent="-342900">
              <a:buFont typeface="Arial" panose="020B0604020202020204" pitchFamily="34" charset="0"/>
              <a:buChar char="•"/>
            </a:pPr>
            <a:r>
              <a:rPr lang="en-VN" sz="1600" dirty="0">
                <a:latin typeface="Cambria" panose="02040503050406030204" pitchFamily="18" charset="0"/>
              </a:rPr>
              <a:t>Không nhất thiết phải </a:t>
            </a:r>
            <a:r>
              <a:rPr lang="en-VN" sz="1600" b="1" dirty="0">
                <a:latin typeface="Cambria" panose="02040503050406030204" pitchFamily="18" charset="0"/>
              </a:rPr>
              <a:t>cùng điểm đi và điểm đến</a:t>
            </a:r>
            <a:endParaRPr lang="en-VN" sz="1600" dirty="0">
              <a:latin typeface="Cambria" panose="02040503050406030204" pitchFamily="18" charset="0"/>
            </a:endParaRPr>
          </a:p>
        </p:txBody>
      </p:sp>
      <p:sp>
        <p:nvSpPr>
          <p:cNvPr id="7" name="Oval 6">
            <a:extLst>
              <a:ext uri="{FF2B5EF4-FFF2-40B4-BE49-F238E27FC236}">
                <a16:creationId xmlns:a16="http://schemas.microsoft.com/office/drawing/2014/main" id="{0D184374-DD25-9C8F-684B-49EE0E4DC465}"/>
              </a:ext>
            </a:extLst>
          </p:cNvPr>
          <p:cNvSpPr/>
          <p:nvPr/>
        </p:nvSpPr>
        <p:spPr>
          <a:xfrm>
            <a:off x="6623221" y="2026508"/>
            <a:ext cx="271849" cy="271849"/>
          </a:xfrm>
          <a:prstGeom prst="ellipse">
            <a:avLst/>
          </a:prstGeom>
          <a:solidFill>
            <a:srgbClr val="0068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8" name="Oval 7">
            <a:extLst>
              <a:ext uri="{FF2B5EF4-FFF2-40B4-BE49-F238E27FC236}">
                <a16:creationId xmlns:a16="http://schemas.microsoft.com/office/drawing/2014/main" id="{587A3C54-61B2-7238-BE90-392694A69D42}"/>
              </a:ext>
            </a:extLst>
          </p:cNvPr>
          <p:cNvSpPr/>
          <p:nvPr/>
        </p:nvSpPr>
        <p:spPr>
          <a:xfrm>
            <a:off x="8112208" y="2026507"/>
            <a:ext cx="271849" cy="271849"/>
          </a:xfrm>
          <a:prstGeom prst="ellipse">
            <a:avLst/>
          </a:prstGeom>
          <a:solidFill>
            <a:srgbClr val="0068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9" name="Oval 8">
            <a:extLst>
              <a:ext uri="{FF2B5EF4-FFF2-40B4-BE49-F238E27FC236}">
                <a16:creationId xmlns:a16="http://schemas.microsoft.com/office/drawing/2014/main" id="{B5B2FF02-5740-B7F4-59D4-12A6F9E88498}"/>
              </a:ext>
            </a:extLst>
          </p:cNvPr>
          <p:cNvSpPr/>
          <p:nvPr/>
        </p:nvSpPr>
        <p:spPr>
          <a:xfrm>
            <a:off x="9707261" y="2038865"/>
            <a:ext cx="271849" cy="271849"/>
          </a:xfrm>
          <a:prstGeom prst="ellipse">
            <a:avLst/>
          </a:prstGeom>
          <a:solidFill>
            <a:srgbClr val="0068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0" name="Oval 9">
            <a:extLst>
              <a:ext uri="{FF2B5EF4-FFF2-40B4-BE49-F238E27FC236}">
                <a16:creationId xmlns:a16="http://schemas.microsoft.com/office/drawing/2014/main" id="{08E89F89-EE9F-7D10-23D0-8A59DE2F75DE}"/>
              </a:ext>
            </a:extLst>
          </p:cNvPr>
          <p:cNvSpPr/>
          <p:nvPr/>
        </p:nvSpPr>
        <p:spPr>
          <a:xfrm>
            <a:off x="11131374" y="2038865"/>
            <a:ext cx="271849" cy="271849"/>
          </a:xfrm>
          <a:prstGeom prst="ellipse">
            <a:avLst/>
          </a:prstGeom>
          <a:solidFill>
            <a:srgbClr val="0068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cxnSp>
        <p:nvCxnSpPr>
          <p:cNvPr id="12" name="Straight Arrow Connector 11">
            <a:extLst>
              <a:ext uri="{FF2B5EF4-FFF2-40B4-BE49-F238E27FC236}">
                <a16:creationId xmlns:a16="http://schemas.microsoft.com/office/drawing/2014/main" id="{8E815770-2FFD-ACCC-0F8A-DFDF5C410F87}"/>
              </a:ext>
            </a:extLst>
          </p:cNvPr>
          <p:cNvCxnSpPr>
            <a:stCxn id="7" idx="6"/>
            <a:endCxn id="8" idx="2"/>
          </p:cNvCxnSpPr>
          <p:nvPr/>
        </p:nvCxnSpPr>
        <p:spPr>
          <a:xfrm flipV="1">
            <a:off x="6895070" y="2162432"/>
            <a:ext cx="1217138" cy="1"/>
          </a:xfrm>
          <a:prstGeom prst="straightConnector1">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3" name="Straight Arrow Connector 12">
            <a:extLst>
              <a:ext uri="{FF2B5EF4-FFF2-40B4-BE49-F238E27FC236}">
                <a16:creationId xmlns:a16="http://schemas.microsoft.com/office/drawing/2014/main" id="{D56D1AE7-B559-863F-0DFE-4E3272603D42}"/>
              </a:ext>
            </a:extLst>
          </p:cNvPr>
          <p:cNvCxnSpPr>
            <a:cxnSpLocks/>
            <a:stCxn id="8" idx="6"/>
            <a:endCxn id="9" idx="2"/>
          </p:cNvCxnSpPr>
          <p:nvPr/>
        </p:nvCxnSpPr>
        <p:spPr>
          <a:xfrm>
            <a:off x="8384057" y="2162432"/>
            <a:ext cx="1323204" cy="12358"/>
          </a:xfrm>
          <a:prstGeom prst="straightConnector1">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6" name="Straight Arrow Connector 15">
            <a:extLst>
              <a:ext uri="{FF2B5EF4-FFF2-40B4-BE49-F238E27FC236}">
                <a16:creationId xmlns:a16="http://schemas.microsoft.com/office/drawing/2014/main" id="{5C92F19B-BBEB-B637-DB56-C9358ECBF5FE}"/>
              </a:ext>
            </a:extLst>
          </p:cNvPr>
          <p:cNvCxnSpPr>
            <a:cxnSpLocks/>
            <a:stCxn id="9" idx="6"/>
            <a:endCxn id="10" idx="2"/>
          </p:cNvCxnSpPr>
          <p:nvPr/>
        </p:nvCxnSpPr>
        <p:spPr>
          <a:xfrm>
            <a:off x="9979110" y="2174790"/>
            <a:ext cx="1152264" cy="0"/>
          </a:xfrm>
          <a:prstGeom prst="straightConnector1">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9" name="TextBox 18">
            <a:extLst>
              <a:ext uri="{FF2B5EF4-FFF2-40B4-BE49-F238E27FC236}">
                <a16:creationId xmlns:a16="http://schemas.microsoft.com/office/drawing/2014/main" id="{2B576196-8AE9-F2E7-1B1E-E8DB05DEDBDB}"/>
              </a:ext>
            </a:extLst>
          </p:cNvPr>
          <p:cNvSpPr txBox="1"/>
          <p:nvPr/>
        </p:nvSpPr>
        <p:spPr>
          <a:xfrm>
            <a:off x="6427163" y="2434280"/>
            <a:ext cx="663964" cy="307777"/>
          </a:xfrm>
          <a:prstGeom prst="rect">
            <a:avLst/>
          </a:prstGeom>
          <a:noFill/>
          <a:ln>
            <a:solidFill>
              <a:srgbClr val="006829"/>
            </a:solidFill>
          </a:ln>
        </p:spPr>
        <p:txBody>
          <a:bodyPr wrap="none" rtlCol="0">
            <a:spAutoFit/>
          </a:bodyPr>
          <a:lstStyle/>
          <a:p>
            <a:r>
              <a:rPr lang="vi-VN" sz="1400" dirty="0">
                <a:solidFill>
                  <a:srgbClr val="006829"/>
                </a:solidFill>
                <a:latin typeface="Cambria" panose="02040503050406030204" pitchFamily="18" charset="0"/>
              </a:rPr>
              <a:t>Pleiku</a:t>
            </a:r>
          </a:p>
        </p:txBody>
      </p:sp>
      <p:sp>
        <p:nvSpPr>
          <p:cNvPr id="20" name="TextBox 19">
            <a:extLst>
              <a:ext uri="{FF2B5EF4-FFF2-40B4-BE49-F238E27FC236}">
                <a16:creationId xmlns:a16="http://schemas.microsoft.com/office/drawing/2014/main" id="{4E5D5DFD-E0C2-E717-BD86-6A02AAAC1BE2}"/>
              </a:ext>
            </a:extLst>
          </p:cNvPr>
          <p:cNvSpPr txBox="1"/>
          <p:nvPr/>
        </p:nvSpPr>
        <p:spPr>
          <a:xfrm>
            <a:off x="7848823" y="2434280"/>
            <a:ext cx="798617" cy="307777"/>
          </a:xfrm>
          <a:prstGeom prst="rect">
            <a:avLst/>
          </a:prstGeom>
          <a:noFill/>
          <a:ln>
            <a:solidFill>
              <a:srgbClr val="006829"/>
            </a:solidFill>
          </a:ln>
        </p:spPr>
        <p:txBody>
          <a:bodyPr wrap="none" rtlCol="0">
            <a:spAutoFit/>
          </a:bodyPr>
          <a:lstStyle/>
          <a:p>
            <a:r>
              <a:rPr lang="vi-VN" sz="1400" dirty="0">
                <a:solidFill>
                  <a:srgbClr val="006829"/>
                </a:solidFill>
                <a:latin typeface="Cambria" panose="02040503050406030204" pitchFamily="18" charset="0"/>
              </a:rPr>
              <a:t>Kontum</a:t>
            </a:r>
          </a:p>
        </p:txBody>
      </p:sp>
      <p:sp>
        <p:nvSpPr>
          <p:cNvPr id="21" name="TextBox 20">
            <a:extLst>
              <a:ext uri="{FF2B5EF4-FFF2-40B4-BE49-F238E27FC236}">
                <a16:creationId xmlns:a16="http://schemas.microsoft.com/office/drawing/2014/main" id="{B828A32A-B439-EA40-678D-8CCB83EF475B}"/>
              </a:ext>
            </a:extLst>
          </p:cNvPr>
          <p:cNvSpPr txBox="1"/>
          <p:nvPr/>
        </p:nvSpPr>
        <p:spPr>
          <a:xfrm>
            <a:off x="9577727" y="2434280"/>
            <a:ext cx="530915" cy="307777"/>
          </a:xfrm>
          <a:prstGeom prst="rect">
            <a:avLst/>
          </a:prstGeom>
          <a:noFill/>
          <a:ln>
            <a:solidFill>
              <a:srgbClr val="006829"/>
            </a:solidFill>
          </a:ln>
        </p:spPr>
        <p:txBody>
          <a:bodyPr wrap="none" rtlCol="0">
            <a:spAutoFit/>
          </a:bodyPr>
          <a:lstStyle/>
          <a:p>
            <a:r>
              <a:rPr lang="vi-VN" sz="1400" dirty="0">
                <a:solidFill>
                  <a:srgbClr val="006829"/>
                </a:solidFill>
                <a:latin typeface="Cambria" panose="02040503050406030204" pitchFamily="18" charset="0"/>
              </a:rPr>
              <a:t>Bờ y</a:t>
            </a:r>
          </a:p>
        </p:txBody>
      </p:sp>
      <p:sp>
        <p:nvSpPr>
          <p:cNvPr id="22" name="TextBox 21">
            <a:extLst>
              <a:ext uri="{FF2B5EF4-FFF2-40B4-BE49-F238E27FC236}">
                <a16:creationId xmlns:a16="http://schemas.microsoft.com/office/drawing/2014/main" id="{9BA7DB13-8BF0-3EB5-487C-C14D11456493}"/>
              </a:ext>
            </a:extLst>
          </p:cNvPr>
          <p:cNvSpPr txBox="1"/>
          <p:nvPr/>
        </p:nvSpPr>
        <p:spPr>
          <a:xfrm>
            <a:off x="10649981" y="2446639"/>
            <a:ext cx="1234633" cy="307777"/>
          </a:xfrm>
          <a:prstGeom prst="rect">
            <a:avLst/>
          </a:prstGeom>
          <a:noFill/>
          <a:ln>
            <a:solidFill>
              <a:srgbClr val="006829"/>
            </a:solidFill>
          </a:ln>
        </p:spPr>
        <p:txBody>
          <a:bodyPr wrap="none" rtlCol="0">
            <a:spAutoFit/>
          </a:bodyPr>
          <a:lstStyle/>
          <a:p>
            <a:r>
              <a:rPr lang="vi-VN" sz="1400" dirty="0">
                <a:solidFill>
                  <a:srgbClr val="006829"/>
                </a:solidFill>
                <a:latin typeface="Cambria" panose="02040503050406030204" pitchFamily="18" charset="0"/>
              </a:rPr>
              <a:t>KLH Nam Lào</a:t>
            </a:r>
          </a:p>
        </p:txBody>
      </p:sp>
      <p:sp>
        <p:nvSpPr>
          <p:cNvPr id="24" name="Alternate Process 23">
            <a:extLst>
              <a:ext uri="{FF2B5EF4-FFF2-40B4-BE49-F238E27FC236}">
                <a16:creationId xmlns:a16="http://schemas.microsoft.com/office/drawing/2014/main" id="{B0126FC2-10EA-6475-4E48-91A266D197CE}"/>
              </a:ext>
            </a:extLst>
          </p:cNvPr>
          <p:cNvSpPr/>
          <p:nvPr/>
        </p:nvSpPr>
        <p:spPr>
          <a:xfrm>
            <a:off x="6623220" y="2902462"/>
            <a:ext cx="3355890" cy="401595"/>
          </a:xfrm>
          <a:prstGeom prst="flowChartAlternateProcess">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400" dirty="0">
                <a:solidFill>
                  <a:srgbClr val="006829"/>
                </a:solidFill>
                <a:latin typeface="Cambria" panose="02040503050406030204" pitchFamily="18" charset="0"/>
              </a:rPr>
              <a:t>Phiếu 1</a:t>
            </a:r>
          </a:p>
        </p:txBody>
      </p:sp>
      <p:sp>
        <p:nvSpPr>
          <p:cNvPr id="25" name="Alternate Process 24">
            <a:extLst>
              <a:ext uri="{FF2B5EF4-FFF2-40B4-BE49-F238E27FC236}">
                <a16:creationId xmlns:a16="http://schemas.microsoft.com/office/drawing/2014/main" id="{10CB8395-2D89-8654-4304-526C50151B62}"/>
              </a:ext>
            </a:extLst>
          </p:cNvPr>
          <p:cNvSpPr/>
          <p:nvPr/>
        </p:nvSpPr>
        <p:spPr>
          <a:xfrm>
            <a:off x="8112208" y="3429000"/>
            <a:ext cx="3291015" cy="401595"/>
          </a:xfrm>
          <a:prstGeom prst="flowChartAlternateProcess">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400" dirty="0">
                <a:solidFill>
                  <a:srgbClr val="006829"/>
                </a:solidFill>
                <a:latin typeface="Cambria" panose="02040503050406030204" pitchFamily="18" charset="0"/>
              </a:rPr>
              <a:t>Phiếu 2</a:t>
            </a:r>
          </a:p>
        </p:txBody>
      </p:sp>
      <p:sp>
        <p:nvSpPr>
          <p:cNvPr id="26" name="Alternate Process 25">
            <a:extLst>
              <a:ext uri="{FF2B5EF4-FFF2-40B4-BE49-F238E27FC236}">
                <a16:creationId xmlns:a16="http://schemas.microsoft.com/office/drawing/2014/main" id="{6CB462BE-378C-9F62-3354-6DB36AA49AD5}"/>
              </a:ext>
            </a:extLst>
          </p:cNvPr>
          <p:cNvSpPr/>
          <p:nvPr/>
        </p:nvSpPr>
        <p:spPr>
          <a:xfrm>
            <a:off x="6623220" y="3951178"/>
            <a:ext cx="4780003" cy="401595"/>
          </a:xfrm>
          <a:prstGeom prst="flowChartAlternateProcess">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400" dirty="0">
                <a:solidFill>
                  <a:srgbClr val="006829"/>
                </a:solidFill>
                <a:latin typeface="Cambria" panose="02040503050406030204" pitchFamily="18" charset="0"/>
              </a:rPr>
              <a:t>Phiếu 3</a:t>
            </a:r>
          </a:p>
        </p:txBody>
      </p:sp>
      <p:sp>
        <p:nvSpPr>
          <p:cNvPr id="27" name="TextBox 26">
            <a:extLst>
              <a:ext uri="{FF2B5EF4-FFF2-40B4-BE49-F238E27FC236}">
                <a16:creationId xmlns:a16="http://schemas.microsoft.com/office/drawing/2014/main" id="{29AB35B5-1BC7-3C51-F709-48CE9E4DB49C}"/>
              </a:ext>
            </a:extLst>
          </p:cNvPr>
          <p:cNvSpPr txBox="1"/>
          <p:nvPr/>
        </p:nvSpPr>
        <p:spPr>
          <a:xfrm>
            <a:off x="256403" y="3027405"/>
            <a:ext cx="6098058" cy="1077218"/>
          </a:xfrm>
          <a:prstGeom prst="rect">
            <a:avLst/>
          </a:prstGeom>
          <a:noFill/>
        </p:spPr>
        <p:txBody>
          <a:bodyPr wrap="square">
            <a:spAutoFit/>
          </a:bodyPr>
          <a:lstStyle/>
          <a:p>
            <a:pPr>
              <a:buNone/>
            </a:pPr>
            <a:r>
              <a:rPr lang="en-VN" sz="1600" dirty="0">
                <a:latin typeface="Cambria" panose="02040503050406030204" pitchFamily="18" charset="0"/>
              </a:rPr>
              <a:t>VD: như hình bên ta thấy các phiếu có điểm đi và điểm đến khác nhau nhưng cùng nằm trên một hành trình từ Pleiku -&gt; KLH Nam lào. Để tối ưu chi phí và nguồn lực ta có thể ghép 3 phiếu lại thành 1 chuyến</a:t>
            </a:r>
          </a:p>
        </p:txBody>
      </p:sp>
    </p:spTree>
    <p:extLst>
      <p:ext uri="{BB962C8B-B14F-4D97-AF65-F5344CB8AC3E}">
        <p14:creationId xmlns:p14="http://schemas.microsoft.com/office/powerpoint/2010/main" val="10836095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6A1C1-93B7-1458-FA1A-647D23ED429E}"/>
              </a:ext>
            </a:extLst>
          </p:cNvPr>
          <p:cNvSpPr>
            <a:spLocks noGrp="1"/>
          </p:cNvSpPr>
          <p:nvPr>
            <p:ph type="title"/>
          </p:nvPr>
        </p:nvSpPr>
        <p:spPr/>
        <p:txBody>
          <a:bodyPr anchor="ctr"/>
          <a:lstStyle/>
          <a:p>
            <a:r>
              <a:rPr lang="vi-VN" dirty="0">
                <a:solidFill>
                  <a:srgbClr val="FF0000"/>
                </a:solidFill>
                <a:latin typeface="Cambria" panose="02040503050406030204" pitchFamily="18" charset="0"/>
              </a:rPr>
              <a:t>CÁC NỘI DUNG CẦN THỐNG NHẤT VỚI NGHIỆP VỤ</a:t>
            </a:r>
          </a:p>
        </p:txBody>
      </p:sp>
      <p:sp>
        <p:nvSpPr>
          <p:cNvPr id="5" name="Alternate Process 4">
            <a:extLst>
              <a:ext uri="{FF2B5EF4-FFF2-40B4-BE49-F238E27FC236}">
                <a16:creationId xmlns:a16="http://schemas.microsoft.com/office/drawing/2014/main" id="{7BB1DD5D-A3DB-2851-28E8-23A5B3801B48}"/>
              </a:ext>
            </a:extLst>
          </p:cNvPr>
          <p:cNvSpPr/>
          <p:nvPr/>
        </p:nvSpPr>
        <p:spPr>
          <a:xfrm>
            <a:off x="2073064" y="2287209"/>
            <a:ext cx="8045871" cy="444302"/>
          </a:xfrm>
          <a:prstGeom prst="flowChartAlternateProcess">
            <a:avLst/>
          </a:prstGeom>
        </p:spPr>
        <p:style>
          <a:lnRef idx="2">
            <a:schemeClr val="accent6"/>
          </a:lnRef>
          <a:fillRef idx="1">
            <a:schemeClr val="lt1"/>
          </a:fillRef>
          <a:effectRef idx="0">
            <a:schemeClr val="accent6"/>
          </a:effectRef>
          <a:fontRef idx="minor">
            <a:schemeClr val="dk1"/>
          </a:fontRef>
        </p:style>
        <p:txBody>
          <a:bodyPr rtlCol="0" anchor="ctr"/>
          <a:lstStyle/>
          <a:p>
            <a:pPr marL="311150"/>
            <a:r>
              <a:rPr lang="vi-VN" dirty="0">
                <a:solidFill>
                  <a:srgbClr val="0B6F2A"/>
                </a:solidFill>
                <a:latin typeface="Cambria" panose="02040503050406030204" pitchFamily="18" charset="0"/>
              </a:rPr>
              <a:t>Thay đổi xe/tài xế</a:t>
            </a:r>
          </a:p>
        </p:txBody>
      </p:sp>
      <p:sp>
        <p:nvSpPr>
          <p:cNvPr id="6" name="Oval 5">
            <a:extLst>
              <a:ext uri="{FF2B5EF4-FFF2-40B4-BE49-F238E27FC236}">
                <a16:creationId xmlns:a16="http://schemas.microsoft.com/office/drawing/2014/main" id="{029F790E-1115-0902-7702-802768B35BED}"/>
              </a:ext>
            </a:extLst>
          </p:cNvPr>
          <p:cNvSpPr/>
          <p:nvPr/>
        </p:nvSpPr>
        <p:spPr>
          <a:xfrm>
            <a:off x="1847091" y="2155846"/>
            <a:ext cx="451946" cy="444302"/>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atin typeface="Cambria" panose="02040503050406030204" pitchFamily="18" charset="0"/>
              </a:rPr>
              <a:t>2</a:t>
            </a:r>
          </a:p>
        </p:txBody>
      </p:sp>
      <p:sp>
        <p:nvSpPr>
          <p:cNvPr id="15" name="Alternate Process 14">
            <a:extLst>
              <a:ext uri="{FF2B5EF4-FFF2-40B4-BE49-F238E27FC236}">
                <a16:creationId xmlns:a16="http://schemas.microsoft.com/office/drawing/2014/main" id="{B595D42D-3472-E7A2-1963-CD7F70EE1779}"/>
              </a:ext>
            </a:extLst>
          </p:cNvPr>
          <p:cNvSpPr/>
          <p:nvPr/>
        </p:nvSpPr>
        <p:spPr>
          <a:xfrm>
            <a:off x="2073063" y="3059112"/>
            <a:ext cx="8045871" cy="444302"/>
          </a:xfrm>
          <a:prstGeom prst="flowChartAlternateProcess">
            <a:avLst/>
          </a:prstGeom>
        </p:spPr>
        <p:style>
          <a:lnRef idx="2">
            <a:schemeClr val="accent6"/>
          </a:lnRef>
          <a:fillRef idx="1">
            <a:schemeClr val="lt1"/>
          </a:fillRef>
          <a:effectRef idx="0">
            <a:schemeClr val="accent6"/>
          </a:effectRef>
          <a:fontRef idx="minor">
            <a:schemeClr val="dk1"/>
          </a:fontRef>
        </p:style>
        <p:txBody>
          <a:bodyPr rtlCol="0" anchor="ctr"/>
          <a:lstStyle/>
          <a:p>
            <a:pPr marL="311150"/>
            <a:r>
              <a:rPr lang="vi-VN" dirty="0">
                <a:solidFill>
                  <a:srgbClr val="0B6F2A"/>
                </a:solidFill>
                <a:latin typeface="Cambria" panose="02040503050406030204" pitchFamily="18" charset="0"/>
              </a:rPr>
              <a:t>Hủy chuyến</a:t>
            </a:r>
          </a:p>
        </p:txBody>
      </p:sp>
      <p:sp>
        <p:nvSpPr>
          <p:cNvPr id="16" name="Oval 15">
            <a:extLst>
              <a:ext uri="{FF2B5EF4-FFF2-40B4-BE49-F238E27FC236}">
                <a16:creationId xmlns:a16="http://schemas.microsoft.com/office/drawing/2014/main" id="{F51E33D5-5B32-4D84-5280-BCEDACE9EEFA}"/>
              </a:ext>
            </a:extLst>
          </p:cNvPr>
          <p:cNvSpPr/>
          <p:nvPr/>
        </p:nvSpPr>
        <p:spPr>
          <a:xfrm>
            <a:off x="1847091" y="2927749"/>
            <a:ext cx="451946" cy="444302"/>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atin typeface="Cambria" panose="02040503050406030204" pitchFamily="18" charset="0"/>
              </a:rPr>
              <a:t>3</a:t>
            </a:r>
          </a:p>
        </p:txBody>
      </p:sp>
      <p:sp>
        <p:nvSpPr>
          <p:cNvPr id="17" name="Alternate Process 16">
            <a:extLst>
              <a:ext uri="{FF2B5EF4-FFF2-40B4-BE49-F238E27FC236}">
                <a16:creationId xmlns:a16="http://schemas.microsoft.com/office/drawing/2014/main" id="{0D04F6B6-5310-7083-5AEE-B8F0F7EE8B8F}"/>
              </a:ext>
            </a:extLst>
          </p:cNvPr>
          <p:cNvSpPr/>
          <p:nvPr/>
        </p:nvSpPr>
        <p:spPr>
          <a:xfrm>
            <a:off x="2073064" y="1515306"/>
            <a:ext cx="8045871" cy="444302"/>
          </a:xfrm>
          <a:prstGeom prst="flowChartAlternateProcess">
            <a:avLst/>
          </a:prstGeom>
        </p:spPr>
        <p:style>
          <a:lnRef idx="2">
            <a:schemeClr val="accent6"/>
          </a:lnRef>
          <a:fillRef idx="1">
            <a:schemeClr val="lt1"/>
          </a:fillRef>
          <a:effectRef idx="0">
            <a:schemeClr val="accent6"/>
          </a:effectRef>
          <a:fontRef idx="minor">
            <a:schemeClr val="dk1"/>
          </a:fontRef>
        </p:style>
        <p:txBody>
          <a:bodyPr rtlCol="0" anchor="ctr"/>
          <a:lstStyle/>
          <a:p>
            <a:pPr marL="311150"/>
            <a:r>
              <a:rPr lang="vi-VN" dirty="0">
                <a:solidFill>
                  <a:srgbClr val="0B6F2A"/>
                </a:solidFill>
                <a:latin typeface="Cambria" panose="02040503050406030204" pitchFamily="18" charset="0"/>
              </a:rPr>
              <a:t>Thay đổi phiếu sau khi đã xếp chuyến</a:t>
            </a:r>
          </a:p>
        </p:txBody>
      </p:sp>
      <p:sp>
        <p:nvSpPr>
          <p:cNvPr id="18" name="Oval 17">
            <a:extLst>
              <a:ext uri="{FF2B5EF4-FFF2-40B4-BE49-F238E27FC236}">
                <a16:creationId xmlns:a16="http://schemas.microsoft.com/office/drawing/2014/main" id="{B74FCC29-CC52-C791-EB44-DBBC30F2C71C}"/>
              </a:ext>
            </a:extLst>
          </p:cNvPr>
          <p:cNvSpPr/>
          <p:nvPr/>
        </p:nvSpPr>
        <p:spPr>
          <a:xfrm>
            <a:off x="1847091" y="1383943"/>
            <a:ext cx="451946" cy="444302"/>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atin typeface="Cambria" panose="02040503050406030204" pitchFamily="18" charset="0"/>
              </a:rPr>
              <a:t>1</a:t>
            </a:r>
          </a:p>
        </p:txBody>
      </p:sp>
      <p:sp>
        <p:nvSpPr>
          <p:cNvPr id="3" name="Alternate Process 2">
            <a:extLst>
              <a:ext uri="{FF2B5EF4-FFF2-40B4-BE49-F238E27FC236}">
                <a16:creationId xmlns:a16="http://schemas.microsoft.com/office/drawing/2014/main" id="{F25435BC-DA44-A8FA-2216-2073DC18B10C}"/>
              </a:ext>
            </a:extLst>
          </p:cNvPr>
          <p:cNvSpPr/>
          <p:nvPr/>
        </p:nvSpPr>
        <p:spPr>
          <a:xfrm>
            <a:off x="2073063" y="3766140"/>
            <a:ext cx="8045871" cy="444302"/>
          </a:xfrm>
          <a:prstGeom prst="flowChartAlternateProcess">
            <a:avLst/>
          </a:prstGeom>
        </p:spPr>
        <p:style>
          <a:lnRef idx="2">
            <a:schemeClr val="accent6"/>
          </a:lnRef>
          <a:fillRef idx="1">
            <a:schemeClr val="lt1"/>
          </a:fillRef>
          <a:effectRef idx="0">
            <a:schemeClr val="accent6"/>
          </a:effectRef>
          <a:fontRef idx="minor">
            <a:schemeClr val="dk1"/>
          </a:fontRef>
        </p:style>
        <p:txBody>
          <a:bodyPr rtlCol="0" anchor="ctr"/>
          <a:lstStyle/>
          <a:p>
            <a:pPr marL="311150"/>
            <a:r>
              <a:rPr lang="vi-VN" dirty="0">
                <a:solidFill>
                  <a:srgbClr val="0B6F2A"/>
                </a:solidFill>
                <a:latin typeface="Cambria" panose="02040503050406030204" pitchFamily="18" charset="0"/>
              </a:rPr>
              <a:t>Trễ giờ / thay đổi thời gian</a:t>
            </a:r>
          </a:p>
        </p:txBody>
      </p:sp>
      <p:sp>
        <p:nvSpPr>
          <p:cNvPr id="4" name="Oval 3">
            <a:extLst>
              <a:ext uri="{FF2B5EF4-FFF2-40B4-BE49-F238E27FC236}">
                <a16:creationId xmlns:a16="http://schemas.microsoft.com/office/drawing/2014/main" id="{3DBFDE9C-943D-F8DB-3AC6-AE5A620AAC10}"/>
              </a:ext>
            </a:extLst>
          </p:cNvPr>
          <p:cNvSpPr/>
          <p:nvPr/>
        </p:nvSpPr>
        <p:spPr>
          <a:xfrm>
            <a:off x="1847091" y="3634777"/>
            <a:ext cx="451946" cy="444302"/>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atin typeface="Cambria" panose="02040503050406030204" pitchFamily="18" charset="0"/>
              </a:rPr>
              <a:t>4</a:t>
            </a:r>
          </a:p>
        </p:txBody>
      </p:sp>
      <p:sp>
        <p:nvSpPr>
          <p:cNvPr id="9" name="Alternate Process 8">
            <a:extLst>
              <a:ext uri="{FF2B5EF4-FFF2-40B4-BE49-F238E27FC236}">
                <a16:creationId xmlns:a16="http://schemas.microsoft.com/office/drawing/2014/main" id="{2206E0AC-2EED-1588-7BB6-8C5EDFC508A8}"/>
              </a:ext>
            </a:extLst>
          </p:cNvPr>
          <p:cNvSpPr/>
          <p:nvPr/>
        </p:nvSpPr>
        <p:spPr>
          <a:xfrm>
            <a:off x="2073063" y="4473168"/>
            <a:ext cx="8045871" cy="444302"/>
          </a:xfrm>
          <a:prstGeom prst="flowChartAlternateProcess">
            <a:avLst/>
          </a:prstGeom>
        </p:spPr>
        <p:style>
          <a:lnRef idx="2">
            <a:schemeClr val="accent6"/>
          </a:lnRef>
          <a:fillRef idx="1">
            <a:schemeClr val="lt1"/>
          </a:fillRef>
          <a:effectRef idx="0">
            <a:schemeClr val="accent6"/>
          </a:effectRef>
          <a:fontRef idx="minor">
            <a:schemeClr val="dk1"/>
          </a:fontRef>
        </p:style>
        <p:txBody>
          <a:bodyPr rtlCol="0" anchor="ctr"/>
          <a:lstStyle/>
          <a:p>
            <a:pPr marL="311150"/>
            <a:r>
              <a:rPr lang="vi-VN" dirty="0">
                <a:solidFill>
                  <a:srgbClr val="0B6F2A"/>
                </a:solidFill>
                <a:latin typeface="Cambria" panose="02040503050406030204" pitchFamily="18" charset="0"/>
              </a:rPr>
              <a:t>Chuyến liên khu vực</a:t>
            </a:r>
          </a:p>
        </p:txBody>
      </p:sp>
      <p:sp>
        <p:nvSpPr>
          <p:cNvPr id="10" name="Oval 9">
            <a:extLst>
              <a:ext uri="{FF2B5EF4-FFF2-40B4-BE49-F238E27FC236}">
                <a16:creationId xmlns:a16="http://schemas.microsoft.com/office/drawing/2014/main" id="{65F8EFC4-C06C-9F3D-DC19-20ABA7BF1688}"/>
              </a:ext>
            </a:extLst>
          </p:cNvPr>
          <p:cNvSpPr/>
          <p:nvPr/>
        </p:nvSpPr>
        <p:spPr>
          <a:xfrm>
            <a:off x="1847091" y="4341805"/>
            <a:ext cx="451946" cy="444302"/>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atin typeface="Cambria" panose="02040503050406030204" pitchFamily="18" charset="0"/>
              </a:rPr>
              <a:t>5</a:t>
            </a:r>
          </a:p>
        </p:txBody>
      </p:sp>
    </p:spTree>
    <p:extLst>
      <p:ext uri="{BB962C8B-B14F-4D97-AF65-F5344CB8AC3E}">
        <p14:creationId xmlns:p14="http://schemas.microsoft.com/office/powerpoint/2010/main" val="36943169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home/claude/work/assets/bg_content.jpe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658368" y="150876"/>
            <a:ext cx="11612880" cy="594360"/>
          </a:xfrm>
          <a:prstGeom prst="rect">
            <a:avLst/>
          </a:prstGeom>
          <a:noFill/>
          <a:ln/>
        </p:spPr>
        <p:txBody>
          <a:bodyPr wrap="square" lIns="0" tIns="0" rIns="0" bIns="0" rtlCol="0" anchor="ctr"/>
          <a:lstStyle/>
          <a:p>
            <a:pPr marL="0" indent="0" algn="ctr">
              <a:buNone/>
            </a:pPr>
            <a:r>
              <a:rPr lang="en-US" sz="1900" b="1" dirty="0">
                <a:solidFill>
                  <a:srgbClr val="FF0000"/>
                </a:solidFill>
                <a:latin typeface="Cambria" pitchFamily="34" charset="0"/>
                <a:ea typeface="Cambria" pitchFamily="34" charset="-122"/>
                <a:cs typeface="Cambria" pitchFamily="34" charset="-120"/>
              </a:rPr>
              <a:t>GIÁM SÁT GPS TRỰC TUYẾN &amp; DASHBOARD TỔNG QUAN</a:t>
            </a:r>
            <a:endParaRPr lang="en-US" sz="1900" dirty="0"/>
          </a:p>
        </p:txBody>
      </p:sp>
      <p:sp>
        <p:nvSpPr>
          <p:cNvPr id="4" name="Shape 1"/>
          <p:cNvSpPr/>
          <p:nvPr/>
        </p:nvSpPr>
        <p:spPr>
          <a:xfrm>
            <a:off x="518008" y="1051560"/>
            <a:ext cx="2651760" cy="960120"/>
          </a:xfrm>
          <a:prstGeom prst="rect">
            <a:avLst/>
          </a:prstGeom>
          <a:solidFill>
            <a:srgbClr val="FFFFFF"/>
          </a:solidFill>
          <a:ln w="15875">
            <a:solidFill>
              <a:srgbClr val="00682B"/>
            </a:solidFill>
            <a:prstDash val="solid"/>
          </a:ln>
        </p:spPr>
        <p:txBody>
          <a:bodyPr/>
          <a:lstStyle/>
          <a:p>
            <a:endParaRPr lang="en-US" sz="1400">
              <a:latin typeface="Cambria" panose="02040503050406030204" pitchFamily="18" charset="0"/>
            </a:endParaRPr>
          </a:p>
        </p:txBody>
      </p:sp>
      <p:sp>
        <p:nvSpPr>
          <p:cNvPr id="5" name="Shape 2"/>
          <p:cNvSpPr/>
          <p:nvPr/>
        </p:nvSpPr>
        <p:spPr>
          <a:xfrm>
            <a:off x="518008" y="1051560"/>
            <a:ext cx="109728" cy="960120"/>
          </a:xfrm>
          <a:prstGeom prst="rect">
            <a:avLst/>
          </a:prstGeom>
          <a:solidFill>
            <a:srgbClr val="00682B"/>
          </a:solidFill>
          <a:ln w="12700">
            <a:solidFill>
              <a:srgbClr val="00682B"/>
            </a:solidFill>
            <a:prstDash val="solid"/>
          </a:ln>
        </p:spPr>
        <p:txBody>
          <a:bodyPr/>
          <a:lstStyle/>
          <a:p>
            <a:endParaRPr lang="en-US" sz="1400">
              <a:latin typeface="Cambria" panose="02040503050406030204" pitchFamily="18" charset="0"/>
            </a:endParaRPr>
          </a:p>
        </p:txBody>
      </p:sp>
      <p:sp>
        <p:nvSpPr>
          <p:cNvPr id="6" name="Text 3"/>
          <p:cNvSpPr/>
          <p:nvPr/>
        </p:nvSpPr>
        <p:spPr>
          <a:xfrm>
            <a:off x="746608" y="1143000"/>
            <a:ext cx="2286000" cy="457200"/>
          </a:xfrm>
          <a:prstGeom prst="rect">
            <a:avLst/>
          </a:prstGeom>
          <a:noFill/>
          <a:ln/>
        </p:spPr>
        <p:txBody>
          <a:bodyPr wrap="square" lIns="0" tIns="0" rIns="0" bIns="0" rtlCol="0" anchor="ctr"/>
          <a:lstStyle/>
          <a:p>
            <a:pPr marL="0" indent="0" algn="l">
              <a:buNone/>
            </a:pPr>
            <a:r>
              <a:rPr lang="en-US" sz="1400" b="1" dirty="0">
                <a:solidFill>
                  <a:srgbClr val="00682B"/>
                </a:solidFill>
                <a:latin typeface="Cambria" panose="02040503050406030204" pitchFamily="18" charset="0"/>
                <a:ea typeface="Cambria" pitchFamily="34" charset="-122"/>
                <a:cs typeface="Cambria" pitchFamily="34" charset="-120"/>
              </a:rPr>
              <a:t>Tổng số xe</a:t>
            </a:r>
            <a:endParaRPr lang="en-US" sz="1400" dirty="0">
              <a:latin typeface="Cambria" panose="02040503050406030204" pitchFamily="18" charset="0"/>
            </a:endParaRPr>
          </a:p>
        </p:txBody>
      </p:sp>
      <p:sp>
        <p:nvSpPr>
          <p:cNvPr id="7" name="Text 4"/>
          <p:cNvSpPr/>
          <p:nvPr/>
        </p:nvSpPr>
        <p:spPr>
          <a:xfrm>
            <a:off x="746608" y="1581912"/>
            <a:ext cx="2286000" cy="365760"/>
          </a:xfrm>
          <a:prstGeom prst="rect">
            <a:avLst/>
          </a:prstGeom>
          <a:noFill/>
          <a:ln/>
        </p:spPr>
        <p:txBody>
          <a:bodyPr wrap="square" lIns="0" tIns="0" rIns="0" bIns="0" rtlCol="0" anchor="ctr"/>
          <a:lstStyle/>
          <a:p>
            <a:pPr marL="0" indent="0" algn="l">
              <a:buNone/>
            </a:pPr>
            <a:r>
              <a:rPr lang="en-US" sz="1400" dirty="0">
                <a:solidFill>
                  <a:srgbClr val="444444"/>
                </a:solidFill>
                <a:latin typeface="Cambria" panose="02040503050406030204" pitchFamily="18" charset="0"/>
                <a:ea typeface="Cambria" pitchFamily="34" charset="-122"/>
                <a:cs typeface="Cambria" pitchFamily="34" charset="-120"/>
              </a:rPr>
              <a:t>Toàn bộ đội xe KLH</a:t>
            </a:r>
            <a:endParaRPr lang="en-US" sz="1400" dirty="0">
              <a:latin typeface="Cambria" panose="02040503050406030204" pitchFamily="18" charset="0"/>
            </a:endParaRPr>
          </a:p>
        </p:txBody>
      </p:sp>
      <p:sp>
        <p:nvSpPr>
          <p:cNvPr id="8" name="Shape 5"/>
          <p:cNvSpPr/>
          <p:nvPr/>
        </p:nvSpPr>
        <p:spPr>
          <a:xfrm>
            <a:off x="3352648" y="1051560"/>
            <a:ext cx="2651760" cy="960120"/>
          </a:xfrm>
          <a:prstGeom prst="rect">
            <a:avLst/>
          </a:prstGeom>
          <a:solidFill>
            <a:srgbClr val="FFFFFF"/>
          </a:solidFill>
          <a:ln w="15875">
            <a:solidFill>
              <a:srgbClr val="01529C"/>
            </a:solidFill>
            <a:prstDash val="solid"/>
          </a:ln>
        </p:spPr>
        <p:txBody>
          <a:bodyPr/>
          <a:lstStyle/>
          <a:p>
            <a:endParaRPr lang="en-US" sz="1400">
              <a:latin typeface="Cambria" panose="02040503050406030204" pitchFamily="18" charset="0"/>
            </a:endParaRPr>
          </a:p>
        </p:txBody>
      </p:sp>
      <p:sp>
        <p:nvSpPr>
          <p:cNvPr id="9" name="Shape 6"/>
          <p:cNvSpPr/>
          <p:nvPr/>
        </p:nvSpPr>
        <p:spPr>
          <a:xfrm>
            <a:off x="3352648" y="1051560"/>
            <a:ext cx="109728" cy="960120"/>
          </a:xfrm>
          <a:prstGeom prst="rect">
            <a:avLst/>
          </a:prstGeom>
          <a:solidFill>
            <a:srgbClr val="01529C"/>
          </a:solidFill>
          <a:ln w="12700">
            <a:solidFill>
              <a:srgbClr val="01529C"/>
            </a:solidFill>
            <a:prstDash val="solid"/>
          </a:ln>
        </p:spPr>
        <p:txBody>
          <a:bodyPr/>
          <a:lstStyle/>
          <a:p>
            <a:endParaRPr lang="en-US" sz="1400">
              <a:latin typeface="Cambria" panose="02040503050406030204" pitchFamily="18" charset="0"/>
            </a:endParaRPr>
          </a:p>
        </p:txBody>
      </p:sp>
      <p:sp>
        <p:nvSpPr>
          <p:cNvPr id="10" name="Text 7"/>
          <p:cNvSpPr/>
          <p:nvPr/>
        </p:nvSpPr>
        <p:spPr>
          <a:xfrm>
            <a:off x="3581248" y="1143000"/>
            <a:ext cx="2286000" cy="457200"/>
          </a:xfrm>
          <a:prstGeom prst="rect">
            <a:avLst/>
          </a:prstGeom>
          <a:noFill/>
          <a:ln/>
        </p:spPr>
        <p:txBody>
          <a:bodyPr wrap="square" lIns="0" tIns="0" rIns="0" bIns="0" rtlCol="0" anchor="ctr"/>
          <a:lstStyle/>
          <a:p>
            <a:pPr marL="0" indent="0" algn="l">
              <a:buNone/>
            </a:pPr>
            <a:r>
              <a:rPr lang="en-US" sz="1400" b="1" dirty="0">
                <a:solidFill>
                  <a:srgbClr val="01529C"/>
                </a:solidFill>
                <a:latin typeface="Cambria" panose="02040503050406030204" pitchFamily="18" charset="0"/>
                <a:ea typeface="Cambria" pitchFamily="34" charset="-122"/>
                <a:cs typeface="Cambria" pitchFamily="34" charset="-120"/>
              </a:rPr>
              <a:t>Xe đang hoạt động</a:t>
            </a:r>
            <a:endParaRPr lang="en-US" sz="1400" dirty="0">
              <a:latin typeface="Cambria" panose="02040503050406030204" pitchFamily="18" charset="0"/>
            </a:endParaRPr>
          </a:p>
        </p:txBody>
      </p:sp>
      <p:sp>
        <p:nvSpPr>
          <p:cNvPr id="11" name="Text 8"/>
          <p:cNvSpPr/>
          <p:nvPr/>
        </p:nvSpPr>
        <p:spPr>
          <a:xfrm>
            <a:off x="3581248" y="1581912"/>
            <a:ext cx="2286000" cy="365760"/>
          </a:xfrm>
          <a:prstGeom prst="rect">
            <a:avLst/>
          </a:prstGeom>
          <a:noFill/>
          <a:ln/>
        </p:spPr>
        <p:txBody>
          <a:bodyPr wrap="square" lIns="0" tIns="0" rIns="0" bIns="0" rtlCol="0" anchor="ctr"/>
          <a:lstStyle/>
          <a:p>
            <a:pPr marL="0" indent="0" algn="l">
              <a:buNone/>
            </a:pPr>
            <a:r>
              <a:rPr lang="en-US" sz="1400" dirty="0">
                <a:solidFill>
                  <a:srgbClr val="444444"/>
                </a:solidFill>
                <a:latin typeface="Cambria" panose="02040503050406030204" pitchFamily="18" charset="0"/>
                <a:ea typeface="Cambria" pitchFamily="34" charset="-122"/>
                <a:cs typeface="Cambria" pitchFamily="34" charset="-120"/>
              </a:rPr>
              <a:t>Realtime GPS</a:t>
            </a:r>
            <a:endParaRPr lang="en-US" sz="1400" dirty="0">
              <a:latin typeface="Cambria" panose="02040503050406030204" pitchFamily="18" charset="0"/>
            </a:endParaRPr>
          </a:p>
        </p:txBody>
      </p:sp>
      <p:sp>
        <p:nvSpPr>
          <p:cNvPr id="12" name="Shape 9"/>
          <p:cNvSpPr/>
          <p:nvPr/>
        </p:nvSpPr>
        <p:spPr>
          <a:xfrm>
            <a:off x="6187288" y="1051560"/>
            <a:ext cx="2651760" cy="960120"/>
          </a:xfrm>
          <a:prstGeom prst="rect">
            <a:avLst/>
          </a:prstGeom>
          <a:solidFill>
            <a:srgbClr val="FFFFFF"/>
          </a:solidFill>
          <a:ln w="15875">
            <a:solidFill>
              <a:srgbClr val="E67E22"/>
            </a:solidFill>
            <a:prstDash val="solid"/>
          </a:ln>
        </p:spPr>
        <p:txBody>
          <a:bodyPr/>
          <a:lstStyle/>
          <a:p>
            <a:endParaRPr lang="en-US" sz="1400">
              <a:latin typeface="Cambria" panose="02040503050406030204" pitchFamily="18" charset="0"/>
            </a:endParaRPr>
          </a:p>
        </p:txBody>
      </p:sp>
      <p:sp>
        <p:nvSpPr>
          <p:cNvPr id="13" name="Shape 10"/>
          <p:cNvSpPr/>
          <p:nvPr/>
        </p:nvSpPr>
        <p:spPr>
          <a:xfrm>
            <a:off x="6187288" y="1051560"/>
            <a:ext cx="109728" cy="960120"/>
          </a:xfrm>
          <a:prstGeom prst="rect">
            <a:avLst/>
          </a:prstGeom>
          <a:solidFill>
            <a:srgbClr val="E67E22"/>
          </a:solidFill>
          <a:ln w="12700">
            <a:solidFill>
              <a:srgbClr val="E67E22"/>
            </a:solidFill>
            <a:prstDash val="solid"/>
          </a:ln>
        </p:spPr>
        <p:txBody>
          <a:bodyPr/>
          <a:lstStyle/>
          <a:p>
            <a:endParaRPr lang="en-US" sz="1400">
              <a:latin typeface="Cambria" panose="02040503050406030204" pitchFamily="18" charset="0"/>
            </a:endParaRPr>
          </a:p>
        </p:txBody>
      </p:sp>
      <p:sp>
        <p:nvSpPr>
          <p:cNvPr id="14" name="Text 11"/>
          <p:cNvSpPr/>
          <p:nvPr/>
        </p:nvSpPr>
        <p:spPr>
          <a:xfrm>
            <a:off x="6415888" y="1143000"/>
            <a:ext cx="2286000" cy="457200"/>
          </a:xfrm>
          <a:prstGeom prst="rect">
            <a:avLst/>
          </a:prstGeom>
          <a:noFill/>
          <a:ln/>
        </p:spPr>
        <p:txBody>
          <a:bodyPr wrap="square" lIns="0" tIns="0" rIns="0" bIns="0" rtlCol="0" anchor="ctr"/>
          <a:lstStyle/>
          <a:p>
            <a:pPr marL="0" indent="0" algn="l">
              <a:buNone/>
            </a:pPr>
            <a:r>
              <a:rPr lang="en-US" sz="1400" b="1" dirty="0">
                <a:solidFill>
                  <a:srgbClr val="E67E22"/>
                </a:solidFill>
                <a:latin typeface="Cambria" panose="02040503050406030204" pitchFamily="18" charset="0"/>
                <a:ea typeface="Cambria" pitchFamily="34" charset="-122"/>
                <a:cs typeface="Cambria" pitchFamily="34" charset="-120"/>
              </a:rPr>
              <a:t>Yêu cầu chờ duyệt</a:t>
            </a:r>
            <a:endParaRPr lang="en-US" sz="1400" dirty="0">
              <a:latin typeface="Cambria" panose="02040503050406030204" pitchFamily="18" charset="0"/>
            </a:endParaRPr>
          </a:p>
        </p:txBody>
      </p:sp>
      <p:sp>
        <p:nvSpPr>
          <p:cNvPr id="15" name="Text 12"/>
          <p:cNvSpPr/>
          <p:nvPr/>
        </p:nvSpPr>
        <p:spPr>
          <a:xfrm>
            <a:off x="6415888" y="1581912"/>
            <a:ext cx="2286000" cy="365760"/>
          </a:xfrm>
          <a:prstGeom prst="rect">
            <a:avLst/>
          </a:prstGeom>
          <a:noFill/>
          <a:ln/>
        </p:spPr>
        <p:txBody>
          <a:bodyPr wrap="square" lIns="0" tIns="0" rIns="0" bIns="0" rtlCol="0" anchor="ctr"/>
          <a:lstStyle/>
          <a:p>
            <a:pPr marL="0" indent="0" algn="l">
              <a:buNone/>
            </a:pPr>
            <a:r>
              <a:rPr lang="en-US" sz="1400" dirty="0">
                <a:solidFill>
                  <a:srgbClr val="444444"/>
                </a:solidFill>
                <a:latin typeface="Cambria" panose="02040503050406030204" pitchFamily="18" charset="0"/>
                <a:ea typeface="Cambria" pitchFamily="34" charset="-122"/>
                <a:cs typeface="Cambria" pitchFamily="34" charset="-120"/>
              </a:rPr>
              <a:t>Cần xử lý ngay</a:t>
            </a:r>
            <a:endParaRPr lang="en-US" sz="1400" dirty="0">
              <a:latin typeface="Cambria" panose="02040503050406030204" pitchFamily="18" charset="0"/>
            </a:endParaRPr>
          </a:p>
        </p:txBody>
      </p:sp>
      <p:sp>
        <p:nvSpPr>
          <p:cNvPr id="16" name="Shape 13"/>
          <p:cNvSpPr/>
          <p:nvPr/>
        </p:nvSpPr>
        <p:spPr>
          <a:xfrm>
            <a:off x="9021928" y="1051560"/>
            <a:ext cx="2651760" cy="960120"/>
          </a:xfrm>
          <a:prstGeom prst="rect">
            <a:avLst/>
          </a:prstGeom>
          <a:solidFill>
            <a:srgbClr val="FFFFFF"/>
          </a:solidFill>
          <a:ln w="15875">
            <a:solidFill>
              <a:srgbClr val="C00000"/>
            </a:solidFill>
            <a:prstDash val="solid"/>
          </a:ln>
        </p:spPr>
        <p:txBody>
          <a:bodyPr/>
          <a:lstStyle/>
          <a:p>
            <a:endParaRPr lang="en-US" sz="1400">
              <a:latin typeface="Cambria" panose="02040503050406030204" pitchFamily="18" charset="0"/>
            </a:endParaRPr>
          </a:p>
        </p:txBody>
      </p:sp>
      <p:sp>
        <p:nvSpPr>
          <p:cNvPr id="17" name="Shape 14"/>
          <p:cNvSpPr/>
          <p:nvPr/>
        </p:nvSpPr>
        <p:spPr>
          <a:xfrm>
            <a:off x="9021928" y="1051560"/>
            <a:ext cx="109728" cy="960120"/>
          </a:xfrm>
          <a:prstGeom prst="rect">
            <a:avLst/>
          </a:prstGeom>
          <a:solidFill>
            <a:srgbClr val="C00000"/>
          </a:solidFill>
          <a:ln w="12700">
            <a:solidFill>
              <a:srgbClr val="C00000"/>
            </a:solidFill>
            <a:prstDash val="solid"/>
          </a:ln>
        </p:spPr>
        <p:txBody>
          <a:bodyPr/>
          <a:lstStyle/>
          <a:p>
            <a:endParaRPr lang="en-US" sz="1400">
              <a:latin typeface="Cambria" panose="02040503050406030204" pitchFamily="18" charset="0"/>
            </a:endParaRPr>
          </a:p>
        </p:txBody>
      </p:sp>
      <p:sp>
        <p:nvSpPr>
          <p:cNvPr id="18" name="Text 15"/>
          <p:cNvSpPr/>
          <p:nvPr/>
        </p:nvSpPr>
        <p:spPr>
          <a:xfrm>
            <a:off x="9250528" y="1143000"/>
            <a:ext cx="2286000" cy="457200"/>
          </a:xfrm>
          <a:prstGeom prst="rect">
            <a:avLst/>
          </a:prstGeom>
          <a:noFill/>
          <a:ln/>
        </p:spPr>
        <p:txBody>
          <a:bodyPr wrap="square" lIns="0" tIns="0" rIns="0" bIns="0" rtlCol="0" anchor="ctr"/>
          <a:lstStyle/>
          <a:p>
            <a:pPr marL="0" indent="0" algn="l">
              <a:buNone/>
            </a:pPr>
            <a:r>
              <a:rPr lang="en-US" sz="1400" b="1" dirty="0">
                <a:solidFill>
                  <a:srgbClr val="C00000"/>
                </a:solidFill>
                <a:latin typeface="Cambria" panose="02040503050406030204" pitchFamily="18" charset="0"/>
                <a:ea typeface="Cambria" pitchFamily="34" charset="-122"/>
                <a:cs typeface="Cambria" pitchFamily="34" charset="-120"/>
              </a:rPr>
              <a:t>Xe quá hạn đăng kiểm</a:t>
            </a:r>
            <a:endParaRPr lang="en-US" sz="1400" dirty="0">
              <a:latin typeface="Cambria" panose="02040503050406030204" pitchFamily="18" charset="0"/>
            </a:endParaRPr>
          </a:p>
        </p:txBody>
      </p:sp>
      <p:sp>
        <p:nvSpPr>
          <p:cNvPr id="19" name="Text 16"/>
          <p:cNvSpPr/>
          <p:nvPr/>
        </p:nvSpPr>
        <p:spPr>
          <a:xfrm>
            <a:off x="9250528" y="1581912"/>
            <a:ext cx="2286000" cy="365760"/>
          </a:xfrm>
          <a:prstGeom prst="rect">
            <a:avLst/>
          </a:prstGeom>
          <a:noFill/>
          <a:ln/>
        </p:spPr>
        <p:txBody>
          <a:bodyPr wrap="square" lIns="0" tIns="0" rIns="0" bIns="0" rtlCol="0" anchor="ctr"/>
          <a:lstStyle/>
          <a:p>
            <a:pPr marL="0" indent="0" algn="l">
              <a:buNone/>
            </a:pPr>
            <a:r>
              <a:rPr lang="en-US" sz="1400" dirty="0">
                <a:solidFill>
                  <a:srgbClr val="444444"/>
                </a:solidFill>
                <a:latin typeface="Cambria" panose="02040503050406030204" pitchFamily="18" charset="0"/>
                <a:ea typeface="Cambria" pitchFamily="34" charset="-122"/>
                <a:cs typeface="Cambria" pitchFamily="34" charset="-120"/>
              </a:rPr>
              <a:t>Cảnh báo kỹ thuật</a:t>
            </a:r>
            <a:endParaRPr lang="en-US" sz="1400" dirty="0">
              <a:latin typeface="Cambria" panose="02040503050406030204" pitchFamily="18" charset="0"/>
            </a:endParaRPr>
          </a:p>
        </p:txBody>
      </p:sp>
      <p:sp>
        <p:nvSpPr>
          <p:cNvPr id="20" name="Shape 17"/>
          <p:cNvSpPr/>
          <p:nvPr/>
        </p:nvSpPr>
        <p:spPr>
          <a:xfrm>
            <a:off x="518008" y="2286000"/>
            <a:ext cx="5481288" cy="3840480"/>
          </a:xfrm>
          <a:prstGeom prst="rect">
            <a:avLst/>
          </a:prstGeom>
          <a:solidFill>
            <a:srgbClr val="E8F5E9"/>
          </a:solidFill>
          <a:ln w="12700">
            <a:solidFill>
              <a:srgbClr val="00682B"/>
            </a:solidFill>
            <a:prstDash val="solid"/>
          </a:ln>
        </p:spPr>
        <p:txBody>
          <a:bodyPr/>
          <a:lstStyle/>
          <a:p>
            <a:endParaRPr lang="en-US" sz="1400">
              <a:latin typeface="Cambria" panose="02040503050406030204" pitchFamily="18" charset="0"/>
            </a:endParaRPr>
          </a:p>
        </p:txBody>
      </p:sp>
      <p:sp>
        <p:nvSpPr>
          <p:cNvPr id="21" name="Text 18"/>
          <p:cNvSpPr/>
          <p:nvPr/>
        </p:nvSpPr>
        <p:spPr>
          <a:xfrm>
            <a:off x="690565" y="2423160"/>
            <a:ext cx="5109675" cy="365760"/>
          </a:xfrm>
          <a:prstGeom prst="rect">
            <a:avLst/>
          </a:prstGeom>
          <a:noFill/>
          <a:ln/>
        </p:spPr>
        <p:txBody>
          <a:bodyPr wrap="square" lIns="0" tIns="0" rIns="0" bIns="0" rtlCol="0" anchor="ctr"/>
          <a:lstStyle/>
          <a:p>
            <a:pPr marL="0" indent="0">
              <a:buNone/>
            </a:pPr>
            <a:r>
              <a:rPr lang="en-US" sz="1400" b="1" dirty="0">
                <a:solidFill>
                  <a:srgbClr val="00682B"/>
                </a:solidFill>
                <a:latin typeface="Cambria" panose="02040503050406030204" pitchFamily="18" charset="0"/>
                <a:ea typeface="Cambria" pitchFamily="34" charset="-122"/>
                <a:cs typeface="Cambria" pitchFamily="34" charset="-120"/>
              </a:rPr>
              <a:t>BẢN ĐỒ GIÁM SÁT GPS REALTIME</a:t>
            </a:r>
            <a:endParaRPr lang="en-US" sz="1400" dirty="0">
              <a:latin typeface="Cambria" panose="02040503050406030204" pitchFamily="18" charset="0"/>
            </a:endParaRPr>
          </a:p>
        </p:txBody>
      </p:sp>
      <p:sp>
        <p:nvSpPr>
          <p:cNvPr id="22" name="Text 19"/>
          <p:cNvSpPr/>
          <p:nvPr/>
        </p:nvSpPr>
        <p:spPr>
          <a:xfrm>
            <a:off x="690565" y="2788920"/>
            <a:ext cx="5109675" cy="594360"/>
          </a:xfrm>
          <a:prstGeom prst="rect">
            <a:avLst/>
          </a:prstGeom>
          <a:noFill/>
          <a:ln/>
        </p:spPr>
        <p:txBody>
          <a:bodyPr wrap="square" lIns="0" tIns="0" rIns="0" bIns="0" rtlCol="0" anchor="ctr"/>
          <a:lstStyle/>
          <a:p>
            <a:pPr marL="0" indent="0">
              <a:lnSpc>
                <a:spcPct val="115000"/>
              </a:lnSpc>
              <a:buNone/>
            </a:pPr>
            <a:r>
              <a:rPr lang="en-US" sz="1400" dirty="0">
                <a:solidFill>
                  <a:srgbClr val="444444"/>
                </a:solidFill>
                <a:latin typeface="Cambria" panose="02040503050406030204" pitchFamily="18" charset="0"/>
                <a:ea typeface="Cambria" pitchFamily="34" charset="-122"/>
                <a:cs typeface="Cambria" pitchFamily="34" charset="-120"/>
              </a:rPr>
              <a:t>Tích hợp GPS Smartlog / Tracksolid Pro – theo dõi vị trí, vận tốc, trạng thái khóa điện (ACC On/Off) của từng phương tiện.</a:t>
            </a:r>
            <a:endParaRPr lang="en-US" sz="1400" dirty="0">
              <a:latin typeface="Cambria" panose="02040503050406030204" pitchFamily="18" charset="0"/>
            </a:endParaRPr>
          </a:p>
        </p:txBody>
      </p:sp>
      <p:sp>
        <p:nvSpPr>
          <p:cNvPr id="23" name="Text 20"/>
          <p:cNvSpPr/>
          <p:nvPr/>
        </p:nvSpPr>
        <p:spPr>
          <a:xfrm>
            <a:off x="650401" y="3520440"/>
            <a:ext cx="371613" cy="365760"/>
          </a:xfrm>
          <a:prstGeom prst="rect">
            <a:avLst/>
          </a:prstGeom>
          <a:noFill/>
          <a:ln/>
        </p:spPr>
        <p:txBody>
          <a:bodyPr wrap="square" lIns="0" tIns="0" rIns="0" bIns="0" rtlCol="0" anchor="ctr"/>
          <a:lstStyle/>
          <a:p>
            <a:pPr marL="0" indent="0">
              <a:buNone/>
            </a:pPr>
            <a:r>
              <a:rPr lang="en-US" sz="1400" dirty="0">
                <a:solidFill>
                  <a:srgbClr val="00682B"/>
                </a:solidFill>
                <a:latin typeface="Cambria" panose="02040503050406030204" pitchFamily="18" charset="0"/>
                <a:ea typeface="Arial" pitchFamily="34" charset="-122"/>
                <a:cs typeface="Arial" pitchFamily="34" charset="-120"/>
              </a:rPr>
              <a:t>●</a:t>
            </a:r>
            <a:endParaRPr lang="en-US" sz="1400" dirty="0">
              <a:latin typeface="Cambria" panose="02040503050406030204" pitchFamily="18" charset="0"/>
            </a:endParaRPr>
          </a:p>
        </p:txBody>
      </p:sp>
      <p:sp>
        <p:nvSpPr>
          <p:cNvPr id="24" name="Text 21"/>
          <p:cNvSpPr/>
          <p:nvPr/>
        </p:nvSpPr>
        <p:spPr>
          <a:xfrm>
            <a:off x="1134863" y="3520440"/>
            <a:ext cx="4645159" cy="365760"/>
          </a:xfrm>
          <a:prstGeom prst="rect">
            <a:avLst/>
          </a:prstGeom>
          <a:noFill/>
          <a:ln/>
        </p:spPr>
        <p:txBody>
          <a:bodyPr wrap="square" lIns="0" tIns="0" rIns="0" bIns="0" rtlCol="0" anchor="ctr"/>
          <a:lstStyle/>
          <a:p>
            <a:pPr marL="0" indent="0">
              <a:buNone/>
            </a:pPr>
            <a:r>
              <a:rPr lang="en-US" sz="1400" dirty="0">
                <a:solidFill>
                  <a:srgbClr val="444444"/>
                </a:solidFill>
                <a:latin typeface="Cambria" panose="02040503050406030204" pitchFamily="18" charset="0"/>
                <a:ea typeface="Cambria" pitchFamily="34" charset="-122"/>
                <a:cs typeface="Cambria" pitchFamily="34" charset="-120"/>
              </a:rPr>
              <a:t>Xanh lá – Xe đang di chuyển (Moving)</a:t>
            </a:r>
            <a:endParaRPr lang="en-US" sz="1400" dirty="0">
              <a:latin typeface="Cambria" panose="02040503050406030204" pitchFamily="18" charset="0"/>
            </a:endParaRPr>
          </a:p>
        </p:txBody>
      </p:sp>
      <p:sp>
        <p:nvSpPr>
          <p:cNvPr id="25" name="Text 22"/>
          <p:cNvSpPr/>
          <p:nvPr/>
        </p:nvSpPr>
        <p:spPr>
          <a:xfrm>
            <a:off x="650401" y="3931920"/>
            <a:ext cx="371613" cy="365760"/>
          </a:xfrm>
          <a:prstGeom prst="rect">
            <a:avLst/>
          </a:prstGeom>
          <a:noFill/>
          <a:ln/>
        </p:spPr>
        <p:txBody>
          <a:bodyPr wrap="square" lIns="0" tIns="0" rIns="0" bIns="0" rtlCol="0" anchor="ctr"/>
          <a:lstStyle/>
          <a:p>
            <a:pPr marL="0" indent="0">
              <a:buNone/>
            </a:pPr>
            <a:r>
              <a:rPr lang="en-US" sz="1400" dirty="0">
                <a:solidFill>
                  <a:srgbClr val="D4A017"/>
                </a:solidFill>
                <a:latin typeface="Cambria" panose="02040503050406030204" pitchFamily="18" charset="0"/>
                <a:ea typeface="Arial" pitchFamily="34" charset="-122"/>
                <a:cs typeface="Arial" pitchFamily="34" charset="-120"/>
              </a:rPr>
              <a:t>●</a:t>
            </a:r>
            <a:endParaRPr lang="en-US" sz="1400" dirty="0">
              <a:latin typeface="Cambria" panose="02040503050406030204" pitchFamily="18" charset="0"/>
            </a:endParaRPr>
          </a:p>
        </p:txBody>
      </p:sp>
      <p:sp>
        <p:nvSpPr>
          <p:cNvPr id="26" name="Text 23"/>
          <p:cNvSpPr/>
          <p:nvPr/>
        </p:nvSpPr>
        <p:spPr>
          <a:xfrm>
            <a:off x="1134863" y="3931920"/>
            <a:ext cx="4645159" cy="365760"/>
          </a:xfrm>
          <a:prstGeom prst="rect">
            <a:avLst/>
          </a:prstGeom>
          <a:noFill/>
          <a:ln/>
        </p:spPr>
        <p:txBody>
          <a:bodyPr wrap="square" lIns="0" tIns="0" rIns="0" bIns="0" rtlCol="0" anchor="ctr"/>
          <a:lstStyle/>
          <a:p>
            <a:pPr marL="0" indent="0">
              <a:buNone/>
            </a:pPr>
            <a:r>
              <a:rPr lang="en-US" sz="1400" dirty="0">
                <a:solidFill>
                  <a:srgbClr val="444444"/>
                </a:solidFill>
                <a:latin typeface="Cambria" panose="02040503050406030204" pitchFamily="18" charset="0"/>
                <a:ea typeface="Cambria" pitchFamily="34" charset="-122"/>
                <a:cs typeface="Cambria" pitchFamily="34" charset="-120"/>
              </a:rPr>
              <a:t>Vàng – Xe đang dừng đỗ nổ máy (Idling)</a:t>
            </a:r>
            <a:endParaRPr lang="en-US" sz="1400" dirty="0">
              <a:latin typeface="Cambria" panose="02040503050406030204" pitchFamily="18" charset="0"/>
            </a:endParaRPr>
          </a:p>
        </p:txBody>
      </p:sp>
      <p:sp>
        <p:nvSpPr>
          <p:cNvPr id="27" name="Text 24"/>
          <p:cNvSpPr/>
          <p:nvPr/>
        </p:nvSpPr>
        <p:spPr>
          <a:xfrm>
            <a:off x="650401" y="4343400"/>
            <a:ext cx="371613" cy="365760"/>
          </a:xfrm>
          <a:prstGeom prst="rect">
            <a:avLst/>
          </a:prstGeom>
          <a:noFill/>
          <a:ln/>
        </p:spPr>
        <p:txBody>
          <a:bodyPr wrap="square" lIns="0" tIns="0" rIns="0" bIns="0" rtlCol="0" anchor="ctr"/>
          <a:lstStyle/>
          <a:p>
            <a:pPr marL="0" indent="0">
              <a:buNone/>
            </a:pPr>
            <a:r>
              <a:rPr lang="en-US" sz="1400" dirty="0">
                <a:solidFill>
                  <a:srgbClr val="808080"/>
                </a:solidFill>
                <a:latin typeface="Cambria" panose="02040503050406030204" pitchFamily="18" charset="0"/>
                <a:ea typeface="Arial" pitchFamily="34" charset="-122"/>
                <a:cs typeface="Arial" pitchFamily="34" charset="-120"/>
              </a:rPr>
              <a:t>●</a:t>
            </a:r>
            <a:endParaRPr lang="en-US" sz="1400" dirty="0">
              <a:latin typeface="Cambria" panose="02040503050406030204" pitchFamily="18" charset="0"/>
            </a:endParaRPr>
          </a:p>
        </p:txBody>
      </p:sp>
      <p:sp>
        <p:nvSpPr>
          <p:cNvPr id="28" name="Text 25"/>
          <p:cNvSpPr/>
          <p:nvPr/>
        </p:nvSpPr>
        <p:spPr>
          <a:xfrm>
            <a:off x="1134863" y="4343400"/>
            <a:ext cx="4645159" cy="365760"/>
          </a:xfrm>
          <a:prstGeom prst="rect">
            <a:avLst/>
          </a:prstGeom>
          <a:noFill/>
          <a:ln/>
        </p:spPr>
        <p:txBody>
          <a:bodyPr wrap="square" lIns="0" tIns="0" rIns="0" bIns="0" rtlCol="0" anchor="ctr"/>
          <a:lstStyle/>
          <a:p>
            <a:pPr marL="0" indent="0">
              <a:buNone/>
            </a:pPr>
            <a:r>
              <a:rPr lang="en-US" sz="1400" dirty="0">
                <a:solidFill>
                  <a:srgbClr val="444444"/>
                </a:solidFill>
                <a:latin typeface="Cambria" panose="02040503050406030204" pitchFamily="18" charset="0"/>
                <a:ea typeface="Cambria" pitchFamily="34" charset="-122"/>
                <a:cs typeface="Cambria" pitchFamily="34" charset="-120"/>
              </a:rPr>
              <a:t>Xám – Xe tắt máy (Stopped / Offline)</a:t>
            </a:r>
            <a:endParaRPr lang="en-US" sz="1400" dirty="0">
              <a:latin typeface="Cambria" panose="02040503050406030204" pitchFamily="18" charset="0"/>
            </a:endParaRPr>
          </a:p>
        </p:txBody>
      </p:sp>
      <p:sp>
        <p:nvSpPr>
          <p:cNvPr id="29" name="Text 26"/>
          <p:cNvSpPr/>
          <p:nvPr/>
        </p:nvSpPr>
        <p:spPr>
          <a:xfrm>
            <a:off x="690565" y="4937760"/>
            <a:ext cx="5109675" cy="365760"/>
          </a:xfrm>
          <a:prstGeom prst="rect">
            <a:avLst/>
          </a:prstGeom>
          <a:noFill/>
          <a:ln/>
        </p:spPr>
        <p:txBody>
          <a:bodyPr wrap="square" lIns="0" tIns="0" rIns="0" bIns="0" rtlCol="0" anchor="ctr"/>
          <a:lstStyle/>
          <a:p>
            <a:pPr marL="0" indent="0">
              <a:buNone/>
            </a:pPr>
            <a:r>
              <a:rPr lang="en-US" sz="1300" i="1" dirty="0">
                <a:solidFill>
                  <a:srgbClr val="444444"/>
                </a:solidFill>
                <a:latin typeface="Cambria" panose="02040503050406030204" pitchFamily="18" charset="0"/>
                <a:ea typeface="Cambria" pitchFamily="34" charset="-122"/>
                <a:cs typeface="Cambria" pitchFamily="34" charset="-120"/>
              </a:rPr>
              <a:t>Tìm nhanh theo biển số xe hoặc tên tài xế để định vị tức thì trên bản đồ.</a:t>
            </a:r>
            <a:endParaRPr lang="en-US" sz="1300" dirty="0">
              <a:latin typeface="Cambria" panose="02040503050406030204" pitchFamily="18" charset="0"/>
            </a:endParaRPr>
          </a:p>
        </p:txBody>
      </p:sp>
      <p:sp>
        <p:nvSpPr>
          <p:cNvPr id="30" name="Text 27"/>
          <p:cNvSpPr/>
          <p:nvPr/>
        </p:nvSpPr>
        <p:spPr>
          <a:xfrm>
            <a:off x="690565" y="5349240"/>
            <a:ext cx="5109675" cy="548640"/>
          </a:xfrm>
          <a:prstGeom prst="rect">
            <a:avLst/>
          </a:prstGeom>
          <a:noFill/>
          <a:ln/>
        </p:spPr>
        <p:txBody>
          <a:bodyPr wrap="square" lIns="0" tIns="0" rIns="0" bIns="0" rtlCol="0" anchor="ctr"/>
          <a:lstStyle/>
          <a:p>
            <a:pPr marL="0" indent="0">
              <a:lnSpc>
                <a:spcPct val="110000"/>
              </a:lnSpc>
              <a:buNone/>
            </a:pPr>
            <a:r>
              <a:rPr lang="en-US" sz="1300" dirty="0">
                <a:solidFill>
                  <a:srgbClr val="444444"/>
                </a:solidFill>
                <a:latin typeface="Cambria" panose="02040503050406030204" pitchFamily="18" charset="0"/>
                <a:ea typeface="Cambria" pitchFamily="34" charset="-122"/>
                <a:cs typeface="Cambria" pitchFamily="34" charset="-120"/>
              </a:rPr>
              <a:t>Nhấp chọn 1 xe để xem: Biển số, Tên lái xe, Tốc độ (km/h), Địa chỉ vị trí hiện tại.</a:t>
            </a:r>
            <a:endParaRPr lang="en-US" sz="1300" dirty="0">
              <a:latin typeface="Cambria" panose="02040503050406030204" pitchFamily="18" charset="0"/>
            </a:endParaRPr>
          </a:p>
        </p:txBody>
      </p:sp>
      <p:sp>
        <p:nvSpPr>
          <p:cNvPr id="46" name="Text 43"/>
          <p:cNvSpPr/>
          <p:nvPr/>
        </p:nvSpPr>
        <p:spPr>
          <a:xfrm>
            <a:off x="274320" y="6537960"/>
            <a:ext cx="8229600" cy="274320"/>
          </a:xfrm>
          <a:prstGeom prst="rect">
            <a:avLst/>
          </a:prstGeom>
          <a:noFill/>
          <a:ln/>
        </p:spPr>
        <p:txBody>
          <a:bodyPr wrap="square" lIns="0" tIns="0" rIns="0" bIns="0" rtlCol="0" anchor="ctr"/>
          <a:lstStyle/>
          <a:p>
            <a:pPr marL="0" indent="0" algn="l">
              <a:buNone/>
            </a:pPr>
            <a:r>
              <a:rPr lang="en-US" sz="1200" dirty="0">
                <a:solidFill>
                  <a:srgbClr val="999999"/>
                </a:solidFill>
                <a:latin typeface="Cambria" pitchFamily="34" charset="0"/>
                <a:ea typeface="Cambria" pitchFamily="34" charset="-122"/>
                <a:cs typeface="Cambria" pitchFamily="34" charset="-120"/>
              </a:rPr>
              <a:t>VMS – Vehicle Management System | THACO AGRI – KLH Koun Mom</a:t>
            </a:r>
            <a:endParaRPr lang="en-US" sz="1200" dirty="0"/>
          </a:p>
        </p:txBody>
      </p:sp>
      <p:sp>
        <p:nvSpPr>
          <p:cNvPr id="47" name="Text 44"/>
          <p:cNvSpPr/>
          <p:nvPr/>
        </p:nvSpPr>
        <p:spPr>
          <a:xfrm>
            <a:off x="11537028" y="6537960"/>
            <a:ext cx="441612" cy="274320"/>
          </a:xfrm>
          <a:prstGeom prst="rect">
            <a:avLst/>
          </a:prstGeom>
          <a:noFill/>
          <a:ln/>
        </p:spPr>
        <p:txBody>
          <a:bodyPr wrap="square" lIns="0" tIns="0" rIns="0" bIns="0" rtlCol="0" anchor="ctr"/>
          <a:lstStyle/>
          <a:p>
            <a:pPr marL="0" indent="0" algn="r">
              <a:buNone/>
            </a:pPr>
            <a:r>
              <a:rPr lang="en-US" sz="1200" dirty="0">
                <a:solidFill>
                  <a:srgbClr val="999999"/>
                </a:solidFill>
                <a:latin typeface="Cambria" pitchFamily="34" charset="0"/>
                <a:ea typeface="Cambria" pitchFamily="34" charset="-122"/>
                <a:cs typeface="Cambria" pitchFamily="34" charset="-120"/>
              </a:rPr>
              <a:t>6</a:t>
            </a:r>
            <a:endParaRPr lang="en-US" sz="1200" dirty="0"/>
          </a:p>
        </p:txBody>
      </p:sp>
      <p:pic>
        <p:nvPicPr>
          <p:cNvPr id="49" name="Picture 48">
            <a:extLst>
              <a:ext uri="{FF2B5EF4-FFF2-40B4-BE49-F238E27FC236}">
                <a16:creationId xmlns:a16="http://schemas.microsoft.com/office/drawing/2014/main" id="{E0F2DB14-7A47-AAF6-4365-584253A62BFE}"/>
              </a:ext>
            </a:extLst>
          </p:cNvPr>
          <p:cNvPicPr>
            <a:picLocks noChangeAspect="1"/>
          </p:cNvPicPr>
          <p:nvPr/>
        </p:nvPicPr>
        <p:blipFill>
          <a:blip r:embed="rId4"/>
          <a:stretch>
            <a:fillRect/>
          </a:stretch>
        </p:blipFill>
        <p:spPr>
          <a:xfrm>
            <a:off x="6464808" y="2226457"/>
            <a:ext cx="4956279" cy="3900023"/>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D6E656-4A5E-163D-C5B6-5CCFB20522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F113A6-4C1C-ABEE-63AB-190EA0162088}"/>
              </a:ext>
            </a:extLst>
          </p:cNvPr>
          <p:cNvSpPr>
            <a:spLocks noGrp="1"/>
          </p:cNvSpPr>
          <p:nvPr>
            <p:ph type="title"/>
          </p:nvPr>
        </p:nvSpPr>
        <p:spPr/>
        <p:txBody>
          <a:bodyPr anchor="ctr"/>
          <a:lstStyle/>
          <a:p>
            <a:r>
              <a:rPr lang="vi-VN" dirty="0">
                <a:solidFill>
                  <a:srgbClr val="FF0000"/>
                </a:solidFill>
                <a:latin typeface="Cambria" panose="02040503050406030204" pitchFamily="18" charset="0"/>
              </a:rPr>
              <a:t>QUY TRÌNH ĐĂNG KỂM – BẢO TRÌ</a:t>
            </a:r>
          </a:p>
        </p:txBody>
      </p:sp>
      <p:sp>
        <p:nvSpPr>
          <p:cNvPr id="3" name="Rectangle 2">
            <a:extLst>
              <a:ext uri="{FF2B5EF4-FFF2-40B4-BE49-F238E27FC236}">
                <a16:creationId xmlns:a16="http://schemas.microsoft.com/office/drawing/2014/main" id="{C9D6BCDD-4B4C-852F-3623-671117B9D609}"/>
              </a:ext>
            </a:extLst>
          </p:cNvPr>
          <p:cNvSpPr/>
          <p:nvPr/>
        </p:nvSpPr>
        <p:spPr>
          <a:xfrm>
            <a:off x="540326" y="2462710"/>
            <a:ext cx="2446317" cy="520349"/>
          </a:xfrm>
          <a:prstGeom prst="rect">
            <a:avLst/>
          </a:prstGeom>
          <a:solidFill>
            <a:schemeClr val="accent4">
              <a:lumMod val="20000"/>
              <a:lumOff val="80000"/>
            </a:schemeClr>
          </a:solidFill>
          <a:ln>
            <a:solidFill>
              <a:srgbClr val="00682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400" dirty="0">
                <a:solidFill>
                  <a:srgbClr val="006829"/>
                </a:solidFill>
                <a:latin typeface="Cambria" panose="02040503050406030204" pitchFamily="18" charset="0"/>
              </a:rPr>
              <a:t>NHẬP THÔNG TIN XE</a:t>
            </a:r>
          </a:p>
        </p:txBody>
      </p:sp>
      <p:sp>
        <p:nvSpPr>
          <p:cNvPr id="4" name="Alternate Process 3">
            <a:extLst>
              <a:ext uri="{FF2B5EF4-FFF2-40B4-BE49-F238E27FC236}">
                <a16:creationId xmlns:a16="http://schemas.microsoft.com/office/drawing/2014/main" id="{511B036F-3114-1DA2-D8E3-EC4DBA6CAA48}"/>
              </a:ext>
            </a:extLst>
          </p:cNvPr>
          <p:cNvSpPr/>
          <p:nvPr/>
        </p:nvSpPr>
        <p:spPr>
          <a:xfrm>
            <a:off x="540326" y="1582821"/>
            <a:ext cx="2446317" cy="520349"/>
          </a:xfrm>
          <a:prstGeom prst="flowChartAlternateProcess">
            <a:avLst/>
          </a:prstGeom>
          <a:solidFill>
            <a:schemeClr val="accent6">
              <a:lumMod val="20000"/>
              <a:lumOff val="80000"/>
            </a:schemeClr>
          </a:solidFill>
          <a:ln>
            <a:solidFill>
              <a:srgbClr val="00682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400" b="1" dirty="0">
                <a:solidFill>
                  <a:srgbClr val="006829"/>
                </a:solidFill>
                <a:latin typeface="Cambria" panose="02040503050406030204" pitchFamily="18" charset="0"/>
              </a:rPr>
              <a:t>BẮT ĐẦU</a:t>
            </a:r>
          </a:p>
        </p:txBody>
      </p:sp>
      <p:sp>
        <p:nvSpPr>
          <p:cNvPr id="5" name="Decision 4">
            <a:extLst>
              <a:ext uri="{FF2B5EF4-FFF2-40B4-BE49-F238E27FC236}">
                <a16:creationId xmlns:a16="http://schemas.microsoft.com/office/drawing/2014/main" id="{537C00D0-75C4-402B-6BF9-021DCF284A77}"/>
              </a:ext>
            </a:extLst>
          </p:cNvPr>
          <p:cNvSpPr/>
          <p:nvPr/>
        </p:nvSpPr>
        <p:spPr>
          <a:xfrm>
            <a:off x="4979267" y="1195289"/>
            <a:ext cx="1951512" cy="1068779"/>
          </a:xfrm>
          <a:prstGeom prst="flowChartDecision">
            <a:avLst/>
          </a:prstGeom>
          <a:solidFill>
            <a:schemeClr val="accent2">
              <a:lumMod val="40000"/>
              <a:lumOff val="60000"/>
            </a:schemeClr>
          </a:solidFill>
          <a:ln>
            <a:solidFill>
              <a:srgbClr val="00682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400" dirty="0">
                <a:solidFill>
                  <a:srgbClr val="006829"/>
                </a:solidFill>
                <a:latin typeface="Cambria" panose="02040503050406030204" pitchFamily="18" charset="0"/>
              </a:rPr>
              <a:t>ĐẾN HẠN ĐĂNG KIỂM</a:t>
            </a:r>
          </a:p>
        </p:txBody>
      </p:sp>
      <p:sp>
        <p:nvSpPr>
          <p:cNvPr id="6" name="Alternate Process 5">
            <a:extLst>
              <a:ext uri="{FF2B5EF4-FFF2-40B4-BE49-F238E27FC236}">
                <a16:creationId xmlns:a16="http://schemas.microsoft.com/office/drawing/2014/main" id="{F2366456-6410-FEFB-1191-DFAD92AFDC21}"/>
              </a:ext>
            </a:extLst>
          </p:cNvPr>
          <p:cNvSpPr/>
          <p:nvPr/>
        </p:nvSpPr>
        <p:spPr>
          <a:xfrm>
            <a:off x="540324" y="4846298"/>
            <a:ext cx="2446317" cy="520349"/>
          </a:xfrm>
          <a:prstGeom prst="flowChartAlternateProcess">
            <a:avLst/>
          </a:prstGeom>
          <a:solidFill>
            <a:schemeClr val="accent6">
              <a:lumMod val="20000"/>
              <a:lumOff val="80000"/>
            </a:schemeClr>
          </a:solidFill>
          <a:ln>
            <a:solidFill>
              <a:srgbClr val="00682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400" b="1" dirty="0">
                <a:solidFill>
                  <a:srgbClr val="006829"/>
                </a:solidFill>
                <a:latin typeface="Cambria" panose="02040503050406030204" pitchFamily="18" charset="0"/>
              </a:rPr>
              <a:t>KẾT THÚC</a:t>
            </a:r>
          </a:p>
        </p:txBody>
      </p:sp>
      <p:sp>
        <p:nvSpPr>
          <p:cNvPr id="9" name="Rectangle 8">
            <a:extLst>
              <a:ext uri="{FF2B5EF4-FFF2-40B4-BE49-F238E27FC236}">
                <a16:creationId xmlns:a16="http://schemas.microsoft.com/office/drawing/2014/main" id="{9E092375-4D5E-9D7D-FDC7-0C2C351911DB}"/>
              </a:ext>
            </a:extLst>
          </p:cNvPr>
          <p:cNvSpPr/>
          <p:nvPr/>
        </p:nvSpPr>
        <p:spPr>
          <a:xfrm>
            <a:off x="9205357" y="1471345"/>
            <a:ext cx="2446317" cy="520349"/>
          </a:xfrm>
          <a:prstGeom prst="rect">
            <a:avLst/>
          </a:prstGeom>
          <a:solidFill>
            <a:schemeClr val="accent4">
              <a:lumMod val="20000"/>
              <a:lumOff val="80000"/>
            </a:schemeClr>
          </a:solidFill>
          <a:ln>
            <a:solidFill>
              <a:srgbClr val="00682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400" dirty="0">
                <a:solidFill>
                  <a:srgbClr val="006829"/>
                </a:solidFill>
                <a:latin typeface="Cambria" panose="02040503050406030204" pitchFamily="18" charset="0"/>
              </a:rPr>
              <a:t>NHẬN THÔNG BÁO ĐĂNG KIỂM</a:t>
            </a:r>
          </a:p>
        </p:txBody>
      </p:sp>
      <p:sp>
        <p:nvSpPr>
          <p:cNvPr id="10" name="Rectangle 9">
            <a:extLst>
              <a:ext uri="{FF2B5EF4-FFF2-40B4-BE49-F238E27FC236}">
                <a16:creationId xmlns:a16="http://schemas.microsoft.com/office/drawing/2014/main" id="{97996DD6-1A70-00EC-8294-912A59190AC6}"/>
              </a:ext>
            </a:extLst>
          </p:cNvPr>
          <p:cNvSpPr/>
          <p:nvPr/>
        </p:nvSpPr>
        <p:spPr>
          <a:xfrm>
            <a:off x="9205357" y="3872066"/>
            <a:ext cx="2446317" cy="520349"/>
          </a:xfrm>
          <a:prstGeom prst="rect">
            <a:avLst/>
          </a:prstGeom>
          <a:solidFill>
            <a:schemeClr val="accent4">
              <a:lumMod val="20000"/>
              <a:lumOff val="80000"/>
            </a:schemeClr>
          </a:solidFill>
          <a:ln>
            <a:solidFill>
              <a:srgbClr val="00682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400" dirty="0">
                <a:solidFill>
                  <a:srgbClr val="006829"/>
                </a:solidFill>
                <a:latin typeface="Cambria" panose="02040503050406030204" pitchFamily="18" charset="0"/>
              </a:rPr>
              <a:t>NHẬN THÔNG BÁO BẢO TRÌ</a:t>
            </a:r>
          </a:p>
        </p:txBody>
      </p:sp>
      <p:sp>
        <p:nvSpPr>
          <p:cNvPr id="11" name="Rectangle 10">
            <a:extLst>
              <a:ext uri="{FF2B5EF4-FFF2-40B4-BE49-F238E27FC236}">
                <a16:creationId xmlns:a16="http://schemas.microsoft.com/office/drawing/2014/main" id="{A0E7067A-D8E2-A46B-041E-F85B37D19627}"/>
              </a:ext>
            </a:extLst>
          </p:cNvPr>
          <p:cNvSpPr/>
          <p:nvPr/>
        </p:nvSpPr>
        <p:spPr>
          <a:xfrm>
            <a:off x="9205357" y="2325210"/>
            <a:ext cx="2446317" cy="520349"/>
          </a:xfrm>
          <a:prstGeom prst="rect">
            <a:avLst/>
          </a:prstGeom>
          <a:solidFill>
            <a:schemeClr val="accent4">
              <a:lumMod val="20000"/>
              <a:lumOff val="80000"/>
            </a:schemeClr>
          </a:solidFill>
          <a:ln>
            <a:solidFill>
              <a:srgbClr val="00682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400" dirty="0">
                <a:solidFill>
                  <a:srgbClr val="006829"/>
                </a:solidFill>
                <a:latin typeface="Cambria" panose="02040503050406030204" pitchFamily="18" charset="0"/>
              </a:rPr>
              <a:t>ĐĂNG KIỂM</a:t>
            </a:r>
          </a:p>
        </p:txBody>
      </p:sp>
      <p:sp>
        <p:nvSpPr>
          <p:cNvPr id="12" name="Rectangle 11">
            <a:extLst>
              <a:ext uri="{FF2B5EF4-FFF2-40B4-BE49-F238E27FC236}">
                <a16:creationId xmlns:a16="http://schemas.microsoft.com/office/drawing/2014/main" id="{EEBE119A-C9F4-D370-2E81-A2CBD9202574}"/>
              </a:ext>
            </a:extLst>
          </p:cNvPr>
          <p:cNvSpPr/>
          <p:nvPr/>
        </p:nvSpPr>
        <p:spPr>
          <a:xfrm>
            <a:off x="9205357" y="4586125"/>
            <a:ext cx="2446317" cy="520349"/>
          </a:xfrm>
          <a:prstGeom prst="rect">
            <a:avLst/>
          </a:prstGeom>
          <a:solidFill>
            <a:schemeClr val="accent4">
              <a:lumMod val="20000"/>
              <a:lumOff val="80000"/>
            </a:schemeClr>
          </a:solidFill>
          <a:ln>
            <a:solidFill>
              <a:srgbClr val="00682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400" dirty="0">
                <a:solidFill>
                  <a:srgbClr val="006829"/>
                </a:solidFill>
                <a:latin typeface="Cambria" panose="02040503050406030204" pitchFamily="18" charset="0"/>
              </a:rPr>
              <a:t>BẢO TRÌ</a:t>
            </a:r>
          </a:p>
        </p:txBody>
      </p:sp>
      <p:cxnSp>
        <p:nvCxnSpPr>
          <p:cNvPr id="20" name="Straight Arrow Connector 19">
            <a:extLst>
              <a:ext uri="{FF2B5EF4-FFF2-40B4-BE49-F238E27FC236}">
                <a16:creationId xmlns:a16="http://schemas.microsoft.com/office/drawing/2014/main" id="{1AEE5B13-1287-7B17-A968-ED94A39EB25F}"/>
              </a:ext>
            </a:extLst>
          </p:cNvPr>
          <p:cNvCxnSpPr>
            <a:cxnSpLocks/>
            <a:stCxn id="4" idx="2"/>
            <a:endCxn id="3" idx="0"/>
          </p:cNvCxnSpPr>
          <p:nvPr/>
        </p:nvCxnSpPr>
        <p:spPr>
          <a:xfrm>
            <a:off x="1763485" y="2103170"/>
            <a:ext cx="0" cy="359540"/>
          </a:xfrm>
          <a:prstGeom prst="straightConnector1">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2" name="Straight Connector 61">
            <a:extLst>
              <a:ext uri="{FF2B5EF4-FFF2-40B4-BE49-F238E27FC236}">
                <a16:creationId xmlns:a16="http://schemas.microsoft.com/office/drawing/2014/main" id="{744B447C-091E-FAA2-A767-80132918B181}"/>
              </a:ext>
            </a:extLst>
          </p:cNvPr>
          <p:cNvCxnSpPr>
            <a:cxnSpLocks/>
          </p:cNvCxnSpPr>
          <p:nvPr/>
        </p:nvCxnSpPr>
        <p:spPr>
          <a:xfrm>
            <a:off x="3325091" y="1056904"/>
            <a:ext cx="0" cy="5378625"/>
          </a:xfrm>
          <a:prstGeom prst="line">
            <a:avLst/>
          </a:prstGeom>
        </p:spPr>
        <p:style>
          <a:lnRef idx="3">
            <a:schemeClr val="accent6"/>
          </a:lnRef>
          <a:fillRef idx="0">
            <a:schemeClr val="accent6"/>
          </a:fillRef>
          <a:effectRef idx="2">
            <a:schemeClr val="accent6"/>
          </a:effectRef>
          <a:fontRef idx="minor">
            <a:schemeClr val="tx1"/>
          </a:fontRef>
        </p:style>
      </p:cxnSp>
      <p:cxnSp>
        <p:nvCxnSpPr>
          <p:cNvPr id="64" name="Straight Connector 63">
            <a:extLst>
              <a:ext uri="{FF2B5EF4-FFF2-40B4-BE49-F238E27FC236}">
                <a16:creationId xmlns:a16="http://schemas.microsoft.com/office/drawing/2014/main" id="{C8971D91-0B0A-1B61-0226-9422692F87CF}"/>
              </a:ext>
            </a:extLst>
          </p:cNvPr>
          <p:cNvCxnSpPr>
            <a:cxnSpLocks/>
          </p:cNvCxnSpPr>
          <p:nvPr/>
        </p:nvCxnSpPr>
        <p:spPr>
          <a:xfrm>
            <a:off x="8964881" y="1056903"/>
            <a:ext cx="0" cy="5378625"/>
          </a:xfrm>
          <a:prstGeom prst="line">
            <a:avLst/>
          </a:prstGeom>
        </p:spPr>
        <p:style>
          <a:lnRef idx="3">
            <a:schemeClr val="accent6"/>
          </a:lnRef>
          <a:fillRef idx="0">
            <a:schemeClr val="accent6"/>
          </a:fillRef>
          <a:effectRef idx="2">
            <a:schemeClr val="accent6"/>
          </a:effectRef>
          <a:fontRef idx="minor">
            <a:schemeClr val="tx1"/>
          </a:fontRef>
        </p:style>
      </p:cxnSp>
      <p:sp>
        <p:nvSpPr>
          <p:cNvPr id="65" name="TextBox 64">
            <a:extLst>
              <a:ext uri="{FF2B5EF4-FFF2-40B4-BE49-F238E27FC236}">
                <a16:creationId xmlns:a16="http://schemas.microsoft.com/office/drawing/2014/main" id="{DD4ECE31-C36A-F869-6A91-18BCDC08E807}"/>
              </a:ext>
            </a:extLst>
          </p:cNvPr>
          <p:cNvSpPr txBox="1"/>
          <p:nvPr/>
        </p:nvSpPr>
        <p:spPr>
          <a:xfrm>
            <a:off x="466543" y="956859"/>
            <a:ext cx="2593881" cy="523220"/>
          </a:xfrm>
          <a:prstGeom prst="rect">
            <a:avLst/>
          </a:prstGeom>
          <a:noFill/>
        </p:spPr>
        <p:txBody>
          <a:bodyPr wrap="square" rtlCol="0">
            <a:spAutoFit/>
          </a:bodyPr>
          <a:lstStyle/>
          <a:p>
            <a:pPr algn="ctr"/>
            <a:r>
              <a:rPr lang="vi-VN" sz="1400" b="1" dirty="0">
                <a:solidFill>
                  <a:srgbClr val="006829"/>
                </a:solidFill>
                <a:latin typeface="Cambria" panose="02040503050406030204" pitchFamily="18" charset="0"/>
              </a:rPr>
              <a:t>QUẢN </a:t>
            </a:r>
            <a:r>
              <a:rPr lang="vi-VN" sz="1400" b="1">
                <a:solidFill>
                  <a:srgbClr val="006829"/>
                </a:solidFill>
                <a:latin typeface="Cambria" panose="02040503050406030204" pitchFamily="18" charset="0"/>
              </a:rPr>
              <a:t>LÝ ĐỘI </a:t>
            </a:r>
            <a:r>
              <a:rPr lang="vi-VN" sz="1400" b="1" dirty="0">
                <a:solidFill>
                  <a:srgbClr val="006829"/>
                </a:solidFill>
                <a:latin typeface="Cambria" panose="02040503050406030204" pitchFamily="18" charset="0"/>
              </a:rPr>
              <a:t>XE / QUẢN TRỊ VĂN PHÒNG</a:t>
            </a:r>
          </a:p>
        </p:txBody>
      </p:sp>
      <p:sp>
        <p:nvSpPr>
          <p:cNvPr id="66" name="TextBox 65">
            <a:extLst>
              <a:ext uri="{FF2B5EF4-FFF2-40B4-BE49-F238E27FC236}">
                <a16:creationId xmlns:a16="http://schemas.microsoft.com/office/drawing/2014/main" id="{1E4EE4E5-577F-2554-4952-6A95A037A27E}"/>
              </a:ext>
            </a:extLst>
          </p:cNvPr>
          <p:cNvSpPr txBox="1"/>
          <p:nvPr/>
        </p:nvSpPr>
        <p:spPr>
          <a:xfrm>
            <a:off x="4640115" y="956859"/>
            <a:ext cx="2593881" cy="307777"/>
          </a:xfrm>
          <a:prstGeom prst="rect">
            <a:avLst/>
          </a:prstGeom>
          <a:noFill/>
        </p:spPr>
        <p:txBody>
          <a:bodyPr wrap="square" rtlCol="0">
            <a:spAutoFit/>
          </a:bodyPr>
          <a:lstStyle/>
          <a:p>
            <a:pPr algn="ctr"/>
            <a:r>
              <a:rPr lang="vi-VN" sz="1400" b="1" dirty="0">
                <a:solidFill>
                  <a:srgbClr val="006829"/>
                </a:solidFill>
                <a:latin typeface="Cambria" panose="02040503050406030204" pitchFamily="18" charset="0"/>
              </a:rPr>
              <a:t>HỆ THỐNG PHẦN MỀM</a:t>
            </a:r>
          </a:p>
        </p:txBody>
      </p:sp>
      <p:sp>
        <p:nvSpPr>
          <p:cNvPr id="67" name="TextBox 66">
            <a:extLst>
              <a:ext uri="{FF2B5EF4-FFF2-40B4-BE49-F238E27FC236}">
                <a16:creationId xmlns:a16="http://schemas.microsoft.com/office/drawing/2014/main" id="{93E95794-F735-9767-984C-D863C19E967C}"/>
              </a:ext>
            </a:extLst>
          </p:cNvPr>
          <p:cNvSpPr txBox="1"/>
          <p:nvPr/>
        </p:nvSpPr>
        <p:spPr>
          <a:xfrm>
            <a:off x="9030634" y="955284"/>
            <a:ext cx="2593881" cy="523220"/>
          </a:xfrm>
          <a:prstGeom prst="rect">
            <a:avLst/>
          </a:prstGeom>
          <a:noFill/>
        </p:spPr>
        <p:txBody>
          <a:bodyPr wrap="square" rtlCol="0">
            <a:spAutoFit/>
          </a:bodyPr>
          <a:lstStyle/>
          <a:p>
            <a:pPr algn="ctr"/>
            <a:r>
              <a:rPr lang="vi-VN" sz="1400" b="1" dirty="0">
                <a:solidFill>
                  <a:srgbClr val="006829"/>
                </a:solidFill>
                <a:latin typeface="Cambria" panose="02040503050406030204" pitchFamily="18" charset="0"/>
              </a:rPr>
              <a:t>TÀI XẾ</a:t>
            </a:r>
          </a:p>
          <a:p>
            <a:pPr algn="ctr"/>
            <a:r>
              <a:rPr lang="vi-VN" sz="1400" b="1" dirty="0">
                <a:solidFill>
                  <a:srgbClr val="006829"/>
                </a:solidFill>
                <a:latin typeface="Cambria" panose="02040503050406030204" pitchFamily="18" charset="0"/>
              </a:rPr>
              <a:t>(Mobile App)</a:t>
            </a:r>
          </a:p>
        </p:txBody>
      </p:sp>
      <p:sp>
        <p:nvSpPr>
          <p:cNvPr id="7" name="Rectangle 6">
            <a:extLst>
              <a:ext uri="{FF2B5EF4-FFF2-40B4-BE49-F238E27FC236}">
                <a16:creationId xmlns:a16="http://schemas.microsoft.com/office/drawing/2014/main" id="{55602557-FB79-064F-C018-499852997CBB}"/>
              </a:ext>
            </a:extLst>
          </p:cNvPr>
          <p:cNvSpPr/>
          <p:nvPr/>
        </p:nvSpPr>
        <p:spPr>
          <a:xfrm>
            <a:off x="540324" y="3171949"/>
            <a:ext cx="2446317" cy="520349"/>
          </a:xfrm>
          <a:prstGeom prst="rect">
            <a:avLst/>
          </a:prstGeom>
          <a:solidFill>
            <a:schemeClr val="accent4">
              <a:lumMod val="20000"/>
              <a:lumOff val="80000"/>
            </a:schemeClr>
          </a:solidFill>
          <a:ln>
            <a:solidFill>
              <a:srgbClr val="00682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400" dirty="0">
                <a:solidFill>
                  <a:srgbClr val="006829"/>
                </a:solidFill>
                <a:latin typeface="Cambria" panose="02040503050406030204" pitchFamily="18" charset="0"/>
              </a:rPr>
              <a:t>NHẬP THÔNG TIN TÀI XẾ</a:t>
            </a:r>
          </a:p>
        </p:txBody>
      </p:sp>
      <p:cxnSp>
        <p:nvCxnSpPr>
          <p:cNvPr id="13" name="Straight Arrow Connector 12">
            <a:extLst>
              <a:ext uri="{FF2B5EF4-FFF2-40B4-BE49-F238E27FC236}">
                <a16:creationId xmlns:a16="http://schemas.microsoft.com/office/drawing/2014/main" id="{C0920755-2B2E-C394-275B-4DC9AF0CADB4}"/>
              </a:ext>
            </a:extLst>
          </p:cNvPr>
          <p:cNvCxnSpPr>
            <a:cxnSpLocks/>
            <a:stCxn id="3" idx="2"/>
            <a:endCxn id="7" idx="0"/>
          </p:cNvCxnSpPr>
          <p:nvPr/>
        </p:nvCxnSpPr>
        <p:spPr>
          <a:xfrm flipH="1">
            <a:off x="1763483" y="2983059"/>
            <a:ext cx="2" cy="188890"/>
          </a:xfrm>
          <a:prstGeom prst="straightConnector1">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3" name="Decision 22">
            <a:extLst>
              <a:ext uri="{FF2B5EF4-FFF2-40B4-BE49-F238E27FC236}">
                <a16:creationId xmlns:a16="http://schemas.microsoft.com/office/drawing/2014/main" id="{7BBE5F7C-6512-0798-B235-C162BDEB9FC0}"/>
              </a:ext>
            </a:extLst>
          </p:cNvPr>
          <p:cNvSpPr/>
          <p:nvPr/>
        </p:nvSpPr>
        <p:spPr>
          <a:xfrm>
            <a:off x="6157852" y="2841026"/>
            <a:ext cx="1951512" cy="1068779"/>
          </a:xfrm>
          <a:prstGeom prst="flowChartDecision">
            <a:avLst/>
          </a:prstGeom>
          <a:solidFill>
            <a:schemeClr val="accent2">
              <a:lumMod val="40000"/>
              <a:lumOff val="60000"/>
            </a:schemeClr>
          </a:solidFill>
          <a:ln>
            <a:solidFill>
              <a:srgbClr val="00682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400" dirty="0">
                <a:solidFill>
                  <a:srgbClr val="006829"/>
                </a:solidFill>
                <a:latin typeface="Cambria" panose="02040503050406030204" pitchFamily="18" charset="0"/>
              </a:rPr>
              <a:t>ĐẾN HẠN BẢO TRÌ</a:t>
            </a:r>
          </a:p>
        </p:txBody>
      </p:sp>
      <p:sp>
        <p:nvSpPr>
          <p:cNvPr id="30" name="Rectangle 29">
            <a:extLst>
              <a:ext uri="{FF2B5EF4-FFF2-40B4-BE49-F238E27FC236}">
                <a16:creationId xmlns:a16="http://schemas.microsoft.com/office/drawing/2014/main" id="{CB937FCC-570C-E551-69ED-A314211315A2}"/>
              </a:ext>
            </a:extLst>
          </p:cNvPr>
          <p:cNvSpPr/>
          <p:nvPr/>
        </p:nvSpPr>
        <p:spPr>
          <a:xfrm>
            <a:off x="4872841" y="4395165"/>
            <a:ext cx="2446317" cy="520349"/>
          </a:xfrm>
          <a:prstGeom prst="rect">
            <a:avLst/>
          </a:prstGeom>
          <a:solidFill>
            <a:schemeClr val="accent4">
              <a:lumMod val="20000"/>
              <a:lumOff val="80000"/>
            </a:schemeClr>
          </a:solidFill>
          <a:ln>
            <a:solidFill>
              <a:srgbClr val="00682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400" dirty="0">
                <a:solidFill>
                  <a:srgbClr val="006829"/>
                </a:solidFill>
                <a:latin typeface="Cambria" panose="02040503050406030204" pitchFamily="18" charset="0"/>
              </a:rPr>
              <a:t>GHI NHẬN ĐĂNG KIỂM</a:t>
            </a:r>
          </a:p>
        </p:txBody>
      </p:sp>
      <p:sp>
        <p:nvSpPr>
          <p:cNvPr id="33" name="Rectangle 32">
            <a:extLst>
              <a:ext uri="{FF2B5EF4-FFF2-40B4-BE49-F238E27FC236}">
                <a16:creationId xmlns:a16="http://schemas.microsoft.com/office/drawing/2014/main" id="{226D2C70-80F1-497F-C1C4-D14B0747318F}"/>
              </a:ext>
            </a:extLst>
          </p:cNvPr>
          <p:cNvSpPr/>
          <p:nvPr/>
        </p:nvSpPr>
        <p:spPr>
          <a:xfrm>
            <a:off x="4872841" y="5220158"/>
            <a:ext cx="2446317" cy="520349"/>
          </a:xfrm>
          <a:prstGeom prst="rect">
            <a:avLst/>
          </a:prstGeom>
          <a:solidFill>
            <a:schemeClr val="accent4">
              <a:lumMod val="20000"/>
              <a:lumOff val="80000"/>
            </a:schemeClr>
          </a:solidFill>
          <a:ln>
            <a:solidFill>
              <a:srgbClr val="00682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400" dirty="0">
                <a:solidFill>
                  <a:srgbClr val="006829"/>
                </a:solidFill>
                <a:latin typeface="Cambria" panose="02040503050406030204" pitchFamily="18" charset="0"/>
              </a:rPr>
              <a:t>GHI NHẬN ĐĂNG KIỂM</a:t>
            </a:r>
          </a:p>
        </p:txBody>
      </p:sp>
      <p:cxnSp>
        <p:nvCxnSpPr>
          <p:cNvPr id="35" name="Elbow Connector 34">
            <a:extLst>
              <a:ext uri="{FF2B5EF4-FFF2-40B4-BE49-F238E27FC236}">
                <a16:creationId xmlns:a16="http://schemas.microsoft.com/office/drawing/2014/main" id="{03B8C4E4-CE7B-C933-CBAA-154F08187656}"/>
              </a:ext>
            </a:extLst>
          </p:cNvPr>
          <p:cNvCxnSpPr>
            <a:cxnSpLocks/>
            <a:stCxn id="3" idx="3"/>
            <a:endCxn id="5" idx="1"/>
          </p:cNvCxnSpPr>
          <p:nvPr/>
        </p:nvCxnSpPr>
        <p:spPr>
          <a:xfrm flipV="1">
            <a:off x="2986643" y="1729679"/>
            <a:ext cx="1992624" cy="993206"/>
          </a:xfrm>
          <a:prstGeom prst="bentConnector3">
            <a:avLst>
              <a:gd name="adj1" fmla="val 50000"/>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9" name="Elbow Connector 38">
            <a:extLst>
              <a:ext uri="{FF2B5EF4-FFF2-40B4-BE49-F238E27FC236}">
                <a16:creationId xmlns:a16="http://schemas.microsoft.com/office/drawing/2014/main" id="{4703E54E-902A-8D2A-F1A9-13C2F15AD12B}"/>
              </a:ext>
            </a:extLst>
          </p:cNvPr>
          <p:cNvCxnSpPr>
            <a:cxnSpLocks/>
            <a:stCxn id="3" idx="3"/>
            <a:endCxn id="23" idx="1"/>
          </p:cNvCxnSpPr>
          <p:nvPr/>
        </p:nvCxnSpPr>
        <p:spPr>
          <a:xfrm>
            <a:off x="2986643" y="2722885"/>
            <a:ext cx="3171209" cy="652531"/>
          </a:xfrm>
          <a:prstGeom prst="bentConnector3">
            <a:avLst>
              <a:gd name="adj1" fmla="val 31342"/>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4" name="Elbow Connector 43">
            <a:extLst>
              <a:ext uri="{FF2B5EF4-FFF2-40B4-BE49-F238E27FC236}">
                <a16:creationId xmlns:a16="http://schemas.microsoft.com/office/drawing/2014/main" id="{82EC890D-625A-0DA5-D8C0-77C650F16A86}"/>
              </a:ext>
            </a:extLst>
          </p:cNvPr>
          <p:cNvCxnSpPr>
            <a:cxnSpLocks/>
            <a:stCxn id="5" idx="3"/>
            <a:endCxn id="9" idx="1"/>
          </p:cNvCxnSpPr>
          <p:nvPr/>
        </p:nvCxnSpPr>
        <p:spPr>
          <a:xfrm>
            <a:off x="6930779" y="1729679"/>
            <a:ext cx="2274578" cy="1841"/>
          </a:xfrm>
          <a:prstGeom prst="bentConnector3">
            <a:avLst>
              <a:gd name="adj1" fmla="val 50000"/>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9" name="Elbow Connector 48">
            <a:extLst>
              <a:ext uri="{FF2B5EF4-FFF2-40B4-BE49-F238E27FC236}">
                <a16:creationId xmlns:a16="http://schemas.microsoft.com/office/drawing/2014/main" id="{899FC3FF-49F8-8B52-2ECA-F2F26CC2EFA8}"/>
              </a:ext>
            </a:extLst>
          </p:cNvPr>
          <p:cNvCxnSpPr>
            <a:cxnSpLocks/>
            <a:stCxn id="23" idx="3"/>
            <a:endCxn id="10" idx="1"/>
          </p:cNvCxnSpPr>
          <p:nvPr/>
        </p:nvCxnSpPr>
        <p:spPr>
          <a:xfrm>
            <a:off x="8109364" y="3375416"/>
            <a:ext cx="1095993" cy="756825"/>
          </a:xfrm>
          <a:prstGeom prst="bentConnector3">
            <a:avLst>
              <a:gd name="adj1" fmla="val 27822"/>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54" name="Straight Arrow Connector 53">
            <a:extLst>
              <a:ext uri="{FF2B5EF4-FFF2-40B4-BE49-F238E27FC236}">
                <a16:creationId xmlns:a16="http://schemas.microsoft.com/office/drawing/2014/main" id="{C104E20D-BB2C-04B3-A3E3-0DD6FD53D93D}"/>
              </a:ext>
            </a:extLst>
          </p:cNvPr>
          <p:cNvCxnSpPr>
            <a:cxnSpLocks/>
            <a:stCxn id="9" idx="2"/>
            <a:endCxn id="11" idx="0"/>
          </p:cNvCxnSpPr>
          <p:nvPr/>
        </p:nvCxnSpPr>
        <p:spPr>
          <a:xfrm>
            <a:off x="10428516" y="1991694"/>
            <a:ext cx="0" cy="333516"/>
          </a:xfrm>
          <a:prstGeom prst="straightConnector1">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57" name="Straight Arrow Connector 56">
            <a:extLst>
              <a:ext uri="{FF2B5EF4-FFF2-40B4-BE49-F238E27FC236}">
                <a16:creationId xmlns:a16="http://schemas.microsoft.com/office/drawing/2014/main" id="{52767D7F-D98F-0870-8F82-1914610E3F5A}"/>
              </a:ext>
            </a:extLst>
          </p:cNvPr>
          <p:cNvCxnSpPr>
            <a:cxnSpLocks/>
            <a:stCxn id="10" idx="2"/>
            <a:endCxn id="12" idx="0"/>
          </p:cNvCxnSpPr>
          <p:nvPr/>
        </p:nvCxnSpPr>
        <p:spPr>
          <a:xfrm>
            <a:off x="10428516" y="4392415"/>
            <a:ext cx="0" cy="193710"/>
          </a:xfrm>
          <a:prstGeom prst="straightConnector1">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74" name="Elbow Connector 73">
            <a:extLst>
              <a:ext uri="{FF2B5EF4-FFF2-40B4-BE49-F238E27FC236}">
                <a16:creationId xmlns:a16="http://schemas.microsoft.com/office/drawing/2014/main" id="{6BB01C85-D6BF-ED6E-177D-9636E372FA56}"/>
              </a:ext>
            </a:extLst>
          </p:cNvPr>
          <p:cNvCxnSpPr>
            <a:cxnSpLocks/>
            <a:stCxn id="12" idx="2"/>
            <a:endCxn id="33" idx="3"/>
          </p:cNvCxnSpPr>
          <p:nvPr/>
        </p:nvCxnSpPr>
        <p:spPr>
          <a:xfrm rot="5400000">
            <a:off x="8686908" y="3738724"/>
            <a:ext cx="373859" cy="3109358"/>
          </a:xfrm>
          <a:prstGeom prst="bentConnector2">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77" name="Elbow Connector 76">
            <a:extLst>
              <a:ext uri="{FF2B5EF4-FFF2-40B4-BE49-F238E27FC236}">
                <a16:creationId xmlns:a16="http://schemas.microsoft.com/office/drawing/2014/main" id="{BE0E88A5-3981-F697-53A9-63B563ED78E7}"/>
              </a:ext>
            </a:extLst>
          </p:cNvPr>
          <p:cNvCxnSpPr>
            <a:cxnSpLocks/>
            <a:stCxn id="11" idx="1"/>
            <a:endCxn id="30" idx="3"/>
          </p:cNvCxnSpPr>
          <p:nvPr/>
        </p:nvCxnSpPr>
        <p:spPr>
          <a:xfrm rot="10800000" flipV="1">
            <a:off x="7319159" y="2585384"/>
            <a:ext cx="1886199" cy="2069955"/>
          </a:xfrm>
          <a:prstGeom prst="bentConnector3">
            <a:avLst>
              <a:gd name="adj1" fmla="val 50000"/>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84" name="Elbow Connector 83">
            <a:extLst>
              <a:ext uri="{FF2B5EF4-FFF2-40B4-BE49-F238E27FC236}">
                <a16:creationId xmlns:a16="http://schemas.microsoft.com/office/drawing/2014/main" id="{CE56B6FB-C881-971F-CE46-DD6ED23A256E}"/>
              </a:ext>
            </a:extLst>
          </p:cNvPr>
          <p:cNvCxnSpPr>
            <a:cxnSpLocks/>
            <a:stCxn id="30" idx="1"/>
            <a:endCxn id="6" idx="3"/>
          </p:cNvCxnSpPr>
          <p:nvPr/>
        </p:nvCxnSpPr>
        <p:spPr>
          <a:xfrm rot="10800000" flipV="1">
            <a:off x="2986641" y="4655339"/>
            <a:ext cx="1886200" cy="451133"/>
          </a:xfrm>
          <a:prstGeom prst="bentConnector3">
            <a:avLst>
              <a:gd name="adj1" fmla="val 50000"/>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87" name="Elbow Connector 86">
            <a:extLst>
              <a:ext uri="{FF2B5EF4-FFF2-40B4-BE49-F238E27FC236}">
                <a16:creationId xmlns:a16="http://schemas.microsoft.com/office/drawing/2014/main" id="{C29A7243-877F-FEA2-300F-D6111CFF1A6C}"/>
              </a:ext>
            </a:extLst>
          </p:cNvPr>
          <p:cNvCxnSpPr>
            <a:cxnSpLocks/>
            <a:stCxn id="33" idx="1"/>
            <a:endCxn id="6" idx="3"/>
          </p:cNvCxnSpPr>
          <p:nvPr/>
        </p:nvCxnSpPr>
        <p:spPr>
          <a:xfrm rot="10800000">
            <a:off x="2986641" y="5106473"/>
            <a:ext cx="1886200" cy="373860"/>
          </a:xfrm>
          <a:prstGeom prst="bentConnector3">
            <a:avLst>
              <a:gd name="adj1" fmla="val 50000"/>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90" name="Elbow Connector 89">
            <a:extLst>
              <a:ext uri="{FF2B5EF4-FFF2-40B4-BE49-F238E27FC236}">
                <a16:creationId xmlns:a16="http://schemas.microsoft.com/office/drawing/2014/main" id="{626797DF-6C49-1C47-9A69-BF94304A6810}"/>
              </a:ext>
            </a:extLst>
          </p:cNvPr>
          <p:cNvCxnSpPr>
            <a:cxnSpLocks/>
            <a:stCxn id="5" idx="2"/>
            <a:endCxn id="6" idx="0"/>
          </p:cNvCxnSpPr>
          <p:nvPr/>
        </p:nvCxnSpPr>
        <p:spPr>
          <a:xfrm rot="5400000">
            <a:off x="2568138" y="1459413"/>
            <a:ext cx="2582230" cy="4191540"/>
          </a:xfrm>
          <a:prstGeom prst="bentConnector3">
            <a:avLst>
              <a:gd name="adj1" fmla="val 58749"/>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98" name="Elbow Connector 97">
            <a:extLst>
              <a:ext uri="{FF2B5EF4-FFF2-40B4-BE49-F238E27FC236}">
                <a16:creationId xmlns:a16="http://schemas.microsoft.com/office/drawing/2014/main" id="{B79EE5FE-70FF-9B53-45A6-503B0FEC2D30}"/>
              </a:ext>
            </a:extLst>
          </p:cNvPr>
          <p:cNvCxnSpPr>
            <a:cxnSpLocks/>
            <a:stCxn id="23" idx="2"/>
            <a:endCxn id="6" idx="0"/>
          </p:cNvCxnSpPr>
          <p:nvPr/>
        </p:nvCxnSpPr>
        <p:spPr>
          <a:xfrm rot="5400000">
            <a:off x="3980300" y="1692989"/>
            <a:ext cx="936493" cy="5370125"/>
          </a:xfrm>
          <a:prstGeom prst="bentConnector3">
            <a:avLst>
              <a:gd name="adj1" fmla="val 37364"/>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02" name="TextBox 101">
            <a:extLst>
              <a:ext uri="{FF2B5EF4-FFF2-40B4-BE49-F238E27FC236}">
                <a16:creationId xmlns:a16="http://schemas.microsoft.com/office/drawing/2014/main" id="{8CC8E835-400C-A2D9-B46F-802AF82BFDBA}"/>
              </a:ext>
            </a:extLst>
          </p:cNvPr>
          <p:cNvSpPr txBox="1"/>
          <p:nvPr/>
        </p:nvSpPr>
        <p:spPr>
          <a:xfrm>
            <a:off x="6947846" y="1792247"/>
            <a:ext cx="591829" cy="307777"/>
          </a:xfrm>
          <a:prstGeom prst="rect">
            <a:avLst/>
          </a:prstGeom>
          <a:noFill/>
        </p:spPr>
        <p:txBody>
          <a:bodyPr wrap="none" rtlCol="0">
            <a:spAutoFit/>
          </a:bodyPr>
          <a:lstStyle/>
          <a:p>
            <a:r>
              <a:rPr lang="vi-VN" sz="1400" dirty="0">
                <a:latin typeface="Cambria" panose="02040503050406030204" pitchFamily="18" charset="0"/>
              </a:rPr>
              <a:t>Đúng</a:t>
            </a:r>
          </a:p>
        </p:txBody>
      </p:sp>
      <p:sp>
        <p:nvSpPr>
          <p:cNvPr id="103" name="TextBox 102">
            <a:extLst>
              <a:ext uri="{FF2B5EF4-FFF2-40B4-BE49-F238E27FC236}">
                <a16:creationId xmlns:a16="http://schemas.microsoft.com/office/drawing/2014/main" id="{EFD2356B-6C71-D20A-B7BA-03E3CDB08087}"/>
              </a:ext>
            </a:extLst>
          </p:cNvPr>
          <p:cNvSpPr txBox="1"/>
          <p:nvPr/>
        </p:nvSpPr>
        <p:spPr>
          <a:xfrm>
            <a:off x="3731440" y="3761499"/>
            <a:ext cx="412292" cy="307777"/>
          </a:xfrm>
          <a:prstGeom prst="rect">
            <a:avLst/>
          </a:prstGeom>
          <a:noFill/>
        </p:spPr>
        <p:txBody>
          <a:bodyPr wrap="none" rtlCol="0">
            <a:spAutoFit/>
          </a:bodyPr>
          <a:lstStyle/>
          <a:p>
            <a:r>
              <a:rPr lang="vi-VN" sz="1400" dirty="0">
                <a:latin typeface="Cambria" panose="02040503050406030204" pitchFamily="18" charset="0"/>
              </a:rPr>
              <a:t>Sai</a:t>
            </a:r>
          </a:p>
        </p:txBody>
      </p:sp>
      <p:sp>
        <p:nvSpPr>
          <p:cNvPr id="104" name="TextBox 103">
            <a:extLst>
              <a:ext uri="{FF2B5EF4-FFF2-40B4-BE49-F238E27FC236}">
                <a16:creationId xmlns:a16="http://schemas.microsoft.com/office/drawing/2014/main" id="{6B0A1939-B0DF-9AAB-3E9F-E1596FF60EB7}"/>
              </a:ext>
            </a:extLst>
          </p:cNvPr>
          <p:cNvSpPr txBox="1"/>
          <p:nvPr/>
        </p:nvSpPr>
        <p:spPr>
          <a:xfrm>
            <a:off x="8356767" y="4115623"/>
            <a:ext cx="591829" cy="307777"/>
          </a:xfrm>
          <a:prstGeom prst="rect">
            <a:avLst/>
          </a:prstGeom>
          <a:noFill/>
        </p:spPr>
        <p:txBody>
          <a:bodyPr wrap="none" rtlCol="0">
            <a:spAutoFit/>
          </a:bodyPr>
          <a:lstStyle/>
          <a:p>
            <a:r>
              <a:rPr lang="vi-VN" sz="1400" dirty="0">
                <a:latin typeface="Cambria" panose="02040503050406030204" pitchFamily="18" charset="0"/>
              </a:rPr>
              <a:t>Đúng</a:t>
            </a:r>
          </a:p>
        </p:txBody>
      </p:sp>
      <p:sp>
        <p:nvSpPr>
          <p:cNvPr id="8" name="Alternate Process 7">
            <a:extLst>
              <a:ext uri="{FF2B5EF4-FFF2-40B4-BE49-F238E27FC236}">
                <a16:creationId xmlns:a16="http://schemas.microsoft.com/office/drawing/2014/main" id="{B24CDF8B-EEFB-DA01-2574-D01EB182DB15}"/>
              </a:ext>
            </a:extLst>
          </p:cNvPr>
          <p:cNvSpPr/>
          <p:nvPr/>
        </p:nvSpPr>
        <p:spPr>
          <a:xfrm>
            <a:off x="466543" y="5918953"/>
            <a:ext cx="5056923" cy="444302"/>
          </a:xfrm>
          <a:prstGeom prst="flowChartAlternateProcess">
            <a:avLst/>
          </a:prstGeom>
        </p:spPr>
        <p:style>
          <a:lnRef idx="2">
            <a:schemeClr val="accent6"/>
          </a:lnRef>
          <a:fillRef idx="1">
            <a:schemeClr val="lt1"/>
          </a:fillRef>
          <a:effectRef idx="0">
            <a:schemeClr val="accent6"/>
          </a:effectRef>
          <a:fontRef idx="minor">
            <a:schemeClr val="dk1"/>
          </a:fontRef>
        </p:style>
        <p:txBody>
          <a:bodyPr rtlCol="0" anchor="ctr"/>
          <a:lstStyle/>
          <a:p>
            <a:pPr marL="311150"/>
            <a:r>
              <a:rPr lang="vi-VN" sz="1600" dirty="0">
                <a:solidFill>
                  <a:srgbClr val="0B6F2A"/>
                </a:solidFill>
                <a:latin typeface="Cambria" panose="02040503050406030204" pitchFamily="18" charset="0"/>
              </a:rPr>
              <a:t>Bảo dưỡng theo thời gian, số km, giờ hoạt động</a:t>
            </a:r>
          </a:p>
        </p:txBody>
      </p:sp>
      <p:sp>
        <p:nvSpPr>
          <p:cNvPr id="14" name="Oval 13">
            <a:extLst>
              <a:ext uri="{FF2B5EF4-FFF2-40B4-BE49-F238E27FC236}">
                <a16:creationId xmlns:a16="http://schemas.microsoft.com/office/drawing/2014/main" id="{EAD0315C-A128-ACB9-9A1C-678DA9ED6518}"/>
              </a:ext>
            </a:extLst>
          </p:cNvPr>
          <p:cNvSpPr/>
          <p:nvPr/>
        </p:nvSpPr>
        <p:spPr>
          <a:xfrm>
            <a:off x="240570" y="5787590"/>
            <a:ext cx="451946" cy="444302"/>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600" dirty="0">
                <a:latin typeface="Cambria" panose="02040503050406030204" pitchFamily="18" charset="0"/>
              </a:rPr>
              <a:t>1</a:t>
            </a:r>
          </a:p>
        </p:txBody>
      </p:sp>
      <p:sp>
        <p:nvSpPr>
          <p:cNvPr id="15" name="Alternate Process 14">
            <a:extLst>
              <a:ext uri="{FF2B5EF4-FFF2-40B4-BE49-F238E27FC236}">
                <a16:creationId xmlns:a16="http://schemas.microsoft.com/office/drawing/2014/main" id="{34212037-4D0C-77C4-7DC4-620197D6C558}"/>
              </a:ext>
            </a:extLst>
          </p:cNvPr>
          <p:cNvSpPr/>
          <p:nvPr/>
        </p:nvSpPr>
        <p:spPr>
          <a:xfrm>
            <a:off x="5955023" y="5972299"/>
            <a:ext cx="6142240" cy="444302"/>
          </a:xfrm>
          <a:prstGeom prst="flowChartAlternateProcess">
            <a:avLst/>
          </a:prstGeom>
        </p:spPr>
        <p:style>
          <a:lnRef idx="2">
            <a:schemeClr val="accent6"/>
          </a:lnRef>
          <a:fillRef idx="1">
            <a:schemeClr val="lt1"/>
          </a:fillRef>
          <a:effectRef idx="0">
            <a:schemeClr val="accent6"/>
          </a:effectRef>
          <a:fontRef idx="minor">
            <a:schemeClr val="dk1"/>
          </a:fontRef>
        </p:style>
        <p:txBody>
          <a:bodyPr rtlCol="0" anchor="ctr"/>
          <a:lstStyle/>
          <a:p>
            <a:pPr marL="311150"/>
            <a:r>
              <a:rPr lang="vi-VN" sz="1600" dirty="0">
                <a:solidFill>
                  <a:srgbClr val="0B6F2A"/>
                </a:solidFill>
                <a:latin typeface="Cambria" panose="02040503050406030204" pitchFamily="18" charset="0"/>
              </a:rPr>
              <a:t>Tự động dự tính chi phí chuyến đi</a:t>
            </a:r>
          </a:p>
        </p:txBody>
      </p:sp>
      <p:sp>
        <p:nvSpPr>
          <p:cNvPr id="16" name="Oval 15">
            <a:extLst>
              <a:ext uri="{FF2B5EF4-FFF2-40B4-BE49-F238E27FC236}">
                <a16:creationId xmlns:a16="http://schemas.microsoft.com/office/drawing/2014/main" id="{35F3DE8D-76EF-D1D8-5E82-F38DCD06E1AF}"/>
              </a:ext>
            </a:extLst>
          </p:cNvPr>
          <p:cNvSpPr/>
          <p:nvPr/>
        </p:nvSpPr>
        <p:spPr>
          <a:xfrm>
            <a:off x="5729050" y="5840936"/>
            <a:ext cx="451946" cy="444302"/>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600" dirty="0">
                <a:latin typeface="Cambria" panose="02040503050406030204" pitchFamily="18" charset="0"/>
              </a:rPr>
              <a:t>2</a:t>
            </a:r>
          </a:p>
        </p:txBody>
      </p:sp>
    </p:spTree>
    <p:extLst>
      <p:ext uri="{BB962C8B-B14F-4D97-AF65-F5344CB8AC3E}">
        <p14:creationId xmlns:p14="http://schemas.microsoft.com/office/powerpoint/2010/main" val="28964739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2E0287-3374-3166-E67B-496C480D6D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A8BFA4-B833-2CE8-64A1-78B325BFB769}"/>
              </a:ext>
            </a:extLst>
          </p:cNvPr>
          <p:cNvSpPr>
            <a:spLocks noGrp="1"/>
          </p:cNvSpPr>
          <p:nvPr>
            <p:ph type="title"/>
          </p:nvPr>
        </p:nvSpPr>
        <p:spPr/>
        <p:txBody>
          <a:bodyPr anchor="ctr"/>
          <a:lstStyle/>
          <a:p>
            <a:r>
              <a:rPr lang="vi-VN" dirty="0">
                <a:solidFill>
                  <a:srgbClr val="FF0000"/>
                </a:solidFill>
                <a:latin typeface="Cambria" panose="02040503050406030204" pitchFamily="18" charset="0"/>
              </a:rPr>
              <a:t>QUẢN LÝ NHIÊN LIỆU / CHI PHÍ</a:t>
            </a:r>
          </a:p>
        </p:txBody>
      </p:sp>
      <p:sp>
        <p:nvSpPr>
          <p:cNvPr id="3" name="Rectangle 2">
            <a:extLst>
              <a:ext uri="{FF2B5EF4-FFF2-40B4-BE49-F238E27FC236}">
                <a16:creationId xmlns:a16="http://schemas.microsoft.com/office/drawing/2014/main" id="{4FB67158-2E39-F2D7-100E-9227D6D83267}"/>
              </a:ext>
            </a:extLst>
          </p:cNvPr>
          <p:cNvSpPr/>
          <p:nvPr/>
        </p:nvSpPr>
        <p:spPr>
          <a:xfrm>
            <a:off x="523997" y="2475507"/>
            <a:ext cx="2446317" cy="520349"/>
          </a:xfrm>
          <a:prstGeom prst="rect">
            <a:avLst/>
          </a:prstGeom>
          <a:solidFill>
            <a:schemeClr val="accent4">
              <a:lumMod val="20000"/>
              <a:lumOff val="80000"/>
            </a:schemeClr>
          </a:solidFill>
          <a:ln>
            <a:solidFill>
              <a:srgbClr val="00682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400" dirty="0">
                <a:solidFill>
                  <a:srgbClr val="006829"/>
                </a:solidFill>
                <a:latin typeface="Cambria" panose="02040503050406030204" pitchFamily="18" charset="0"/>
              </a:rPr>
              <a:t>THÔNG TIN CHUYẾN ĐI</a:t>
            </a:r>
          </a:p>
        </p:txBody>
      </p:sp>
      <p:sp>
        <p:nvSpPr>
          <p:cNvPr id="4" name="Alternate Process 3">
            <a:extLst>
              <a:ext uri="{FF2B5EF4-FFF2-40B4-BE49-F238E27FC236}">
                <a16:creationId xmlns:a16="http://schemas.microsoft.com/office/drawing/2014/main" id="{C13B74B8-53FE-596C-0458-900C5AF246BF}"/>
              </a:ext>
            </a:extLst>
          </p:cNvPr>
          <p:cNvSpPr/>
          <p:nvPr/>
        </p:nvSpPr>
        <p:spPr>
          <a:xfrm>
            <a:off x="533711" y="1598074"/>
            <a:ext cx="2446317" cy="520349"/>
          </a:xfrm>
          <a:prstGeom prst="flowChartAlternateProcess">
            <a:avLst/>
          </a:prstGeom>
          <a:solidFill>
            <a:schemeClr val="accent6">
              <a:lumMod val="20000"/>
              <a:lumOff val="80000"/>
            </a:schemeClr>
          </a:solidFill>
          <a:ln>
            <a:solidFill>
              <a:srgbClr val="00682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400" b="1" dirty="0">
                <a:solidFill>
                  <a:srgbClr val="006829"/>
                </a:solidFill>
                <a:latin typeface="Cambria" panose="02040503050406030204" pitchFamily="18" charset="0"/>
              </a:rPr>
              <a:t>BẮT ĐẦU</a:t>
            </a:r>
          </a:p>
        </p:txBody>
      </p:sp>
      <p:sp>
        <p:nvSpPr>
          <p:cNvPr id="5" name="Decision 4">
            <a:extLst>
              <a:ext uri="{FF2B5EF4-FFF2-40B4-BE49-F238E27FC236}">
                <a16:creationId xmlns:a16="http://schemas.microsoft.com/office/drawing/2014/main" id="{526D3673-1498-5AC3-805F-7F638EC723ED}"/>
              </a:ext>
            </a:extLst>
          </p:cNvPr>
          <p:cNvSpPr/>
          <p:nvPr/>
        </p:nvSpPr>
        <p:spPr>
          <a:xfrm>
            <a:off x="4193473" y="1569280"/>
            <a:ext cx="2121259" cy="1100019"/>
          </a:xfrm>
          <a:prstGeom prst="flowChartDecision">
            <a:avLst/>
          </a:prstGeom>
          <a:solidFill>
            <a:schemeClr val="accent2">
              <a:lumMod val="40000"/>
              <a:lumOff val="60000"/>
            </a:schemeClr>
          </a:solidFill>
          <a:ln>
            <a:solidFill>
              <a:srgbClr val="00682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400" dirty="0">
                <a:solidFill>
                  <a:srgbClr val="006829"/>
                </a:solidFill>
                <a:latin typeface="Cambria" panose="02040503050406030204" pitchFamily="18" charset="0"/>
              </a:rPr>
              <a:t>ĐỊNH MỨC VƯỢT GIỚI HẠN</a:t>
            </a:r>
          </a:p>
        </p:txBody>
      </p:sp>
      <p:sp>
        <p:nvSpPr>
          <p:cNvPr id="6" name="Alternate Process 5">
            <a:extLst>
              <a:ext uri="{FF2B5EF4-FFF2-40B4-BE49-F238E27FC236}">
                <a16:creationId xmlns:a16="http://schemas.microsoft.com/office/drawing/2014/main" id="{C0BD240B-ECC0-9FFC-9652-49AE80627D20}"/>
              </a:ext>
            </a:extLst>
          </p:cNvPr>
          <p:cNvSpPr/>
          <p:nvPr/>
        </p:nvSpPr>
        <p:spPr>
          <a:xfrm>
            <a:off x="533712" y="5480332"/>
            <a:ext cx="2446317" cy="520349"/>
          </a:xfrm>
          <a:prstGeom prst="flowChartAlternateProcess">
            <a:avLst/>
          </a:prstGeom>
          <a:solidFill>
            <a:schemeClr val="accent6">
              <a:lumMod val="20000"/>
              <a:lumOff val="80000"/>
            </a:schemeClr>
          </a:solidFill>
          <a:ln>
            <a:solidFill>
              <a:srgbClr val="00682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400" b="1" dirty="0">
                <a:solidFill>
                  <a:srgbClr val="006829"/>
                </a:solidFill>
                <a:latin typeface="Cambria" panose="02040503050406030204" pitchFamily="18" charset="0"/>
              </a:rPr>
              <a:t>KẾT THÚC</a:t>
            </a:r>
          </a:p>
        </p:txBody>
      </p:sp>
      <p:sp>
        <p:nvSpPr>
          <p:cNvPr id="9" name="Rectangle 8">
            <a:extLst>
              <a:ext uri="{FF2B5EF4-FFF2-40B4-BE49-F238E27FC236}">
                <a16:creationId xmlns:a16="http://schemas.microsoft.com/office/drawing/2014/main" id="{BA274E2B-34E4-7688-C898-09E4C416F5B2}"/>
              </a:ext>
            </a:extLst>
          </p:cNvPr>
          <p:cNvSpPr/>
          <p:nvPr/>
        </p:nvSpPr>
        <p:spPr>
          <a:xfrm>
            <a:off x="9205357" y="1581589"/>
            <a:ext cx="2446317" cy="520349"/>
          </a:xfrm>
          <a:prstGeom prst="rect">
            <a:avLst/>
          </a:prstGeom>
          <a:solidFill>
            <a:schemeClr val="accent4">
              <a:lumMod val="20000"/>
              <a:lumOff val="80000"/>
            </a:schemeClr>
          </a:solidFill>
          <a:ln>
            <a:solidFill>
              <a:srgbClr val="00682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400" dirty="0">
                <a:solidFill>
                  <a:srgbClr val="006829"/>
                </a:solidFill>
                <a:latin typeface="Cambria" panose="02040503050406030204" pitchFamily="18" charset="0"/>
              </a:rPr>
              <a:t>XÁC ĐỊNH NGUYÊN NHÂN</a:t>
            </a:r>
          </a:p>
        </p:txBody>
      </p:sp>
      <p:cxnSp>
        <p:nvCxnSpPr>
          <p:cNvPr id="20" name="Straight Arrow Connector 19">
            <a:extLst>
              <a:ext uri="{FF2B5EF4-FFF2-40B4-BE49-F238E27FC236}">
                <a16:creationId xmlns:a16="http://schemas.microsoft.com/office/drawing/2014/main" id="{324CB701-4520-60D0-4AE1-1E7374E53D7A}"/>
              </a:ext>
            </a:extLst>
          </p:cNvPr>
          <p:cNvCxnSpPr>
            <a:cxnSpLocks/>
            <a:stCxn id="4" idx="2"/>
            <a:endCxn id="3" idx="0"/>
          </p:cNvCxnSpPr>
          <p:nvPr/>
        </p:nvCxnSpPr>
        <p:spPr>
          <a:xfrm flipH="1">
            <a:off x="1747156" y="2118423"/>
            <a:ext cx="9714" cy="357084"/>
          </a:xfrm>
          <a:prstGeom prst="straightConnector1">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2" name="Straight Connector 61">
            <a:extLst>
              <a:ext uri="{FF2B5EF4-FFF2-40B4-BE49-F238E27FC236}">
                <a16:creationId xmlns:a16="http://schemas.microsoft.com/office/drawing/2014/main" id="{62B70589-4F57-C86E-1D5A-612A917EC385}"/>
              </a:ext>
            </a:extLst>
          </p:cNvPr>
          <p:cNvCxnSpPr>
            <a:cxnSpLocks/>
          </p:cNvCxnSpPr>
          <p:nvPr/>
        </p:nvCxnSpPr>
        <p:spPr>
          <a:xfrm>
            <a:off x="3325091" y="1056904"/>
            <a:ext cx="0" cy="5378625"/>
          </a:xfrm>
          <a:prstGeom prst="line">
            <a:avLst/>
          </a:prstGeom>
        </p:spPr>
        <p:style>
          <a:lnRef idx="3">
            <a:schemeClr val="accent6"/>
          </a:lnRef>
          <a:fillRef idx="0">
            <a:schemeClr val="accent6"/>
          </a:fillRef>
          <a:effectRef idx="2">
            <a:schemeClr val="accent6"/>
          </a:effectRef>
          <a:fontRef idx="minor">
            <a:schemeClr val="tx1"/>
          </a:fontRef>
        </p:style>
      </p:cxnSp>
      <p:cxnSp>
        <p:nvCxnSpPr>
          <p:cNvPr id="64" name="Straight Connector 63">
            <a:extLst>
              <a:ext uri="{FF2B5EF4-FFF2-40B4-BE49-F238E27FC236}">
                <a16:creationId xmlns:a16="http://schemas.microsoft.com/office/drawing/2014/main" id="{CFE1418E-1520-283D-1686-5E305777E2AE}"/>
              </a:ext>
            </a:extLst>
          </p:cNvPr>
          <p:cNvCxnSpPr>
            <a:cxnSpLocks/>
          </p:cNvCxnSpPr>
          <p:nvPr/>
        </p:nvCxnSpPr>
        <p:spPr>
          <a:xfrm>
            <a:off x="8964881" y="1056903"/>
            <a:ext cx="0" cy="5378625"/>
          </a:xfrm>
          <a:prstGeom prst="line">
            <a:avLst/>
          </a:prstGeom>
        </p:spPr>
        <p:style>
          <a:lnRef idx="3">
            <a:schemeClr val="accent6"/>
          </a:lnRef>
          <a:fillRef idx="0">
            <a:schemeClr val="accent6"/>
          </a:fillRef>
          <a:effectRef idx="2">
            <a:schemeClr val="accent6"/>
          </a:effectRef>
          <a:fontRef idx="minor">
            <a:schemeClr val="tx1"/>
          </a:fontRef>
        </p:style>
      </p:cxnSp>
      <p:sp>
        <p:nvSpPr>
          <p:cNvPr id="65" name="TextBox 64">
            <a:extLst>
              <a:ext uri="{FF2B5EF4-FFF2-40B4-BE49-F238E27FC236}">
                <a16:creationId xmlns:a16="http://schemas.microsoft.com/office/drawing/2014/main" id="{F710B921-FB3E-0E94-4CF8-7C346DBC7BA6}"/>
              </a:ext>
            </a:extLst>
          </p:cNvPr>
          <p:cNvSpPr txBox="1"/>
          <p:nvPr/>
        </p:nvSpPr>
        <p:spPr>
          <a:xfrm>
            <a:off x="466543" y="956859"/>
            <a:ext cx="2593881" cy="307777"/>
          </a:xfrm>
          <a:prstGeom prst="rect">
            <a:avLst/>
          </a:prstGeom>
          <a:noFill/>
        </p:spPr>
        <p:txBody>
          <a:bodyPr wrap="square" rtlCol="0">
            <a:spAutoFit/>
          </a:bodyPr>
          <a:lstStyle/>
          <a:p>
            <a:pPr algn="ctr"/>
            <a:r>
              <a:rPr lang="vi-VN" sz="1400" b="1" dirty="0">
                <a:solidFill>
                  <a:srgbClr val="006829"/>
                </a:solidFill>
                <a:latin typeface="Cambria" panose="02040503050406030204" pitchFamily="18" charset="0"/>
              </a:rPr>
              <a:t>TÀI XẾ</a:t>
            </a:r>
          </a:p>
        </p:txBody>
      </p:sp>
      <p:sp>
        <p:nvSpPr>
          <p:cNvPr id="66" name="TextBox 65">
            <a:extLst>
              <a:ext uri="{FF2B5EF4-FFF2-40B4-BE49-F238E27FC236}">
                <a16:creationId xmlns:a16="http://schemas.microsoft.com/office/drawing/2014/main" id="{5D6938DD-7E08-7752-90AD-9E0096600529}"/>
              </a:ext>
            </a:extLst>
          </p:cNvPr>
          <p:cNvSpPr txBox="1"/>
          <p:nvPr/>
        </p:nvSpPr>
        <p:spPr>
          <a:xfrm>
            <a:off x="4640115" y="956859"/>
            <a:ext cx="2593881" cy="307777"/>
          </a:xfrm>
          <a:prstGeom prst="rect">
            <a:avLst/>
          </a:prstGeom>
          <a:noFill/>
        </p:spPr>
        <p:txBody>
          <a:bodyPr wrap="square" rtlCol="0">
            <a:spAutoFit/>
          </a:bodyPr>
          <a:lstStyle/>
          <a:p>
            <a:pPr algn="ctr"/>
            <a:r>
              <a:rPr lang="vi-VN" sz="1400" b="1" dirty="0">
                <a:solidFill>
                  <a:srgbClr val="006829"/>
                </a:solidFill>
                <a:latin typeface="Cambria" panose="02040503050406030204" pitchFamily="18" charset="0"/>
              </a:rPr>
              <a:t>HỆ THỐNG PHẦN MỀM</a:t>
            </a:r>
          </a:p>
        </p:txBody>
      </p:sp>
      <p:sp>
        <p:nvSpPr>
          <p:cNvPr id="67" name="TextBox 66">
            <a:extLst>
              <a:ext uri="{FF2B5EF4-FFF2-40B4-BE49-F238E27FC236}">
                <a16:creationId xmlns:a16="http://schemas.microsoft.com/office/drawing/2014/main" id="{8282EBFB-220E-E795-EEF5-61386379A44C}"/>
              </a:ext>
            </a:extLst>
          </p:cNvPr>
          <p:cNvSpPr txBox="1"/>
          <p:nvPr/>
        </p:nvSpPr>
        <p:spPr>
          <a:xfrm>
            <a:off x="9030634" y="955284"/>
            <a:ext cx="2593881" cy="523220"/>
          </a:xfrm>
          <a:prstGeom prst="rect">
            <a:avLst/>
          </a:prstGeom>
          <a:noFill/>
        </p:spPr>
        <p:txBody>
          <a:bodyPr wrap="square" rtlCol="0">
            <a:spAutoFit/>
          </a:bodyPr>
          <a:lstStyle/>
          <a:p>
            <a:pPr algn="ctr"/>
            <a:r>
              <a:rPr lang="vi-VN" sz="1400" b="1" dirty="0">
                <a:solidFill>
                  <a:srgbClr val="006829"/>
                </a:solidFill>
                <a:latin typeface="Cambria" panose="02040503050406030204" pitchFamily="18" charset="0"/>
              </a:rPr>
              <a:t>QUẢN TRỊ ĐỘI XE/ QUẢN TRỊ VĂN PHÒNG</a:t>
            </a:r>
          </a:p>
        </p:txBody>
      </p:sp>
      <p:sp>
        <p:nvSpPr>
          <p:cNvPr id="23" name="Decision 22">
            <a:extLst>
              <a:ext uri="{FF2B5EF4-FFF2-40B4-BE49-F238E27FC236}">
                <a16:creationId xmlns:a16="http://schemas.microsoft.com/office/drawing/2014/main" id="{072C1F38-2A63-EA4D-C77B-6A1B735F7AD2}"/>
              </a:ext>
            </a:extLst>
          </p:cNvPr>
          <p:cNvSpPr/>
          <p:nvPr/>
        </p:nvSpPr>
        <p:spPr>
          <a:xfrm>
            <a:off x="9452759" y="2849077"/>
            <a:ext cx="1951512" cy="1068779"/>
          </a:xfrm>
          <a:prstGeom prst="flowChartDecision">
            <a:avLst/>
          </a:prstGeom>
          <a:solidFill>
            <a:schemeClr val="accent2">
              <a:lumMod val="40000"/>
              <a:lumOff val="60000"/>
            </a:schemeClr>
          </a:solidFill>
          <a:ln>
            <a:solidFill>
              <a:srgbClr val="00682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400" dirty="0">
                <a:solidFill>
                  <a:srgbClr val="006829"/>
                </a:solidFill>
                <a:latin typeface="Cambria" panose="02040503050406030204" pitchFamily="18" charset="0"/>
              </a:rPr>
              <a:t>CẦN GIẢI TRÌNH</a:t>
            </a:r>
          </a:p>
        </p:txBody>
      </p:sp>
      <p:cxnSp>
        <p:nvCxnSpPr>
          <p:cNvPr id="35" name="Elbow Connector 34">
            <a:extLst>
              <a:ext uri="{FF2B5EF4-FFF2-40B4-BE49-F238E27FC236}">
                <a16:creationId xmlns:a16="http://schemas.microsoft.com/office/drawing/2014/main" id="{5A4C61F8-5520-F6FF-1DFC-A41152381530}"/>
              </a:ext>
            </a:extLst>
          </p:cNvPr>
          <p:cNvCxnSpPr>
            <a:cxnSpLocks/>
            <a:stCxn id="3" idx="3"/>
            <a:endCxn id="5" idx="1"/>
          </p:cNvCxnSpPr>
          <p:nvPr/>
        </p:nvCxnSpPr>
        <p:spPr>
          <a:xfrm flipV="1">
            <a:off x="2970314" y="2119290"/>
            <a:ext cx="1223159" cy="616392"/>
          </a:xfrm>
          <a:prstGeom prst="bentConnector3">
            <a:avLst>
              <a:gd name="adj1" fmla="val 50000"/>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4" name="Elbow Connector 43">
            <a:extLst>
              <a:ext uri="{FF2B5EF4-FFF2-40B4-BE49-F238E27FC236}">
                <a16:creationId xmlns:a16="http://schemas.microsoft.com/office/drawing/2014/main" id="{B1E5BF6F-56D1-AABE-2CD4-9CABE0B5CDFD}"/>
              </a:ext>
            </a:extLst>
          </p:cNvPr>
          <p:cNvCxnSpPr>
            <a:cxnSpLocks/>
            <a:stCxn id="5" idx="3"/>
            <a:endCxn id="9" idx="1"/>
          </p:cNvCxnSpPr>
          <p:nvPr/>
        </p:nvCxnSpPr>
        <p:spPr>
          <a:xfrm flipV="1">
            <a:off x="6314732" y="1841764"/>
            <a:ext cx="2890625" cy="277526"/>
          </a:xfrm>
          <a:prstGeom prst="bentConnector3">
            <a:avLst>
              <a:gd name="adj1" fmla="val 50000"/>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54" name="Straight Arrow Connector 53">
            <a:extLst>
              <a:ext uri="{FF2B5EF4-FFF2-40B4-BE49-F238E27FC236}">
                <a16:creationId xmlns:a16="http://schemas.microsoft.com/office/drawing/2014/main" id="{59C40799-CE65-3AFD-3758-BC625674A6DA}"/>
              </a:ext>
            </a:extLst>
          </p:cNvPr>
          <p:cNvCxnSpPr>
            <a:cxnSpLocks/>
            <a:stCxn id="9" idx="2"/>
            <a:endCxn id="23" idx="0"/>
          </p:cNvCxnSpPr>
          <p:nvPr/>
        </p:nvCxnSpPr>
        <p:spPr>
          <a:xfrm flipH="1">
            <a:off x="10428515" y="2101938"/>
            <a:ext cx="1" cy="747139"/>
          </a:xfrm>
          <a:prstGeom prst="straightConnector1">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02" name="TextBox 101">
            <a:extLst>
              <a:ext uri="{FF2B5EF4-FFF2-40B4-BE49-F238E27FC236}">
                <a16:creationId xmlns:a16="http://schemas.microsoft.com/office/drawing/2014/main" id="{2C12399D-59A9-7C62-6485-19277E68A2BF}"/>
              </a:ext>
            </a:extLst>
          </p:cNvPr>
          <p:cNvSpPr txBox="1"/>
          <p:nvPr/>
        </p:nvSpPr>
        <p:spPr>
          <a:xfrm>
            <a:off x="6334481" y="1794161"/>
            <a:ext cx="591829" cy="307777"/>
          </a:xfrm>
          <a:prstGeom prst="rect">
            <a:avLst/>
          </a:prstGeom>
          <a:noFill/>
        </p:spPr>
        <p:txBody>
          <a:bodyPr wrap="none" rtlCol="0">
            <a:spAutoFit/>
          </a:bodyPr>
          <a:lstStyle/>
          <a:p>
            <a:r>
              <a:rPr lang="vi-VN" sz="1400" dirty="0">
                <a:latin typeface="Cambria" panose="02040503050406030204" pitchFamily="18" charset="0"/>
              </a:rPr>
              <a:t>Đúng</a:t>
            </a:r>
          </a:p>
        </p:txBody>
      </p:sp>
      <p:cxnSp>
        <p:nvCxnSpPr>
          <p:cNvPr id="19" name="Elbow Connector 18">
            <a:extLst>
              <a:ext uri="{FF2B5EF4-FFF2-40B4-BE49-F238E27FC236}">
                <a16:creationId xmlns:a16="http://schemas.microsoft.com/office/drawing/2014/main" id="{DD241621-354A-2F2D-9B06-3DD1F23AD1A5}"/>
              </a:ext>
            </a:extLst>
          </p:cNvPr>
          <p:cNvCxnSpPr>
            <a:cxnSpLocks/>
            <a:stCxn id="5" idx="2"/>
            <a:endCxn id="6" idx="0"/>
          </p:cNvCxnSpPr>
          <p:nvPr/>
        </p:nvCxnSpPr>
        <p:spPr>
          <a:xfrm rot="5400000">
            <a:off x="2099971" y="2326199"/>
            <a:ext cx="2811033" cy="3497232"/>
          </a:xfrm>
          <a:prstGeom prst="bentConnector3">
            <a:avLst>
              <a:gd name="adj1" fmla="val 50000"/>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5" name="TextBox 24">
            <a:extLst>
              <a:ext uri="{FF2B5EF4-FFF2-40B4-BE49-F238E27FC236}">
                <a16:creationId xmlns:a16="http://schemas.microsoft.com/office/drawing/2014/main" id="{1B3B8ACC-5693-7ABA-99FD-36AE2B9A930A}"/>
              </a:ext>
            </a:extLst>
          </p:cNvPr>
          <p:cNvSpPr txBox="1"/>
          <p:nvPr/>
        </p:nvSpPr>
        <p:spPr>
          <a:xfrm>
            <a:off x="5312401" y="2645498"/>
            <a:ext cx="412292" cy="307777"/>
          </a:xfrm>
          <a:prstGeom prst="rect">
            <a:avLst/>
          </a:prstGeom>
          <a:noFill/>
        </p:spPr>
        <p:txBody>
          <a:bodyPr wrap="none" rtlCol="0">
            <a:spAutoFit/>
          </a:bodyPr>
          <a:lstStyle/>
          <a:p>
            <a:r>
              <a:rPr lang="vi-VN" sz="1400" dirty="0">
                <a:latin typeface="Cambria" panose="02040503050406030204" pitchFamily="18" charset="0"/>
              </a:rPr>
              <a:t>Sai</a:t>
            </a:r>
          </a:p>
        </p:txBody>
      </p:sp>
      <p:sp>
        <p:nvSpPr>
          <p:cNvPr id="32" name="Rectangle 31">
            <a:extLst>
              <a:ext uri="{FF2B5EF4-FFF2-40B4-BE49-F238E27FC236}">
                <a16:creationId xmlns:a16="http://schemas.microsoft.com/office/drawing/2014/main" id="{20FC6EF2-BF86-3670-3F9C-82D17F124593}"/>
              </a:ext>
            </a:extLst>
          </p:cNvPr>
          <p:cNvSpPr/>
          <p:nvPr/>
        </p:nvSpPr>
        <p:spPr>
          <a:xfrm>
            <a:off x="533711" y="3190997"/>
            <a:ext cx="2446317" cy="520349"/>
          </a:xfrm>
          <a:prstGeom prst="rect">
            <a:avLst/>
          </a:prstGeom>
          <a:solidFill>
            <a:schemeClr val="accent4">
              <a:lumMod val="20000"/>
              <a:lumOff val="80000"/>
            </a:schemeClr>
          </a:solidFill>
          <a:ln>
            <a:solidFill>
              <a:srgbClr val="00682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400" dirty="0">
                <a:solidFill>
                  <a:srgbClr val="006829"/>
                </a:solidFill>
                <a:latin typeface="Cambria" panose="02040503050406030204" pitchFamily="18" charset="0"/>
              </a:rPr>
              <a:t>GIẢI TRÌNH</a:t>
            </a:r>
          </a:p>
        </p:txBody>
      </p:sp>
      <p:cxnSp>
        <p:nvCxnSpPr>
          <p:cNvPr id="36" name="Straight Arrow Connector 35">
            <a:extLst>
              <a:ext uri="{FF2B5EF4-FFF2-40B4-BE49-F238E27FC236}">
                <a16:creationId xmlns:a16="http://schemas.microsoft.com/office/drawing/2014/main" id="{4B2D3F51-2027-8945-2F46-7A7E08AABC35}"/>
              </a:ext>
            </a:extLst>
          </p:cNvPr>
          <p:cNvCxnSpPr>
            <a:cxnSpLocks/>
            <a:stCxn id="23" idx="1"/>
            <a:endCxn id="32" idx="3"/>
          </p:cNvCxnSpPr>
          <p:nvPr/>
        </p:nvCxnSpPr>
        <p:spPr>
          <a:xfrm flipH="1">
            <a:off x="2980028" y="3383467"/>
            <a:ext cx="6472731" cy="67705"/>
          </a:xfrm>
          <a:prstGeom prst="straightConnector1">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42" name="Decision 41">
            <a:extLst>
              <a:ext uri="{FF2B5EF4-FFF2-40B4-BE49-F238E27FC236}">
                <a16:creationId xmlns:a16="http://schemas.microsoft.com/office/drawing/2014/main" id="{467D4C6B-2FE6-D0FD-5977-53F8788C68F3}"/>
              </a:ext>
            </a:extLst>
          </p:cNvPr>
          <p:cNvSpPr/>
          <p:nvPr/>
        </p:nvSpPr>
        <p:spPr>
          <a:xfrm>
            <a:off x="5815870" y="3840201"/>
            <a:ext cx="2121259" cy="1100019"/>
          </a:xfrm>
          <a:prstGeom prst="flowChartDecision">
            <a:avLst/>
          </a:prstGeom>
          <a:solidFill>
            <a:schemeClr val="accent2">
              <a:lumMod val="40000"/>
              <a:lumOff val="60000"/>
            </a:schemeClr>
          </a:solidFill>
          <a:ln>
            <a:solidFill>
              <a:srgbClr val="00682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400" dirty="0">
                <a:solidFill>
                  <a:srgbClr val="006829"/>
                </a:solidFill>
                <a:latin typeface="Cambria" panose="02040503050406030204" pitchFamily="18" charset="0"/>
              </a:rPr>
              <a:t>CHI PHÍ VƯỢT GIỚI HẠN</a:t>
            </a:r>
          </a:p>
        </p:txBody>
      </p:sp>
      <p:cxnSp>
        <p:nvCxnSpPr>
          <p:cNvPr id="43" name="Elbow Connector 42">
            <a:extLst>
              <a:ext uri="{FF2B5EF4-FFF2-40B4-BE49-F238E27FC236}">
                <a16:creationId xmlns:a16="http://schemas.microsoft.com/office/drawing/2014/main" id="{5643393D-DC87-FA91-1936-31E03013DCDF}"/>
              </a:ext>
            </a:extLst>
          </p:cNvPr>
          <p:cNvCxnSpPr>
            <a:cxnSpLocks/>
            <a:stCxn id="3" idx="3"/>
            <a:endCxn id="42" idx="1"/>
          </p:cNvCxnSpPr>
          <p:nvPr/>
        </p:nvCxnSpPr>
        <p:spPr>
          <a:xfrm>
            <a:off x="2970314" y="2735682"/>
            <a:ext cx="2845556" cy="1654529"/>
          </a:xfrm>
          <a:prstGeom prst="bentConnector3">
            <a:avLst>
              <a:gd name="adj1" fmla="val 50000"/>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7" name="Elbow Connector 46">
            <a:extLst>
              <a:ext uri="{FF2B5EF4-FFF2-40B4-BE49-F238E27FC236}">
                <a16:creationId xmlns:a16="http://schemas.microsoft.com/office/drawing/2014/main" id="{81245922-606E-0C8A-B6E9-96B553F6577D}"/>
              </a:ext>
            </a:extLst>
          </p:cNvPr>
          <p:cNvCxnSpPr>
            <a:cxnSpLocks/>
            <a:stCxn id="42" idx="0"/>
            <a:endCxn id="9" idx="1"/>
          </p:cNvCxnSpPr>
          <p:nvPr/>
        </p:nvCxnSpPr>
        <p:spPr>
          <a:xfrm rot="5400000" flipH="1" flipV="1">
            <a:off x="7041710" y="1676555"/>
            <a:ext cx="1998437" cy="2328857"/>
          </a:xfrm>
          <a:prstGeom prst="bentConnector2">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55" name="Elbow Connector 54">
            <a:extLst>
              <a:ext uri="{FF2B5EF4-FFF2-40B4-BE49-F238E27FC236}">
                <a16:creationId xmlns:a16="http://schemas.microsoft.com/office/drawing/2014/main" id="{8BC6A639-F68D-3F90-48E6-35899CDA2E85}"/>
              </a:ext>
            </a:extLst>
          </p:cNvPr>
          <p:cNvCxnSpPr>
            <a:cxnSpLocks/>
            <a:stCxn id="23" idx="2"/>
            <a:endCxn id="6" idx="3"/>
          </p:cNvCxnSpPr>
          <p:nvPr/>
        </p:nvCxnSpPr>
        <p:spPr>
          <a:xfrm rot="5400000">
            <a:off x="5792947" y="1104938"/>
            <a:ext cx="1822651" cy="7448486"/>
          </a:xfrm>
          <a:prstGeom prst="bentConnector2">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59" name="TextBox 58">
            <a:extLst>
              <a:ext uri="{FF2B5EF4-FFF2-40B4-BE49-F238E27FC236}">
                <a16:creationId xmlns:a16="http://schemas.microsoft.com/office/drawing/2014/main" id="{1DDD16AC-95B5-B20B-DF63-A828E5901016}"/>
              </a:ext>
            </a:extLst>
          </p:cNvPr>
          <p:cNvSpPr txBox="1"/>
          <p:nvPr/>
        </p:nvSpPr>
        <p:spPr>
          <a:xfrm>
            <a:off x="8344174" y="3088088"/>
            <a:ext cx="380232" cy="307777"/>
          </a:xfrm>
          <a:prstGeom prst="rect">
            <a:avLst/>
          </a:prstGeom>
          <a:noFill/>
        </p:spPr>
        <p:txBody>
          <a:bodyPr wrap="none" rtlCol="0">
            <a:spAutoFit/>
          </a:bodyPr>
          <a:lstStyle/>
          <a:p>
            <a:r>
              <a:rPr lang="vi-VN" sz="1400" dirty="0">
                <a:latin typeface="Cambria" panose="02040503050406030204" pitchFamily="18" charset="0"/>
              </a:rPr>
              <a:t>Có</a:t>
            </a:r>
          </a:p>
        </p:txBody>
      </p:sp>
      <p:sp>
        <p:nvSpPr>
          <p:cNvPr id="60" name="TextBox 59">
            <a:extLst>
              <a:ext uri="{FF2B5EF4-FFF2-40B4-BE49-F238E27FC236}">
                <a16:creationId xmlns:a16="http://schemas.microsoft.com/office/drawing/2014/main" id="{C9D7BE80-20B3-0841-41FF-09DD9384AFDA}"/>
              </a:ext>
            </a:extLst>
          </p:cNvPr>
          <p:cNvSpPr txBox="1"/>
          <p:nvPr/>
        </p:nvSpPr>
        <p:spPr>
          <a:xfrm>
            <a:off x="9652637" y="5408929"/>
            <a:ext cx="679994" cy="307777"/>
          </a:xfrm>
          <a:prstGeom prst="rect">
            <a:avLst/>
          </a:prstGeom>
          <a:noFill/>
        </p:spPr>
        <p:txBody>
          <a:bodyPr wrap="none" rtlCol="0">
            <a:spAutoFit/>
          </a:bodyPr>
          <a:lstStyle/>
          <a:p>
            <a:r>
              <a:rPr lang="vi-VN" sz="1400" dirty="0">
                <a:latin typeface="Cambria" panose="02040503050406030204" pitchFamily="18" charset="0"/>
              </a:rPr>
              <a:t>Không</a:t>
            </a:r>
          </a:p>
        </p:txBody>
      </p:sp>
      <p:cxnSp>
        <p:nvCxnSpPr>
          <p:cNvPr id="61" name="Straight Arrow Connector 60">
            <a:extLst>
              <a:ext uri="{FF2B5EF4-FFF2-40B4-BE49-F238E27FC236}">
                <a16:creationId xmlns:a16="http://schemas.microsoft.com/office/drawing/2014/main" id="{9EB9CE03-BF27-9ED1-035E-5870BF233AD3}"/>
              </a:ext>
            </a:extLst>
          </p:cNvPr>
          <p:cNvCxnSpPr>
            <a:cxnSpLocks/>
            <a:stCxn id="32" idx="2"/>
            <a:endCxn id="6" idx="0"/>
          </p:cNvCxnSpPr>
          <p:nvPr/>
        </p:nvCxnSpPr>
        <p:spPr>
          <a:xfrm>
            <a:off x="1756870" y="3711346"/>
            <a:ext cx="1" cy="1768986"/>
          </a:xfrm>
          <a:prstGeom prst="straightConnector1">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7" name="Alternate Process 6">
            <a:extLst>
              <a:ext uri="{FF2B5EF4-FFF2-40B4-BE49-F238E27FC236}">
                <a16:creationId xmlns:a16="http://schemas.microsoft.com/office/drawing/2014/main" id="{6FFD20E3-1B4E-929E-35D1-8D775B400818}"/>
              </a:ext>
            </a:extLst>
          </p:cNvPr>
          <p:cNvSpPr/>
          <p:nvPr/>
        </p:nvSpPr>
        <p:spPr>
          <a:xfrm>
            <a:off x="533711" y="6248455"/>
            <a:ext cx="11415273" cy="444302"/>
          </a:xfrm>
          <a:prstGeom prst="flowChartAlternateProcess">
            <a:avLst/>
          </a:prstGeom>
        </p:spPr>
        <p:style>
          <a:lnRef idx="2">
            <a:schemeClr val="accent6"/>
          </a:lnRef>
          <a:fillRef idx="1">
            <a:schemeClr val="lt1"/>
          </a:fillRef>
          <a:effectRef idx="0">
            <a:schemeClr val="accent6"/>
          </a:effectRef>
          <a:fontRef idx="minor">
            <a:schemeClr val="dk1"/>
          </a:fontRef>
        </p:style>
        <p:txBody>
          <a:bodyPr rtlCol="0" anchor="ctr"/>
          <a:lstStyle/>
          <a:p>
            <a:pPr marL="311150"/>
            <a:r>
              <a:rPr lang="vi-VN" sz="1400" i="1" dirty="0">
                <a:solidFill>
                  <a:srgbClr val="0B6F2A"/>
                </a:solidFill>
                <a:latin typeface="Cambria" panose="02040503050406030204" pitchFamily="18" charset="0"/>
              </a:rPr>
              <a:t>Chi phí hiện tại được phân bổ theo cấp chuyến; </a:t>
            </a:r>
            <a:r>
              <a:rPr lang="en-VN" sz="1400" i="1" dirty="0">
                <a:solidFill>
                  <a:srgbClr val="0B6F2A"/>
                </a:solidFill>
                <a:latin typeface="Cambria" panose="02040503050406030204" pitchFamily="18" charset="0"/>
              </a:rPr>
              <a:t>hệ thống có thể phân bổ xuống Phiếu theo quy tắc cấu hình.</a:t>
            </a:r>
            <a:endParaRPr lang="vi-VN" sz="1400" i="1" dirty="0">
              <a:solidFill>
                <a:srgbClr val="0B6F2A"/>
              </a:solidFill>
              <a:latin typeface="Cambria" panose="02040503050406030204" pitchFamily="18" charset="0"/>
            </a:endParaRPr>
          </a:p>
        </p:txBody>
      </p:sp>
      <p:sp>
        <p:nvSpPr>
          <p:cNvPr id="8" name="Oval 7">
            <a:extLst>
              <a:ext uri="{FF2B5EF4-FFF2-40B4-BE49-F238E27FC236}">
                <a16:creationId xmlns:a16="http://schemas.microsoft.com/office/drawing/2014/main" id="{3CCCECFC-8DA4-5D26-70B3-8CFC03899F3A}"/>
              </a:ext>
            </a:extLst>
          </p:cNvPr>
          <p:cNvSpPr/>
          <p:nvPr/>
        </p:nvSpPr>
        <p:spPr>
          <a:xfrm>
            <a:off x="307738" y="6117092"/>
            <a:ext cx="458378" cy="444302"/>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latin typeface="Cambria" panose="02040503050406030204" pitchFamily="18" charset="0"/>
              </a:rPr>
              <a:t>1</a:t>
            </a:r>
          </a:p>
        </p:txBody>
      </p:sp>
    </p:spTree>
    <p:extLst>
      <p:ext uri="{BB962C8B-B14F-4D97-AF65-F5344CB8AC3E}">
        <p14:creationId xmlns:p14="http://schemas.microsoft.com/office/powerpoint/2010/main" val="3289670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1F2C49-3EA4-BAEE-F786-A89DED7452EE}"/>
            </a:ext>
          </a:extLst>
        </p:cNvPr>
        <p:cNvGrpSpPr/>
        <p:nvPr/>
      </p:nvGrpSpPr>
      <p:grpSpPr>
        <a:xfrm>
          <a:off x="0" y="0"/>
          <a:ext cx="0" cy="0"/>
          <a:chOff x="0" y="0"/>
          <a:chExt cx="0" cy="0"/>
        </a:xfrm>
      </p:grpSpPr>
      <p:pic>
        <p:nvPicPr>
          <p:cNvPr id="2" name="Image 0" descr="/home/claude/work/assets/bg_content.jpeg">
            <a:extLst>
              <a:ext uri="{FF2B5EF4-FFF2-40B4-BE49-F238E27FC236}">
                <a16:creationId xmlns:a16="http://schemas.microsoft.com/office/drawing/2014/main" id="{E8BD9BBF-988A-2B3A-DB90-8BFF120CBAC1}"/>
              </a:ext>
            </a:extLst>
          </p:cNvPr>
          <p:cNvPicPr>
            <a:picLocks noChangeAspect="1"/>
          </p:cNvPicPr>
          <p:nvPr/>
        </p:nvPicPr>
        <p:blipFill>
          <a:blip r:embed="rId3"/>
          <a:stretch>
            <a:fillRect/>
          </a:stretch>
        </p:blipFill>
        <p:spPr>
          <a:xfrm>
            <a:off x="0" y="0"/>
            <a:ext cx="12191695" cy="7062395"/>
          </a:xfrm>
          <a:prstGeom prst="rect">
            <a:avLst/>
          </a:prstGeom>
        </p:spPr>
      </p:pic>
      <p:sp>
        <p:nvSpPr>
          <p:cNvPr id="3" name="Text 0">
            <a:extLst>
              <a:ext uri="{FF2B5EF4-FFF2-40B4-BE49-F238E27FC236}">
                <a16:creationId xmlns:a16="http://schemas.microsoft.com/office/drawing/2014/main" id="{9EFC4009-200A-4512-C1B8-959E5C0EBE41}"/>
              </a:ext>
            </a:extLst>
          </p:cNvPr>
          <p:cNvSpPr/>
          <p:nvPr/>
        </p:nvSpPr>
        <p:spPr>
          <a:xfrm>
            <a:off x="1325508" y="109261"/>
            <a:ext cx="11612880" cy="594360"/>
          </a:xfrm>
          <a:prstGeom prst="rect">
            <a:avLst/>
          </a:prstGeom>
          <a:noFill/>
          <a:ln/>
        </p:spPr>
        <p:txBody>
          <a:bodyPr wrap="square" lIns="0" tIns="0" rIns="0" bIns="0" rtlCol="0" anchor="ctr"/>
          <a:lstStyle/>
          <a:p>
            <a:pPr marL="0" indent="0" algn="ctr">
              <a:buNone/>
            </a:pPr>
            <a:r>
              <a:rPr lang="en-US" sz="1900" b="1" dirty="0">
                <a:solidFill>
                  <a:srgbClr val="FF0000"/>
                </a:solidFill>
                <a:latin typeface="Cambria" panose="02040503050406030204" pitchFamily="18" charset="0"/>
              </a:rPr>
              <a:t>PHỤ LỤC – DỮ LIỆU ĐẦU VÀO CHO HỆ THỐNG</a:t>
            </a:r>
          </a:p>
        </p:txBody>
      </p:sp>
      <p:sp>
        <p:nvSpPr>
          <p:cNvPr id="30" name="Text 27">
            <a:extLst>
              <a:ext uri="{FF2B5EF4-FFF2-40B4-BE49-F238E27FC236}">
                <a16:creationId xmlns:a16="http://schemas.microsoft.com/office/drawing/2014/main" id="{CDB1C759-7359-2563-722A-9BA8A1C3DBFB}"/>
              </a:ext>
            </a:extLst>
          </p:cNvPr>
          <p:cNvSpPr/>
          <p:nvPr/>
        </p:nvSpPr>
        <p:spPr>
          <a:xfrm>
            <a:off x="274320" y="6537960"/>
            <a:ext cx="8229600" cy="274320"/>
          </a:xfrm>
          <a:prstGeom prst="rect">
            <a:avLst/>
          </a:prstGeom>
          <a:noFill/>
          <a:ln/>
        </p:spPr>
        <p:txBody>
          <a:bodyPr wrap="square" lIns="0" tIns="0" rIns="0" bIns="0" rtlCol="0" anchor="ctr"/>
          <a:lstStyle/>
          <a:p>
            <a:pPr marL="0" indent="0" algn="l">
              <a:buNone/>
            </a:pPr>
            <a:r>
              <a:rPr lang="en-US" sz="800" dirty="0">
                <a:solidFill>
                  <a:srgbClr val="999999"/>
                </a:solidFill>
                <a:latin typeface="Cambria" pitchFamily="34" charset="0"/>
                <a:ea typeface="Cambria" pitchFamily="34" charset="-122"/>
                <a:cs typeface="Cambria" pitchFamily="34" charset="-120"/>
              </a:rPr>
              <a:t>VMS – Vehicle Management System | THACO AGRI – KLH Koun Mom</a:t>
            </a:r>
            <a:endParaRPr lang="en-US" sz="800" dirty="0"/>
          </a:p>
        </p:txBody>
      </p:sp>
      <p:sp>
        <p:nvSpPr>
          <p:cNvPr id="31" name="Text 28">
            <a:extLst>
              <a:ext uri="{FF2B5EF4-FFF2-40B4-BE49-F238E27FC236}">
                <a16:creationId xmlns:a16="http://schemas.microsoft.com/office/drawing/2014/main" id="{D0E24EAB-646B-A052-C3C1-D43423FBA07F}"/>
              </a:ext>
            </a:extLst>
          </p:cNvPr>
          <p:cNvSpPr/>
          <p:nvPr/>
        </p:nvSpPr>
        <p:spPr>
          <a:xfrm>
            <a:off x="11521440" y="6537960"/>
            <a:ext cx="457200" cy="274320"/>
          </a:xfrm>
          <a:prstGeom prst="rect">
            <a:avLst/>
          </a:prstGeom>
          <a:noFill/>
          <a:ln/>
        </p:spPr>
        <p:txBody>
          <a:bodyPr wrap="square" lIns="0" tIns="0" rIns="0" bIns="0" rtlCol="0" anchor="ctr"/>
          <a:lstStyle/>
          <a:p>
            <a:pPr marL="0" indent="0" algn="r">
              <a:buNone/>
            </a:pPr>
            <a:r>
              <a:rPr lang="en-US" sz="800" dirty="0">
                <a:solidFill>
                  <a:srgbClr val="999999"/>
                </a:solidFill>
                <a:latin typeface="Cambria" pitchFamily="34" charset="0"/>
                <a:ea typeface="Cambria" pitchFamily="34" charset="-122"/>
                <a:cs typeface="Cambria" pitchFamily="34" charset="-120"/>
              </a:rPr>
              <a:t>9</a:t>
            </a:r>
            <a:endParaRPr lang="en-US" sz="800" dirty="0"/>
          </a:p>
        </p:txBody>
      </p:sp>
      <p:graphicFrame>
        <p:nvGraphicFramePr>
          <p:cNvPr id="32" name="Table 31">
            <a:extLst>
              <a:ext uri="{FF2B5EF4-FFF2-40B4-BE49-F238E27FC236}">
                <a16:creationId xmlns:a16="http://schemas.microsoft.com/office/drawing/2014/main" id="{C61AD9FA-6DA8-DC6C-7244-AE2BCBA60A93}"/>
              </a:ext>
            </a:extLst>
          </p:cNvPr>
          <p:cNvGraphicFramePr>
            <a:graphicFrameLocks noGrp="1"/>
          </p:cNvGraphicFramePr>
          <p:nvPr>
            <p:extLst>
              <p:ext uri="{D42A27DB-BD31-4B8C-83A1-F6EECF244321}">
                <p14:modId xmlns:p14="http://schemas.microsoft.com/office/powerpoint/2010/main" val="3196036389"/>
              </p:ext>
            </p:extLst>
          </p:nvPr>
        </p:nvGraphicFramePr>
        <p:xfrm>
          <a:off x="274320" y="1182245"/>
          <a:ext cx="1909482" cy="2595880"/>
        </p:xfrm>
        <a:graphic>
          <a:graphicData uri="http://schemas.openxmlformats.org/drawingml/2006/table">
            <a:tbl>
              <a:tblPr firstRow="1" bandRow="1">
                <a:tableStyleId>{5C22544A-7EE6-4342-B048-85BDC9FD1C3A}</a:tableStyleId>
              </a:tblPr>
              <a:tblGrid>
                <a:gridCol w="1909482">
                  <a:extLst>
                    <a:ext uri="{9D8B030D-6E8A-4147-A177-3AD203B41FA5}">
                      <a16:colId xmlns:a16="http://schemas.microsoft.com/office/drawing/2014/main" val="1989018283"/>
                    </a:ext>
                  </a:extLst>
                </a:gridCol>
              </a:tblGrid>
              <a:tr h="370840">
                <a:tc>
                  <a:txBody>
                    <a:bodyPr/>
                    <a:lstStyle/>
                    <a:p>
                      <a:pPr algn="ctr"/>
                      <a:r>
                        <a:rPr lang="vi-VN" sz="1400" dirty="0">
                          <a:latin typeface="Cambria" panose="02040503050406030204" pitchFamily="18" charset="0"/>
                        </a:rPr>
                        <a:t>THÔNG TIN TÀI XẾ</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006829"/>
                    </a:solidFill>
                  </a:tcPr>
                </a:tc>
                <a:extLst>
                  <a:ext uri="{0D108BD9-81ED-4DB2-BD59-A6C34878D82A}">
                    <a16:rowId xmlns:a16="http://schemas.microsoft.com/office/drawing/2014/main" val="295086232"/>
                  </a:ext>
                </a:extLst>
              </a:tr>
              <a:tr h="370840">
                <a:tc>
                  <a:txBody>
                    <a:bodyPr/>
                    <a:lstStyle/>
                    <a:p>
                      <a:pPr algn="l"/>
                      <a:r>
                        <a:rPr lang="vi-VN" sz="1400" dirty="0">
                          <a:latin typeface="Cambria" panose="02040503050406030204" pitchFamily="18" charset="0"/>
                        </a:rPr>
                        <a:t>MSNV</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515059848"/>
                  </a:ext>
                </a:extLst>
              </a:tr>
              <a:tr h="370840">
                <a:tc>
                  <a:txBody>
                    <a:bodyPr/>
                    <a:lstStyle/>
                    <a:p>
                      <a:pPr algn="l"/>
                      <a:r>
                        <a:rPr lang="vi-VN" sz="1400" dirty="0">
                          <a:latin typeface="Cambria" panose="02040503050406030204" pitchFamily="18" charset="0"/>
                        </a:rPr>
                        <a:t>Họ và tên</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421651716"/>
                  </a:ext>
                </a:extLst>
              </a:tr>
              <a:tr h="370840">
                <a:tc>
                  <a:txBody>
                    <a:bodyPr/>
                    <a:lstStyle/>
                    <a:p>
                      <a:pPr algn="l"/>
                      <a:r>
                        <a:rPr lang="vi-VN" sz="1400" dirty="0">
                          <a:latin typeface="Cambria" panose="02040503050406030204" pitchFamily="18" charset="0"/>
                        </a:rPr>
                        <a:t>Bằng cấp</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8274789"/>
                  </a:ext>
                </a:extLst>
              </a:tr>
              <a:tr h="370840">
                <a:tc>
                  <a:txBody>
                    <a:bodyPr/>
                    <a:lstStyle/>
                    <a:p>
                      <a:pPr algn="l"/>
                      <a:r>
                        <a:rPr lang="vi-VN" sz="1400" dirty="0">
                          <a:latin typeface="Cambria" panose="02040503050406030204" pitchFamily="18" charset="0"/>
                        </a:rPr>
                        <a:t>Số điện thoại</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500128562"/>
                  </a:ext>
                </a:extLst>
              </a:tr>
              <a:tr h="370840">
                <a:tc>
                  <a:txBody>
                    <a:bodyPr/>
                    <a:lstStyle/>
                    <a:p>
                      <a:pPr algn="l"/>
                      <a:r>
                        <a:rPr lang="vi-VN" sz="1400" dirty="0">
                          <a:latin typeface="Cambria" panose="02040503050406030204" pitchFamily="18" charset="0"/>
                        </a:rPr>
                        <a:t>Đơn vị quản lý</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938643404"/>
                  </a:ext>
                </a:extLst>
              </a:tr>
              <a:tr h="370840">
                <a:tc>
                  <a:txBody>
                    <a:bodyPr/>
                    <a:lstStyle/>
                    <a:p>
                      <a:pPr algn="l"/>
                      <a:r>
                        <a:rPr lang="vi-VN" sz="1400" dirty="0">
                          <a:latin typeface="Cambria" panose="02040503050406030204" pitchFamily="18" charset="0"/>
                        </a:rPr>
                        <a:t>Xe quản lý</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574478487"/>
                  </a:ext>
                </a:extLst>
              </a:tr>
            </a:tbl>
          </a:graphicData>
        </a:graphic>
      </p:graphicFrame>
      <p:graphicFrame>
        <p:nvGraphicFramePr>
          <p:cNvPr id="33" name="Table 32">
            <a:extLst>
              <a:ext uri="{FF2B5EF4-FFF2-40B4-BE49-F238E27FC236}">
                <a16:creationId xmlns:a16="http://schemas.microsoft.com/office/drawing/2014/main" id="{E2D6DE9E-58CE-19F3-4DBF-A9A5672FC937}"/>
              </a:ext>
            </a:extLst>
          </p:cNvPr>
          <p:cNvGraphicFramePr>
            <a:graphicFrameLocks noGrp="1"/>
          </p:cNvGraphicFramePr>
          <p:nvPr>
            <p:extLst>
              <p:ext uri="{D42A27DB-BD31-4B8C-83A1-F6EECF244321}">
                <p14:modId xmlns:p14="http://schemas.microsoft.com/office/powerpoint/2010/main" val="1589448153"/>
              </p:ext>
            </p:extLst>
          </p:nvPr>
        </p:nvGraphicFramePr>
        <p:xfrm>
          <a:off x="2572758" y="1191906"/>
          <a:ext cx="1909482" cy="4079240"/>
        </p:xfrm>
        <a:graphic>
          <a:graphicData uri="http://schemas.openxmlformats.org/drawingml/2006/table">
            <a:tbl>
              <a:tblPr firstRow="1" bandRow="1">
                <a:tableStyleId>{5C22544A-7EE6-4342-B048-85BDC9FD1C3A}</a:tableStyleId>
              </a:tblPr>
              <a:tblGrid>
                <a:gridCol w="1909482">
                  <a:extLst>
                    <a:ext uri="{9D8B030D-6E8A-4147-A177-3AD203B41FA5}">
                      <a16:colId xmlns:a16="http://schemas.microsoft.com/office/drawing/2014/main" val="1989018283"/>
                    </a:ext>
                  </a:extLst>
                </a:gridCol>
              </a:tblGrid>
              <a:tr h="370840">
                <a:tc>
                  <a:txBody>
                    <a:bodyPr/>
                    <a:lstStyle/>
                    <a:p>
                      <a:pPr algn="ctr"/>
                      <a:r>
                        <a:rPr lang="vi-VN" sz="1400" dirty="0">
                          <a:latin typeface="Cambria" panose="02040503050406030204" pitchFamily="18" charset="0"/>
                        </a:rPr>
                        <a:t>THÔNG TIN XE</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006829"/>
                    </a:solidFill>
                  </a:tcPr>
                </a:tc>
                <a:extLst>
                  <a:ext uri="{0D108BD9-81ED-4DB2-BD59-A6C34878D82A}">
                    <a16:rowId xmlns:a16="http://schemas.microsoft.com/office/drawing/2014/main" val="295086232"/>
                  </a:ext>
                </a:extLst>
              </a:tr>
              <a:tr h="370840">
                <a:tc>
                  <a:txBody>
                    <a:bodyPr/>
                    <a:lstStyle/>
                    <a:p>
                      <a:pPr algn="l"/>
                      <a:r>
                        <a:rPr lang="vi-VN" sz="1400" dirty="0">
                          <a:latin typeface="Cambria" panose="02040503050406030204" pitchFamily="18" charset="0"/>
                        </a:rPr>
                        <a:t>Biển số</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515059848"/>
                  </a:ext>
                </a:extLst>
              </a:tr>
              <a:tr h="370840">
                <a:tc>
                  <a:txBody>
                    <a:bodyPr/>
                    <a:lstStyle/>
                    <a:p>
                      <a:pPr algn="l"/>
                      <a:r>
                        <a:rPr lang="vi-VN" sz="1400" dirty="0">
                          <a:latin typeface="Cambria" panose="02040503050406030204" pitchFamily="18" charset="0"/>
                        </a:rPr>
                        <a:t>Hãng xe</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421651716"/>
                  </a:ext>
                </a:extLst>
              </a:tr>
              <a:tr h="370840">
                <a:tc>
                  <a:txBody>
                    <a:bodyPr/>
                    <a:lstStyle/>
                    <a:p>
                      <a:pPr algn="l"/>
                      <a:r>
                        <a:rPr lang="vi-VN" sz="1400" dirty="0">
                          <a:latin typeface="Cambria" panose="02040503050406030204" pitchFamily="18" charset="0"/>
                        </a:rPr>
                        <a:t>Số chỗ</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8274789"/>
                  </a:ext>
                </a:extLst>
              </a:tr>
              <a:tr h="370840">
                <a:tc>
                  <a:txBody>
                    <a:bodyPr/>
                    <a:lstStyle/>
                    <a:p>
                      <a:pPr algn="l"/>
                      <a:r>
                        <a:rPr lang="vi-VN" sz="1400" dirty="0">
                          <a:latin typeface="Cambria" panose="02040503050406030204" pitchFamily="18" charset="0"/>
                        </a:rPr>
                        <a:t>Bảo hiểm</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500128562"/>
                  </a:ext>
                </a:extLst>
              </a:tr>
              <a:tr h="370840">
                <a:tc>
                  <a:txBody>
                    <a:bodyPr/>
                    <a:lstStyle/>
                    <a:p>
                      <a:pPr algn="l"/>
                      <a:r>
                        <a:rPr lang="vi-VN" sz="1400" dirty="0">
                          <a:latin typeface="Cambria" panose="02040503050406030204" pitchFamily="18" charset="0"/>
                        </a:rPr>
                        <a:t>Hạn bảo hiểm</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938643404"/>
                  </a:ext>
                </a:extLst>
              </a:tr>
              <a:tr h="370840">
                <a:tc>
                  <a:txBody>
                    <a:bodyPr/>
                    <a:lstStyle/>
                    <a:p>
                      <a:pPr algn="l"/>
                      <a:r>
                        <a:rPr lang="vi-VN" sz="1400" dirty="0">
                          <a:latin typeface="Cambria" panose="02040503050406030204" pitchFamily="18" charset="0"/>
                        </a:rPr>
                        <a:t>Hạn đăng kiểm</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63432991"/>
                  </a:ext>
                </a:extLst>
              </a:tr>
              <a:tr h="370840">
                <a:tc>
                  <a:txBody>
                    <a:bodyPr/>
                    <a:lstStyle/>
                    <a:p>
                      <a:pPr algn="l"/>
                      <a:r>
                        <a:rPr lang="vi-VN" sz="1400" dirty="0">
                          <a:latin typeface="Cambria" panose="02040503050406030204" pitchFamily="18" charset="0"/>
                        </a:rPr>
                        <a:t>Hạn làm Transit</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467073145"/>
                  </a:ext>
                </a:extLst>
              </a:tr>
              <a:tr h="370840">
                <a:tc>
                  <a:txBody>
                    <a:bodyPr/>
                    <a:lstStyle/>
                    <a:p>
                      <a:pPr algn="l"/>
                      <a:r>
                        <a:rPr lang="vi-VN" sz="1400" dirty="0">
                          <a:latin typeface="Cambria" panose="02040503050406030204" pitchFamily="18" charset="0"/>
                        </a:rPr>
                        <a:t>Hạn mức nhiên liệu</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141903146"/>
                  </a:ext>
                </a:extLst>
              </a:tr>
              <a:tr h="370840">
                <a:tc>
                  <a:txBody>
                    <a:bodyPr/>
                    <a:lstStyle/>
                    <a:p>
                      <a:pPr algn="l"/>
                      <a:r>
                        <a:rPr lang="vi-VN" sz="1400" dirty="0">
                          <a:latin typeface="Cambria" panose="02040503050406030204" pitchFamily="18" charset="0"/>
                        </a:rPr>
                        <a:t>Loại thiết bị GPS</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727308672"/>
                  </a:ext>
                </a:extLst>
              </a:tr>
              <a:tr h="370840">
                <a:tc>
                  <a:txBody>
                    <a:bodyPr/>
                    <a:lstStyle/>
                    <a:p>
                      <a:pPr algn="l"/>
                      <a:r>
                        <a:rPr lang="vi-VN" sz="1400" dirty="0">
                          <a:latin typeface="Cambria" panose="02040503050406030204" pitchFamily="18" charset="0"/>
                        </a:rPr>
                        <a:t>ID GPS</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291467828"/>
                  </a:ext>
                </a:extLst>
              </a:tr>
            </a:tbl>
          </a:graphicData>
        </a:graphic>
      </p:graphicFrame>
      <p:graphicFrame>
        <p:nvGraphicFramePr>
          <p:cNvPr id="34" name="Table 33">
            <a:extLst>
              <a:ext uri="{FF2B5EF4-FFF2-40B4-BE49-F238E27FC236}">
                <a16:creationId xmlns:a16="http://schemas.microsoft.com/office/drawing/2014/main" id="{B20A60C5-14E1-7707-356B-2FC6D5A7475C}"/>
              </a:ext>
            </a:extLst>
          </p:cNvPr>
          <p:cNvGraphicFramePr>
            <a:graphicFrameLocks noGrp="1"/>
          </p:cNvGraphicFramePr>
          <p:nvPr>
            <p:extLst>
              <p:ext uri="{D42A27DB-BD31-4B8C-83A1-F6EECF244321}">
                <p14:modId xmlns:p14="http://schemas.microsoft.com/office/powerpoint/2010/main" val="2656458664"/>
              </p:ext>
            </p:extLst>
          </p:nvPr>
        </p:nvGraphicFramePr>
        <p:xfrm>
          <a:off x="4871197" y="1191906"/>
          <a:ext cx="1909482" cy="2372360"/>
        </p:xfrm>
        <a:graphic>
          <a:graphicData uri="http://schemas.openxmlformats.org/drawingml/2006/table">
            <a:tbl>
              <a:tblPr firstRow="1" bandRow="1">
                <a:tableStyleId>{5C22544A-7EE6-4342-B048-85BDC9FD1C3A}</a:tableStyleId>
              </a:tblPr>
              <a:tblGrid>
                <a:gridCol w="1909482">
                  <a:extLst>
                    <a:ext uri="{9D8B030D-6E8A-4147-A177-3AD203B41FA5}">
                      <a16:colId xmlns:a16="http://schemas.microsoft.com/office/drawing/2014/main" val="1989018283"/>
                    </a:ext>
                  </a:extLst>
                </a:gridCol>
              </a:tblGrid>
              <a:tr h="370840">
                <a:tc>
                  <a:txBody>
                    <a:bodyPr/>
                    <a:lstStyle/>
                    <a:p>
                      <a:pPr algn="ctr"/>
                      <a:r>
                        <a:rPr lang="vi-VN" sz="1400" dirty="0">
                          <a:latin typeface="Cambria" panose="02040503050406030204" pitchFamily="18" charset="0"/>
                        </a:rPr>
                        <a:t>CẤU HÌNH ĐIỂM ĐI/ĐẾN</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006829"/>
                    </a:solidFill>
                  </a:tcPr>
                </a:tc>
                <a:extLst>
                  <a:ext uri="{0D108BD9-81ED-4DB2-BD59-A6C34878D82A}">
                    <a16:rowId xmlns:a16="http://schemas.microsoft.com/office/drawing/2014/main" val="295086232"/>
                  </a:ext>
                </a:extLst>
              </a:tr>
              <a:tr h="370840">
                <a:tc>
                  <a:txBody>
                    <a:bodyPr/>
                    <a:lstStyle/>
                    <a:p>
                      <a:pPr algn="l"/>
                      <a:r>
                        <a:rPr lang="vi-VN" sz="1400" dirty="0">
                          <a:latin typeface="Cambria" panose="02040503050406030204" pitchFamily="18" charset="0"/>
                        </a:rPr>
                        <a:t>Tên điểm</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515059848"/>
                  </a:ext>
                </a:extLst>
              </a:tr>
              <a:tr h="370840">
                <a:tc>
                  <a:txBody>
                    <a:bodyPr/>
                    <a:lstStyle/>
                    <a:p>
                      <a:pPr algn="l"/>
                      <a:r>
                        <a:rPr lang="vi-VN" sz="1400" dirty="0">
                          <a:latin typeface="Cambria" panose="02040503050406030204" pitchFamily="18" charset="0"/>
                        </a:rPr>
                        <a:t>Kinh độ</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421651716"/>
                  </a:ext>
                </a:extLst>
              </a:tr>
              <a:tr h="370840">
                <a:tc>
                  <a:txBody>
                    <a:bodyPr/>
                    <a:lstStyle/>
                    <a:p>
                      <a:pPr algn="l"/>
                      <a:r>
                        <a:rPr lang="vi-VN" sz="1400" dirty="0">
                          <a:latin typeface="Cambria" panose="02040503050406030204" pitchFamily="18" charset="0"/>
                        </a:rPr>
                        <a:t>Vĩ độ</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8274789"/>
                  </a:ext>
                </a:extLst>
              </a:tr>
              <a:tr h="370840">
                <a:tc>
                  <a:txBody>
                    <a:bodyPr/>
                    <a:lstStyle/>
                    <a:p>
                      <a:pPr algn="l"/>
                      <a:r>
                        <a:rPr lang="vi-VN" sz="1400" dirty="0">
                          <a:latin typeface="Cambria" panose="02040503050406030204" pitchFamily="18" charset="0"/>
                        </a:rPr>
                        <a:t>Quốc gia</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500128562"/>
                  </a:ext>
                </a:extLst>
              </a:tr>
              <a:tr h="370840">
                <a:tc>
                  <a:txBody>
                    <a:bodyPr/>
                    <a:lstStyle/>
                    <a:p>
                      <a:pPr algn="l"/>
                      <a:r>
                        <a:rPr lang="vi-VN" sz="1400" dirty="0">
                          <a:latin typeface="Cambria" panose="02040503050406030204" pitchFamily="18" charset="0"/>
                        </a:rPr>
                        <a:t>Khu vực</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416311038"/>
                  </a:ext>
                </a:extLst>
              </a:tr>
            </a:tbl>
          </a:graphicData>
        </a:graphic>
      </p:graphicFrame>
      <p:graphicFrame>
        <p:nvGraphicFramePr>
          <p:cNvPr id="37" name="Table 36">
            <a:extLst>
              <a:ext uri="{FF2B5EF4-FFF2-40B4-BE49-F238E27FC236}">
                <a16:creationId xmlns:a16="http://schemas.microsoft.com/office/drawing/2014/main" id="{4C245D7B-E5D3-FA40-6BC4-DFDA3F4B0477}"/>
              </a:ext>
            </a:extLst>
          </p:cNvPr>
          <p:cNvGraphicFramePr>
            <a:graphicFrameLocks noGrp="1"/>
          </p:cNvGraphicFramePr>
          <p:nvPr>
            <p:extLst>
              <p:ext uri="{D42A27DB-BD31-4B8C-83A1-F6EECF244321}">
                <p14:modId xmlns:p14="http://schemas.microsoft.com/office/powerpoint/2010/main" val="3211976572"/>
              </p:ext>
            </p:extLst>
          </p:nvPr>
        </p:nvGraphicFramePr>
        <p:xfrm>
          <a:off x="7169636" y="1191906"/>
          <a:ext cx="1909482" cy="1483360"/>
        </p:xfrm>
        <a:graphic>
          <a:graphicData uri="http://schemas.openxmlformats.org/drawingml/2006/table">
            <a:tbl>
              <a:tblPr firstRow="1" bandRow="1">
                <a:tableStyleId>{5C22544A-7EE6-4342-B048-85BDC9FD1C3A}</a:tableStyleId>
              </a:tblPr>
              <a:tblGrid>
                <a:gridCol w="1909482">
                  <a:extLst>
                    <a:ext uri="{9D8B030D-6E8A-4147-A177-3AD203B41FA5}">
                      <a16:colId xmlns:a16="http://schemas.microsoft.com/office/drawing/2014/main" val="1989018283"/>
                    </a:ext>
                  </a:extLst>
                </a:gridCol>
              </a:tblGrid>
              <a:tr h="370840">
                <a:tc>
                  <a:txBody>
                    <a:bodyPr/>
                    <a:lstStyle/>
                    <a:p>
                      <a:pPr algn="ctr"/>
                      <a:r>
                        <a:rPr lang="vi-VN" sz="1400" dirty="0">
                          <a:latin typeface="Cambria" panose="02040503050406030204" pitchFamily="18" charset="0"/>
                        </a:rPr>
                        <a:t>LOẠI BẢO DƯỠNG</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006829"/>
                    </a:solidFill>
                  </a:tcPr>
                </a:tc>
                <a:extLst>
                  <a:ext uri="{0D108BD9-81ED-4DB2-BD59-A6C34878D82A}">
                    <a16:rowId xmlns:a16="http://schemas.microsoft.com/office/drawing/2014/main" val="295086232"/>
                  </a:ext>
                </a:extLst>
              </a:tr>
              <a:tr h="370840">
                <a:tc>
                  <a:txBody>
                    <a:bodyPr/>
                    <a:lstStyle/>
                    <a:p>
                      <a:pPr algn="l"/>
                      <a:r>
                        <a:rPr lang="vi-VN" sz="1400" dirty="0">
                          <a:latin typeface="Cambria" panose="02040503050406030204" pitchFamily="18" charset="0"/>
                        </a:rPr>
                        <a:t>Mã loại</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515059848"/>
                  </a:ext>
                </a:extLst>
              </a:tr>
              <a:tr h="370840">
                <a:tc>
                  <a:txBody>
                    <a:bodyPr/>
                    <a:lstStyle/>
                    <a:p>
                      <a:pPr algn="l"/>
                      <a:r>
                        <a:rPr lang="vi-VN" sz="1400" dirty="0">
                          <a:latin typeface="Cambria" panose="02040503050406030204" pitchFamily="18" charset="0"/>
                        </a:rPr>
                        <a:t>Tên Loại</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421651716"/>
                  </a:ext>
                </a:extLst>
              </a:tr>
              <a:tr h="370840">
                <a:tc>
                  <a:txBody>
                    <a:bodyPr/>
                    <a:lstStyle/>
                    <a:p>
                      <a:pPr algn="l"/>
                      <a:r>
                        <a:rPr lang="vi-VN" sz="1400" dirty="0">
                          <a:latin typeface="Cambria" panose="02040503050406030204" pitchFamily="18" charset="0"/>
                        </a:rPr>
                        <a:t>Thời gian định kỳ</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307198863"/>
                  </a:ext>
                </a:extLst>
              </a:tr>
            </a:tbl>
          </a:graphicData>
        </a:graphic>
      </p:graphicFrame>
      <p:graphicFrame>
        <p:nvGraphicFramePr>
          <p:cNvPr id="38" name="Table 37">
            <a:extLst>
              <a:ext uri="{FF2B5EF4-FFF2-40B4-BE49-F238E27FC236}">
                <a16:creationId xmlns:a16="http://schemas.microsoft.com/office/drawing/2014/main" id="{0D6C1F72-951B-64DE-E682-05FFF69C771B}"/>
              </a:ext>
            </a:extLst>
          </p:cNvPr>
          <p:cNvGraphicFramePr>
            <a:graphicFrameLocks noGrp="1"/>
          </p:cNvGraphicFramePr>
          <p:nvPr>
            <p:extLst>
              <p:ext uri="{D42A27DB-BD31-4B8C-83A1-F6EECF244321}">
                <p14:modId xmlns:p14="http://schemas.microsoft.com/office/powerpoint/2010/main" val="618277524"/>
              </p:ext>
            </p:extLst>
          </p:nvPr>
        </p:nvGraphicFramePr>
        <p:xfrm>
          <a:off x="9468075" y="1182245"/>
          <a:ext cx="1909482" cy="1483360"/>
        </p:xfrm>
        <a:graphic>
          <a:graphicData uri="http://schemas.openxmlformats.org/drawingml/2006/table">
            <a:tbl>
              <a:tblPr firstRow="1" bandRow="1">
                <a:tableStyleId>{5C22544A-7EE6-4342-B048-85BDC9FD1C3A}</a:tableStyleId>
              </a:tblPr>
              <a:tblGrid>
                <a:gridCol w="1909482">
                  <a:extLst>
                    <a:ext uri="{9D8B030D-6E8A-4147-A177-3AD203B41FA5}">
                      <a16:colId xmlns:a16="http://schemas.microsoft.com/office/drawing/2014/main" val="1989018283"/>
                    </a:ext>
                  </a:extLst>
                </a:gridCol>
              </a:tblGrid>
              <a:tr h="370840">
                <a:tc>
                  <a:txBody>
                    <a:bodyPr/>
                    <a:lstStyle/>
                    <a:p>
                      <a:pPr algn="ctr"/>
                      <a:r>
                        <a:rPr lang="vi-VN" sz="1400" dirty="0">
                          <a:latin typeface="Cambria" panose="02040503050406030204" pitchFamily="18" charset="0"/>
                        </a:rPr>
                        <a:t>LOẠI CHI PHÍ</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006829"/>
                    </a:solidFill>
                  </a:tcPr>
                </a:tc>
                <a:extLst>
                  <a:ext uri="{0D108BD9-81ED-4DB2-BD59-A6C34878D82A}">
                    <a16:rowId xmlns:a16="http://schemas.microsoft.com/office/drawing/2014/main" val="295086232"/>
                  </a:ext>
                </a:extLst>
              </a:tr>
              <a:tr h="370840">
                <a:tc>
                  <a:txBody>
                    <a:bodyPr/>
                    <a:lstStyle/>
                    <a:p>
                      <a:pPr algn="l"/>
                      <a:r>
                        <a:rPr lang="vi-VN" sz="1400" dirty="0">
                          <a:latin typeface="Cambria" panose="02040503050406030204" pitchFamily="18" charset="0"/>
                        </a:rPr>
                        <a:t>Mã loại</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515059848"/>
                  </a:ext>
                </a:extLst>
              </a:tr>
              <a:tr h="370840">
                <a:tc>
                  <a:txBody>
                    <a:bodyPr/>
                    <a:lstStyle/>
                    <a:p>
                      <a:pPr algn="l"/>
                      <a:r>
                        <a:rPr lang="vi-VN" sz="1400" dirty="0">
                          <a:latin typeface="Cambria" panose="02040503050406030204" pitchFamily="18" charset="0"/>
                        </a:rPr>
                        <a:t>Tên Loại</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421651716"/>
                  </a:ext>
                </a:extLst>
              </a:tr>
              <a:tr h="370840">
                <a:tc>
                  <a:txBody>
                    <a:bodyPr/>
                    <a:lstStyle/>
                    <a:p>
                      <a:pPr algn="l"/>
                      <a:r>
                        <a:rPr lang="vi-VN" sz="1400" dirty="0">
                          <a:latin typeface="Cambria" panose="02040503050406030204" pitchFamily="18" charset="0"/>
                        </a:rPr>
                        <a:t>Định mức</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307198863"/>
                  </a:ext>
                </a:extLst>
              </a:tr>
            </a:tbl>
          </a:graphicData>
        </a:graphic>
      </p:graphicFrame>
      <p:graphicFrame>
        <p:nvGraphicFramePr>
          <p:cNvPr id="39" name="Table 38">
            <a:extLst>
              <a:ext uri="{FF2B5EF4-FFF2-40B4-BE49-F238E27FC236}">
                <a16:creationId xmlns:a16="http://schemas.microsoft.com/office/drawing/2014/main" id="{9C12A6BF-2E4E-922C-20D1-959DC2120ACB}"/>
              </a:ext>
            </a:extLst>
          </p:cNvPr>
          <p:cNvGraphicFramePr>
            <a:graphicFrameLocks noGrp="1"/>
          </p:cNvGraphicFramePr>
          <p:nvPr>
            <p:extLst>
              <p:ext uri="{D42A27DB-BD31-4B8C-83A1-F6EECF244321}">
                <p14:modId xmlns:p14="http://schemas.microsoft.com/office/powerpoint/2010/main" val="1567259136"/>
              </p:ext>
            </p:extLst>
          </p:nvPr>
        </p:nvGraphicFramePr>
        <p:xfrm>
          <a:off x="4871196" y="3778125"/>
          <a:ext cx="1909482" cy="1630680"/>
        </p:xfrm>
        <a:graphic>
          <a:graphicData uri="http://schemas.openxmlformats.org/drawingml/2006/table">
            <a:tbl>
              <a:tblPr firstRow="1" bandRow="1">
                <a:tableStyleId>{5C22544A-7EE6-4342-B048-85BDC9FD1C3A}</a:tableStyleId>
              </a:tblPr>
              <a:tblGrid>
                <a:gridCol w="1909482">
                  <a:extLst>
                    <a:ext uri="{9D8B030D-6E8A-4147-A177-3AD203B41FA5}">
                      <a16:colId xmlns:a16="http://schemas.microsoft.com/office/drawing/2014/main" val="1989018283"/>
                    </a:ext>
                  </a:extLst>
                </a:gridCol>
              </a:tblGrid>
              <a:tr h="370840">
                <a:tc>
                  <a:txBody>
                    <a:bodyPr/>
                    <a:lstStyle/>
                    <a:p>
                      <a:pPr algn="ctr"/>
                      <a:r>
                        <a:rPr lang="vi-VN" sz="1400" dirty="0">
                          <a:latin typeface="Cambria" panose="02040503050406030204" pitchFamily="18" charset="0"/>
                        </a:rPr>
                        <a:t>CẤU HÌNH KHOẢNG CÁCH</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006829"/>
                    </a:solidFill>
                  </a:tcPr>
                </a:tc>
                <a:extLst>
                  <a:ext uri="{0D108BD9-81ED-4DB2-BD59-A6C34878D82A}">
                    <a16:rowId xmlns:a16="http://schemas.microsoft.com/office/drawing/2014/main" val="295086232"/>
                  </a:ext>
                </a:extLst>
              </a:tr>
              <a:tr h="370840">
                <a:tc>
                  <a:txBody>
                    <a:bodyPr/>
                    <a:lstStyle/>
                    <a:p>
                      <a:pPr algn="l"/>
                      <a:r>
                        <a:rPr lang="vi-VN" sz="1400" dirty="0">
                          <a:latin typeface="Cambria" panose="02040503050406030204" pitchFamily="18" charset="0"/>
                        </a:rPr>
                        <a:t>Điểm đi</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515059848"/>
                  </a:ext>
                </a:extLst>
              </a:tr>
              <a:tr h="370840">
                <a:tc>
                  <a:txBody>
                    <a:bodyPr/>
                    <a:lstStyle/>
                    <a:p>
                      <a:pPr algn="l"/>
                      <a:r>
                        <a:rPr lang="vi-VN" sz="1400" dirty="0">
                          <a:latin typeface="Cambria" panose="02040503050406030204" pitchFamily="18" charset="0"/>
                        </a:rPr>
                        <a:t>Điểm đến</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421651716"/>
                  </a:ext>
                </a:extLst>
              </a:tr>
              <a:tr h="370840">
                <a:tc>
                  <a:txBody>
                    <a:bodyPr/>
                    <a:lstStyle/>
                    <a:p>
                      <a:pPr algn="l"/>
                      <a:r>
                        <a:rPr lang="vi-VN" sz="1400" dirty="0">
                          <a:latin typeface="Cambria" panose="02040503050406030204" pitchFamily="18" charset="0"/>
                        </a:rPr>
                        <a:t>Khoảng cách</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8274789"/>
                  </a:ext>
                </a:extLst>
              </a:tr>
            </a:tbl>
          </a:graphicData>
        </a:graphic>
      </p:graphicFrame>
      <p:graphicFrame>
        <p:nvGraphicFramePr>
          <p:cNvPr id="40" name="Table 39">
            <a:extLst>
              <a:ext uri="{FF2B5EF4-FFF2-40B4-BE49-F238E27FC236}">
                <a16:creationId xmlns:a16="http://schemas.microsoft.com/office/drawing/2014/main" id="{EF61E7EC-A743-D006-1905-273FE1347E67}"/>
              </a:ext>
            </a:extLst>
          </p:cNvPr>
          <p:cNvGraphicFramePr>
            <a:graphicFrameLocks noGrp="1"/>
          </p:cNvGraphicFramePr>
          <p:nvPr>
            <p:extLst>
              <p:ext uri="{D42A27DB-BD31-4B8C-83A1-F6EECF244321}">
                <p14:modId xmlns:p14="http://schemas.microsoft.com/office/powerpoint/2010/main" val="880104910"/>
              </p:ext>
            </p:extLst>
          </p:nvPr>
        </p:nvGraphicFramePr>
        <p:xfrm>
          <a:off x="274320" y="4079240"/>
          <a:ext cx="1909482" cy="1854200"/>
        </p:xfrm>
        <a:graphic>
          <a:graphicData uri="http://schemas.openxmlformats.org/drawingml/2006/table">
            <a:tbl>
              <a:tblPr firstRow="1" bandRow="1">
                <a:tableStyleId>{5C22544A-7EE6-4342-B048-85BDC9FD1C3A}</a:tableStyleId>
              </a:tblPr>
              <a:tblGrid>
                <a:gridCol w="1909482">
                  <a:extLst>
                    <a:ext uri="{9D8B030D-6E8A-4147-A177-3AD203B41FA5}">
                      <a16:colId xmlns:a16="http://schemas.microsoft.com/office/drawing/2014/main" val="1989018283"/>
                    </a:ext>
                  </a:extLst>
                </a:gridCol>
              </a:tblGrid>
              <a:tr h="370840">
                <a:tc>
                  <a:txBody>
                    <a:bodyPr/>
                    <a:lstStyle/>
                    <a:p>
                      <a:pPr algn="ctr"/>
                      <a:r>
                        <a:rPr lang="vi-VN" sz="1400" dirty="0">
                          <a:latin typeface="Cambria" panose="02040503050406030204" pitchFamily="18" charset="0"/>
                        </a:rPr>
                        <a:t>TÀI KHOẢN</a:t>
                      </a:r>
                    </a:p>
                  </a:txBody>
                  <a:tcPr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006829"/>
                    </a:solidFill>
                  </a:tcPr>
                </a:tc>
                <a:extLst>
                  <a:ext uri="{0D108BD9-81ED-4DB2-BD59-A6C34878D82A}">
                    <a16:rowId xmlns:a16="http://schemas.microsoft.com/office/drawing/2014/main" val="295086232"/>
                  </a:ext>
                </a:extLst>
              </a:tr>
              <a:tr h="370840">
                <a:tc>
                  <a:txBody>
                    <a:bodyPr/>
                    <a:lstStyle/>
                    <a:p>
                      <a:pPr algn="l"/>
                      <a:r>
                        <a:rPr lang="vi-VN" sz="1400" dirty="0">
                          <a:latin typeface="Cambria" panose="02040503050406030204" pitchFamily="18" charset="0"/>
                        </a:rPr>
                        <a:t>MSNV</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515059848"/>
                  </a:ext>
                </a:extLst>
              </a:tr>
              <a:tr h="370840">
                <a:tc>
                  <a:txBody>
                    <a:bodyPr/>
                    <a:lstStyle/>
                    <a:p>
                      <a:pPr algn="l"/>
                      <a:r>
                        <a:rPr lang="vi-VN" sz="1400" dirty="0">
                          <a:latin typeface="Cambria" panose="02040503050406030204" pitchFamily="18" charset="0"/>
                        </a:rPr>
                        <a:t>Họ và tên</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421651716"/>
                  </a:ext>
                </a:extLst>
              </a:tr>
              <a:tr h="370840">
                <a:tc>
                  <a:txBody>
                    <a:bodyPr/>
                    <a:lstStyle/>
                    <a:p>
                      <a:pPr algn="l"/>
                      <a:r>
                        <a:rPr lang="vi-VN" sz="1400" dirty="0">
                          <a:latin typeface="Cambria" panose="02040503050406030204" pitchFamily="18" charset="0"/>
                        </a:rPr>
                        <a:t>Email công ty</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8274789"/>
                  </a:ext>
                </a:extLst>
              </a:tr>
              <a:tr h="370840">
                <a:tc>
                  <a:txBody>
                    <a:bodyPr/>
                    <a:lstStyle/>
                    <a:p>
                      <a:pPr algn="l"/>
                      <a:r>
                        <a:rPr lang="vi-VN" sz="1400" dirty="0">
                          <a:latin typeface="Cambria" panose="02040503050406030204" pitchFamily="18" charset="0"/>
                        </a:rPr>
                        <a:t>Khu vực quản lý</a:t>
                      </a:r>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500128562"/>
                  </a:ext>
                </a:extLst>
              </a:tr>
            </a:tbl>
          </a:graphicData>
        </a:graphic>
      </p:graphicFrame>
    </p:spTree>
    <p:extLst>
      <p:ext uri="{BB962C8B-B14F-4D97-AF65-F5344CB8AC3E}">
        <p14:creationId xmlns:p14="http://schemas.microsoft.com/office/powerpoint/2010/main" val="2716682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4017BF-C595-1993-6353-7A37590776F4}"/>
            </a:ext>
          </a:extLst>
        </p:cNvPr>
        <p:cNvGrpSpPr/>
        <p:nvPr/>
      </p:nvGrpSpPr>
      <p:grpSpPr>
        <a:xfrm>
          <a:off x="0" y="0"/>
          <a:ext cx="0" cy="0"/>
          <a:chOff x="0" y="0"/>
          <a:chExt cx="0" cy="0"/>
        </a:xfrm>
      </p:grpSpPr>
      <p:pic>
        <p:nvPicPr>
          <p:cNvPr id="2" name="Image 0" descr="/home/claude/work/assets/bg_cover.jpeg">
            <a:extLst>
              <a:ext uri="{FF2B5EF4-FFF2-40B4-BE49-F238E27FC236}">
                <a16:creationId xmlns:a16="http://schemas.microsoft.com/office/drawing/2014/main" id="{8C50ADFE-EEC3-D18E-1605-22E32E2883EE}"/>
              </a:ext>
            </a:extLst>
          </p:cNvPr>
          <p:cNvPicPr>
            <a:picLocks noChangeAspect="1"/>
          </p:cNvPicPr>
          <p:nvPr/>
        </p:nvPicPr>
        <p:blipFill>
          <a:blip r:embed="rId3"/>
          <a:stretch>
            <a:fillRect/>
          </a:stretch>
        </p:blipFill>
        <p:spPr>
          <a:xfrm>
            <a:off x="-83975" y="0"/>
            <a:ext cx="12191695" cy="6858000"/>
          </a:xfrm>
          <a:prstGeom prst="rect">
            <a:avLst/>
          </a:prstGeom>
        </p:spPr>
      </p:pic>
      <p:sp>
        <p:nvSpPr>
          <p:cNvPr id="4" name="Text 1">
            <a:extLst>
              <a:ext uri="{FF2B5EF4-FFF2-40B4-BE49-F238E27FC236}">
                <a16:creationId xmlns:a16="http://schemas.microsoft.com/office/drawing/2014/main" id="{A5F6E05B-44C3-6A30-8225-E031031E21F4}"/>
              </a:ext>
            </a:extLst>
          </p:cNvPr>
          <p:cNvSpPr/>
          <p:nvPr/>
        </p:nvSpPr>
        <p:spPr>
          <a:xfrm>
            <a:off x="640079" y="2423160"/>
            <a:ext cx="10911535" cy="1005840"/>
          </a:xfrm>
          <a:prstGeom prst="rect">
            <a:avLst/>
          </a:prstGeom>
          <a:noFill/>
          <a:ln/>
        </p:spPr>
        <p:txBody>
          <a:bodyPr wrap="square" lIns="0" tIns="0" rIns="0" bIns="0" rtlCol="0" anchor="ctr"/>
          <a:lstStyle/>
          <a:p>
            <a:pPr marL="0" indent="0" algn="ctr">
              <a:buNone/>
            </a:pPr>
            <a:r>
              <a:rPr lang="en-US" sz="4000" b="1" dirty="0">
                <a:solidFill>
                  <a:srgbClr val="0B6F2A"/>
                </a:solidFill>
                <a:latin typeface="Cambria" pitchFamily="34" charset="0"/>
                <a:ea typeface="Cambria" pitchFamily="34" charset="-122"/>
                <a:cs typeface="Cambria" pitchFamily="34" charset="-120"/>
              </a:rPr>
              <a:t>TRÂN TRỌNG CẢM ƠN</a:t>
            </a:r>
            <a:endParaRPr lang="en-US" sz="4000" dirty="0">
              <a:solidFill>
                <a:srgbClr val="0B6F2A"/>
              </a:solidFill>
            </a:endParaRPr>
          </a:p>
        </p:txBody>
      </p:sp>
      <p:sp>
        <p:nvSpPr>
          <p:cNvPr id="6" name="Text 3">
            <a:extLst>
              <a:ext uri="{FF2B5EF4-FFF2-40B4-BE49-F238E27FC236}">
                <a16:creationId xmlns:a16="http://schemas.microsoft.com/office/drawing/2014/main" id="{ED357DE4-6185-20FC-E159-48684852325A}"/>
              </a:ext>
            </a:extLst>
          </p:cNvPr>
          <p:cNvSpPr/>
          <p:nvPr/>
        </p:nvSpPr>
        <p:spPr>
          <a:xfrm>
            <a:off x="0" y="5594635"/>
            <a:ext cx="12191695" cy="640080"/>
          </a:xfrm>
          <a:prstGeom prst="rect">
            <a:avLst/>
          </a:prstGeom>
          <a:noFill/>
          <a:ln/>
        </p:spPr>
        <p:txBody>
          <a:bodyPr wrap="square" lIns="0" tIns="0" rIns="0" bIns="0" rtlCol="0" anchor="ctr"/>
          <a:lstStyle/>
          <a:p>
            <a:pPr marL="0" indent="0" algn="ctr">
              <a:lnSpc>
                <a:spcPct val="130000"/>
              </a:lnSpc>
              <a:buNone/>
            </a:pPr>
            <a:r>
              <a:rPr lang="en-US" b="1" dirty="0">
                <a:solidFill>
                  <a:srgbClr val="00682B"/>
                </a:solidFill>
                <a:latin typeface="Cambria" pitchFamily="34" charset="0"/>
                <a:ea typeface="Cambria" pitchFamily="34" charset="-122"/>
                <a:cs typeface="Cambria" pitchFamily="34" charset="-120"/>
              </a:rPr>
              <a:t>PHÒNG VẬN HÀNH SỐ </a:t>
            </a:r>
            <a:endParaRPr lang="en-US" dirty="0"/>
          </a:p>
          <a:p>
            <a:pPr marL="0" indent="0" algn="ctr">
              <a:lnSpc>
                <a:spcPct val="130000"/>
              </a:lnSpc>
              <a:buNone/>
            </a:pPr>
            <a:r>
              <a:rPr lang="en-US" sz="1400" b="1" dirty="0">
                <a:solidFill>
                  <a:srgbClr val="00682B"/>
                </a:solidFill>
                <a:latin typeface="Cambria" pitchFamily="34" charset="0"/>
                <a:ea typeface="Cambria" pitchFamily="34" charset="-122"/>
                <a:cs typeface="Cambria" pitchFamily="34" charset="-120"/>
              </a:rPr>
              <a:t>KLH Koun mom, Ratanakiri, Cambodia / 08.2026</a:t>
            </a:r>
            <a:endParaRPr lang="en-US" sz="1400" dirty="0"/>
          </a:p>
        </p:txBody>
      </p:sp>
      <p:sp>
        <p:nvSpPr>
          <p:cNvPr id="7" name="Text 4">
            <a:extLst>
              <a:ext uri="{FF2B5EF4-FFF2-40B4-BE49-F238E27FC236}">
                <a16:creationId xmlns:a16="http://schemas.microsoft.com/office/drawing/2014/main" id="{5E89EA39-01B9-C3C4-C292-B6F1A8C03CC5}"/>
              </a:ext>
            </a:extLst>
          </p:cNvPr>
          <p:cNvSpPr/>
          <p:nvPr/>
        </p:nvSpPr>
        <p:spPr>
          <a:xfrm>
            <a:off x="0" y="5943600"/>
            <a:ext cx="12191695" cy="365760"/>
          </a:xfrm>
          <a:prstGeom prst="rect">
            <a:avLst/>
          </a:prstGeom>
          <a:noFill/>
          <a:ln/>
        </p:spPr>
        <p:txBody>
          <a:bodyPr wrap="square" lIns="0" tIns="0" rIns="0" bIns="0" rtlCol="0" anchor="ctr"/>
          <a:lstStyle/>
          <a:p>
            <a:pPr marL="0" indent="0" algn="ctr">
              <a:buNone/>
            </a:pPr>
            <a:endParaRPr lang="en-US" sz="1100" dirty="0"/>
          </a:p>
        </p:txBody>
      </p:sp>
    </p:spTree>
    <p:extLst>
      <p:ext uri="{BB962C8B-B14F-4D97-AF65-F5344CB8AC3E}">
        <p14:creationId xmlns:p14="http://schemas.microsoft.com/office/powerpoint/2010/main" val="14022660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5331</TotalTime>
  <Words>2098</Words>
  <Application>Microsoft Macintosh PowerPoint</Application>
  <PresentationFormat>Widescreen</PresentationFormat>
  <Paragraphs>386</Paragraphs>
  <Slides>16</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Cambria</vt:lpstr>
      <vt:lpstr>Office Theme</vt:lpstr>
      <vt:lpstr>PowerPoint Presentation</vt:lpstr>
      <vt:lpstr>PowerPoint Presentation</vt:lpstr>
      <vt:lpstr>KHÓ KHĂN KHI QUẢN LÝ XE CÔNG VỤ</vt:lpstr>
      <vt:lpstr>DANH SÁCH THUẬT NGỮ</vt:lpstr>
      <vt:lpstr>TỔNG QUAN CÁC TÍNH NĂNG CỦA PHẦN MỀM</vt:lpstr>
      <vt:lpstr>PHÂN QUYỀN NGƯỜI DÙNG (RBAC) TRONG PHẦN MỀM</vt:lpstr>
      <vt:lpstr>PHÂN QUYỀN QUẢN LÝ THEO KHU VỰC</vt:lpstr>
      <vt:lpstr>QUY TRÌNH ĐIỀU PHỐI XE CÔNG VỤ</vt:lpstr>
      <vt:lpstr>SƠ ĐỒ HÀNH TRÌNH – ĐIỂM TRUNG CHUYỂN</vt:lpstr>
      <vt:lpstr>GHÉP CHUYẾN CÙNG HƯỚNG</vt:lpstr>
      <vt:lpstr>CÁC NỘI DUNG CẦN THỐNG NHẤT VỚI NGHIỆP VỤ</vt:lpstr>
      <vt:lpstr>PowerPoint Presentation</vt:lpstr>
      <vt:lpstr>QUY TRÌNH ĐĂNG KỂM – BẢO TRÌ</vt:lpstr>
      <vt:lpstr>QUẢN LÝ NHIÊN LIỆU / CHI PHÍ</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Office</cp:lastModifiedBy>
  <cp:revision>34</cp:revision>
  <dcterms:created xsi:type="dcterms:W3CDTF">2026-08-07T02:44:45Z</dcterms:created>
  <dcterms:modified xsi:type="dcterms:W3CDTF">2026-08-17T10:13:58Z</dcterms:modified>
</cp:coreProperties>
</file>