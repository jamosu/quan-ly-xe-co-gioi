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5df8564af546b5" /><Relationship Type="http://schemas.openxmlformats.org/officeDocument/2006/relationships/extended-properties" Target="/docProps/app.xml" Id="R6542e76a6e0d4244" /><Relationship Type="http://schemas.openxmlformats.org/officeDocument/2006/relationships/officeDocument" Target="/ppt/presentation.xml" Id="Rb374c38fb4fe4ff7" /></Relationships>
</file>

<file path=ppt/presentation.xml><?xml version="1.0" encoding="utf-8"?>
<p:presentation xmlns:p="http://schemas.openxmlformats.org/presentationml/2006/main">
  <p:sldMasterIdLst>
    <p:sldMasterId xmlns:r="http://schemas.openxmlformats.org/officeDocument/2006/relationships" id="2147483648" r:id="R80753eb908a14675"/>
  </p:sldMasterIdLst>
  <p:notesMasterIdLst>
    <p:notesMasterId xmlns:r="http://schemas.openxmlformats.org/officeDocument/2006/relationships" r:id="Rb8f452d265424dc1"/>
  </p:notesMasterIdLst>
  <p:sldIdLst>
    <p:sldId xmlns:r="http://schemas.openxmlformats.org/officeDocument/2006/relationships" id="256" r:id="R97d25ca9d220475a"/>
    <p:sldId xmlns:r="http://schemas.openxmlformats.org/officeDocument/2006/relationships" id="257" r:id="Rc687c4d2e0da43c3"/>
    <p:sldId xmlns:r="http://schemas.openxmlformats.org/officeDocument/2006/relationships" id="258" r:id="R9db99a28f5634e5c"/>
    <p:sldId xmlns:r="http://schemas.openxmlformats.org/officeDocument/2006/relationships" id="259" r:id="R2bbae43f2f0b4354"/>
    <p:sldId xmlns:r="http://schemas.openxmlformats.org/officeDocument/2006/relationships" id="260" r:id="Rfebdc430776248ac"/>
    <p:sldId xmlns:r="http://schemas.openxmlformats.org/officeDocument/2006/relationships" id="261" r:id="R910ceb46c4da49c9"/>
    <p:sldId xmlns:r="http://schemas.openxmlformats.org/officeDocument/2006/relationships" id="262" r:id="R86615eeb9a644d8d"/>
    <p:sldId xmlns:r="http://schemas.openxmlformats.org/officeDocument/2006/relationships" id="263" r:id="R44fb316bbc6e40c0"/>
    <p:sldId xmlns:r="http://schemas.openxmlformats.org/officeDocument/2006/relationships" id="264" r:id="R111df4570efc434d"/>
    <p:sldId xmlns:r="http://schemas.openxmlformats.org/officeDocument/2006/relationships" id="265" r:id="R9e08d0cf305144d1"/>
    <p:sldId xmlns:r="http://schemas.openxmlformats.org/officeDocument/2006/relationships" id="266" r:id="Rdc48c1d92f0f455e"/>
    <p:sldId xmlns:r="http://schemas.openxmlformats.org/officeDocument/2006/relationships" id="267" r:id="R0afde0b5dbc94819"/>
    <p:sldId xmlns:r="http://schemas.openxmlformats.org/officeDocument/2006/relationships" id="268" r:id="R9691905c9da542bb"/>
    <p:sldId xmlns:r="http://schemas.openxmlformats.org/officeDocument/2006/relationships" id="269" r:id="R782abef82d124720"/>
    <p:sldId xmlns:r="http://schemas.openxmlformats.org/officeDocument/2006/relationships" id="270" r:id="R72c8ab9f45614d18"/>
    <p:sldId xmlns:r="http://schemas.openxmlformats.org/officeDocument/2006/relationships" id="271" r:id="R151f72286abd4d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27e515d42de474e" /><Relationship Type="http://schemas.openxmlformats.org/officeDocument/2006/relationships/slideMaster" Target="/ppt/slideMasters/slideMaster1.xml" Id="R80753eb908a14675" /><Relationship Type="http://schemas.openxmlformats.org/officeDocument/2006/relationships/notesMaster" Target="/ppt/notesMasters/notesMaster1.xml" Id="Rb8f452d265424dc1" /><Relationship Type="http://schemas.openxmlformats.org/officeDocument/2006/relationships/presProps" Target="/ppt/presProps.xml" Id="R5729a855b7de48e6" /><Relationship Type="http://schemas.openxmlformats.org/officeDocument/2006/relationships/viewProps" Target="/ppt/viewProps.xml" Id="R71d9b7ed9ad94a29" /><Relationship Type="http://schemas.openxmlformats.org/officeDocument/2006/relationships/tableStyles" Target="/ppt/tableStyles.xml" Id="R30e51b53066847de" /><Relationship Type="http://schemas.openxmlformats.org/officeDocument/2006/relationships/slide" Target="/ppt/slides/slide1.xml" Id="R97d25ca9d220475a" /><Relationship Type="http://schemas.openxmlformats.org/officeDocument/2006/relationships/slide" Target="/ppt/slides/slide2.xml" Id="Rc687c4d2e0da43c3" /><Relationship Type="http://schemas.openxmlformats.org/officeDocument/2006/relationships/slide" Target="/ppt/slides/slide3.xml" Id="R9db99a28f5634e5c" /><Relationship Type="http://schemas.openxmlformats.org/officeDocument/2006/relationships/slide" Target="/ppt/slides/slide4.xml" Id="R2bbae43f2f0b4354" /><Relationship Type="http://schemas.openxmlformats.org/officeDocument/2006/relationships/slide" Target="/ppt/slides/slide5.xml" Id="Rfebdc430776248ac" /><Relationship Type="http://schemas.openxmlformats.org/officeDocument/2006/relationships/slide" Target="/ppt/slides/slide6.xml" Id="R910ceb46c4da49c9" /><Relationship Type="http://schemas.openxmlformats.org/officeDocument/2006/relationships/slide" Target="/ppt/slides/slide7.xml" Id="R86615eeb9a644d8d" /><Relationship Type="http://schemas.openxmlformats.org/officeDocument/2006/relationships/slide" Target="/ppt/slides/slide8.xml" Id="R44fb316bbc6e40c0" /><Relationship Type="http://schemas.openxmlformats.org/officeDocument/2006/relationships/slide" Target="/ppt/slides/slide9.xml" Id="R111df4570efc434d" /><Relationship Type="http://schemas.openxmlformats.org/officeDocument/2006/relationships/slide" Target="/ppt/slides/slide10.xml" Id="R9e08d0cf305144d1" /><Relationship Type="http://schemas.openxmlformats.org/officeDocument/2006/relationships/slide" Target="/ppt/slides/slide11.xml" Id="Rdc48c1d92f0f455e" /><Relationship Type="http://schemas.openxmlformats.org/officeDocument/2006/relationships/slide" Target="/ppt/slides/slide12.xml" Id="R0afde0b5dbc94819" /><Relationship Type="http://schemas.openxmlformats.org/officeDocument/2006/relationships/slide" Target="/ppt/slides/slide13.xml" Id="R9691905c9da542bb" /><Relationship Type="http://schemas.openxmlformats.org/officeDocument/2006/relationships/slide" Target="/ppt/slides/slide14.xml" Id="R782abef82d124720" /><Relationship Type="http://schemas.openxmlformats.org/officeDocument/2006/relationships/slide" Target="/ppt/slides/slide15.xml" Id="R72c8ab9f45614d18" /><Relationship Type="http://schemas.openxmlformats.org/officeDocument/2006/relationships/slide" Target="/ppt/slides/slide16.xml" Id="R151f72286abd4d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799474490e4d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d99edc391c402c" /><Relationship Type="http://schemas.openxmlformats.org/officeDocument/2006/relationships/notesMaster" Target="/ppt/notesMasters/notesMaster1.xml" Id="R8f0156830d7543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50ac1816c84ce3" /><Relationship Type="http://schemas.openxmlformats.org/officeDocument/2006/relationships/notesMaster" Target="/ppt/notesMasters/notesMaster1.xml" Id="Rb876922a941046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17f24f23ea49b0" /><Relationship Type="http://schemas.openxmlformats.org/officeDocument/2006/relationships/notesMaster" Target="/ppt/notesMasters/notesMaster1.xml" Id="R5ffbfd3300b244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cf60608b894c5c" /><Relationship Type="http://schemas.openxmlformats.org/officeDocument/2006/relationships/notesMaster" Target="/ppt/notesMasters/notesMaster1.xml" Id="R174cdb7b3d1f43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bafa0caeea4df6" /><Relationship Type="http://schemas.openxmlformats.org/officeDocument/2006/relationships/notesMaster" Target="/ppt/notesMasters/notesMaster1.xml" Id="R35e6644e2ea24f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0cc57b498d4732" /><Relationship Type="http://schemas.openxmlformats.org/officeDocument/2006/relationships/notesMaster" Target="/ppt/notesMasters/notesMaster1.xml" Id="Rf20c84d1e4af4e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0177042ea44259" /><Relationship Type="http://schemas.openxmlformats.org/officeDocument/2006/relationships/notesMaster" Target="/ppt/notesMasters/notesMaster1.xml" Id="R9a62896fcccc4b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319abf2f1b4cd9" /><Relationship Type="http://schemas.openxmlformats.org/officeDocument/2006/relationships/notesMaster" Target="/ppt/notesMasters/notesMaster1.xml" Id="R5fd5021f6b0443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a471232a0b4359" /><Relationship Type="http://schemas.openxmlformats.org/officeDocument/2006/relationships/notesMaster" Target="/ppt/notesMasters/notesMaster1.xml" Id="R18c9b0dd4ff641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983bf518af438d" /><Relationship Type="http://schemas.openxmlformats.org/officeDocument/2006/relationships/notesMaster" Target="/ppt/notesMasters/notesMaster1.xml" Id="R77bbec7f46e444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798b7e221b4b83" /><Relationship Type="http://schemas.openxmlformats.org/officeDocument/2006/relationships/notesMaster" Target="/ppt/notesMasters/notesMaster1.xml" Id="R9c46dd71aff64e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a00d190a12402d" /><Relationship Type="http://schemas.openxmlformats.org/officeDocument/2006/relationships/notesMaster" Target="/ppt/notesMasters/notesMaster1.xml" Id="R171a2678e20948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2de689ccc24f5c" /><Relationship Type="http://schemas.openxmlformats.org/officeDocument/2006/relationships/notesMaster" Target="/ppt/notesMasters/notesMaster1.xml" Id="Rdcc12ace86404c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6efbd0aecc4d1d" /><Relationship Type="http://schemas.openxmlformats.org/officeDocument/2006/relationships/notesMaster" Target="/ppt/notesMasters/notesMaster1.xml" Id="Rb0f371ce9c3b4c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23eb2eb2434bea" /><Relationship Type="http://schemas.openxmlformats.org/officeDocument/2006/relationships/notesMaster" Target="/ppt/notesMasters/notesMaster1.xml" Id="Ra5832021a03346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7500c6432a4bb5" /><Relationship Type="http://schemas.openxmlformats.org/officeDocument/2006/relationships/notesMaster" Target="/ppt/notesMasters/notesMaster1.xml" Id="R46bfa43633b84f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repository D:/ThacoAgri_Code/Mockup, rà soát tại working tree ngày 21/09/2026. Nội dung giới thiệu dựa trên code, schema và tài liệu nghiệp vụ. File mẫu chỉ được dùng làm chuẩn nhận diện và bố cục.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Cấu trúc báo cáo cân bằng hai mục tiêu: giới thiệu phần mềm đang có những gì và mô tả tiến độ, bất cập, khó khăn hiện tại.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AI_PROJECT_CONTEXT.md; docs/BRD_extracted.txt; .agents/context/project-overview.md; backend/prisma/schema.prisma. Giá trị nêu trên là mục tiêu vận hành, không phải cam kết đã đạt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AI_PROJECT_CONTEXT.md; docs/business/ROLE_PERMISSION.md; docs/architecture/SYSTEM_OVERVIEW.md; backend/src/app.module.ts; frontend/src/App.tsx; Frontend_Driver/package.json.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.agents/context/module-map.md; docs/architecture/MODULE_MAP.md; frontend/src/App.tsx; backend/src/app.module.ts; backend/prisma/schema.prisma. Các nhóm chức năng mô tả phạm vi sản phẩm, không hàm ý tất cả đã sẵn sàng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.agents/context/module-map.md; docs/architecture/MODULE_MAP.md; backend/src/app.module.ts; frontend/src/App.tsx; kiểm tra trực tiếp pages/services/schema.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docs/business/DISPATCH_ORDER_FLOW.md; docs/business/ACCEPTANCE_FLOW.md; backend/src/work-orders; backend/src/operation-confirmations; backend/prisma/schema.prisma.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backend/prisma/schema.prisma; backend/prisma/migrations; backend/scripts/import-*; .agents/context/database-overview.md; workbook MMTB là dữ liệu tham chiếu, không phải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frontend/src/App.tsx; frontend/src/pages; frontend/src/api; quét source code theo dấu hiệu apiClient/apiService và mock/fallback/localStorage. Sáu trang báo cáo trong frontend/src/pages/reports khởi tạo list rỗng và không gọi API trực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Frontend_Driver/src; Frontend_Driver/package.json; Backend_Driver/package.json; backend/src/mobile-driver; backend/src/work-orders. Main backend dùng NestJS 10/Prisma 5.10; Backend_Driver dùng NestJS 12/Prisma 5.22.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đếm trực tiếp frontend/src/App.tsx, frontend/src/pages, backend/src, backend/prisma/schema.prisma và kết quả test. Các số liệu thể hiện độ rộng codebase, không phải phần trăm hoàn thành nghiệp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Lệnh chạy ngày 21/09/2026: npm test; backend nest build; frontend npm run build; Frontend_Driver npm run typecheck và npm test; Backend_Driver npm run build; prisma validate. Root build dừng tại EPERM rename query_engine-windows.dll.node do file đang bị tiến trình khác giữ.</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scan source hiện tại và các tài liệu business-rule evidence. P0/P1/P2 là khuyến nghị ưu tiên của báo cáo, không phải trạng thái nghiệp vụ đã được phê duyệt.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.agents/context/business-rules.md; CURRENT_SYSTEM_ANALYSIS.md; build/test output; package versions; repository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khuyến nghị triển khai dựa trên mức độ rủi ro quan sát được. Thời lượng chưa phải cam kết tiến độ chính thức.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báo cáo. Đề nghị dùng deck này làm tài liệu chốt scope pilot và danh sách quyết định nghiệp vụ.</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c62e00c1374f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1eec75a1e8498c" /><Relationship Type="http://schemas.openxmlformats.org/officeDocument/2006/relationships/image" Target="/ppt/media/image.jpeg" Id="R7d8e1bc712bc445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userDrawn="1">
  <p:cSld name="Title and Content">
    <p:spTree>
      <p:nvGrpSpPr>
        <p:cNvPr id="1" name=""/>
        <p:cNvGrpSpPr/>
        <p:nvPr/>
      </p:nvGrpSpPr>
      <p:grpSpPr>
        <a:xfrm xmlns:a="http://schemas.openxmlformats.org/drawingml/2006/main"/>
      </p:grpSpPr>
      <p:pic>
        <p:nvPicPr>
          <p:cNvPr id="7" name="Picture 3"/>
          <p:cNvPicPr>
            <a:picLocks xmlns:a="http://schemas.openxmlformats.org/drawingml/2006/main" noChangeAspect="1"/>
          </p:cNvPicPr>
          <p:nvPr/>
        </p:nvPicPr>
        <p:blipFill>
          <a:blip xmlns:r="http://schemas.openxmlformats.org/officeDocument/2006/relationships" xmlns:a="http://schemas.openxmlformats.org/drawingml/2006/main" r:embed="R7d8e1bc712bc445a"/>
          <a:stretch xmlns:a="http://schemas.openxmlformats.org/drawingml/2006/main">
            <a:fillRect l="0" t="0" r="0" b="0"/>
          </a:stretch>
        </p:blipFill>
        <p:spPr>
          <a:xfrm xmlns:a="http://schemas.openxmlformats.org/drawingml/2006/main">
            <a:off x="1185" y="0"/>
            <a:ext cx="12189630" cy="6858000"/>
          </a:xfrm>
          <a:prstGeom xmlns:a="http://schemas.openxmlformats.org/drawingml/2006/main" prst="rect">
            <a:avLst/>
          </a:prstGeom>
        </p:spPr>
      </p:pic>
      <p:sp>
        <p:nvSpPr>
          <p:cNvPr id="5" name="Title 4">
            <a:extLst xmlns:a="http://schemas.openxmlformats.org/drawingml/2006/main">
              <a:ext uri="{FF2B5EF4-FFF2-40B4-BE49-F238E27FC236}">
                <a16:creationId xmlns:a16="http://schemas.microsoft.com/office/drawing/2014/main" id="{F18D8631-A97C-F3DC-31A8-9BCA136F6078}"/>
              </a:ext>
            </a:extLst>
          </p:cNvPr>
          <p:cNvSpPr>
            <a:spLocks xmlns:a="http://schemas.openxmlformats.org/drawingml/2006/main" noGrp="1"/>
          </p:cNvSpPr>
          <p:nvPr>
            <p:ph type="title" idx="0"/>
          </p:nvPr>
        </p:nvSpPr>
        <p:spPr>
          <a:xfrm xmlns:a="http://schemas.openxmlformats.org/drawingml/2006/main">
            <a:off x="2295524" y="0"/>
            <a:ext cx="9896475" cy="752475"/>
          </a:xfrm>
        </p:spPr>
        <p:txBody>
          <a:bodyPr xmlns:a="http://schemas.openxmlformats.org/drawingml/2006/main">
            <a:normAutofit/>
          </a:bodyPr>
          <a:lstStyle xmlns:a="http://schemas.openxmlformats.org/drawingml/2006/main">
            <a:lvl1pPr algn="ctr">
              <a:lnSpc>
                <a:spcPct val="100000"/>
              </a:lnSpc>
              <a:buNone/>
              <a:defRPr sz="2000" b="1">
                <a:solidFill>
                  <a:srgbClr val="39853F"/>
                </a:solidFill>
              </a:defRPr>
            </a:lvl1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b3378727284559" /><Relationship Type="http://schemas.openxmlformats.org/officeDocument/2006/relationships/slideLayout" Target="/ppt/slideLayouts/slideLayout1.xml" Id="Re0ed960d2c964fb8" /><Relationship Type="http://schemas.openxmlformats.org/officeDocument/2006/relationships/slideLayout" Target="/ppt/slideLayouts/slideLayout2.xml" Id="Rc7506f65bff94f7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ed960d2c964fb8"/>
    <p:sldLayoutId xmlns:r="http://schemas.openxmlformats.org/officeDocument/2006/relationships" id="2147483650" r:id="Rc7506f65bff94f7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6d4597a94e4a86" /><Relationship Type="http://schemas.openxmlformats.org/officeDocument/2006/relationships/image" Target="/ppt/media/image2.jpeg" Id="R0a103702f9c94894" /><Relationship Type="http://schemas.openxmlformats.org/officeDocument/2006/relationships/notesSlide" Target="/ppt/notesSlides/notesSlide1.xml" Id="R5f98246466194b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d5422fed4f4fc6" /><Relationship Type="http://schemas.openxmlformats.org/officeDocument/2006/relationships/image" Target="/ppt/media/image.jpeg" Id="R7a297dd2d2274534" /><Relationship Type="http://schemas.openxmlformats.org/officeDocument/2006/relationships/notesSlide" Target="/ppt/notesSlides/notesSlide2.xml" Id="Rde04af7799df4a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e563678894e47ba" /><Relationship Type="http://schemas.openxmlformats.org/officeDocument/2006/relationships/notesSlide" Target="/ppt/notesSlides/notesSlide3.xml" Id="Re0ea1b24b34341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81dc9997e78421a" /><Relationship Type="http://schemas.openxmlformats.org/officeDocument/2006/relationships/notesSlide" Target="/ppt/notesSlides/notesSlide4.xml" Id="R2d62ce56378c42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8f0037c13804f32" /><Relationship Type="http://schemas.openxmlformats.org/officeDocument/2006/relationships/notesSlide" Target="/ppt/notesSlides/notesSlide5.xml" Id="R6632708990824c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54765530def4acf" /><Relationship Type="http://schemas.openxmlformats.org/officeDocument/2006/relationships/notesSlide" Target="/ppt/notesSlides/notesSlide6.xml" Id="R6fd88e3ce1ce41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07d47a41e574c05" /><Relationship Type="http://schemas.openxmlformats.org/officeDocument/2006/relationships/notesSlide" Target="/ppt/notesSlides/notesSlide7.xml" Id="R53e1e22e3efb47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14e921ffe5649ca" /><Relationship Type="http://schemas.openxmlformats.org/officeDocument/2006/relationships/notesSlide" Target="/ppt/notesSlides/notesSlide8.xml" Id="Ref3d0b7e1b7a41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e1a47cd44f54ae6" /><Relationship Type="http://schemas.openxmlformats.org/officeDocument/2006/relationships/notesSlide" Target="/ppt/notesSlides/notesSlide9.xml" Id="R9021143d0a0844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313b866ac554655" /><Relationship Type="http://schemas.openxmlformats.org/officeDocument/2006/relationships/notesSlide" Target="/ppt/notesSlides/notesSlide10.xml" Id="R29d0e2ccb73c4c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ad85aafa7144bed" /><Relationship Type="http://schemas.openxmlformats.org/officeDocument/2006/relationships/notesSlide" Target="/ppt/notesSlides/notesSlide11.xml" Id="Red4406fc9f2b4f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ab382547af43ac" /><Relationship Type="http://schemas.openxmlformats.org/officeDocument/2006/relationships/image" Target="/ppt/media/image.jpeg" Id="Rc7c6263c4b554857" /><Relationship Type="http://schemas.openxmlformats.org/officeDocument/2006/relationships/notesSlide" Target="/ppt/notesSlides/notesSlide12.xml" Id="R9dfb78639cf246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fcfbd795ffa4df0" /><Relationship Type="http://schemas.openxmlformats.org/officeDocument/2006/relationships/notesSlide" Target="/ppt/notesSlides/notesSlide13.xml" Id="Ree03bfee2ba44a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669e948e70d14730" /><Relationship Type="http://schemas.openxmlformats.org/officeDocument/2006/relationships/notesSlide" Target="/ppt/notesSlides/notesSlide14.xml" Id="R084b8572ca784b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a83b4013c148ff" /><Relationship Type="http://schemas.openxmlformats.org/officeDocument/2006/relationships/image" Target="/ppt/media/image.jpeg" Id="R5a481223a4b042ba" /><Relationship Type="http://schemas.openxmlformats.org/officeDocument/2006/relationships/notesSlide" Target="/ppt/notesSlides/notesSlide15.xml" Id="R7ec896260a4f43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9912725f4de4959" /><Relationship Type="http://schemas.openxmlformats.org/officeDocument/2006/relationships/image" Target="/ppt/media/image2.jpeg" Id="R5a99b8b1dba34056" /><Relationship Type="http://schemas.openxmlformats.org/officeDocument/2006/relationships/notesSlide" Target="/ppt/notesSlides/notesSlide16.xml" Id="R42c7dfbc864f43d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0a103702f9c94894"/>
          <a:stretch xmlns:a="http://schemas.openxmlformats.org/drawingml/2006/main">
            <a:fillRect l="0" t="0" r="0" b="0"/>
          </a:stretch>
        </p:blipFill>
        <p:spPr>
          <a:xfrm xmlns:a="http://schemas.openxmlformats.org/drawingml/2006/main">
            <a:off x="-83975" y="0"/>
            <a:ext cx="12191695" cy="685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86C8849-E071-42C6-8363-B3B60150D556}"/>
              </a:ext>
            </a:extLst>
          </p:cNvPr>
          <p:cNvSpPr>
            <a:spLocks xmlns:a="http://schemas.openxmlformats.org/drawingml/2006/main" noGrp="1"/>
          </p:cNvSpPr>
          <p:nvPr/>
        </p:nvSpPr>
        <p:spPr>
          <a:xfrm xmlns:a="http://schemas.openxmlformats.org/drawingml/2006/main">
            <a:off x="1428750" y="1924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025" b="1" i="0">
                <a:solidFill>
                  <a:srgbClr val="006B35"/>
                </a:solidFill>
                <a:latin typeface="Cambria"/>
                <a:ea typeface="Cambria"/>
                <a:cs typeface="Cambria"/>
              </a:defRPr>
            </a:pPr>
            <a:r>
              <a:rPr sz="2025" b="1" i="0">
                <a:solidFill>
                  <a:srgbClr val="006B35"/>
                </a:solidFill>
                <a:latin typeface="Cambria"/>
                <a:ea typeface="Cambria"/>
                <a:cs typeface="Cambria"/>
              </a:rPr>
              <a:t>GIỚI THIỆU PHẦN MỀM VÀ BÁO CÁO TIẾN ĐỘ</a:t>
            </a:r>
          </a:p>
        </p:txBody>
      </p:sp>
      <p:sp>
        <p:nvSpPr>
          <p:cNvPr id="12" name="">
            <a:extLst xmlns:a="http://schemas.openxmlformats.org/drawingml/2006/main">
              <a:ext uri="{FF2B5EF4-FFF2-40B4-BE49-F238E27FC236}">
                <a16:creationId xmlns:a16="http://schemas.microsoft.com/office/drawing/2014/main" id="{41C3A819-CCE2-4C88-9C08-1355993E2F92}"/>
              </a:ext>
            </a:extLst>
          </p:cNvPr>
          <p:cNvSpPr>
            <a:spLocks xmlns:a="http://schemas.openxmlformats.org/drawingml/2006/main" noGrp="1"/>
          </p:cNvSpPr>
          <p:nvPr/>
        </p:nvSpPr>
        <p:spPr>
          <a:xfrm xmlns:a="http://schemas.openxmlformats.org/drawingml/2006/main">
            <a:off x="1190625" y="2571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150" b="1" i="0">
                <a:solidFill>
                  <a:srgbClr val="E00000"/>
                </a:solidFill>
                <a:latin typeface="Cambria"/>
                <a:ea typeface="Cambria"/>
                <a:cs typeface="Cambria"/>
              </a:defRPr>
            </a:pPr>
            <a:r>
              <a:rPr sz="3150" b="1" i="0">
                <a:solidFill>
                  <a:srgbClr val="E00000"/>
                </a:solidFill>
                <a:latin typeface="Cambria"/>
                <a:ea typeface="Cambria"/>
                <a:cs typeface="Cambria"/>
              </a:rPr>
              <a:t>HỆ THỐNG QUẢN LÝ XE CƠ GIỚI &amp; PTVC</a:t>
            </a:r>
          </a:p>
        </p:txBody>
      </p:sp>
      <p:sp>
        <p:nvSpPr>
          <p:cNvPr id="13" name="">
            <a:extLst xmlns:a="http://schemas.openxmlformats.org/drawingml/2006/main">
              <a:ext uri="{FF2B5EF4-FFF2-40B4-BE49-F238E27FC236}">
                <a16:creationId xmlns:a16="http://schemas.microsoft.com/office/drawing/2014/main" id="{0F9A266E-B373-4F7C-98D1-432A3548A1D8}"/>
              </a:ext>
            </a:extLst>
          </p:cNvPr>
          <p:cNvSpPr>
            <a:spLocks xmlns:a="http://schemas.openxmlformats.org/drawingml/2006/main" noGrp="1"/>
          </p:cNvSpPr>
          <p:nvPr/>
        </p:nvSpPr>
        <p:spPr>
          <a:xfrm xmlns:a="http://schemas.openxmlformats.org/drawingml/2006/main">
            <a:off x="1428750" y="3333750"/>
            <a:ext cx="933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800" b="0" i="1">
                <a:solidFill>
                  <a:srgbClr val="59636E"/>
                </a:solidFill>
                <a:latin typeface="Cambria"/>
                <a:ea typeface="Cambria"/>
                <a:cs typeface="Cambria"/>
              </a:defRPr>
            </a:pPr>
            <a:r>
              <a:rPr sz="1800" b="0" i="1">
                <a:solidFill>
                  <a:srgbClr val="59636E"/>
                </a:solidFill>
                <a:latin typeface="Cambria"/>
                <a:ea typeface="Cambria"/>
                <a:cs typeface="Cambria"/>
              </a:rPr>
              <a:t>Phạm vi chức năng, trải nghiệm người dùng, tiến độ mã nguồn và các bất cập hiện tại</a:t>
            </a:r>
          </a:p>
        </p:txBody>
      </p:sp>
      <p:sp>
        <p:nvSpPr>
          <p:cNvPr id="14" name="">
            <a:extLst xmlns:a="http://schemas.openxmlformats.org/drawingml/2006/main">
              <a:ext uri="{FF2B5EF4-FFF2-40B4-BE49-F238E27FC236}">
                <a16:creationId xmlns:a16="http://schemas.microsoft.com/office/drawing/2014/main" id="{12575991-D5CD-4697-9E6B-49306B15B159}"/>
              </a:ext>
            </a:extLst>
          </p:cNvPr>
          <p:cNvSpPr>
            <a:spLocks xmlns:a="http://schemas.openxmlformats.org/drawingml/2006/main" noGrp="1"/>
          </p:cNvSpPr>
          <p:nvPr/>
        </p:nvSpPr>
        <p:spPr>
          <a:xfrm xmlns:a="http://schemas.openxmlformats.org/drawingml/2006/main">
            <a:off x="1714500" y="40005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00" b="1" i="0">
                <a:solidFill>
                  <a:srgbClr val="006B35"/>
                </a:solidFill>
                <a:latin typeface="Cambria"/>
                <a:ea typeface="Cambria"/>
                <a:cs typeface="Cambria"/>
              </a:defRPr>
            </a:pPr>
            <a:r>
              <a:rPr sz="1500" b="1" i="0">
                <a:solidFill>
                  <a:srgbClr val="006B35"/>
                </a:solidFill>
                <a:latin typeface="Cambria"/>
                <a:ea typeface="Cambria"/>
                <a:cs typeface="Cambria"/>
              </a:rPr>
              <a:t>Phạm vi rà soát: web React, API NestJS, Prisma/MySQL và ứng dụng tài xế</a:t>
            </a:r>
          </a:p>
        </p:txBody>
      </p:sp>
      <p:sp>
        <p:nvSpPr>
          <p:cNvPr id="15" name="">
            <a:extLst xmlns:a="http://schemas.openxmlformats.org/drawingml/2006/main">
              <a:ext uri="{FF2B5EF4-FFF2-40B4-BE49-F238E27FC236}">
                <a16:creationId xmlns:a16="http://schemas.microsoft.com/office/drawing/2014/main" id="{E6D37DB8-5596-4886-B5EB-E287E41C676C}"/>
              </a:ext>
            </a:extLst>
          </p:cNvPr>
          <p:cNvSpPr>
            <a:spLocks xmlns:a="http://schemas.openxmlformats.org/drawingml/2006/main" noGrp="1"/>
          </p:cNvSpPr>
          <p:nvPr/>
        </p:nvSpPr>
        <p:spPr>
          <a:xfrm xmlns:a="http://schemas.openxmlformats.org/drawingml/2006/main">
            <a:off x="2381250" y="56388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PHÒNG VẬN HÀNH SỐ</a:t>
            </a:r>
          </a:p>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KLH Koun Mom, Ratanakiri, Cambodia | 21.09.2026</a:t>
            </a:r>
          </a:p>
        </p:txBody>
      </p:sp>
    </p:spTree>
    <p:extLst>
      <p:ext uri="{BB962C8B-B14F-4D97-AF65-F5344CB8AC3E}">
        <p14:creationId xmlns:p14="http://schemas.microsoft.com/office/powerpoint/2010/main" val="142781084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7a297dd2d2274534"/>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43" name="slide-title">
            <a:extLst xmlns:a="http://schemas.openxmlformats.org/drawingml/2006/main">
              <a:ext uri="{FF2B5EF4-FFF2-40B4-BE49-F238E27FC236}">
                <a16:creationId xmlns:a16="http://schemas.microsoft.com/office/drawing/2014/main" id="{B9BA2286-E540-4F9A-816D-57A2935299EA}"/>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NỘI DUNG BÁO CÁO</a:t>
            </a:r>
          </a:p>
        </p:txBody>
      </p:sp>
      <p:sp>
        <p:nvSpPr>
          <p:cNvPr id="44" name="">
            <a:extLst xmlns:a="http://schemas.openxmlformats.org/drawingml/2006/main">
              <a:ext uri="{FF2B5EF4-FFF2-40B4-BE49-F238E27FC236}">
                <a16:creationId xmlns:a16="http://schemas.microsoft.com/office/drawing/2014/main" id="{A84D163B-F879-4689-8E55-8274D9189568}"/>
              </a:ext>
            </a:extLst>
          </p:cNvPr>
          <p:cNvSpPr>
            <a:spLocks xmlns:a="http://schemas.openxmlformats.org/drawingml/2006/main" noGrp="1"/>
          </p:cNvSpPr>
          <p:nvPr/>
        </p:nvSpPr>
        <p:spPr>
          <a:xfrm xmlns:a="http://schemas.openxmlformats.org/drawingml/2006/main">
            <a:off x="457200" y="1047750"/>
            <a:ext cx="685800" cy="38100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01</a:t>
            </a:r>
          </a:p>
        </p:txBody>
      </p:sp>
      <p:sp>
        <p:nvSpPr>
          <p:cNvPr id="45" name="">
            <a:extLst xmlns:a="http://schemas.openxmlformats.org/drawingml/2006/main">
              <a:ext uri="{FF2B5EF4-FFF2-40B4-BE49-F238E27FC236}">
                <a16:creationId xmlns:a16="http://schemas.microsoft.com/office/drawing/2014/main" id="{6FD3CD8D-5DED-414C-B894-4A449D59FA31}"/>
              </a:ext>
            </a:extLst>
          </p:cNvPr>
          <p:cNvSpPr>
            <a:spLocks xmlns:a="http://schemas.openxmlformats.org/drawingml/2006/main" noGrp="1"/>
          </p:cNvSpPr>
          <p:nvPr/>
        </p:nvSpPr>
        <p:spPr>
          <a:xfrm xmlns:a="http://schemas.openxmlformats.org/drawingml/2006/main">
            <a:off x="1238250" y="104775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Phần mềm phục vụ ai và giải quyết công việc gì</a:t>
            </a:r>
          </a:p>
        </p:txBody>
      </p:sp>
      <p:sp>
        <p:nvSpPr>
          <p:cNvPr id="46" name="">
            <a:extLst xmlns:a="http://schemas.openxmlformats.org/drawingml/2006/main">
              <a:ext uri="{FF2B5EF4-FFF2-40B4-BE49-F238E27FC236}">
                <a16:creationId xmlns:a16="http://schemas.microsoft.com/office/drawing/2014/main" id="{31F801AF-1CFE-4E32-B2A3-51581A459C50}"/>
              </a:ext>
            </a:extLst>
          </p:cNvPr>
          <p:cNvSpPr>
            <a:spLocks xmlns:a="http://schemas.openxmlformats.org/drawingml/2006/main" noGrp="1"/>
          </p:cNvSpPr>
          <p:nvPr/>
        </p:nvSpPr>
        <p:spPr>
          <a:xfrm xmlns:a="http://schemas.openxmlformats.org/drawingml/2006/main">
            <a:off x="457200" y="1600200"/>
            <a:ext cx="685800" cy="38100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02</a:t>
            </a:r>
          </a:p>
        </p:txBody>
      </p:sp>
      <p:sp>
        <p:nvSpPr>
          <p:cNvPr id="47" name="">
            <a:extLst xmlns:a="http://schemas.openxmlformats.org/drawingml/2006/main">
              <a:ext uri="{FF2B5EF4-FFF2-40B4-BE49-F238E27FC236}">
                <a16:creationId xmlns:a16="http://schemas.microsoft.com/office/drawing/2014/main" id="{15F08E8E-C287-442F-B9B8-890804D85241}"/>
              </a:ext>
            </a:extLst>
          </p:cNvPr>
          <p:cNvSpPr>
            <a:spLocks xmlns:a="http://schemas.openxmlformats.org/drawingml/2006/main" noGrp="1"/>
          </p:cNvSpPr>
          <p:nvPr/>
        </p:nvSpPr>
        <p:spPr>
          <a:xfrm xmlns:a="http://schemas.openxmlformats.org/drawingml/2006/main">
            <a:off x="1238250" y="160020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Các nhóm chức năng và module A–K</a:t>
            </a:r>
          </a:p>
        </p:txBody>
      </p:sp>
      <p:sp>
        <p:nvSpPr>
          <p:cNvPr id="48" name="">
            <a:extLst xmlns:a="http://schemas.openxmlformats.org/drawingml/2006/main">
              <a:ext uri="{FF2B5EF4-FFF2-40B4-BE49-F238E27FC236}">
                <a16:creationId xmlns:a16="http://schemas.microsoft.com/office/drawing/2014/main" id="{5DF13040-80A8-48B8-9F38-596C500D1E69}"/>
              </a:ext>
            </a:extLst>
          </p:cNvPr>
          <p:cNvSpPr>
            <a:spLocks xmlns:a="http://schemas.openxmlformats.org/drawingml/2006/main" noGrp="1"/>
          </p:cNvSpPr>
          <p:nvPr/>
        </p:nvSpPr>
        <p:spPr>
          <a:xfrm xmlns:a="http://schemas.openxmlformats.org/drawingml/2006/main">
            <a:off x="457200" y="2152650"/>
            <a:ext cx="685800" cy="38100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03</a:t>
            </a:r>
          </a:p>
        </p:txBody>
      </p:sp>
      <p:sp>
        <p:nvSpPr>
          <p:cNvPr id="49" name="">
            <a:extLst xmlns:a="http://schemas.openxmlformats.org/drawingml/2006/main">
              <a:ext uri="{FF2B5EF4-FFF2-40B4-BE49-F238E27FC236}">
                <a16:creationId xmlns:a16="http://schemas.microsoft.com/office/drawing/2014/main" id="{217E8A84-4FC9-430F-B25A-6835878F89BA}"/>
              </a:ext>
            </a:extLst>
          </p:cNvPr>
          <p:cNvSpPr>
            <a:spLocks xmlns:a="http://schemas.openxmlformats.org/drawingml/2006/main" noGrp="1"/>
          </p:cNvSpPr>
          <p:nvPr/>
        </p:nvSpPr>
        <p:spPr>
          <a:xfrm xmlns:a="http://schemas.openxmlformats.org/drawingml/2006/main">
            <a:off x="1238250" y="215265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Luồng nghiệp vụ đầu cuối</a:t>
            </a:r>
          </a:p>
        </p:txBody>
      </p:sp>
      <p:sp>
        <p:nvSpPr>
          <p:cNvPr id="50" name="">
            <a:extLst xmlns:a="http://schemas.openxmlformats.org/drawingml/2006/main">
              <a:ext uri="{FF2B5EF4-FFF2-40B4-BE49-F238E27FC236}">
                <a16:creationId xmlns:a16="http://schemas.microsoft.com/office/drawing/2014/main" id="{CBCF0B01-BC31-49D0-B8E3-A902F677E0EE}"/>
              </a:ext>
            </a:extLst>
          </p:cNvPr>
          <p:cNvSpPr>
            <a:spLocks xmlns:a="http://schemas.openxmlformats.org/drawingml/2006/main" noGrp="1"/>
          </p:cNvSpPr>
          <p:nvPr/>
        </p:nvSpPr>
        <p:spPr>
          <a:xfrm xmlns:a="http://schemas.openxmlformats.org/drawingml/2006/main">
            <a:off x="457200" y="2705100"/>
            <a:ext cx="685800" cy="38100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04</a:t>
            </a:r>
          </a:p>
        </p:txBody>
      </p:sp>
      <p:sp>
        <p:nvSpPr>
          <p:cNvPr id="51" name="">
            <a:extLst xmlns:a="http://schemas.openxmlformats.org/drawingml/2006/main">
              <a:ext uri="{FF2B5EF4-FFF2-40B4-BE49-F238E27FC236}">
                <a16:creationId xmlns:a16="http://schemas.microsoft.com/office/drawing/2014/main" id="{9ACBA110-32F4-4CAD-AB25-1B6B2769473D}"/>
              </a:ext>
            </a:extLst>
          </p:cNvPr>
          <p:cNvSpPr>
            <a:spLocks xmlns:a="http://schemas.openxmlformats.org/drawingml/2006/main" noGrp="1"/>
          </p:cNvSpPr>
          <p:nvPr/>
        </p:nvSpPr>
        <p:spPr>
          <a:xfrm xmlns:a="http://schemas.openxmlformats.org/drawingml/2006/main">
            <a:off x="1238250" y="270510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Dữ liệu, kiến trúc và kênh sử dụng</a:t>
            </a:r>
          </a:p>
        </p:txBody>
      </p:sp>
      <p:sp>
        <p:nvSpPr>
          <p:cNvPr id="52" name="">
            <a:extLst xmlns:a="http://schemas.openxmlformats.org/drawingml/2006/main">
              <a:ext uri="{FF2B5EF4-FFF2-40B4-BE49-F238E27FC236}">
                <a16:creationId xmlns:a16="http://schemas.microsoft.com/office/drawing/2014/main" id="{129A6967-5E92-4A71-9442-412DD9A1C7C3}"/>
              </a:ext>
            </a:extLst>
          </p:cNvPr>
          <p:cNvSpPr>
            <a:spLocks xmlns:a="http://schemas.openxmlformats.org/drawingml/2006/main" noGrp="1"/>
          </p:cNvSpPr>
          <p:nvPr/>
        </p:nvSpPr>
        <p:spPr>
          <a:xfrm xmlns:a="http://schemas.openxmlformats.org/drawingml/2006/main">
            <a:off x="457200" y="3257550"/>
            <a:ext cx="685800" cy="38100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05</a:t>
            </a:r>
          </a:p>
        </p:txBody>
      </p:sp>
      <p:sp>
        <p:nvSpPr>
          <p:cNvPr id="53" name="">
            <a:extLst xmlns:a="http://schemas.openxmlformats.org/drawingml/2006/main">
              <a:ext uri="{FF2B5EF4-FFF2-40B4-BE49-F238E27FC236}">
                <a16:creationId xmlns:a16="http://schemas.microsoft.com/office/drawing/2014/main" id="{E3F419EF-DA7A-4CA8-91F8-629F425D4F1C}"/>
              </a:ext>
            </a:extLst>
          </p:cNvPr>
          <p:cNvSpPr>
            <a:spLocks xmlns:a="http://schemas.openxmlformats.org/drawingml/2006/main" noGrp="1"/>
          </p:cNvSpPr>
          <p:nvPr/>
        </p:nvSpPr>
        <p:spPr>
          <a:xfrm xmlns:a="http://schemas.openxmlformats.org/drawingml/2006/main">
            <a:off x="1238250" y="325755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Tiến độ phát triển hiện tại</a:t>
            </a:r>
          </a:p>
        </p:txBody>
      </p:sp>
      <p:sp>
        <p:nvSpPr>
          <p:cNvPr id="54" name="">
            <a:extLst xmlns:a="http://schemas.openxmlformats.org/drawingml/2006/main">
              <a:ext uri="{FF2B5EF4-FFF2-40B4-BE49-F238E27FC236}">
                <a16:creationId xmlns:a16="http://schemas.microsoft.com/office/drawing/2014/main" id="{37AA632A-09EF-4E11-8B6B-00EB6E06CDE7}"/>
              </a:ext>
            </a:extLst>
          </p:cNvPr>
          <p:cNvSpPr>
            <a:spLocks xmlns:a="http://schemas.openxmlformats.org/drawingml/2006/main" noGrp="1"/>
          </p:cNvSpPr>
          <p:nvPr/>
        </p:nvSpPr>
        <p:spPr>
          <a:xfrm xmlns:a="http://schemas.openxmlformats.org/drawingml/2006/main">
            <a:off x="457200" y="3810000"/>
            <a:ext cx="685800" cy="38100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06</a:t>
            </a:r>
          </a:p>
        </p:txBody>
      </p:sp>
      <p:sp>
        <p:nvSpPr>
          <p:cNvPr id="55" name="">
            <a:extLst xmlns:a="http://schemas.openxmlformats.org/drawingml/2006/main">
              <a:ext uri="{FF2B5EF4-FFF2-40B4-BE49-F238E27FC236}">
                <a16:creationId xmlns:a16="http://schemas.microsoft.com/office/drawing/2014/main" id="{8464698B-6D32-47EF-B62E-92DA8EBDBC3E}"/>
              </a:ext>
            </a:extLst>
          </p:cNvPr>
          <p:cNvSpPr>
            <a:spLocks xmlns:a="http://schemas.openxmlformats.org/drawingml/2006/main" noGrp="1"/>
          </p:cNvSpPr>
          <p:nvPr/>
        </p:nvSpPr>
        <p:spPr>
          <a:xfrm xmlns:a="http://schemas.openxmlformats.org/drawingml/2006/main">
            <a:off x="1238250" y="381000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Kết quả kiểm thử và build</a:t>
            </a:r>
          </a:p>
        </p:txBody>
      </p:sp>
      <p:sp>
        <p:nvSpPr>
          <p:cNvPr id="56" name="">
            <a:extLst xmlns:a="http://schemas.openxmlformats.org/drawingml/2006/main">
              <a:ext uri="{FF2B5EF4-FFF2-40B4-BE49-F238E27FC236}">
                <a16:creationId xmlns:a16="http://schemas.microsoft.com/office/drawing/2014/main" id="{7C0FDDC2-3CAB-4A09-B50A-A142E94F656B}"/>
              </a:ext>
            </a:extLst>
          </p:cNvPr>
          <p:cNvSpPr>
            <a:spLocks xmlns:a="http://schemas.openxmlformats.org/drawingml/2006/main" noGrp="1"/>
          </p:cNvSpPr>
          <p:nvPr/>
        </p:nvSpPr>
        <p:spPr>
          <a:xfrm xmlns:a="http://schemas.openxmlformats.org/drawingml/2006/main">
            <a:off x="457200" y="4362450"/>
            <a:ext cx="685800" cy="38100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07</a:t>
            </a:r>
          </a:p>
        </p:txBody>
      </p:sp>
      <p:sp>
        <p:nvSpPr>
          <p:cNvPr id="57" name="">
            <a:extLst xmlns:a="http://schemas.openxmlformats.org/drawingml/2006/main">
              <a:ext uri="{FF2B5EF4-FFF2-40B4-BE49-F238E27FC236}">
                <a16:creationId xmlns:a16="http://schemas.microsoft.com/office/drawing/2014/main" id="{B085BDD7-E8E7-49C3-B339-ECC4BF5EC549}"/>
              </a:ext>
            </a:extLst>
          </p:cNvPr>
          <p:cNvSpPr>
            <a:spLocks xmlns:a="http://schemas.openxmlformats.org/drawingml/2006/main" noGrp="1"/>
          </p:cNvSpPr>
          <p:nvPr/>
        </p:nvSpPr>
        <p:spPr>
          <a:xfrm xmlns:a="http://schemas.openxmlformats.org/drawingml/2006/main">
            <a:off x="1238250" y="436245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Bất cập, khó khăn và rủi ro</a:t>
            </a:r>
          </a:p>
        </p:txBody>
      </p:sp>
      <p:sp>
        <p:nvSpPr>
          <p:cNvPr id="58" name="">
            <a:extLst xmlns:a="http://schemas.openxmlformats.org/drawingml/2006/main">
              <a:ext uri="{FF2B5EF4-FFF2-40B4-BE49-F238E27FC236}">
                <a16:creationId xmlns:a16="http://schemas.microsoft.com/office/drawing/2014/main" id="{BD60A82D-B6D3-4FCD-9D0B-B1694BB90D18}"/>
              </a:ext>
            </a:extLst>
          </p:cNvPr>
          <p:cNvSpPr>
            <a:spLocks xmlns:a="http://schemas.openxmlformats.org/drawingml/2006/main" noGrp="1"/>
          </p:cNvSpPr>
          <p:nvPr/>
        </p:nvSpPr>
        <p:spPr>
          <a:xfrm xmlns:a="http://schemas.openxmlformats.org/drawingml/2006/main">
            <a:off x="457200" y="4914900"/>
            <a:ext cx="685800" cy="38100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FFFFFF"/>
                </a:solidFill>
                <a:latin typeface="Cambria"/>
                <a:ea typeface="Cambria"/>
                <a:cs typeface="Cambria"/>
              </a:defRPr>
            </a:pPr>
            <a:r>
              <a:rPr sz="1725" b="1" i="0">
                <a:solidFill>
                  <a:srgbClr val="FFFFFF"/>
                </a:solidFill>
                <a:latin typeface="Cambria"/>
                <a:ea typeface="Cambria"/>
                <a:cs typeface="Cambria"/>
              </a:rPr>
              <a:t>08</a:t>
            </a:r>
          </a:p>
        </p:txBody>
      </p:sp>
      <p:sp>
        <p:nvSpPr>
          <p:cNvPr id="59" name="">
            <a:extLst xmlns:a="http://schemas.openxmlformats.org/drawingml/2006/main">
              <a:ext uri="{FF2B5EF4-FFF2-40B4-BE49-F238E27FC236}">
                <a16:creationId xmlns:a16="http://schemas.microsoft.com/office/drawing/2014/main" id="{F68787B9-455B-475C-ABA8-01381AEF893D}"/>
              </a:ext>
            </a:extLst>
          </p:cNvPr>
          <p:cNvSpPr>
            <a:spLocks xmlns:a="http://schemas.openxmlformats.org/drawingml/2006/main" noGrp="1"/>
          </p:cNvSpPr>
          <p:nvPr/>
        </p:nvSpPr>
        <p:spPr>
          <a:xfrm xmlns:a="http://schemas.openxmlformats.org/drawingml/2006/main">
            <a:off x="1238250" y="4914900"/>
            <a:ext cx="9982200" cy="38100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650" b="0" i="0">
                <a:solidFill>
                  <a:srgbClr val="006B35"/>
                </a:solidFill>
                <a:latin typeface="Cambria"/>
                <a:ea typeface="Cambria"/>
                <a:cs typeface="Cambria"/>
              </a:defRPr>
            </a:pPr>
            <a:r>
              <a:rPr sz="1650" b="0" i="0">
                <a:solidFill>
                  <a:srgbClr val="006B35"/>
                </a:solidFill>
                <a:latin typeface="Cambria"/>
                <a:ea typeface="Cambria"/>
                <a:cs typeface="Cambria"/>
              </a:rPr>
              <a:t>Lộ trình hoàn thiện đề xuất</a:t>
            </a:r>
          </a:p>
        </p:txBody>
      </p:sp>
      <p:sp>
        <p:nvSpPr>
          <p:cNvPr id="60" name="">
            <a:extLst xmlns:a="http://schemas.openxmlformats.org/drawingml/2006/main">
              <a:ext uri="{FF2B5EF4-FFF2-40B4-BE49-F238E27FC236}">
                <a16:creationId xmlns:a16="http://schemas.microsoft.com/office/drawing/2014/main" id="{5A64EC79-07EC-4680-A3D1-BC7488559F10}"/>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61" name="">
            <a:extLst xmlns:a="http://schemas.openxmlformats.org/drawingml/2006/main">
              <a:ext uri="{FF2B5EF4-FFF2-40B4-BE49-F238E27FC236}">
                <a16:creationId xmlns:a16="http://schemas.microsoft.com/office/drawing/2014/main" id="{44F49179-474B-4048-BA87-D089DE7051F9}"/>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a:t>
            </a:r>
          </a:p>
        </p:txBody>
      </p:sp>
    </p:spTree>
    <p:extLst>
      <p:ext uri="{BB962C8B-B14F-4D97-AF65-F5344CB8AC3E}">
        <p14:creationId xmlns:p14="http://schemas.microsoft.com/office/powerpoint/2010/main" val="16610390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65E5728-742F-42FD-9F37-85A0EEC9C2A6}"/>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PHẦN MỀM PHỤC VỤ VẬN HÀNH GÌ</a:t>
            </a:r>
          </a:p>
        </p:txBody>
      </p:sp>
      <p:sp>
        <p:nvSpPr>
          <p:cNvPr id="2" name="">
            <a:extLst xmlns:a="http://schemas.openxmlformats.org/drawingml/2006/main">
              <a:ext uri="{FF2B5EF4-FFF2-40B4-BE49-F238E27FC236}">
                <a16:creationId xmlns:a16="http://schemas.microsoft.com/office/drawing/2014/main" id="{62FAB999-4215-4699-8C42-E4A8A22044CF}"/>
              </a:ext>
            </a:extLst>
          </p:cNvPr>
          <p:cNvSpPr>
            <a:spLocks xmlns:a="http://schemas.openxmlformats.org/drawingml/2006/main" noGrp="1"/>
          </p:cNvSpPr>
          <p:nvPr/>
        </p:nvSpPr>
        <p:spPr>
          <a:xfrm xmlns:a="http://schemas.openxmlformats.org/drawingml/2006/main">
            <a:off x="781050" y="10668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06B35"/>
                </a:solidFill>
                <a:latin typeface="Cambria"/>
                <a:ea typeface="Cambria"/>
                <a:cs typeface="Cambria"/>
              </a:defRPr>
            </a:pPr>
            <a:r>
              <a:rPr sz="1800" b="1" i="0">
                <a:solidFill>
                  <a:srgbClr val="006B35"/>
                </a:solidFill>
                <a:latin typeface="Cambria"/>
                <a:ea typeface="Cambria"/>
                <a:cs typeface="Cambria"/>
              </a:rPr>
              <a:t>Mục tiêu</a:t>
            </a:r>
          </a:p>
        </p:txBody>
      </p:sp>
      <p:sp>
        <p:nvSpPr>
          <p:cNvPr id="3" name="">
            <a:extLst xmlns:a="http://schemas.openxmlformats.org/drawingml/2006/main">
              <a:ext uri="{FF2B5EF4-FFF2-40B4-BE49-F238E27FC236}">
                <a16:creationId xmlns:a16="http://schemas.microsoft.com/office/drawing/2014/main" id="{56D44E54-00BA-4CDF-9662-2F6BD9B9244F}"/>
              </a:ext>
            </a:extLst>
          </p:cNvPr>
          <p:cNvSpPr>
            <a:spLocks xmlns:a="http://schemas.openxmlformats.org/drawingml/2006/main" noGrp="1"/>
          </p:cNvSpPr>
          <p:nvPr/>
        </p:nvSpPr>
        <p:spPr>
          <a:xfrm xmlns:a="http://schemas.openxmlformats.org/drawingml/2006/main">
            <a:off x="723900" y="1476375"/>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Quản lý tập trung xe cơ giới, thiết bị nông nghiệp và tình trạng sẵn sàng</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Kết nối kế hoạch sản xuất với điều xe, thực hiện công việc và nghiệm thu</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Theo dõi GPS, nhiên liệu, bảo dưỡng, sửa chữa và hiệu quả lái xe</a:t>
            </a:r>
          </a:p>
        </p:txBody>
      </p:sp>
      <p:sp>
        <p:nvSpPr>
          <p:cNvPr id="4" name="">
            <a:extLst xmlns:a="http://schemas.openxmlformats.org/drawingml/2006/main">
              <a:ext uri="{FF2B5EF4-FFF2-40B4-BE49-F238E27FC236}">
                <a16:creationId xmlns:a16="http://schemas.microsoft.com/office/drawing/2014/main" id="{6AA45295-0414-42B2-89FC-CE7A1ED6E19E}"/>
              </a:ext>
            </a:extLst>
          </p:cNvPr>
          <p:cNvSpPr>
            <a:spLocks xmlns:a="http://schemas.openxmlformats.org/drawingml/2006/main" noGrp="1"/>
          </p:cNvSpPr>
          <p:nvPr/>
        </p:nvSpPr>
        <p:spPr>
          <a:xfrm xmlns:a="http://schemas.openxmlformats.org/drawingml/2006/main">
            <a:off x="6438900" y="10668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75AA7"/>
                </a:solidFill>
                <a:latin typeface="Cambria"/>
                <a:ea typeface="Cambria"/>
                <a:cs typeface="Cambria"/>
              </a:defRPr>
            </a:pPr>
            <a:r>
              <a:rPr sz="1800" b="1" i="0">
                <a:solidFill>
                  <a:srgbClr val="075AA7"/>
                </a:solidFill>
                <a:latin typeface="Cambria"/>
                <a:ea typeface="Cambria"/>
                <a:cs typeface="Cambria"/>
              </a:rPr>
              <a:t>Người sử dụng</a:t>
            </a:r>
          </a:p>
        </p:txBody>
      </p:sp>
      <p:sp>
        <p:nvSpPr>
          <p:cNvPr id="5" name="">
            <a:extLst xmlns:a="http://schemas.openxmlformats.org/drawingml/2006/main">
              <a:ext uri="{FF2B5EF4-FFF2-40B4-BE49-F238E27FC236}">
                <a16:creationId xmlns:a16="http://schemas.microsoft.com/office/drawing/2014/main" id="{7B6A2ABE-D1B3-41C5-BEBF-E0BEB5F4A8C5}"/>
              </a:ext>
            </a:extLst>
          </p:cNvPr>
          <p:cNvSpPr>
            <a:spLocks xmlns:a="http://schemas.openxmlformats.org/drawingml/2006/main" noGrp="1"/>
          </p:cNvSpPr>
          <p:nvPr/>
        </p:nvSpPr>
        <p:spPr>
          <a:xfrm xmlns:a="http://schemas.openxmlformats.org/drawingml/2006/main">
            <a:off x="6381750" y="1476375"/>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Ban Xe cơ giới và cán bộ điều hành tại đơn vị</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Quản lý nông trường, nhân sự xưởng BTSC và kho nhiên liệu</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Lái xe qua ứng dụng mobile, quản trị hệ thống và lãnh đạo theo dõi báo cáo</a:t>
            </a:r>
          </a:p>
        </p:txBody>
      </p:sp>
      <p:sp>
        <p:nvSpPr>
          <p:cNvPr id="6" name="">
            <a:extLst xmlns:a="http://schemas.openxmlformats.org/drawingml/2006/main">
              <a:ext uri="{FF2B5EF4-FFF2-40B4-BE49-F238E27FC236}">
                <a16:creationId xmlns:a16="http://schemas.microsoft.com/office/drawing/2014/main" id="{4DE05C2D-EBCA-4BF9-A559-05F417D86A10}"/>
              </a:ext>
            </a:extLst>
          </p:cNvPr>
          <p:cNvSpPr>
            <a:spLocks xmlns:a="http://schemas.openxmlformats.org/drawingml/2006/main" noGrp="1"/>
          </p:cNvSpPr>
          <p:nvPr/>
        </p:nvSpPr>
        <p:spPr>
          <a:xfrm xmlns:a="http://schemas.openxmlformats.org/drawingml/2006/main">
            <a:off x="838200" y="3981450"/>
            <a:ext cx="10515600" cy="190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E4DC00C5-9921-4667-AF97-235CAB734EBF}"/>
              </a:ext>
            </a:extLst>
          </p:cNvPr>
          <p:cNvSpPr>
            <a:spLocks xmlns:a="http://schemas.openxmlformats.org/drawingml/2006/main" noGrp="1"/>
          </p:cNvSpPr>
          <p:nvPr/>
        </p:nvSpPr>
        <p:spPr>
          <a:xfrm xmlns:a="http://schemas.openxmlformats.org/drawingml/2006/main">
            <a:off x="781050" y="42386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Giá trị dự kiến khi dữ liệu và quy trình được khép kín</a:t>
            </a:r>
          </a:p>
        </p:txBody>
      </p:sp>
      <p:sp>
        <p:nvSpPr>
          <p:cNvPr id="8" name="">
            <a:extLst xmlns:a="http://schemas.openxmlformats.org/drawingml/2006/main">
              <a:ext uri="{FF2B5EF4-FFF2-40B4-BE49-F238E27FC236}">
                <a16:creationId xmlns:a16="http://schemas.microsoft.com/office/drawing/2014/main" id="{E9D0B528-34EF-4DA2-97EA-88EE7E70C350}"/>
              </a:ext>
            </a:extLst>
          </p:cNvPr>
          <p:cNvSpPr>
            <a:spLocks xmlns:a="http://schemas.openxmlformats.org/drawingml/2006/main" noGrp="1"/>
          </p:cNvSpPr>
          <p:nvPr/>
        </p:nvSpPr>
        <p:spPr>
          <a:xfrm xmlns:a="http://schemas.openxmlformats.org/drawingml/2006/main">
            <a:off x="781050" y="4686300"/>
            <a:ext cx="10553700" cy="1066800"/>
          </a:xfrm>
          <a:prstGeom xmlns:a="http://schemas.openxmlformats.org/drawingml/2006/main" prst="roundRect">
            <a:avLst>
              <a:gd name="adj" fmla="val 7143"/>
            </a:avLst>
          </a:prstGeom>
          <a:solidFill xmlns:a="http://schemas.openxmlformats.org/drawingml/2006/main">
            <a:srgbClr val="E8F2E2"/>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875" b="1" i="0">
                <a:solidFill>
                  <a:srgbClr val="17212B"/>
                </a:solidFill>
                <a:latin typeface="Cambria"/>
                <a:ea typeface="Cambria"/>
                <a:cs typeface="Cambria"/>
              </a:defRPr>
            </a:pPr>
            <a:r>
              <a:rPr sz="1875" b="1" i="0">
                <a:solidFill>
                  <a:srgbClr val="17212B"/>
                </a:solidFill>
                <a:latin typeface="Cambria"/>
                <a:ea typeface="Cambria"/>
                <a:cs typeface="Cambria"/>
              </a:rPr>
              <a:t>Một nguồn dữ liệu vận hành để biết xe nào sẵn sàng, công việc nào đang chậm, chi phí phát sinh ở đâu và ai chịu trách nhiệm xử lý.</a:t>
            </a:r>
          </a:p>
        </p:txBody>
      </p:sp>
      <p:sp>
        <p:nvSpPr>
          <p:cNvPr id="9" name="">
            <a:extLst xmlns:a="http://schemas.openxmlformats.org/drawingml/2006/main">
              <a:ext uri="{FF2B5EF4-FFF2-40B4-BE49-F238E27FC236}">
                <a16:creationId xmlns:a16="http://schemas.microsoft.com/office/drawing/2014/main" id="{F81E12BC-6D84-4D60-85B5-896060D5C94F}"/>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0" name="">
            <a:extLst xmlns:a="http://schemas.openxmlformats.org/drawingml/2006/main">
              <a:ext uri="{FF2B5EF4-FFF2-40B4-BE49-F238E27FC236}">
                <a16:creationId xmlns:a16="http://schemas.microsoft.com/office/drawing/2014/main" id="{BD785B3E-93A2-44EE-8FF2-4843A6308981}"/>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3</a:t>
            </a:r>
          </a:p>
        </p:txBody>
      </p:sp>
    </p:spTree>
    <p:extLst>
      <p:ext uri="{BB962C8B-B14F-4D97-AF65-F5344CB8AC3E}">
        <p14:creationId xmlns:p14="http://schemas.microsoft.com/office/powerpoint/2010/main" val="20502282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BF52354-EB1C-4A4B-8469-1ED0A06EEE5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ĐỐI TƯỢNG SỬ DỤNG VÀ KIẾN TRÚC</a:t>
            </a:r>
          </a:p>
        </p:txBody>
      </p:sp>
      <p:sp>
        <p:nvSpPr>
          <p:cNvPr id="2" name="">
            <a:extLst xmlns:a="http://schemas.openxmlformats.org/drawingml/2006/main">
              <a:ext uri="{FF2B5EF4-FFF2-40B4-BE49-F238E27FC236}">
                <a16:creationId xmlns:a16="http://schemas.microsoft.com/office/drawing/2014/main" id="{981739AD-6079-4EC2-B174-B9DD051B39A8}"/>
              </a:ext>
            </a:extLst>
          </p:cNvPr>
          <p:cNvSpPr>
            <a:spLocks xmlns:a="http://schemas.openxmlformats.org/drawingml/2006/main" noGrp="1"/>
          </p:cNvSpPr>
          <p:nvPr/>
        </p:nvSpPr>
        <p:spPr>
          <a:xfrm xmlns:a="http://schemas.openxmlformats.org/drawingml/2006/main">
            <a:off x="523875" y="10001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Vai trò và công việc chính</a:t>
            </a:r>
          </a:p>
        </p:txBody>
      </p:sp>
      <p:graphicFrame>
        <p:nvGraphicFramePr>
          <p:cNvPr id="11" name=""/>
          <p:cNvGraphicFramePr/>
          <p:nvPr/>
        </p:nvGraphicFramePr>
        <p:xfrm>
          <a:off xmlns:a="http://schemas.openxmlformats.org/drawingml/2006/main" x="476250" y="1381125"/>
          <a:ext xmlns:a="http://schemas.openxmlformats.org/drawingml/2006/main" cx="11239500" cy="3143250"/>
        </p:xfrm>
        <a:graphic xmlns:a="http://schemas.openxmlformats.org/drawingml/2006/main">
          <a:graphicData uri="http://schemas.openxmlformats.org/drawingml/2006/table">
            <a:tbl>
              <a:tblPr/>
              <a:tblGrid>
                <a:gridCol w="3143250"/>
                <a:gridCol w="8096250"/>
              </a:tblGrid>
              <a:tr h="457200">
                <a:tc>
                  <a:txBody>
                    <a:bodyPr/>
                    <a:lstStyle/>
                    <a:p>
                      <a:r>
                        <a:t>NHÓM NGƯỜI DÙNG</a:t>
                      </a:r>
                    </a:p>
                  </a:txBody>
                  <a:tcPr marL="91440" marR="91440" marT="45720" marB="45720"/>
                </a:tc>
                <a:tc>
                  <a:txBody>
                    <a:bodyPr/>
                    <a:lstStyle/>
                    <a:p>
                      <a:r>
                        <a:t>CÔNG VIỆC TRÊN HỆ THỐNG</a:t>
                      </a:r>
                    </a:p>
                  </a:txBody>
                  <a:tcPr marL="91440" marR="91440" marT="45720" marB="45720"/>
                </a:tc>
              </a:tr>
              <a:tr h="533400">
                <a:tc>
                  <a:txBody>
                    <a:bodyPr/>
                    <a:lstStyle/>
                    <a:p>
                      <a:r>
                        <a:t>Ban Xe cơ giới / điều hành</a:t>
                      </a:r>
                    </a:p>
                  </a:txBody>
                  <a:tcPr marL="91440" marR="91440" marT="45720" marB="45720"/>
                </a:tc>
                <a:tc>
                  <a:txBody>
                    <a:bodyPr/>
                    <a:lstStyle/>
                    <a:p>
                      <a:r>
                        <a:t>Lập kế hoạch, phân bổ xe, theo dõi tiến độ và xử lý điều chỉnh</a:t>
                      </a:r>
                    </a:p>
                  </a:txBody>
                  <a:tcPr marL="91440" marR="91440" marT="45720" marB="45720"/>
                </a:tc>
              </a:tr>
              <a:tr h="533400">
                <a:tc>
                  <a:txBody>
                    <a:bodyPr/>
                    <a:lstStyle/>
                    <a:p>
                      <a:r>
                        <a:t>Đơn vị / nông trường</a:t>
                      </a:r>
                    </a:p>
                  </a:txBody>
                  <a:tcPr marL="91440" marR="91440" marT="45720" marB="45720"/>
                </a:tc>
                <a:tc>
                  <a:txBody>
                    <a:bodyPr/>
                    <a:lstStyle/>
                    <a:p>
                      <a:r>
                        <a:t>Đăng ký nhu cầu, điều xe trong phạm vi kế hoạch, xác nhận kết quả</a:t>
                      </a:r>
                    </a:p>
                  </a:txBody>
                  <a:tcPr marL="91440" marR="91440" marT="45720" marB="45720"/>
                </a:tc>
              </a:tr>
              <a:tr h="533400">
                <a:tc>
                  <a:txBody>
                    <a:bodyPr/>
                    <a:lstStyle/>
                    <a:p>
                      <a:r>
                        <a:t>Xưởng và kho nhiên liệu</a:t>
                      </a:r>
                    </a:p>
                  </a:txBody>
                  <a:tcPr marL="91440" marR="91440" marT="45720" marB="45720"/>
                </a:tc>
                <a:tc>
                  <a:txBody>
                    <a:bodyPr/>
                    <a:lstStyle/>
                    <a:p>
                      <a:r>
                        <a:t>Bảo dưỡng, sửa chữa, phụ tùng, tồn kho và cấp phát nhiên liệu</a:t>
                      </a:r>
                    </a:p>
                  </a:txBody>
                  <a:tcPr marL="91440" marR="91440" marT="45720" marB="45720"/>
                </a:tc>
              </a:tr>
              <a:tr h="533400">
                <a:tc>
                  <a:txBody>
                    <a:bodyPr/>
                    <a:lstStyle/>
                    <a:p>
                      <a:r>
                        <a:t>Lái xe</a:t>
                      </a:r>
                    </a:p>
                  </a:txBody>
                  <a:tcPr marL="91440" marR="91440" marT="45720" marB="45720"/>
                </a:tc>
                <a:tc>
                  <a:txBody>
                    <a:bodyPr/>
                    <a:lstStyle/>
                    <a:p>
                      <a:r>
                        <a:t>Nhận việc, bắt đầu hoặc kết thúc chuyến, gửi minh chứng và SOS</a:t>
                      </a:r>
                    </a:p>
                  </a:txBody>
                  <a:tcPr marL="91440" marR="91440" marT="45720" marB="45720"/>
                </a:tc>
              </a:tr>
              <a:tr h="533400">
                <a:tc>
                  <a:txBody>
                    <a:bodyPr/>
                    <a:lstStyle/>
                    <a:p>
                      <a:r>
                        <a:t>Lãnh đạo / quản trị</a:t>
                      </a:r>
                    </a:p>
                  </a:txBody>
                  <a:tcPr marL="91440" marR="91440" marT="45720" marB="45720"/>
                </a:tc>
                <a:tc>
                  <a:txBody>
                    <a:bodyPr/>
                    <a:lstStyle/>
                    <a:p>
                      <a:r>
                        <a:t>Dashboard, báo cáo, danh mục, người dùng, vai trò và phạm vi dữ liệu</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847D4C00-23D6-4221-828F-16CFA91C9D09}"/>
              </a:ext>
            </a:extLst>
          </p:cNvPr>
          <p:cNvSpPr>
            <a:spLocks xmlns:a="http://schemas.openxmlformats.org/drawingml/2006/main" noGrp="1"/>
          </p:cNvSpPr>
          <p:nvPr/>
        </p:nvSpPr>
        <p:spPr>
          <a:xfrm xmlns:a="http://schemas.openxmlformats.org/drawingml/2006/main">
            <a:off x="523875" y="481012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Kiến trúc triển khai</a:t>
            </a:r>
          </a:p>
        </p:txBody>
      </p:sp>
      <p:sp>
        <p:nvSpPr>
          <p:cNvPr id="5" name="">
            <a:extLst xmlns:a="http://schemas.openxmlformats.org/drawingml/2006/main">
              <a:ext uri="{FF2B5EF4-FFF2-40B4-BE49-F238E27FC236}">
                <a16:creationId xmlns:a16="http://schemas.microsoft.com/office/drawing/2014/main" id="{4CDF2679-F2F1-4035-9E29-FA728BD0FCC0}"/>
              </a:ext>
            </a:extLst>
          </p:cNvPr>
          <p:cNvSpPr>
            <a:spLocks xmlns:a="http://schemas.openxmlformats.org/drawingml/2006/main" noGrp="1"/>
          </p:cNvSpPr>
          <p:nvPr/>
        </p:nvSpPr>
        <p:spPr>
          <a:xfrm xmlns:a="http://schemas.openxmlformats.org/drawingml/2006/main">
            <a:off x="523875" y="5219700"/>
            <a:ext cx="11144250" cy="552450"/>
          </a:xfrm>
          <a:prstGeom xmlns:a="http://schemas.openxmlformats.org/drawingml/2006/main" prst="roundRect">
            <a:avLst>
              <a:gd name="adj" fmla="val 10345"/>
            </a:avLst>
          </a:prstGeom>
          <a:solidFill xmlns:a="http://schemas.openxmlformats.org/drawingml/2006/main">
            <a:srgbClr val="E8F2E2"/>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17212B"/>
                </a:solidFill>
                <a:latin typeface="Cambria"/>
                <a:ea typeface="Cambria"/>
                <a:cs typeface="Cambria"/>
              </a:defRPr>
            </a:pPr>
            <a:r>
              <a:rPr sz="1725" b="1" i="0">
                <a:solidFill>
                  <a:srgbClr val="17212B"/>
                </a:solidFill>
                <a:latin typeface="Cambria"/>
                <a:ea typeface="Cambria"/>
                <a:cs typeface="Cambria"/>
              </a:rPr>
              <a:t>Web React/Vite, API NestJS, Prisma/MySQL và ứng dụng tài xế Expo/React Native</a:t>
            </a:r>
          </a:p>
        </p:txBody>
      </p:sp>
      <p:sp>
        <p:nvSpPr>
          <p:cNvPr id="6" name="">
            <a:extLst xmlns:a="http://schemas.openxmlformats.org/drawingml/2006/main">
              <a:ext uri="{FF2B5EF4-FFF2-40B4-BE49-F238E27FC236}">
                <a16:creationId xmlns:a16="http://schemas.microsoft.com/office/drawing/2014/main" id="{5DF0B7FB-8EF9-449A-962E-02FF8AD6AFA0}"/>
              </a:ext>
            </a:extLst>
          </p:cNvPr>
          <p:cNvSpPr>
            <a:spLocks xmlns:a="http://schemas.openxmlformats.org/drawingml/2006/main" noGrp="1"/>
          </p:cNvSpPr>
          <p:nvPr/>
        </p:nvSpPr>
        <p:spPr>
          <a:xfrm xmlns:a="http://schemas.openxmlformats.org/drawingml/2006/main">
            <a:off x="571500" y="59055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JWT và role guard đã có. Kiểm soát dữ liệu theo đơn vị cần tiếp tục chuẩn hóa ở từng service.</a:t>
            </a:r>
          </a:p>
        </p:txBody>
      </p:sp>
      <p:sp>
        <p:nvSpPr>
          <p:cNvPr id="7" name="">
            <a:extLst xmlns:a="http://schemas.openxmlformats.org/drawingml/2006/main">
              <a:ext uri="{FF2B5EF4-FFF2-40B4-BE49-F238E27FC236}">
                <a16:creationId xmlns:a16="http://schemas.microsoft.com/office/drawing/2014/main" id="{E5F17B8A-D316-415E-AB26-6906F7E81E06}"/>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8" name="">
            <a:extLst xmlns:a="http://schemas.openxmlformats.org/drawingml/2006/main">
              <a:ext uri="{FF2B5EF4-FFF2-40B4-BE49-F238E27FC236}">
                <a16:creationId xmlns:a16="http://schemas.microsoft.com/office/drawing/2014/main" id="{5CCC4FE1-BDF0-4A44-A877-61410B88C3BB}"/>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4</a:t>
            </a:r>
          </a:p>
        </p:txBody>
      </p:sp>
    </p:spTree>
    <p:extLst>
      <p:ext uri="{BB962C8B-B14F-4D97-AF65-F5344CB8AC3E}">
        <p14:creationId xmlns:p14="http://schemas.microsoft.com/office/powerpoint/2010/main" val="30465962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62B5DBF-945A-4600-B57D-8D88108DF561}"/>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PHẦN MỀM CÓ NHỮNG GÌ</a:t>
            </a:r>
          </a:p>
        </p:txBody>
      </p:sp>
      <p:graphicFrame>
        <p:nvGraphicFramePr>
          <p:cNvPr id="7" name=""/>
          <p:cNvGraphicFramePr/>
          <p:nvPr/>
        </p:nvGraphicFramePr>
        <p:xfrm>
          <a:off xmlns:a="http://schemas.openxmlformats.org/drawingml/2006/main" x="457200" y="1066800"/>
          <a:ext xmlns:a="http://schemas.openxmlformats.org/drawingml/2006/main" cx="11277600" cy="4572000"/>
        </p:xfrm>
        <a:graphic xmlns:a="http://schemas.openxmlformats.org/drawingml/2006/main">
          <a:graphicData uri="http://schemas.openxmlformats.org/drawingml/2006/table">
            <a:tbl>
              <a:tblPr/>
              <a:tblGrid>
                <a:gridCol w="2476500"/>
                <a:gridCol w="7334250"/>
                <a:gridCol w="1466850"/>
              </a:tblGrid>
              <a:tr h="476250">
                <a:tc>
                  <a:txBody>
                    <a:bodyPr/>
                    <a:lstStyle/>
                    <a:p>
                      <a:r>
                        <a:t>NHÓM CHỨC NĂNG</a:t>
                      </a:r>
                    </a:p>
                  </a:txBody>
                  <a:tcPr marL="91440" marR="91440" marT="45720" marB="45720"/>
                </a:tc>
                <a:tc>
                  <a:txBody>
                    <a:bodyPr/>
                    <a:lstStyle/>
                    <a:p>
                      <a:r>
                        <a:t>NỘI DUNG CHÍNH</a:t>
                      </a:r>
                    </a:p>
                  </a:txBody>
                  <a:tcPr marL="91440" marR="91440" marT="45720" marB="45720"/>
                </a:tc>
                <a:tc>
                  <a:txBody>
                    <a:bodyPr/>
                    <a:lstStyle/>
                    <a:p>
                      <a:r>
                        <a:t>MODULE</a:t>
                      </a:r>
                    </a:p>
                  </a:txBody>
                  <a:tcPr marL="91440" marR="91440" marT="45720" marB="45720"/>
                </a:tc>
              </a:tr>
              <a:tr h="666750">
                <a:tc>
                  <a:txBody>
                    <a:bodyPr/>
                    <a:lstStyle/>
                    <a:p>
                      <a:r>
                        <a:t>Điều hành vận hành</a:t>
                      </a:r>
                    </a:p>
                  </a:txBody>
                  <a:tcPr marL="91440" marR="91440" marT="45720" marB="45720"/>
                </a:tc>
                <a:tc>
                  <a:txBody>
                    <a:bodyPr/>
                    <a:lstStyle/>
                    <a:p>
                      <a:r>
                        <a:t>Dashboard, bản đồ GPS, kế hoạch sản xuất, điều xe, vận chuyển và nghiệm thu</a:t>
                      </a:r>
                    </a:p>
                  </a:txBody>
                  <a:tcPr marL="91440" marR="91440" marT="45720" marB="45720"/>
                </a:tc>
                <a:tc>
                  <a:txBody>
                    <a:bodyPr/>
                    <a:lstStyle/>
                    <a:p>
                      <a:pPr algn="ctr"/>
                      <a:r>
                        <a:rPr sz="1350" b="1">
                          <a:solidFill>
                            <a:srgbClr val="006B35"/>
                          </a:solidFill>
                          <a:latin typeface="Cambria"/>
                          <a:ea typeface="Cambria"/>
                          <a:cs typeface="Cambria"/>
                        </a:rPr>
                        <a:t>A, B, D</a:t>
                      </a:r>
                    </a:p>
                  </a:txBody>
                  <a:tcPr marL="91440" marR="91440" marT="45720" marB="45720" anchor="ctr"/>
                </a:tc>
              </a:tr>
              <a:tr h="666750">
                <a:tc>
                  <a:txBody>
                    <a:bodyPr/>
                    <a:lstStyle/>
                    <a:p>
                      <a:r>
                        <a:t>Tài sản và kỹ thuật</a:t>
                      </a:r>
                    </a:p>
                  </a:txBody>
                  <a:tcPr marL="91440" marR="91440" marT="45720" marB="45720"/>
                </a:tc>
                <a:tc>
                  <a:txBody>
                    <a:bodyPr/>
                    <a:lstStyle/>
                    <a:p>
                      <a:r>
                        <a:t>Hồ sơ xe, thiết bị đi kèm, lịch sử phân công, bảo dưỡng, sửa chữa và cảnh báo</a:t>
                      </a:r>
                    </a:p>
                  </a:txBody>
                  <a:tcPr marL="91440" marR="91440" marT="45720" marB="45720"/>
                </a:tc>
                <a:tc>
                  <a:txBody>
                    <a:bodyPr/>
                    <a:lstStyle/>
                    <a:p>
                      <a:pPr algn="ctr"/>
                      <a:r>
                        <a:rPr sz="1350" b="1">
                          <a:solidFill>
                            <a:srgbClr val="006B35"/>
                          </a:solidFill>
                          <a:latin typeface="Cambria"/>
                          <a:ea typeface="Cambria"/>
                          <a:cs typeface="Cambria"/>
                        </a:rPr>
                        <a:t>C, E, K</a:t>
                      </a:r>
                    </a:p>
                  </a:txBody>
                  <a:tcPr marL="91440" marR="91440" marT="45720" marB="45720" anchor="ctr"/>
                </a:tc>
              </a:tr>
              <a:tr h="666750">
                <a:tc>
                  <a:txBody>
                    <a:bodyPr/>
                    <a:lstStyle/>
                    <a:p>
                      <a:r>
                        <a:t>Nhân sự vận hành</a:t>
                      </a:r>
                    </a:p>
                  </a:txBody>
                  <a:tcPr marL="91440" marR="91440" marT="45720" marB="45720"/>
                </a:tc>
                <a:tc>
                  <a:txBody>
                    <a:bodyPr/>
                    <a:lstStyle/>
                    <a:p>
                      <a:r>
                        <a:t>Hồ sơ lái xe, nhiệm vụ mobile, SOS, đồng bộ offline, KPI và xếp hạng</a:t>
                      </a:r>
                    </a:p>
                  </a:txBody>
                  <a:tcPr marL="91440" marR="91440" marT="45720" marB="45720"/>
                </a:tc>
                <a:tc>
                  <a:txBody>
                    <a:bodyPr/>
                    <a:lstStyle/>
                    <a:p>
                      <a:pPr algn="ctr"/>
                      <a:r>
                        <a:rPr sz="1350" b="1">
                          <a:solidFill>
                            <a:srgbClr val="006B35"/>
                          </a:solidFill>
                          <a:latin typeface="Cambria"/>
                          <a:ea typeface="Cambria"/>
                          <a:cs typeface="Cambria"/>
                        </a:rPr>
                        <a:t>I</a:t>
                      </a:r>
                    </a:p>
                  </a:txBody>
                  <a:tcPr marL="91440" marR="91440" marT="45720" marB="45720" anchor="ctr"/>
                </a:tc>
              </a:tr>
              <a:tr h="666750">
                <a:tc>
                  <a:txBody>
                    <a:bodyPr/>
                    <a:lstStyle/>
                    <a:p>
                      <a:r>
                        <a:t>Nhiên liệu</a:t>
                      </a:r>
                    </a:p>
                  </a:txBody>
                  <a:tcPr marL="91440" marR="91440" marT="45720" marB="45720"/>
                </a:tc>
                <a:tc>
                  <a:txBody>
                    <a:bodyPr/>
                    <a:lstStyle/>
                    <a:p>
                      <a:r>
                        <a:t>Kho nhiên liệu, phiếu cấp phát, định mức, chênh lệch và đối soát</a:t>
                      </a:r>
                    </a:p>
                  </a:txBody>
                  <a:tcPr marL="91440" marR="91440" marT="45720" marB="45720"/>
                </a:tc>
                <a:tc>
                  <a:txBody>
                    <a:bodyPr/>
                    <a:lstStyle/>
                    <a:p>
                      <a:pPr algn="ctr"/>
                      <a:r>
                        <a:rPr sz="1350" b="1">
                          <a:solidFill>
                            <a:srgbClr val="006B35"/>
                          </a:solidFill>
                          <a:latin typeface="Cambria"/>
                          <a:ea typeface="Cambria"/>
                          <a:cs typeface="Cambria"/>
                        </a:rPr>
                        <a:t>J</a:t>
                      </a:r>
                    </a:p>
                  </a:txBody>
                  <a:tcPr marL="91440" marR="91440" marT="45720" marB="45720" anchor="ctr"/>
                </a:tc>
              </a:tr>
              <a:tr h="666750">
                <a:tc>
                  <a:txBody>
                    <a:bodyPr/>
                    <a:lstStyle/>
                    <a:p>
                      <a:r>
                        <a:t>Quản trị và dữ liệu</a:t>
                      </a:r>
                    </a:p>
                  </a:txBody>
                  <a:tcPr marL="91440" marR="91440" marT="45720" marB="45720"/>
                </a:tc>
                <a:tc>
                  <a:txBody>
                    <a:bodyPr/>
                    <a:lstStyle/>
                    <a:p>
                      <a:r>
                        <a:t>Danh mục dùng chung, import/export Excel, người dùng, vai trò và phạm vi đơn vị</a:t>
                      </a:r>
                    </a:p>
                  </a:txBody>
                  <a:tcPr marL="91440" marR="91440" marT="45720" marB="45720"/>
                </a:tc>
                <a:tc>
                  <a:txBody>
                    <a:bodyPr/>
                    <a:lstStyle/>
                    <a:p>
                      <a:pPr algn="ctr"/>
                      <a:r>
                        <a:rPr sz="1350" b="1">
                          <a:solidFill>
                            <a:srgbClr val="006B35"/>
                          </a:solidFill>
                          <a:latin typeface="Cambria"/>
                          <a:ea typeface="Cambria"/>
                          <a:cs typeface="Cambria"/>
                        </a:rPr>
                        <a:t>G, H</a:t>
                      </a:r>
                    </a:p>
                  </a:txBody>
                  <a:tcPr marL="91440" marR="91440" marT="45720" marB="45720" anchor="ctr"/>
                </a:tc>
              </a:tr>
              <a:tr h="666750">
                <a:tc>
                  <a:txBody>
                    <a:bodyPr/>
                    <a:lstStyle/>
                    <a:p>
                      <a:r>
                        <a:t>Báo cáo quản trị</a:t>
                      </a:r>
                    </a:p>
                  </a:txBody>
                  <a:tcPr marL="91440" marR="91440" marT="45720" marB="45720"/>
                </a:tc>
                <a:tc>
                  <a:txBody>
                    <a:bodyPr/>
                    <a:lstStyle/>
                    <a:p>
                      <a:r>
                        <a:t>Tổng hợp hoạt động xe, năng suất, nhiên liệu, BTSC, lái xe và cảnh báo</a:t>
                      </a:r>
                    </a:p>
                  </a:txBody>
                  <a:tcPr marL="91440" marR="91440" marT="45720" marB="45720"/>
                </a:tc>
                <a:tc>
                  <a:txBody>
                    <a:bodyPr/>
                    <a:lstStyle/>
                    <a:p>
                      <a:pPr algn="ctr"/>
                      <a:r>
                        <a:rPr sz="1350" b="1">
                          <a:solidFill>
                            <a:srgbClr val="006B35"/>
                          </a:solidFill>
                          <a:latin typeface="Cambria"/>
                          <a:ea typeface="Cambria"/>
                          <a:cs typeface="Cambria"/>
                        </a:rPr>
                        <a:t>F</a:t>
                      </a:r>
                    </a:p>
                  </a:txBody>
                  <a:tcPr marL="91440" marR="91440" marT="45720" marB="45720" anchor="ctr"/>
                </a:tc>
              </a:tr>
            </a:tbl>
          </a:graphicData>
        </a:graphic>
      </p:graphicFrame>
      <p:sp>
        <p:nvSpPr>
          <p:cNvPr id="3" name="">
            <a:extLst xmlns:a="http://schemas.openxmlformats.org/drawingml/2006/main">
              <a:ext uri="{FF2B5EF4-FFF2-40B4-BE49-F238E27FC236}">
                <a16:creationId xmlns:a16="http://schemas.microsoft.com/office/drawing/2014/main" id="{3B6BCA69-E4FD-4E19-A067-91BF7C6B0571}"/>
              </a:ext>
            </a:extLst>
          </p:cNvPr>
          <p:cNvSpPr>
            <a:spLocks xmlns:a="http://schemas.openxmlformats.org/drawingml/2006/main" noGrp="1"/>
          </p:cNvSpPr>
          <p:nvPr/>
        </p:nvSpPr>
        <p:spPr>
          <a:xfrm xmlns:a="http://schemas.openxmlformats.org/drawingml/2006/main">
            <a:off x="714375" y="58578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Các chức năng trên đã có mức độ triển khai khác nhau. Slide tiếp theo phân biệt phần đã có bằng chứng và phần còn phải hoàn thiện.</a:t>
            </a:r>
          </a:p>
        </p:txBody>
      </p:sp>
      <p:sp>
        <p:nvSpPr>
          <p:cNvPr id="4" name="">
            <a:extLst xmlns:a="http://schemas.openxmlformats.org/drawingml/2006/main">
              <a:ext uri="{FF2B5EF4-FFF2-40B4-BE49-F238E27FC236}">
                <a16:creationId xmlns:a16="http://schemas.microsoft.com/office/drawing/2014/main" id="{71601B46-F23F-4082-A46E-06CCA7F8ADC3}"/>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5" name="">
            <a:extLst xmlns:a="http://schemas.openxmlformats.org/drawingml/2006/main">
              <a:ext uri="{FF2B5EF4-FFF2-40B4-BE49-F238E27FC236}">
                <a16:creationId xmlns:a16="http://schemas.microsoft.com/office/drawing/2014/main" id="{2AD3A80B-2557-456C-BB96-DE419E7CFE1F}"/>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5</a:t>
            </a:r>
          </a:p>
        </p:txBody>
      </p:sp>
    </p:spTree>
    <p:extLst>
      <p:ext uri="{BB962C8B-B14F-4D97-AF65-F5344CB8AC3E}">
        <p14:creationId xmlns:p14="http://schemas.microsoft.com/office/powerpoint/2010/main" val="39174887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DF9BF5C-BB01-48A3-904D-8048FAA56A3B}"/>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BẢN ĐỒ MODULE A–K VÀ MỨC ĐỘ TRIỂN KHAI</a:t>
            </a:r>
          </a:p>
        </p:txBody>
      </p:sp>
      <p:graphicFrame>
        <p:nvGraphicFramePr>
          <p:cNvPr id="6" name=""/>
          <p:cNvGraphicFramePr/>
          <p:nvPr/>
        </p:nvGraphicFramePr>
        <p:xfrm>
          <a:off xmlns:a="http://schemas.openxmlformats.org/drawingml/2006/main" x="342900" y="952500"/>
          <a:ext xmlns:a="http://schemas.openxmlformats.org/drawingml/2006/main" cx="11506200" cy="5257800"/>
        </p:xfrm>
        <a:graphic xmlns:a="http://schemas.openxmlformats.org/drawingml/2006/main">
          <a:graphicData uri="http://schemas.openxmlformats.org/drawingml/2006/table">
            <a:tbl>
              <a:tblPr/>
              <a:tblGrid>
                <a:gridCol w="495300"/>
                <a:gridCol w="1809750"/>
                <a:gridCol w="4476750"/>
                <a:gridCol w="4724400"/>
              </a:tblGrid>
              <a:tr h="438150">
                <a:tc>
                  <a:txBody>
                    <a:bodyPr/>
                    <a:lstStyle/>
                    <a:p>
                      <a:r>
                        <a:t>M</a:t>
                      </a:r>
                    </a:p>
                  </a:txBody>
                  <a:tcPr marL="91440" marR="91440" marT="45720" marB="45720"/>
                </a:tc>
                <a:tc>
                  <a:txBody>
                    <a:bodyPr/>
                    <a:lstStyle/>
                    <a:p>
                      <a:r>
                        <a:t>PHÂN HỆ</a:t>
                      </a:r>
                    </a:p>
                  </a:txBody>
                  <a:tcPr marL="91440" marR="91440" marT="45720" marB="45720"/>
                </a:tc>
                <a:tc>
                  <a:txBody>
                    <a:bodyPr/>
                    <a:lstStyle/>
                    <a:p>
                      <a:r>
                        <a:t>BẰNG CHỨNG ĐÃ CÓ</a:t>
                      </a:r>
                    </a:p>
                  </a:txBody>
                  <a:tcPr marL="91440" marR="91440" marT="45720" marB="45720"/>
                </a:tc>
                <a:tc>
                  <a:txBody>
                    <a:bodyPr/>
                    <a:lstStyle/>
                    <a:p>
                      <a:r>
                        <a:t>NHẬN ĐỊNH HIỆN TẠI</a:t>
                      </a:r>
                    </a:p>
                  </a:txBody>
                  <a:tcPr marL="91440" marR="91440" marT="45720" marB="45720"/>
                </a:tc>
              </a:tr>
              <a:tr h="438150">
                <a:tc>
                  <a:txBody>
                    <a:bodyPr/>
                    <a:lstStyle/>
                    <a:p>
                      <a:pPr algn="ctr"/>
                      <a:r>
                        <a:rPr sz="1200" b="1">
                          <a:solidFill>
                            <a:srgbClr val="006B35"/>
                          </a:solidFill>
                          <a:latin typeface="Cambria"/>
                          <a:ea typeface="Cambria"/>
                          <a:cs typeface="Cambria"/>
                        </a:rPr>
                        <a:t>A</a:t>
                      </a:r>
                    </a:p>
                  </a:txBody>
                  <a:tcPr marL="91440" marR="91440" marT="45720" marB="45720">
                    <a:solidFill>
                      <a:srgbClr val="EAF2E6"/>
                    </a:solidFill>
                  </a:tcPr>
                </a:tc>
                <a:tc>
                  <a:txBody>
                    <a:bodyPr/>
                    <a:lstStyle/>
                    <a:p>
                      <a:r>
                        <a:t>Dashboard</a:t>
                      </a:r>
                    </a:p>
                  </a:txBody>
                  <a:tcPr marL="91440" marR="91440" marT="45720" marB="45720"/>
                </a:tc>
                <a:tc>
                  <a:txBody>
                    <a:bodyPr/>
                    <a:lstStyle/>
                    <a:p>
                      <a:r>
                        <a:t>Có API tổng hợp, UI đã nối</a:t>
                      </a:r>
                    </a:p>
                  </a:txBody>
                  <a:tcPr marL="91440" marR="91440" marT="45720" marB="45720"/>
                </a:tc>
                <a:tc>
                  <a:txBody>
                    <a:bodyPr/>
                    <a:lstStyle/>
                    <a:p>
                      <a:r>
                        <a:t>Đang hoàn thiện số liệu</a:t>
                      </a:r>
                    </a:p>
                  </a:txBody>
                  <a:tcPr marL="91440" marR="91440" marT="45720" marB="45720"/>
                </a:tc>
              </a:tr>
              <a:tr h="438150">
                <a:tc>
                  <a:txBody>
                    <a:bodyPr/>
                    <a:lstStyle/>
                    <a:p>
                      <a:pPr algn="ctr"/>
                      <a:r>
                        <a:rPr sz="1200" b="1">
                          <a:solidFill>
                            <a:srgbClr val="006B35"/>
                          </a:solidFill>
                          <a:latin typeface="Cambria"/>
                          <a:ea typeface="Cambria"/>
                          <a:cs typeface="Cambria"/>
                        </a:rPr>
                        <a:t>B</a:t>
                      </a:r>
                    </a:p>
                  </a:txBody>
                  <a:tcPr marL="91440" marR="91440" marT="45720" marB="45720">
                    <a:solidFill>
                      <a:srgbClr val="EAF2E6"/>
                    </a:solidFill>
                  </a:tcPr>
                </a:tc>
                <a:tc>
                  <a:txBody>
                    <a:bodyPr/>
                    <a:lstStyle/>
                    <a:p>
                      <a:r>
                        <a:t>GPS</a:t>
                      </a:r>
                    </a:p>
                  </a:txBody>
                  <a:tcPr marL="91440" marR="91440" marT="45720" marB="45720"/>
                </a:tc>
                <a:tc>
                  <a:txBody>
                    <a:bodyPr/>
                    <a:lstStyle/>
                    <a:p>
                      <a:r>
                        <a:t>Telemetry, realtime, SOS</a:t>
                      </a:r>
                    </a:p>
                  </a:txBody>
                  <a:tcPr marL="91440" marR="91440" marT="45720" marB="45720"/>
                </a:tc>
                <a:tc>
                  <a:txBody>
                    <a:bodyPr/>
                    <a:lstStyle/>
                    <a:p>
                      <a:r>
                        <a:t>Hybrid / cần tích hợp thiết bị</a:t>
                      </a:r>
                    </a:p>
                  </a:txBody>
                  <a:tcPr marL="91440" marR="91440" marT="45720" marB="45720"/>
                </a:tc>
              </a:tr>
              <a:tr h="438150">
                <a:tc>
                  <a:txBody>
                    <a:bodyPr/>
                    <a:lstStyle/>
                    <a:p>
                      <a:pPr algn="ctr"/>
                      <a:r>
                        <a:rPr sz="1200" b="1">
                          <a:solidFill>
                            <a:srgbClr val="006B35"/>
                          </a:solidFill>
                          <a:latin typeface="Cambria"/>
                          <a:ea typeface="Cambria"/>
                          <a:cs typeface="Cambria"/>
                        </a:rPr>
                        <a:t>C</a:t>
                      </a:r>
                    </a:p>
                  </a:txBody>
                  <a:tcPr marL="91440" marR="91440" marT="45720" marB="45720">
                    <a:solidFill>
                      <a:srgbClr val="EAF2E6"/>
                    </a:solidFill>
                  </a:tcPr>
                </a:tc>
                <a:tc>
                  <a:txBody>
                    <a:bodyPr/>
                    <a:lstStyle/>
                    <a:p>
                      <a:r>
                        <a:t>Đội xe</a:t>
                      </a:r>
                    </a:p>
                  </a:txBody>
                  <a:tcPr marL="91440" marR="91440" marT="45720" marB="45720"/>
                </a:tc>
                <a:tc>
                  <a:txBody>
                    <a:bodyPr/>
                    <a:lstStyle/>
                    <a:p>
                      <a:r>
                        <a:t>Vehicle, implement, lịch sử</a:t>
                      </a:r>
                    </a:p>
                  </a:txBody>
                  <a:tcPr marL="91440" marR="91440" marT="45720" marB="45720"/>
                </a:tc>
                <a:tc>
                  <a:txBody>
                    <a:bodyPr/>
                    <a:lstStyle/>
                    <a:p>
                      <a:r>
                        <a:t>Tích hợp tương đối sâu</a:t>
                      </a:r>
                    </a:p>
                  </a:txBody>
                  <a:tcPr marL="91440" marR="91440" marT="45720" marB="45720"/>
                </a:tc>
              </a:tr>
              <a:tr h="438150">
                <a:tc>
                  <a:txBody>
                    <a:bodyPr/>
                    <a:lstStyle/>
                    <a:p>
                      <a:pPr algn="ctr"/>
                      <a:r>
                        <a:rPr sz="1200" b="1">
                          <a:solidFill>
                            <a:srgbClr val="006B35"/>
                          </a:solidFill>
                          <a:latin typeface="Cambria"/>
                          <a:ea typeface="Cambria"/>
                          <a:cs typeface="Cambria"/>
                        </a:rPr>
                        <a:t>D</a:t>
                      </a:r>
                    </a:p>
                  </a:txBody>
                  <a:tcPr marL="91440" marR="91440" marT="45720" marB="45720">
                    <a:solidFill>
                      <a:srgbClr val="EAF2E6"/>
                    </a:solidFill>
                  </a:tcPr>
                </a:tc>
                <a:tc>
                  <a:txBody>
                    <a:bodyPr/>
                    <a:lstStyle/>
                    <a:p>
                      <a:r>
                        <a:t>Điều xe</a:t>
                      </a:r>
                    </a:p>
                  </a:txBody>
                  <a:tcPr marL="91440" marR="91440" marT="45720" marB="45720"/>
                </a:tc>
                <a:tc>
                  <a:txBody>
                    <a:bodyPr/>
                    <a:lstStyle/>
                    <a:p>
                      <a:r>
                        <a:t>Plan, dispatch, work order</a:t>
                      </a:r>
                    </a:p>
                  </a:txBody>
                  <a:tcPr marL="91440" marR="91440" marT="45720" marB="45720"/>
                </a:tc>
                <a:tc>
                  <a:txBody>
                    <a:bodyPr/>
                    <a:lstStyle/>
                    <a:p>
                      <a:r>
                        <a:t>Luồng chính đã có</a:t>
                      </a:r>
                    </a:p>
                  </a:txBody>
                  <a:tcPr marL="91440" marR="91440" marT="45720" marB="45720"/>
                </a:tc>
              </a:tr>
              <a:tr h="438150">
                <a:tc>
                  <a:txBody>
                    <a:bodyPr/>
                    <a:lstStyle/>
                    <a:p>
                      <a:pPr algn="ctr"/>
                      <a:r>
                        <a:rPr sz="1200" b="1">
                          <a:solidFill>
                            <a:srgbClr val="006B35"/>
                          </a:solidFill>
                          <a:latin typeface="Cambria"/>
                          <a:ea typeface="Cambria"/>
                          <a:cs typeface="Cambria"/>
                        </a:rPr>
                        <a:t>E</a:t>
                      </a:r>
                    </a:p>
                  </a:txBody>
                  <a:tcPr marL="91440" marR="91440" marT="45720" marB="45720">
                    <a:solidFill>
                      <a:srgbClr val="EAF2E6"/>
                    </a:solidFill>
                  </a:tcPr>
                </a:tc>
                <a:tc>
                  <a:txBody>
                    <a:bodyPr/>
                    <a:lstStyle/>
                    <a:p>
                      <a:r>
                        <a:t>BTSC</a:t>
                      </a:r>
                    </a:p>
                  </a:txBody>
                  <a:tcPr marL="91440" marR="91440" marT="45720" marB="45720"/>
                </a:tc>
                <a:tc>
                  <a:txBody>
                    <a:bodyPr/>
                    <a:lstStyle/>
                    <a:p>
                      <a:r>
                        <a:t>Maintenance, repair, workshop</a:t>
                      </a:r>
                    </a:p>
                  </a:txBody>
                  <a:tcPr marL="91440" marR="91440" marT="45720" marB="45720"/>
                </a:tc>
                <a:tc>
                  <a:txBody>
                    <a:bodyPr/>
                    <a:lstStyle/>
                    <a:p>
                      <a:r>
                        <a:t>Luồng chính đã có</a:t>
                      </a:r>
                    </a:p>
                  </a:txBody>
                  <a:tcPr marL="91440" marR="91440" marT="45720" marB="45720"/>
                </a:tc>
              </a:tr>
              <a:tr h="438150">
                <a:tc>
                  <a:txBody>
                    <a:bodyPr/>
                    <a:lstStyle/>
                    <a:p>
                      <a:pPr algn="ctr"/>
                      <a:r>
                        <a:rPr sz="1200" b="1">
                          <a:solidFill>
                            <a:srgbClr val="006B35"/>
                          </a:solidFill>
                          <a:latin typeface="Cambria"/>
                          <a:ea typeface="Cambria"/>
                          <a:cs typeface="Cambria"/>
                        </a:rPr>
                        <a:t>F</a:t>
                      </a:r>
                    </a:p>
                  </a:txBody>
                  <a:tcPr marL="91440" marR="91440" marT="45720" marB="45720">
                    <a:solidFill>
                      <a:srgbClr val="EAF2E6"/>
                    </a:solidFill>
                  </a:tcPr>
                </a:tc>
                <a:tc>
                  <a:txBody>
                    <a:bodyPr/>
                    <a:lstStyle/>
                    <a:p>
                      <a:r>
                        <a:t>Báo cáo</a:t>
                      </a:r>
                    </a:p>
                  </a:txBody>
                  <a:tcPr marL="91440" marR="91440" marT="45720" marB="45720"/>
                </a:tc>
                <a:tc>
                  <a:txBody>
                    <a:bodyPr/>
                    <a:lstStyle/>
                    <a:p>
                      <a:r>
                        <a:t>6 trang báo cáo khởi tạo rỗng</a:t>
                      </a:r>
                    </a:p>
                  </a:txBody>
                  <a:tcPr marL="91440" marR="91440" marT="45720" marB="45720"/>
                </a:tc>
                <a:tc>
                  <a:txBody>
                    <a:bodyPr/>
                    <a:lstStyle/>
                    <a:p>
                      <a:r>
                        <a:t>Khoảng trống rõ</a:t>
                      </a:r>
                    </a:p>
                  </a:txBody>
                  <a:tcPr marL="91440" marR="91440" marT="45720" marB="45720"/>
                </a:tc>
              </a:tr>
              <a:tr h="438150">
                <a:tc>
                  <a:txBody>
                    <a:bodyPr/>
                    <a:lstStyle/>
                    <a:p>
                      <a:pPr algn="ctr"/>
                      <a:r>
                        <a:rPr sz="1200" b="1">
                          <a:solidFill>
                            <a:srgbClr val="006B35"/>
                          </a:solidFill>
                          <a:latin typeface="Cambria"/>
                          <a:ea typeface="Cambria"/>
                          <a:cs typeface="Cambria"/>
                        </a:rPr>
                        <a:t>G</a:t>
                      </a:r>
                    </a:p>
                  </a:txBody>
                  <a:tcPr marL="91440" marR="91440" marT="45720" marB="45720">
                    <a:solidFill>
                      <a:srgbClr val="EAF2E6"/>
                    </a:solidFill>
                  </a:tcPr>
                </a:tc>
                <a:tc>
                  <a:txBody>
                    <a:bodyPr/>
                    <a:lstStyle/>
                    <a:p>
                      <a:r>
                        <a:t>Phân quyền</a:t>
                      </a:r>
                    </a:p>
                  </a:txBody>
                  <a:tcPr marL="91440" marR="91440" marT="45720" marB="45720"/>
                </a:tc>
                <a:tc>
                  <a:txBody>
                    <a:bodyPr/>
                    <a:lstStyle/>
                    <a:p>
                      <a:r>
                        <a:t>JWT, roles, scope utilities</a:t>
                      </a:r>
                    </a:p>
                  </a:txBody>
                  <a:tcPr marL="91440" marR="91440" marT="45720" marB="45720"/>
                </a:tc>
                <a:tc>
                  <a:txBody>
                    <a:bodyPr/>
                    <a:lstStyle/>
                    <a:p>
                      <a:r>
                        <a:t>Scope đơn vị chưa đồng đều</a:t>
                      </a:r>
                    </a:p>
                  </a:txBody>
                  <a:tcPr marL="91440" marR="91440" marT="45720" marB="45720"/>
                </a:tc>
              </a:tr>
              <a:tr h="438150">
                <a:tc>
                  <a:txBody>
                    <a:bodyPr/>
                    <a:lstStyle/>
                    <a:p>
                      <a:pPr algn="ctr"/>
                      <a:r>
                        <a:rPr sz="1200" b="1">
                          <a:solidFill>
                            <a:srgbClr val="006B35"/>
                          </a:solidFill>
                          <a:latin typeface="Cambria"/>
                          <a:ea typeface="Cambria"/>
                          <a:cs typeface="Cambria"/>
                        </a:rPr>
                        <a:t>H</a:t>
                      </a:r>
                    </a:p>
                  </a:txBody>
                  <a:tcPr marL="91440" marR="91440" marT="45720" marB="45720">
                    <a:solidFill>
                      <a:srgbClr val="EAF2E6"/>
                    </a:solidFill>
                  </a:tcPr>
                </a:tc>
                <a:tc>
                  <a:txBody>
                    <a:bodyPr/>
                    <a:lstStyle/>
                    <a:p>
                      <a:r>
                        <a:t>Danh mục</a:t>
                      </a:r>
                    </a:p>
                  </a:txBody>
                  <a:tcPr marL="91440" marR="91440" marT="45720" marB="45720"/>
                </a:tc>
                <a:tc>
                  <a:txBody>
                    <a:bodyPr/>
                    <a:lstStyle/>
                    <a:p>
                      <a:r>
                        <a:t>Catalog API và import Excel</a:t>
                      </a:r>
                    </a:p>
                  </a:txBody>
                  <a:tcPr marL="91440" marR="91440" marT="45720" marB="45720"/>
                </a:tc>
                <a:tc>
                  <a:txBody>
                    <a:bodyPr/>
                    <a:lstStyle/>
                    <a:p>
                      <a:r>
                        <a:t>Còn fallback local</a:t>
                      </a:r>
                    </a:p>
                  </a:txBody>
                  <a:tcPr marL="91440" marR="91440" marT="45720" marB="45720"/>
                </a:tc>
              </a:tr>
              <a:tr h="438150">
                <a:tc>
                  <a:txBody>
                    <a:bodyPr/>
                    <a:lstStyle/>
                    <a:p>
                      <a:pPr algn="ctr"/>
                      <a:r>
                        <a:rPr sz="1200" b="1">
                          <a:solidFill>
                            <a:srgbClr val="006B35"/>
                          </a:solidFill>
                          <a:latin typeface="Cambria"/>
                          <a:ea typeface="Cambria"/>
                          <a:cs typeface="Cambria"/>
                        </a:rPr>
                        <a:t>I</a:t>
                      </a:r>
                    </a:p>
                  </a:txBody>
                  <a:tcPr marL="91440" marR="91440" marT="45720" marB="45720">
                    <a:solidFill>
                      <a:srgbClr val="EAF2E6"/>
                    </a:solidFill>
                  </a:tcPr>
                </a:tc>
                <a:tc>
                  <a:txBody>
                    <a:bodyPr/>
                    <a:lstStyle/>
                    <a:p>
                      <a:r>
                        <a:t>Lái xe</a:t>
                      </a:r>
                    </a:p>
                  </a:txBody>
                  <a:tcPr marL="91440" marR="91440" marT="45720" marB="45720"/>
                </a:tc>
                <a:tc>
                  <a:txBody>
                    <a:bodyPr/>
                    <a:lstStyle/>
                    <a:p>
                      <a:r>
                        <a:t>Web, mobile, KPI, sync</a:t>
                      </a:r>
                    </a:p>
                  </a:txBody>
                  <a:tcPr marL="91440" marR="91440" marT="45720" marB="45720"/>
                </a:tc>
                <a:tc>
                  <a:txBody>
                    <a:bodyPr/>
                    <a:lstStyle/>
                    <a:p>
                      <a:r>
                        <a:t>Đang hoàn thiện đầu cuối</a:t>
                      </a:r>
                    </a:p>
                  </a:txBody>
                  <a:tcPr marL="91440" marR="91440" marT="45720" marB="45720"/>
                </a:tc>
              </a:tr>
              <a:tr h="438150">
                <a:tc>
                  <a:txBody>
                    <a:bodyPr/>
                    <a:lstStyle/>
                    <a:p>
                      <a:pPr algn="ctr"/>
                      <a:r>
                        <a:rPr sz="1200" b="1">
                          <a:solidFill>
                            <a:srgbClr val="006B35"/>
                          </a:solidFill>
                          <a:latin typeface="Cambria"/>
                          <a:ea typeface="Cambria"/>
                          <a:cs typeface="Cambria"/>
                        </a:rPr>
                        <a:t>J</a:t>
                      </a:r>
                    </a:p>
                  </a:txBody>
                  <a:tcPr marL="91440" marR="91440" marT="45720" marB="45720">
                    <a:solidFill>
                      <a:srgbClr val="EAF2E6"/>
                    </a:solidFill>
                  </a:tcPr>
                </a:tc>
                <a:tc>
                  <a:txBody>
                    <a:bodyPr/>
                    <a:lstStyle/>
                    <a:p>
                      <a:r>
                        <a:t>Nhiên liệu</a:t>
                      </a:r>
                    </a:p>
                  </a:txBody>
                  <a:tcPr marL="91440" marR="91440" marT="45720" marB="45720"/>
                </a:tc>
                <a:tc>
                  <a:txBody>
                    <a:bodyPr/>
                    <a:lstStyle/>
                    <a:p>
                      <a:r>
                        <a:t>Kho, phiếu cấp phát, variance</a:t>
                      </a:r>
                    </a:p>
                  </a:txBody>
                  <a:tcPr marL="91440" marR="91440" marT="45720" marB="45720"/>
                </a:tc>
                <a:tc>
                  <a:txBody>
                    <a:bodyPr/>
                    <a:lstStyle/>
                    <a:p>
                      <a:r>
                        <a:t>UI còn màn hình demo</a:t>
                      </a:r>
                    </a:p>
                  </a:txBody>
                  <a:tcPr marL="91440" marR="91440" marT="45720" marB="45720"/>
                </a:tc>
              </a:tr>
              <a:tr h="438150">
                <a:tc>
                  <a:txBody>
                    <a:bodyPr/>
                    <a:lstStyle/>
                    <a:p>
                      <a:pPr algn="ctr"/>
                      <a:r>
                        <a:rPr sz="1200" b="1">
                          <a:solidFill>
                            <a:srgbClr val="006B35"/>
                          </a:solidFill>
                          <a:latin typeface="Cambria"/>
                          <a:ea typeface="Cambria"/>
                          <a:cs typeface="Cambria"/>
                        </a:rPr>
                        <a:t>K</a:t>
                      </a:r>
                    </a:p>
                  </a:txBody>
                  <a:tcPr marL="91440" marR="91440" marT="45720" marB="45720">
                    <a:solidFill>
                      <a:srgbClr val="EAF2E6"/>
                    </a:solidFill>
                  </a:tcPr>
                </a:tc>
                <a:tc>
                  <a:txBody>
                    <a:bodyPr/>
                    <a:lstStyle/>
                    <a:p>
                      <a:r>
                        <a:t>Cảnh báo</a:t>
                      </a:r>
                    </a:p>
                  </a:txBody>
                  <a:tcPr marL="91440" marR="91440" marT="45720" marB="45720"/>
                </a:tc>
                <a:tc>
                  <a:txBody>
                    <a:bodyPr/>
                    <a:lstStyle/>
                    <a:p>
                      <a:r>
                        <a:t>Alert theo nhiều domain</a:t>
                      </a:r>
                    </a:p>
                  </a:txBody>
                  <a:tcPr marL="91440" marR="91440" marT="45720" marB="45720"/>
                </a:tc>
                <a:tc>
                  <a:txBody>
                    <a:bodyPr/>
                    <a:lstStyle/>
                    <a:p>
                      <a:r>
                        <a:t>Alert center còn phân tán</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93F5DEA7-0F3E-4EB4-9AD2-B78E2B584EDD}"/>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4" name="">
            <a:extLst xmlns:a="http://schemas.openxmlformats.org/drawingml/2006/main">
              <a:ext uri="{FF2B5EF4-FFF2-40B4-BE49-F238E27FC236}">
                <a16:creationId xmlns:a16="http://schemas.microsoft.com/office/drawing/2014/main" id="{F6304F79-9D67-46C1-974E-259F8D8D1C95}"/>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6</a:t>
            </a:r>
          </a:p>
        </p:txBody>
      </p:sp>
    </p:spTree>
    <p:extLst>
      <p:ext uri="{BB962C8B-B14F-4D97-AF65-F5344CB8AC3E}">
        <p14:creationId xmlns:p14="http://schemas.microsoft.com/office/powerpoint/2010/main" val="42083942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D5EFE11-0A38-4A49-B133-04B30549394A}"/>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LUỒNG NGHIỆP VỤ ĐÃ HÌNH THÀNH</a:t>
            </a:r>
          </a:p>
        </p:txBody>
      </p:sp>
      <p:graphicFrame>
        <p:nvGraphicFramePr>
          <p:cNvPr id="8" name=""/>
          <p:cNvGraphicFramePr/>
          <p:nvPr/>
        </p:nvGraphicFramePr>
        <p:xfrm>
          <a:off xmlns:a="http://schemas.openxmlformats.org/drawingml/2006/main" x="523875" y="1333500"/>
          <a:ext xmlns:a="http://schemas.openxmlformats.org/drawingml/2006/main" cx="11144250" cy="2524125"/>
        </p:xfrm>
        <a:graphic xmlns:a="http://schemas.openxmlformats.org/drawingml/2006/main">
          <a:graphicData uri="http://schemas.openxmlformats.org/drawingml/2006/table">
            <a:tbl>
              <a:tblPr/>
              <a:tblGrid>
                <a:gridCol w="2781300"/>
                <a:gridCol w="2781300"/>
                <a:gridCol w="2781300"/>
                <a:gridCol w="2800350"/>
              </a:tblGrid>
              <a:tr h="523875">
                <a:tc>
                  <a:txBody>
                    <a:bodyPr/>
                    <a:lstStyle/>
                    <a:p>
                      <a:r>
                        <a:t>1. CHUẨN BỊ</a:t>
                      </a:r>
                    </a:p>
                  </a:txBody>
                  <a:tcPr marL="91440" marR="91440" marT="45720" marB="45720"/>
                </a:tc>
                <a:tc>
                  <a:txBody>
                    <a:bodyPr/>
                    <a:lstStyle/>
                    <a:p>
                      <a:r>
                        <a:t>2. PHÂN CÔNG</a:t>
                      </a:r>
                    </a:p>
                  </a:txBody>
                  <a:tcPr marL="91440" marR="91440" marT="45720" marB="45720"/>
                </a:tc>
                <a:tc>
                  <a:txBody>
                    <a:bodyPr/>
                    <a:lstStyle/>
                    <a:p>
                      <a:r>
                        <a:t>3. THỰC HIỆN</a:t>
                      </a:r>
                    </a:p>
                  </a:txBody>
                  <a:tcPr marL="91440" marR="91440" marT="45720" marB="45720"/>
                </a:tc>
                <a:tc>
                  <a:txBody>
                    <a:bodyPr/>
                    <a:lstStyle/>
                    <a:p>
                      <a:r>
                        <a:t>4. NGHIỆM THU</a:t>
                      </a:r>
                    </a:p>
                  </a:txBody>
                  <a:tcPr marL="91440" marR="91440" marT="45720" marB="45720"/>
                </a:tc>
              </a:tr>
              <a:tr h="1952625">
                <a:tc>
                  <a:txBody>
                    <a:bodyPr/>
                    <a:lstStyle/>
                    <a:p>
                      <a:r>
                        <a:t>DRAFT</a:t>
                      </a:r>
                    </a:p>
                    <a:p>
                      <a:r>
                        <a:t>PENDING_APPROVAL</a:t>
                      </a:r>
                    </a:p>
                    <a:p>
                      <a:r>
                        <a:t>APPROVED</a:t>
                      </a:r>
                    </a:p>
                  </a:txBody>
                  <a:tcPr marL="91440" marR="91440" marT="45720" marB="45720"/>
                </a:tc>
                <a:tc>
                  <a:txBody>
                    <a:bodyPr/>
                    <a:lstStyle/>
                    <a:p>
                      <a:r>
                        <a:t>ASSIGNED</a:t>
                      </a:r>
                    </a:p>
                    <a:p>
                      <a:r>
                        <a:t>OPEN_FOR_CLAIM</a:t>
                      </a:r>
                    </a:p>
                    <a:p>
                      <a:r>
                        <a:t>DRIVER_ACCEPTED</a:t>
                      </a:r>
                    </a:p>
                  </a:txBody>
                  <a:tcPr marL="91440" marR="91440" marT="45720" marB="45720"/>
                </a:tc>
                <a:tc>
                  <a:txBody>
                    <a:bodyPr/>
                    <a:lstStyle/>
                    <a:p>
                      <a:r>
                        <a:t>IN_PROGRESS</a:t>
                      </a:r>
                    </a:p>
                    <a:p>
                      <a:r>
                        <a:t>Ghi nhận hành trình</a:t>
                      </a:r>
                    </a:p>
                    <a:p>
                      <a:r>
                        <a:t>Sự cố / SOS</a:t>
                      </a:r>
                    </a:p>
                  </a:txBody>
                  <a:tcPr marL="91440" marR="91440" marT="45720" marB="45720"/>
                </a:tc>
                <a:tc>
                  <a:txBody>
                    <a:bodyPr/>
                    <a:lstStyle/>
                    <a:p>
                      <a:r>
                        <a:t>SUBMITTED</a:t>
                      </a:r>
                    </a:p>
                    <a:p>
                      <a:r>
                        <a:t>ACCEPTED hoặc REWORK</a:t>
                      </a:r>
                    </a:p>
                    <a:p>
                      <a:r>
                        <a:t>CLOSED</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E768F76A-FBB8-4F69-88C6-9B6E6AE96AF2}"/>
              </a:ext>
            </a:extLst>
          </p:cNvPr>
          <p:cNvSpPr>
            <a:spLocks xmlns:a="http://schemas.openxmlformats.org/drawingml/2006/main" noGrp="1"/>
          </p:cNvSpPr>
          <p:nvPr/>
        </p:nvSpPr>
        <p:spPr>
          <a:xfrm xmlns:a="http://schemas.openxmlformats.org/drawingml/2006/main">
            <a:off x="571500" y="423862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Điểm đã triển khai</a:t>
            </a:r>
          </a:p>
        </p:txBody>
      </p:sp>
      <p:sp>
        <p:nvSpPr>
          <p:cNvPr id="4" name="">
            <a:extLst xmlns:a="http://schemas.openxmlformats.org/drawingml/2006/main">
              <a:ext uri="{FF2B5EF4-FFF2-40B4-BE49-F238E27FC236}">
                <a16:creationId xmlns:a16="http://schemas.microsoft.com/office/drawing/2014/main" id="{F495AAB9-14EA-48DC-8444-921CD4FD301D}"/>
              </a:ext>
            </a:extLst>
          </p:cNvPr>
          <p:cNvSpPr>
            <a:spLocks xmlns:a="http://schemas.openxmlformats.org/drawingml/2006/main" noGrp="1"/>
          </p:cNvSpPr>
          <p:nvPr/>
        </p:nvSpPr>
        <p:spPr>
          <a:xfrm xmlns:a="http://schemas.openxmlformats.org/drawingml/2006/main">
            <a:off x="523875" y="4572000"/>
            <a:ext cx="1109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WorkOrderEvent ghi nhận actor, trạng thái cũ/mới, thời gian và lý do</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Nghiệm thu lưu reviewer, minh chứng, kết quả và luồng làm lại</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Maintenance, repair và mobile workflow đồng bộ trạng thái xe</a:t>
            </a:r>
          </a:p>
        </p:txBody>
      </p:sp>
      <p:sp>
        <p:nvSpPr>
          <p:cNvPr id="5" name="">
            <a:extLst xmlns:a="http://schemas.openxmlformats.org/drawingml/2006/main">
              <a:ext uri="{FF2B5EF4-FFF2-40B4-BE49-F238E27FC236}">
                <a16:creationId xmlns:a16="http://schemas.microsoft.com/office/drawing/2014/main" id="{F5EA8415-233F-4EDA-8315-DF712C9ADA6E}"/>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6" name="">
            <a:extLst xmlns:a="http://schemas.openxmlformats.org/drawingml/2006/main">
              <a:ext uri="{FF2B5EF4-FFF2-40B4-BE49-F238E27FC236}">
                <a16:creationId xmlns:a16="http://schemas.microsoft.com/office/drawing/2014/main" id="{DE03DBAD-C899-41E7-B787-4235AE9435C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7</a:t>
            </a:r>
          </a:p>
        </p:txBody>
      </p:sp>
    </p:spTree>
    <p:extLst>
      <p:ext uri="{BB962C8B-B14F-4D97-AF65-F5344CB8AC3E}">
        <p14:creationId xmlns:p14="http://schemas.microsoft.com/office/powerpoint/2010/main" val="7480275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1EB5A10-3312-49D8-9419-23B4F9112BB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DỮ LIỆU VÀ TÍCH HỢP</a:t>
            </a:r>
          </a:p>
        </p:txBody>
      </p:sp>
      <p:graphicFrame>
        <p:nvGraphicFramePr>
          <p:cNvPr id="10" name=""/>
          <p:cNvGraphicFramePr/>
          <p:nvPr/>
        </p:nvGraphicFramePr>
        <p:xfrm>
          <a:off xmlns:a="http://schemas.openxmlformats.org/drawingml/2006/main" x="523875" y="1143000"/>
          <a:ext xmlns:a="http://schemas.openxmlformats.org/drawingml/2006/main" cx="11144250" cy="3905250"/>
        </p:xfrm>
        <a:graphic xmlns:a="http://schemas.openxmlformats.org/drawingml/2006/main">
          <a:graphicData uri="http://schemas.openxmlformats.org/drawingml/2006/table">
            <a:tbl>
              <a:tblPr/>
              <a:tblGrid>
                <a:gridCol w="2476500"/>
                <a:gridCol w="4429125"/>
                <a:gridCol w="4238625"/>
              </a:tblGrid>
              <a:tr h="457200">
                <a:tc>
                  <a:txBody>
                    <a:bodyPr/>
                    <a:lstStyle/>
                    <a:p>
                      <a:r>
                        <a:t>LỚP</a:t>
                      </a:r>
                    </a:p>
                  </a:txBody>
                  <a:tcPr marL="91440" marR="91440" marT="45720" marB="45720"/>
                </a:tc>
                <a:tc>
                  <a:txBody>
                    <a:bodyPr/>
                    <a:lstStyle/>
                    <a:p>
                      <a:r>
                        <a:t>HIỆN TRẠNG</a:t>
                      </a:r>
                    </a:p>
                  </a:txBody>
                  <a:tcPr marL="91440" marR="91440" marT="45720" marB="45720"/>
                </a:tc>
                <a:tc>
                  <a:txBody>
                    <a:bodyPr/>
                    <a:lstStyle/>
                    <a:p>
                      <a:r>
                        <a:t>ĐIỂM CẦN KIỂM SOÁT</a:t>
                      </a:r>
                    </a:p>
                  </a:txBody>
                  <a:tcPr marL="91440" marR="91440" marT="45720" marB="45720"/>
                </a:tc>
              </a:tr>
              <a:tr h="666750">
                <a:tc>
                  <a:txBody>
                    <a:bodyPr/>
                    <a:lstStyle/>
                    <a:p>
                      <a:r>
                        <a:t>Danh mục nền</a:t>
                      </a:r>
                    </a:p>
                  </a:txBody>
                  <a:tcPr marL="91440" marR="91440" marT="45720" marB="45720"/>
                </a:tc>
                <a:tc>
                  <a:txBody>
                    <a:bodyPr/>
                    <a:lstStyle/>
                    <a:p>
                      <a:r>
                        <a:t>Company, đơn vị, đội, loại xe, tuyến, công việc</a:t>
                      </a:r>
                    </a:p>
                  </a:txBody>
                  <a:tcPr marL="91440" marR="91440" marT="45720" marB="45720"/>
                </a:tc>
                <a:tc>
                  <a:txBody>
                    <a:bodyPr/>
                    <a:lstStyle/>
                    <a:p>
                      <a:r>
                        <a:t>Chuẩn hóa mã và quan hệ cha–con</a:t>
                      </a:r>
                    </a:p>
                  </a:txBody>
                  <a:tcPr marL="91440" marR="91440" marT="45720" marB="45720"/>
                </a:tc>
              </a:tr>
              <a:tr h="666750">
                <a:tc>
                  <a:txBody>
                    <a:bodyPr/>
                    <a:lstStyle/>
                    <a:p>
                      <a:r>
                        <a:t>Đội xe / thiết bị</a:t>
                      </a:r>
                    </a:p>
                  </a:txBody>
                  <a:tcPr marL="91440" marR="91440" marT="45720" marB="45720"/>
                </a:tc>
                <a:tc>
                  <a:txBody>
                    <a:bodyPr/>
                    <a:lstStyle/>
                    <a:p>
                      <a:r>
                        <a:t>Vehicle, VehicleType, Implement, assignment</a:t>
                      </a:r>
                    </a:p>
                  </a:txBody>
                  <a:tcPr marL="91440" marR="91440" marT="45720" marB="45720"/>
                </a:tc>
                <a:tc>
                  <a:txBody>
                    <a:bodyPr/>
                    <a:lstStyle/>
                    <a:p>
                      <a:r>
                        <a:t>Mapping workbook MMTB và lịch sử phân công</a:t>
                      </a:r>
                    </a:p>
                  </a:txBody>
                  <a:tcPr marL="91440" marR="91440" marT="45720" marB="45720"/>
                </a:tc>
              </a:tr>
              <a:tr h="666750">
                <a:tc>
                  <a:txBody>
                    <a:bodyPr/>
                    <a:lstStyle/>
                    <a:p>
                      <a:r>
                        <a:t>Vận hành</a:t>
                      </a:r>
                    </a:p>
                  </a:txBody>
                  <a:tcPr marL="91440" marR="91440" marT="45720" marB="45720"/>
                </a:tc>
                <a:tc>
                  <a:txBody>
                    <a:bodyPr/>
                    <a:lstStyle/>
                    <a:p>
                      <a:r>
                        <a:t>Plan, DispatchOrder, OperationalWorkOrder, event</a:t>
                      </a:r>
                    </a:p>
                  </a:txBody>
                  <a:tcPr marL="91440" marR="91440" marT="45720" marB="45720"/>
                </a:tc>
                <a:tc>
                  <a:txBody>
                    <a:bodyPr/>
                    <a:lstStyle/>
                    <a:p>
                      <a:r>
                        <a:t>Đồng bộ nguồn lệnh và idempotency</a:t>
                      </a:r>
                    </a:p>
                  </a:txBody>
                  <a:tcPr marL="91440" marR="91440" marT="45720" marB="45720"/>
                </a:tc>
              </a:tr>
              <a:tr h="666750">
                <a:tc>
                  <a:txBody>
                    <a:bodyPr/>
                    <a:lstStyle/>
                    <a:p>
                      <a:r>
                        <a:t>Hỗ trợ</a:t>
                      </a:r>
                    </a:p>
                  </a:txBody>
                  <a:tcPr marL="91440" marR="91440" marT="45720" marB="45720"/>
                </a:tc>
                <a:tc>
                  <a:txBody>
                    <a:bodyPr/>
                    <a:lstStyle/>
                    <a:p>
                      <a:r>
                        <a:t>Fuel, maintenance, repair, alerts, KPI</a:t>
                      </a:r>
                    </a:p>
                  </a:txBody>
                  <a:tcPr marL="91440" marR="91440" marT="45720" marB="45720"/>
                </a:tc>
                <a:tc>
                  <a:txBody>
                    <a:bodyPr/>
                    <a:lstStyle/>
                    <a:p>
                      <a:r>
                        <a:t>Quy tắc còn thiếu xác nhận nghiệp vụ</a:t>
                      </a:r>
                    </a:p>
                  </a:txBody>
                  <a:tcPr marL="91440" marR="91440" marT="45720" marB="45720"/>
                </a:tc>
              </a:tr>
              <a:tr h="666750">
                <a:tc>
                  <a:txBody>
                    <a:bodyPr/>
                    <a:lstStyle/>
                    <a:p>
                      <a:r>
                        <a:t>Kênh sử dụng</a:t>
                      </a:r>
                    </a:p>
                  </a:txBody>
                  <a:tcPr marL="91440" marR="91440" marT="45720" marB="45720"/>
                </a:tc>
                <a:tc>
                  <a:txBody>
                    <a:bodyPr/>
                    <a:lstStyle/>
                    <a:p>
                      <a:r>
                        <a:t>Web, mobile, realtime, import/export Excel</a:t>
                      </a:r>
                    </a:p>
                  </a:txBody>
                  <a:tcPr marL="91440" marR="91440" marT="45720" marB="45720"/>
                </a:tc>
                <a:tc>
                  <a:txBody>
                    <a:bodyPr/>
                    <a:lstStyle/>
                    <a:p>
                      <a:r>
                        <a:t>Không để fallback che lỗi dữ liệu thật</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4F14FFDB-1D06-4A63-996B-2331D9ACC076}"/>
              </a:ext>
            </a:extLst>
          </p:cNvPr>
          <p:cNvSpPr>
            <a:spLocks xmlns:a="http://schemas.openxmlformats.org/drawingml/2006/main" noGrp="1"/>
          </p:cNvSpPr>
          <p:nvPr/>
        </p:nvSpPr>
        <p:spPr>
          <a:xfrm xmlns:a="http://schemas.openxmlformats.org/drawingml/2006/main">
            <a:off x="571500" y="53816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485"/>
          </a:bodyPr>
          <a:lstStyle xmlns:a="http://schemas.openxmlformats.org/drawingml/2006/main"/>
          <a:p xmlns:a="http://schemas.openxmlformats.org/drawingml/2006/main">
            <a:pPr algn="l">
              <a:lnSpc>
                <a:spcPct val="100000"/>
              </a:lnSpc>
              <a:buNone/>
              <a:defRPr sz="1650" b="1" i="0">
                <a:solidFill>
                  <a:srgbClr val="006B35"/>
                </a:solidFill>
                <a:latin typeface="Cambria"/>
                <a:ea typeface="Cambria"/>
                <a:cs typeface="Cambria"/>
              </a:defRPr>
            </a:pPr>
            <a:r>
              <a:rPr sz="1650" b="1" i="0">
                <a:solidFill>
                  <a:srgbClr val="006B35"/>
                </a:solidFill>
                <a:latin typeface="Cambria"/>
                <a:ea typeface="Cambria"/>
                <a:cs typeface="Cambria"/>
              </a:rPr>
              <a:t>Điểm tích cực</a:t>
            </a:r>
          </a:p>
        </p:txBody>
      </p:sp>
      <p:sp>
        <p:nvSpPr>
          <p:cNvPr id="4" name="">
            <a:extLst xmlns:a="http://schemas.openxmlformats.org/drawingml/2006/main">
              <a:ext uri="{FF2B5EF4-FFF2-40B4-BE49-F238E27FC236}">
                <a16:creationId xmlns:a16="http://schemas.microsoft.com/office/drawing/2014/main" id="{6289FAFE-77CB-4AA4-81ED-1F3B1FB122A0}"/>
              </a:ext>
            </a:extLst>
          </p:cNvPr>
          <p:cNvSpPr>
            <a:spLocks xmlns:a="http://schemas.openxmlformats.org/drawingml/2006/main" noGrp="1"/>
          </p:cNvSpPr>
          <p:nvPr/>
        </p:nvSpPr>
        <p:spPr>
          <a:xfrm xmlns:a="http://schemas.openxmlformats.org/drawingml/2006/main">
            <a:off x="2476500" y="5381625"/>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Schema đã mô hình hóa quan hệ vận hành và có migration/backfill gần đây.</a:t>
            </a:r>
          </a:p>
        </p:txBody>
      </p:sp>
      <p:sp>
        <p:nvSpPr>
          <p:cNvPr id="5" name="">
            <a:extLst xmlns:a="http://schemas.openxmlformats.org/drawingml/2006/main">
              <a:ext uri="{FF2B5EF4-FFF2-40B4-BE49-F238E27FC236}">
                <a16:creationId xmlns:a16="http://schemas.microsoft.com/office/drawing/2014/main" id="{C12BA1C1-537A-4406-B654-6188E0520FFC}"/>
              </a:ext>
            </a:extLst>
          </p:cNvPr>
          <p:cNvSpPr>
            <a:spLocks xmlns:a="http://schemas.openxmlformats.org/drawingml/2006/main" noGrp="1"/>
          </p:cNvSpPr>
          <p:nvPr/>
        </p:nvSpPr>
        <p:spPr>
          <a:xfrm xmlns:a="http://schemas.openxmlformats.org/drawingml/2006/main">
            <a:off x="571500" y="58102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485"/>
          </a:bodyPr>
          <a:lstStyle xmlns:a="http://schemas.openxmlformats.org/drawingml/2006/main"/>
          <a:p xmlns:a="http://schemas.openxmlformats.org/drawingml/2006/main">
            <a:pPr algn="l">
              <a:lnSpc>
                <a:spcPct val="100000"/>
              </a:lnSpc>
              <a:buNone/>
              <a:defRPr sz="1650" b="1" i="0">
                <a:solidFill>
                  <a:srgbClr val="E00000"/>
                </a:solidFill>
                <a:latin typeface="Cambria"/>
                <a:ea typeface="Cambria"/>
                <a:cs typeface="Cambria"/>
              </a:defRPr>
            </a:pPr>
            <a:r>
              <a:rPr sz="1650" b="1" i="0">
                <a:solidFill>
                  <a:srgbClr val="E00000"/>
                </a:solidFill>
                <a:latin typeface="Cambria"/>
                <a:ea typeface="Cambria"/>
                <a:cs typeface="Cambria"/>
              </a:rPr>
              <a:t>Rủi ro</a:t>
            </a:r>
          </a:p>
        </p:txBody>
      </p:sp>
      <p:sp>
        <p:nvSpPr>
          <p:cNvPr id="6" name="">
            <a:extLst xmlns:a="http://schemas.openxmlformats.org/drawingml/2006/main">
              <a:ext uri="{FF2B5EF4-FFF2-40B4-BE49-F238E27FC236}">
                <a16:creationId xmlns:a16="http://schemas.microsoft.com/office/drawing/2014/main" id="{3B348374-E3A4-48D6-BDEC-0EAFF56D74D6}"/>
              </a:ext>
            </a:extLst>
          </p:cNvPr>
          <p:cNvSpPr>
            <a:spLocks xmlns:a="http://schemas.openxmlformats.org/drawingml/2006/main" noGrp="1"/>
          </p:cNvSpPr>
          <p:nvPr/>
        </p:nvSpPr>
        <p:spPr>
          <a:xfrm xmlns:a="http://schemas.openxmlformats.org/drawingml/2006/main">
            <a:off x="2476500" y="58102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Mapping đầy đủ giữa workbook nhiều sheet và dữ liệu chuẩn vẫn chưa được xác nhận.</a:t>
            </a:r>
          </a:p>
        </p:txBody>
      </p:sp>
      <p:sp>
        <p:nvSpPr>
          <p:cNvPr id="7" name="">
            <a:extLst xmlns:a="http://schemas.openxmlformats.org/drawingml/2006/main">
              <a:ext uri="{FF2B5EF4-FFF2-40B4-BE49-F238E27FC236}">
                <a16:creationId xmlns:a16="http://schemas.microsoft.com/office/drawing/2014/main" id="{EFE3F87D-774D-4978-BC11-DE0CEEB2D468}"/>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8" name="">
            <a:extLst xmlns:a="http://schemas.openxmlformats.org/drawingml/2006/main">
              <a:ext uri="{FF2B5EF4-FFF2-40B4-BE49-F238E27FC236}">
                <a16:creationId xmlns:a16="http://schemas.microsoft.com/office/drawing/2014/main" id="{C3D89F38-91B7-48B9-AE89-B61F5C5208DA}"/>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8</a:t>
            </a:r>
          </a:p>
        </p:txBody>
      </p:sp>
    </p:spTree>
    <p:extLst>
      <p:ext uri="{BB962C8B-B14F-4D97-AF65-F5344CB8AC3E}">
        <p14:creationId xmlns:p14="http://schemas.microsoft.com/office/powerpoint/2010/main" val="212217796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BB05314C-AC67-49C9-AD8A-A34D6B880FAB}"/>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TRẢI NGHIỆM WEB CHO KHỐI ĐIỀU HÀNH</a:t>
            </a:r>
          </a:p>
        </p:txBody>
      </p:sp>
      <p:sp>
        <p:nvSpPr>
          <p:cNvPr id="2" name="">
            <a:extLst xmlns:a="http://schemas.openxmlformats.org/drawingml/2006/main">
              <a:ext uri="{FF2B5EF4-FFF2-40B4-BE49-F238E27FC236}">
                <a16:creationId xmlns:a16="http://schemas.microsoft.com/office/drawing/2014/main" id="{2008B8A1-1416-467E-A239-072877CBB275}"/>
              </a:ext>
            </a:extLst>
          </p:cNvPr>
          <p:cNvSpPr>
            <a:spLocks xmlns:a="http://schemas.openxmlformats.org/drawingml/2006/main" noGrp="1"/>
          </p:cNvSpPr>
          <p:nvPr/>
        </p:nvSpPr>
        <p:spPr>
          <a:xfrm xmlns:a="http://schemas.openxmlformats.org/drawingml/2006/main">
            <a:off x="7048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006B35"/>
                </a:solidFill>
                <a:latin typeface="Cambria"/>
                <a:ea typeface="Cambria"/>
                <a:cs typeface="Cambria"/>
              </a:defRPr>
            </a:pPr>
            <a:r>
              <a:rPr sz="4200" b="1" i="0">
                <a:solidFill>
                  <a:srgbClr val="006B35"/>
                </a:solidFill>
                <a:latin typeface="Cambria"/>
                <a:ea typeface="Cambria"/>
                <a:cs typeface="Cambria"/>
              </a:rPr>
              <a:t>70</a:t>
            </a:r>
          </a:p>
        </p:txBody>
      </p:sp>
      <p:sp>
        <p:nvSpPr>
          <p:cNvPr id="3" name="">
            <a:extLst xmlns:a="http://schemas.openxmlformats.org/drawingml/2006/main">
              <a:ext uri="{FF2B5EF4-FFF2-40B4-BE49-F238E27FC236}">
                <a16:creationId xmlns:a16="http://schemas.microsoft.com/office/drawing/2014/main" id="{03141155-CFE0-4557-B484-7168ED37EA8D}"/>
              </a:ext>
            </a:extLst>
          </p:cNvPr>
          <p:cNvSpPr>
            <a:spLocks xmlns:a="http://schemas.openxmlformats.org/drawingml/2006/main" noGrp="1"/>
          </p:cNvSpPr>
          <p:nvPr/>
        </p:nvSpPr>
        <p:spPr>
          <a:xfrm xmlns:a="http://schemas.openxmlformats.org/drawingml/2006/main">
            <a:off x="704850" y="1981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00" b="1" i="0">
                <a:solidFill>
                  <a:srgbClr val="17212B"/>
                </a:solidFill>
                <a:latin typeface="Cambria"/>
                <a:ea typeface="Cambria"/>
                <a:cs typeface="Cambria"/>
              </a:defRPr>
            </a:pPr>
            <a:r>
              <a:rPr sz="1500" b="1" i="0">
                <a:solidFill>
                  <a:srgbClr val="17212B"/>
                </a:solidFill>
                <a:latin typeface="Cambria"/>
                <a:ea typeface="Cambria"/>
                <a:cs typeface="Cambria"/>
              </a:rPr>
              <a:t>trang chức năng</a:t>
            </a:r>
          </a:p>
        </p:txBody>
      </p:sp>
      <p:sp>
        <p:nvSpPr>
          <p:cNvPr id="4" name="">
            <a:extLst xmlns:a="http://schemas.openxmlformats.org/drawingml/2006/main">
              <a:ext uri="{FF2B5EF4-FFF2-40B4-BE49-F238E27FC236}">
                <a16:creationId xmlns:a16="http://schemas.microsoft.com/office/drawing/2014/main" id="{70AD8342-9BA1-4879-877B-E3924B8C4E06}"/>
              </a:ext>
            </a:extLst>
          </p:cNvPr>
          <p:cNvSpPr>
            <a:spLocks xmlns:a="http://schemas.openxmlformats.org/drawingml/2006/main" noGrp="1"/>
          </p:cNvSpPr>
          <p:nvPr/>
        </p:nvSpPr>
        <p:spPr>
          <a:xfrm xmlns:a="http://schemas.openxmlformats.org/drawingml/2006/main">
            <a:off x="31051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075AA7"/>
                </a:solidFill>
                <a:latin typeface="Cambria"/>
                <a:ea typeface="Cambria"/>
                <a:cs typeface="Cambria"/>
              </a:defRPr>
            </a:pPr>
            <a:r>
              <a:rPr sz="4200" b="1" i="0">
                <a:solidFill>
                  <a:srgbClr val="075AA7"/>
                </a:solidFill>
                <a:latin typeface="Cambria"/>
                <a:ea typeface="Cambria"/>
                <a:cs typeface="Cambria"/>
              </a:rPr>
              <a:t>104</a:t>
            </a:r>
          </a:p>
        </p:txBody>
      </p:sp>
      <p:sp>
        <p:nvSpPr>
          <p:cNvPr id="5" name="">
            <a:extLst xmlns:a="http://schemas.openxmlformats.org/drawingml/2006/main">
              <a:ext uri="{FF2B5EF4-FFF2-40B4-BE49-F238E27FC236}">
                <a16:creationId xmlns:a16="http://schemas.microsoft.com/office/drawing/2014/main" id="{00E93686-A908-427E-9DC9-6F9A13CA2065}"/>
              </a:ext>
            </a:extLst>
          </p:cNvPr>
          <p:cNvSpPr>
            <a:spLocks xmlns:a="http://schemas.openxmlformats.org/drawingml/2006/main" noGrp="1"/>
          </p:cNvSpPr>
          <p:nvPr/>
        </p:nvSpPr>
        <p:spPr>
          <a:xfrm xmlns:a="http://schemas.openxmlformats.org/drawingml/2006/main">
            <a:off x="3105150" y="1981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00" b="1" i="0">
                <a:solidFill>
                  <a:srgbClr val="17212B"/>
                </a:solidFill>
                <a:latin typeface="Cambria"/>
                <a:ea typeface="Cambria"/>
                <a:cs typeface="Cambria"/>
              </a:defRPr>
            </a:pPr>
            <a:r>
              <a:rPr sz="1500" b="1" i="0">
                <a:solidFill>
                  <a:srgbClr val="17212B"/>
                </a:solidFill>
                <a:latin typeface="Cambria"/>
                <a:ea typeface="Cambria"/>
                <a:cs typeface="Cambria"/>
              </a:rPr>
              <a:t>đường dẫn web</a:t>
            </a:r>
          </a:p>
        </p:txBody>
      </p:sp>
      <p:sp>
        <p:nvSpPr>
          <p:cNvPr id="6" name="">
            <a:extLst xmlns:a="http://schemas.openxmlformats.org/drawingml/2006/main">
              <a:ext uri="{FF2B5EF4-FFF2-40B4-BE49-F238E27FC236}">
                <a16:creationId xmlns:a16="http://schemas.microsoft.com/office/drawing/2014/main" id="{962BB098-47FB-40BB-9D6F-1491DD95B8DD}"/>
              </a:ext>
            </a:extLst>
          </p:cNvPr>
          <p:cNvSpPr>
            <a:spLocks xmlns:a="http://schemas.openxmlformats.org/drawingml/2006/main" noGrp="1"/>
          </p:cNvSpPr>
          <p:nvPr/>
        </p:nvSpPr>
        <p:spPr>
          <a:xfrm xmlns:a="http://schemas.openxmlformats.org/drawingml/2006/main">
            <a:off x="55054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E87518"/>
                </a:solidFill>
                <a:latin typeface="Cambria"/>
                <a:ea typeface="Cambria"/>
                <a:cs typeface="Cambria"/>
              </a:defRPr>
            </a:pPr>
            <a:r>
              <a:rPr sz="4200" b="1" i="0">
                <a:solidFill>
                  <a:srgbClr val="E87518"/>
                </a:solidFill>
                <a:latin typeface="Cambria"/>
                <a:ea typeface="Cambria"/>
                <a:cs typeface="Cambria"/>
              </a:rPr>
              <a:t>49</a:t>
            </a:r>
          </a:p>
        </p:txBody>
      </p:sp>
      <p:sp>
        <p:nvSpPr>
          <p:cNvPr id="7" name="">
            <a:extLst xmlns:a="http://schemas.openxmlformats.org/drawingml/2006/main">
              <a:ext uri="{FF2B5EF4-FFF2-40B4-BE49-F238E27FC236}">
                <a16:creationId xmlns:a16="http://schemas.microsoft.com/office/drawing/2014/main" id="{60CFEA40-677B-42B5-85A9-39F13E2C9E8E}"/>
              </a:ext>
            </a:extLst>
          </p:cNvPr>
          <p:cNvSpPr>
            <a:spLocks xmlns:a="http://schemas.openxmlformats.org/drawingml/2006/main" noGrp="1"/>
          </p:cNvSpPr>
          <p:nvPr/>
        </p:nvSpPr>
        <p:spPr>
          <a:xfrm xmlns:a="http://schemas.openxmlformats.org/drawingml/2006/main">
            <a:off x="5505450" y="19812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trang có dấu hiệu</a:t>
            </a:r>
          </a:p>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kết nối API*</a:t>
            </a:r>
          </a:p>
        </p:txBody>
      </p:sp>
      <p:sp>
        <p:nvSpPr>
          <p:cNvPr id="8" name="">
            <a:extLst xmlns:a="http://schemas.openxmlformats.org/drawingml/2006/main">
              <a:ext uri="{FF2B5EF4-FFF2-40B4-BE49-F238E27FC236}">
                <a16:creationId xmlns:a16="http://schemas.microsoft.com/office/drawing/2014/main" id="{562164AD-C131-42A6-AADC-D525561BE0B9}"/>
              </a:ext>
            </a:extLst>
          </p:cNvPr>
          <p:cNvSpPr>
            <a:spLocks xmlns:a="http://schemas.openxmlformats.org/drawingml/2006/main" noGrp="1"/>
          </p:cNvSpPr>
          <p:nvPr/>
        </p:nvSpPr>
        <p:spPr>
          <a:xfrm xmlns:a="http://schemas.openxmlformats.org/drawingml/2006/main">
            <a:off x="79057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E00000"/>
                </a:solidFill>
                <a:latin typeface="Cambria"/>
                <a:ea typeface="Cambria"/>
                <a:cs typeface="Cambria"/>
              </a:defRPr>
            </a:pPr>
            <a:r>
              <a:rPr sz="4200" b="1" i="0">
                <a:solidFill>
                  <a:srgbClr val="E00000"/>
                </a:solidFill>
                <a:latin typeface="Cambria"/>
                <a:ea typeface="Cambria"/>
                <a:cs typeface="Cambria"/>
              </a:rPr>
              <a:t>24</a:t>
            </a:r>
          </a:p>
        </p:txBody>
      </p:sp>
      <p:sp>
        <p:nvSpPr>
          <p:cNvPr id="9" name="">
            <a:extLst xmlns:a="http://schemas.openxmlformats.org/drawingml/2006/main">
              <a:ext uri="{FF2B5EF4-FFF2-40B4-BE49-F238E27FC236}">
                <a16:creationId xmlns:a16="http://schemas.microsoft.com/office/drawing/2014/main" id="{D5D5F0B2-2B3E-41FE-838B-BD965B61BD36}"/>
              </a:ext>
            </a:extLst>
          </p:cNvPr>
          <p:cNvSpPr>
            <a:spLocks xmlns:a="http://schemas.openxmlformats.org/drawingml/2006/main" noGrp="1"/>
          </p:cNvSpPr>
          <p:nvPr/>
        </p:nvSpPr>
        <p:spPr>
          <a:xfrm xmlns:a="http://schemas.openxmlformats.org/drawingml/2006/main">
            <a:off x="7905750" y="19812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trang vừa dùng API</a:t>
            </a:r>
          </a:p>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vừa có mock/fallback*</a:t>
            </a:r>
          </a:p>
        </p:txBody>
      </p:sp>
      <p:sp>
        <p:nvSpPr>
          <p:cNvPr id="10" name="">
            <a:extLst xmlns:a="http://schemas.openxmlformats.org/drawingml/2006/main">
              <a:ext uri="{FF2B5EF4-FFF2-40B4-BE49-F238E27FC236}">
                <a16:creationId xmlns:a16="http://schemas.microsoft.com/office/drawing/2014/main" id="{66513D0E-559C-4751-AF11-A23211065218}"/>
              </a:ext>
            </a:extLst>
          </p:cNvPr>
          <p:cNvSpPr>
            <a:spLocks xmlns:a="http://schemas.openxmlformats.org/drawingml/2006/main" noGrp="1"/>
          </p:cNvSpPr>
          <p:nvPr/>
        </p:nvSpPr>
        <p:spPr>
          <a:xfrm xmlns:a="http://schemas.openxmlformats.org/drawingml/2006/main">
            <a:off x="666750" y="30670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Trải nghiệm giao diện đã được xây dựng</a:t>
            </a:r>
          </a:p>
        </p:txBody>
      </p:sp>
      <p:sp>
        <p:nvSpPr>
          <p:cNvPr id="11" name="">
            <a:extLst xmlns:a="http://schemas.openxmlformats.org/drawingml/2006/main">
              <a:ext uri="{FF2B5EF4-FFF2-40B4-BE49-F238E27FC236}">
                <a16:creationId xmlns:a16="http://schemas.microsoft.com/office/drawing/2014/main" id="{EE418E09-C7AE-4CE3-8F97-3787E0B751F1}"/>
              </a:ext>
            </a:extLst>
          </p:cNvPr>
          <p:cNvSpPr>
            <a:spLocks xmlns:a="http://schemas.openxmlformats.org/drawingml/2006/main" noGrp="1"/>
          </p:cNvSpPr>
          <p:nvPr/>
        </p:nvSpPr>
        <p:spPr>
          <a:xfrm xmlns:a="http://schemas.openxmlformats.org/drawingml/2006/main">
            <a:off x="619125" y="342900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Xem dashboard, bản đồ, danh sách xe và trạng thái vận hành</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Lập kế hoạch, điều xe, quản lý lệnh và theo dõi tiến độ</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Quản lý BTSC, nhiên liệu, lái xe, danh mục và phân quyền</a:t>
            </a:r>
          </a:p>
        </p:txBody>
      </p:sp>
      <p:sp>
        <p:nvSpPr>
          <p:cNvPr id="12" name="">
            <a:extLst xmlns:a="http://schemas.openxmlformats.org/drawingml/2006/main">
              <a:ext uri="{FF2B5EF4-FFF2-40B4-BE49-F238E27FC236}">
                <a16:creationId xmlns:a16="http://schemas.microsoft.com/office/drawing/2014/main" id="{0582F19C-E19F-4634-8459-146F87E6401C}"/>
              </a:ext>
            </a:extLst>
          </p:cNvPr>
          <p:cNvSpPr>
            <a:spLocks xmlns:a="http://schemas.openxmlformats.org/drawingml/2006/main" noGrp="1"/>
          </p:cNvSpPr>
          <p:nvPr/>
        </p:nvSpPr>
        <p:spPr>
          <a:xfrm xmlns:a="http://schemas.openxmlformats.org/drawingml/2006/main">
            <a:off x="6381750" y="30670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Phần cần hoàn thiện</a:t>
            </a:r>
          </a:p>
        </p:txBody>
      </p:sp>
      <p:sp>
        <p:nvSpPr>
          <p:cNvPr id="13" name="">
            <a:extLst xmlns:a="http://schemas.openxmlformats.org/drawingml/2006/main">
              <a:ext uri="{FF2B5EF4-FFF2-40B4-BE49-F238E27FC236}">
                <a16:creationId xmlns:a16="http://schemas.microsoft.com/office/drawing/2014/main" id="{5BF94C33-37E6-4AD7-8127-55349ECBA50D}"/>
              </a:ext>
            </a:extLst>
          </p:cNvPr>
          <p:cNvSpPr>
            <a:spLocks xmlns:a="http://schemas.openxmlformats.org/drawingml/2006/main" noGrp="1"/>
          </p:cNvSpPr>
          <p:nvPr/>
        </p:nvSpPr>
        <p:spPr>
          <a:xfrm xmlns:a="http://schemas.openxmlformats.org/drawingml/2006/main">
            <a:off x="6334125" y="342900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Loại mock và fallback khỏi các luồng vận hành quan trọng</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Nối dữ liệu thật cho sáu trang báo cáo đang khởi tạo rỗng</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Chuẩn hóa lỗi API, tách bundle và kiểm chứng dữ liệu đầu cuối</a:t>
            </a:r>
          </a:p>
        </p:txBody>
      </p:sp>
      <p:sp>
        <p:nvSpPr>
          <p:cNvPr id="14" name="">
            <a:extLst xmlns:a="http://schemas.openxmlformats.org/drawingml/2006/main">
              <a:ext uri="{FF2B5EF4-FFF2-40B4-BE49-F238E27FC236}">
                <a16:creationId xmlns:a16="http://schemas.microsoft.com/office/drawing/2014/main" id="{6796DE89-BC88-47D2-99B9-E57CA9174135}"/>
              </a:ext>
            </a:extLst>
          </p:cNvPr>
          <p:cNvSpPr>
            <a:spLocks xmlns:a="http://schemas.openxmlformats.org/drawingml/2006/main" noGrp="1"/>
          </p:cNvSpPr>
          <p:nvPr/>
        </p:nvSpPr>
        <p:spPr>
          <a:xfrm xmlns:a="http://schemas.openxmlformats.org/drawingml/2006/main">
            <a:off x="762000" y="5810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275" b="0" i="1">
                <a:solidFill>
                  <a:srgbClr val="59636E"/>
                </a:solidFill>
                <a:latin typeface="Cambria"/>
                <a:ea typeface="Cambria"/>
                <a:cs typeface="Cambria"/>
              </a:defRPr>
            </a:pPr>
            <a:r>
              <a:rPr sz="1275" b="0" i="1">
                <a:solidFill>
                  <a:srgbClr val="59636E"/>
                </a:solidFill>
                <a:latin typeface="Cambria"/>
                <a:ea typeface="Cambria"/>
                <a:cs typeface="Cambria"/>
              </a:rPr>
              <a:t>* Chỉ báo từ quét source code; cần audit từng trang trước khi công bố tỷ lệ hoàn tất.</a:t>
            </a:r>
          </a:p>
        </p:txBody>
      </p:sp>
      <p:sp>
        <p:nvSpPr>
          <p:cNvPr id="15" name="">
            <a:extLst xmlns:a="http://schemas.openxmlformats.org/drawingml/2006/main">
              <a:ext uri="{FF2B5EF4-FFF2-40B4-BE49-F238E27FC236}">
                <a16:creationId xmlns:a16="http://schemas.microsoft.com/office/drawing/2014/main" id="{8001DA4F-DDA1-4B1C-9879-CE1C27061DD1}"/>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6" name="">
            <a:extLst xmlns:a="http://schemas.openxmlformats.org/drawingml/2006/main">
              <a:ext uri="{FF2B5EF4-FFF2-40B4-BE49-F238E27FC236}">
                <a16:creationId xmlns:a16="http://schemas.microsoft.com/office/drawing/2014/main" id="{B50FDB85-3E30-4F42-8323-9118172E3ACA}"/>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9</a:t>
            </a:r>
          </a:p>
        </p:txBody>
      </p:sp>
    </p:spTree>
    <p:extLst>
      <p:ext uri="{BB962C8B-B14F-4D97-AF65-F5344CB8AC3E}">
        <p14:creationId xmlns:p14="http://schemas.microsoft.com/office/powerpoint/2010/main" val="394717159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38EEE9C-7BE9-44E0-ACAB-E37E23AFA00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ỨNG DỤNG TÀI XẾ VÀ ĐỒNG BỘ MOBILE</a:t>
            </a:r>
          </a:p>
        </p:txBody>
      </p:sp>
      <p:sp>
        <p:nvSpPr>
          <p:cNvPr id="2" name="">
            <a:extLst xmlns:a="http://schemas.openxmlformats.org/drawingml/2006/main">
              <a:ext uri="{FF2B5EF4-FFF2-40B4-BE49-F238E27FC236}">
                <a16:creationId xmlns:a16="http://schemas.microsoft.com/office/drawing/2014/main" id="{C500CF18-6BFD-4E96-B2E1-A7C120B3F98B}"/>
              </a:ext>
            </a:extLst>
          </p:cNvPr>
          <p:cNvSpPr>
            <a:spLocks xmlns:a="http://schemas.openxmlformats.org/drawingml/2006/main" noGrp="1"/>
          </p:cNvSpPr>
          <p:nvPr/>
        </p:nvSpPr>
        <p:spPr>
          <a:xfrm xmlns:a="http://schemas.openxmlformats.org/drawingml/2006/main">
            <a:off x="619125" y="1123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06B35"/>
                </a:solidFill>
                <a:latin typeface="Cambria"/>
                <a:ea typeface="Cambria"/>
                <a:cs typeface="Cambria"/>
              </a:defRPr>
            </a:pPr>
            <a:r>
              <a:rPr sz="1800" b="1" i="0">
                <a:solidFill>
                  <a:srgbClr val="006B35"/>
                </a:solidFill>
                <a:latin typeface="Cambria"/>
                <a:ea typeface="Cambria"/>
                <a:cs typeface="Cambria"/>
              </a:rPr>
              <a:t>Năng lực đã có trong code</a:t>
            </a:r>
          </a:p>
        </p:txBody>
      </p:sp>
      <p:sp>
        <p:nvSpPr>
          <p:cNvPr id="3" name="">
            <a:extLst xmlns:a="http://schemas.openxmlformats.org/drawingml/2006/main">
              <a:ext uri="{FF2B5EF4-FFF2-40B4-BE49-F238E27FC236}">
                <a16:creationId xmlns:a16="http://schemas.microsoft.com/office/drawing/2014/main" id="{1F1C3F44-9E92-4B3D-B09B-5C3C2876B11B}"/>
              </a:ext>
            </a:extLst>
          </p:cNvPr>
          <p:cNvSpPr>
            <a:spLocks xmlns:a="http://schemas.openxmlformats.org/drawingml/2006/main" noGrp="1"/>
          </p:cNvSpPr>
          <p:nvPr/>
        </p:nvSpPr>
        <p:spPr>
          <a:xfrm xmlns:a="http://schemas.openxmlformats.org/drawingml/2006/main">
            <a:off x="571500" y="1571625"/>
            <a:ext cx="53340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Expo / React Native, đăng nhập và lưu token an toàn</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Danh sách nhiệm vụ, chi tiết chuyến, bắt đầu / hoàn tất</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SQLite và sync engine hỗ trợ offline</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GPS nền, ảnh minh chứng, cảnh báo và SOS</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Typecheck đạt; 4 test mobile đạt</a:t>
            </a:r>
          </a:p>
        </p:txBody>
      </p:sp>
      <p:sp>
        <p:nvSpPr>
          <p:cNvPr id="4" name="">
            <a:extLst xmlns:a="http://schemas.openxmlformats.org/drawingml/2006/main">
              <a:ext uri="{FF2B5EF4-FFF2-40B4-BE49-F238E27FC236}">
                <a16:creationId xmlns:a16="http://schemas.microsoft.com/office/drawing/2014/main" id="{57568040-448E-4C29-85D8-DD008825F11E}"/>
              </a:ext>
            </a:extLst>
          </p:cNvPr>
          <p:cNvSpPr>
            <a:spLocks xmlns:a="http://schemas.openxmlformats.org/drawingml/2006/main" noGrp="1"/>
          </p:cNvSpPr>
          <p:nvPr/>
        </p:nvSpPr>
        <p:spPr>
          <a:xfrm xmlns:a="http://schemas.openxmlformats.org/drawingml/2006/main">
            <a:off x="6477000" y="1123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E00000"/>
                </a:solidFill>
                <a:latin typeface="Cambria"/>
                <a:ea typeface="Cambria"/>
                <a:cs typeface="Cambria"/>
              </a:defRPr>
            </a:pPr>
            <a:r>
              <a:rPr sz="1800" b="1" i="0">
                <a:solidFill>
                  <a:srgbClr val="E00000"/>
                </a:solidFill>
                <a:latin typeface="Cambria"/>
                <a:ea typeface="Cambria"/>
                <a:cs typeface="Cambria"/>
              </a:rPr>
              <a:t>Rủi ro kiến trúc</a:t>
            </a:r>
          </a:p>
        </p:txBody>
      </p:sp>
      <p:sp>
        <p:nvSpPr>
          <p:cNvPr id="5" name="">
            <a:extLst xmlns:a="http://schemas.openxmlformats.org/drawingml/2006/main">
              <a:ext uri="{FF2B5EF4-FFF2-40B4-BE49-F238E27FC236}">
                <a16:creationId xmlns:a16="http://schemas.microsoft.com/office/drawing/2014/main" id="{6A876A8B-A380-4DB0-AEE5-36CBC75A20DC}"/>
              </a:ext>
            </a:extLst>
          </p:cNvPr>
          <p:cNvSpPr>
            <a:spLocks xmlns:a="http://schemas.openxmlformats.org/drawingml/2006/main" noGrp="1"/>
          </p:cNvSpPr>
          <p:nvPr/>
        </p:nvSpPr>
        <p:spPr>
          <a:xfrm xmlns:a="http://schemas.openxmlformats.org/drawingml/2006/main">
            <a:off x="6429375" y="1571625"/>
            <a:ext cx="509587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Main backend đã có mobile-driver, mobile-sync và work-orders</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Repository đồng thời có Backend_Driver độc lập</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Hai backend dùng phiên bản NestJS và Prisma khác nhau</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Cần chốt một nguồn API và một mô hình dữ liệu chủ đạo để tránh lệch nghiệp vụ</a:t>
            </a:r>
          </a:p>
        </p:txBody>
      </p:sp>
      <p:sp>
        <p:nvSpPr>
          <p:cNvPr id="6" name="">
            <a:extLst xmlns:a="http://schemas.openxmlformats.org/drawingml/2006/main">
              <a:ext uri="{FF2B5EF4-FFF2-40B4-BE49-F238E27FC236}">
                <a16:creationId xmlns:a16="http://schemas.microsoft.com/office/drawing/2014/main" id="{BC3A05AC-7F00-4C03-BC0E-517186D2B859}"/>
              </a:ext>
            </a:extLst>
          </p:cNvPr>
          <p:cNvSpPr>
            <a:spLocks xmlns:a="http://schemas.openxmlformats.org/drawingml/2006/main" noGrp="1"/>
          </p:cNvSpPr>
          <p:nvPr/>
        </p:nvSpPr>
        <p:spPr>
          <a:xfrm xmlns:a="http://schemas.openxmlformats.org/drawingml/2006/main">
            <a:off x="619125" y="49530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75AA7"/>
                </a:solidFill>
                <a:latin typeface="Cambria"/>
                <a:ea typeface="Cambria"/>
                <a:cs typeface="Cambria"/>
              </a:defRPr>
            </a:pPr>
            <a:r>
              <a:rPr sz="1725" b="1" i="0">
                <a:solidFill>
                  <a:srgbClr val="075AA7"/>
                </a:solidFill>
                <a:latin typeface="Cambria"/>
                <a:ea typeface="Cambria"/>
                <a:cs typeface="Cambria"/>
              </a:rPr>
              <a:t>Điểm cần kiểm chứng tại pilot</a:t>
            </a:r>
          </a:p>
        </p:txBody>
      </p:sp>
      <p:sp>
        <p:nvSpPr>
          <p:cNvPr id="7" name="">
            <a:extLst xmlns:a="http://schemas.openxmlformats.org/drawingml/2006/main">
              <a:ext uri="{FF2B5EF4-FFF2-40B4-BE49-F238E27FC236}">
                <a16:creationId xmlns:a16="http://schemas.microsoft.com/office/drawing/2014/main" id="{2A5E2D72-E954-4302-B212-1D024E67B1AD}"/>
              </a:ext>
            </a:extLst>
          </p:cNvPr>
          <p:cNvSpPr>
            <a:spLocks xmlns:a="http://schemas.openxmlformats.org/drawingml/2006/main" noGrp="1"/>
          </p:cNvSpPr>
          <p:nvPr/>
        </p:nvSpPr>
        <p:spPr>
          <a:xfrm xmlns:a="http://schemas.openxmlformats.org/drawingml/2006/main">
            <a:off x="619125" y="5353050"/>
            <a:ext cx="10858500" cy="628650"/>
          </a:xfrm>
          <a:prstGeom xmlns:a="http://schemas.openxmlformats.org/drawingml/2006/main" prst="roundRect">
            <a:avLst>
              <a:gd name="adj" fmla="val 10606"/>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Mất mạng kéo dài, xung đột đồng bộ, quyền theo đơn vị, độ chính xác GPS, kích thước ảnh và tính đầy đủ của audit trail.</a:t>
            </a:r>
          </a:p>
        </p:txBody>
      </p:sp>
      <p:sp>
        <p:nvSpPr>
          <p:cNvPr id="8" name="">
            <a:extLst xmlns:a="http://schemas.openxmlformats.org/drawingml/2006/main">
              <a:ext uri="{FF2B5EF4-FFF2-40B4-BE49-F238E27FC236}">
                <a16:creationId xmlns:a16="http://schemas.microsoft.com/office/drawing/2014/main" id="{12706A48-C3F7-4CAA-8CC4-61BDD109A088}"/>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9" name="">
            <a:extLst xmlns:a="http://schemas.openxmlformats.org/drawingml/2006/main">
              <a:ext uri="{FF2B5EF4-FFF2-40B4-BE49-F238E27FC236}">
                <a16:creationId xmlns:a16="http://schemas.microsoft.com/office/drawing/2014/main" id="{1F4AF64F-7AF4-4CE6-88D6-E4D3F04372C4}"/>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10</a:t>
            </a:r>
          </a:p>
        </p:txBody>
      </p:sp>
    </p:spTree>
    <p:extLst>
      <p:ext uri="{BB962C8B-B14F-4D97-AF65-F5344CB8AC3E}">
        <p14:creationId xmlns:p14="http://schemas.microsoft.com/office/powerpoint/2010/main" val="108360953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ECDFBADF-212F-4D7D-9FA1-AB2B29B187AC}"/>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TIẾN ĐỘ PHÁT TRIỂN HIỆN TẠI</a:t>
            </a:r>
          </a:p>
        </p:txBody>
      </p:sp>
      <p:sp>
        <p:nvSpPr>
          <p:cNvPr id="2" name="">
            <a:extLst xmlns:a="http://schemas.openxmlformats.org/drawingml/2006/main">
              <a:ext uri="{FF2B5EF4-FFF2-40B4-BE49-F238E27FC236}">
                <a16:creationId xmlns:a16="http://schemas.microsoft.com/office/drawing/2014/main" id="{BDEB7870-9BE9-4D6D-8FD5-C1D33EAED96D}"/>
              </a:ext>
            </a:extLst>
          </p:cNvPr>
          <p:cNvSpPr>
            <a:spLocks xmlns:a="http://schemas.openxmlformats.org/drawingml/2006/main" noGrp="1"/>
          </p:cNvSpPr>
          <p:nvPr/>
        </p:nvSpPr>
        <p:spPr>
          <a:xfrm xmlns:a="http://schemas.openxmlformats.org/drawingml/2006/main">
            <a:off x="7239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06B35"/>
                </a:solidFill>
                <a:latin typeface="Cambria"/>
                <a:ea typeface="Cambria"/>
                <a:cs typeface="Cambria"/>
              </a:defRPr>
            </a:pPr>
            <a:r>
              <a:rPr sz="3600" b="1" i="0">
                <a:solidFill>
                  <a:srgbClr val="006B35"/>
                </a:solidFill>
                <a:latin typeface="Cambria"/>
                <a:ea typeface="Cambria"/>
                <a:cs typeface="Cambria"/>
              </a:rPr>
              <a:t>104</a:t>
            </a:r>
          </a:p>
        </p:txBody>
      </p:sp>
      <p:sp>
        <p:nvSpPr>
          <p:cNvPr id="3" name="">
            <a:extLst xmlns:a="http://schemas.openxmlformats.org/drawingml/2006/main">
              <a:ext uri="{FF2B5EF4-FFF2-40B4-BE49-F238E27FC236}">
                <a16:creationId xmlns:a16="http://schemas.microsoft.com/office/drawing/2014/main" id="{6A20B9C0-97B8-4CE2-84BC-9A816FB1EF57}"/>
              </a:ext>
            </a:extLst>
          </p:cNvPr>
          <p:cNvSpPr>
            <a:spLocks xmlns:a="http://schemas.openxmlformats.org/drawingml/2006/main" noGrp="1"/>
          </p:cNvSpPr>
          <p:nvPr/>
        </p:nvSpPr>
        <p:spPr>
          <a:xfrm xmlns:a="http://schemas.openxmlformats.org/drawingml/2006/main">
            <a:off x="7239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đường dẫn web</a:t>
            </a:r>
          </a:p>
        </p:txBody>
      </p:sp>
      <p:sp>
        <p:nvSpPr>
          <p:cNvPr id="4" name="">
            <a:extLst xmlns:a="http://schemas.openxmlformats.org/drawingml/2006/main">
              <a:ext uri="{FF2B5EF4-FFF2-40B4-BE49-F238E27FC236}">
                <a16:creationId xmlns:a16="http://schemas.microsoft.com/office/drawing/2014/main" id="{6D68FDD9-6D1C-449A-B7C0-D1D116A5847A}"/>
              </a:ext>
            </a:extLst>
          </p:cNvPr>
          <p:cNvSpPr>
            <a:spLocks xmlns:a="http://schemas.openxmlformats.org/drawingml/2006/main" noGrp="1"/>
          </p:cNvSpPr>
          <p:nvPr/>
        </p:nvSpPr>
        <p:spPr>
          <a:xfrm xmlns:a="http://schemas.openxmlformats.org/drawingml/2006/main">
            <a:off x="35052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75AA7"/>
                </a:solidFill>
                <a:latin typeface="Cambria"/>
                <a:ea typeface="Cambria"/>
                <a:cs typeface="Cambria"/>
              </a:defRPr>
            </a:pPr>
            <a:r>
              <a:rPr sz="3600" b="1" i="0">
                <a:solidFill>
                  <a:srgbClr val="075AA7"/>
                </a:solidFill>
                <a:latin typeface="Cambria"/>
                <a:ea typeface="Cambria"/>
                <a:cs typeface="Cambria"/>
              </a:rPr>
              <a:t>27</a:t>
            </a:r>
          </a:p>
        </p:txBody>
      </p:sp>
      <p:sp>
        <p:nvSpPr>
          <p:cNvPr id="5" name="">
            <a:extLst xmlns:a="http://schemas.openxmlformats.org/drawingml/2006/main">
              <a:ext uri="{FF2B5EF4-FFF2-40B4-BE49-F238E27FC236}">
                <a16:creationId xmlns:a16="http://schemas.microsoft.com/office/drawing/2014/main" id="{EE3ECEEF-BB8D-4668-9B0F-F32B92D534B6}"/>
              </a:ext>
            </a:extLst>
          </p:cNvPr>
          <p:cNvSpPr>
            <a:spLocks xmlns:a="http://schemas.openxmlformats.org/drawingml/2006/main" noGrp="1"/>
          </p:cNvSpPr>
          <p:nvPr/>
        </p:nvSpPr>
        <p:spPr>
          <a:xfrm xmlns:a="http://schemas.openxmlformats.org/drawingml/2006/main">
            <a:off x="35052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backend controllers</a:t>
            </a:r>
          </a:p>
        </p:txBody>
      </p:sp>
      <p:sp>
        <p:nvSpPr>
          <p:cNvPr id="6" name="">
            <a:extLst xmlns:a="http://schemas.openxmlformats.org/drawingml/2006/main">
              <a:ext uri="{FF2B5EF4-FFF2-40B4-BE49-F238E27FC236}">
                <a16:creationId xmlns:a16="http://schemas.microsoft.com/office/drawing/2014/main" id="{FF4A8A7B-82C8-4ECF-974A-35ED656D65CB}"/>
              </a:ext>
            </a:extLst>
          </p:cNvPr>
          <p:cNvSpPr>
            <a:spLocks xmlns:a="http://schemas.openxmlformats.org/drawingml/2006/main" noGrp="1"/>
          </p:cNvSpPr>
          <p:nvPr/>
        </p:nvSpPr>
        <p:spPr>
          <a:xfrm xmlns:a="http://schemas.openxmlformats.org/drawingml/2006/main">
            <a:off x="62865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E87518"/>
                </a:solidFill>
                <a:latin typeface="Cambria"/>
                <a:ea typeface="Cambria"/>
                <a:cs typeface="Cambria"/>
              </a:defRPr>
            </a:pPr>
            <a:r>
              <a:rPr sz="3600" b="1" i="0">
                <a:solidFill>
                  <a:srgbClr val="E87518"/>
                </a:solidFill>
                <a:latin typeface="Cambria"/>
                <a:ea typeface="Cambria"/>
                <a:cs typeface="Cambria"/>
              </a:rPr>
              <a:t>66</a:t>
            </a:r>
          </a:p>
        </p:txBody>
      </p:sp>
      <p:sp>
        <p:nvSpPr>
          <p:cNvPr id="7" name="">
            <a:extLst xmlns:a="http://schemas.openxmlformats.org/drawingml/2006/main">
              <a:ext uri="{FF2B5EF4-FFF2-40B4-BE49-F238E27FC236}">
                <a16:creationId xmlns:a16="http://schemas.microsoft.com/office/drawing/2014/main" id="{DAAEB884-B17D-417A-9C0E-A3E41B206CE7}"/>
              </a:ext>
            </a:extLst>
          </p:cNvPr>
          <p:cNvSpPr>
            <a:spLocks xmlns:a="http://schemas.openxmlformats.org/drawingml/2006/main" noGrp="1"/>
          </p:cNvSpPr>
          <p:nvPr/>
        </p:nvSpPr>
        <p:spPr>
          <a:xfrm xmlns:a="http://schemas.openxmlformats.org/drawingml/2006/main">
            <a:off x="62865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Prisma models</a:t>
            </a:r>
          </a:p>
        </p:txBody>
      </p:sp>
      <p:sp>
        <p:nvSpPr>
          <p:cNvPr id="8" name="">
            <a:extLst xmlns:a="http://schemas.openxmlformats.org/drawingml/2006/main">
              <a:ext uri="{FF2B5EF4-FFF2-40B4-BE49-F238E27FC236}">
                <a16:creationId xmlns:a16="http://schemas.microsoft.com/office/drawing/2014/main" id="{1102ADCE-2FBB-4AB0-BA5D-6944DDE72583}"/>
              </a:ext>
            </a:extLst>
          </p:cNvPr>
          <p:cNvSpPr>
            <a:spLocks xmlns:a="http://schemas.openxmlformats.org/drawingml/2006/main" noGrp="1"/>
          </p:cNvSpPr>
          <p:nvPr/>
        </p:nvSpPr>
        <p:spPr>
          <a:xfrm xmlns:a="http://schemas.openxmlformats.org/drawingml/2006/main">
            <a:off x="90678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E00000"/>
                </a:solidFill>
                <a:latin typeface="Cambria"/>
                <a:ea typeface="Cambria"/>
                <a:cs typeface="Cambria"/>
              </a:defRPr>
            </a:pPr>
            <a:r>
              <a:rPr sz="3600" b="1" i="0">
                <a:solidFill>
                  <a:srgbClr val="E00000"/>
                </a:solidFill>
                <a:latin typeface="Cambria"/>
                <a:ea typeface="Cambria"/>
                <a:cs typeface="Cambria"/>
              </a:rPr>
              <a:t>170</a:t>
            </a:r>
          </a:p>
        </p:txBody>
      </p:sp>
      <p:sp>
        <p:nvSpPr>
          <p:cNvPr id="9" name="">
            <a:extLst xmlns:a="http://schemas.openxmlformats.org/drawingml/2006/main">
              <a:ext uri="{FF2B5EF4-FFF2-40B4-BE49-F238E27FC236}">
                <a16:creationId xmlns:a16="http://schemas.microsoft.com/office/drawing/2014/main" id="{FBFA16A2-CFAE-48B9-AC9C-1061FC8BEC77}"/>
              </a:ext>
            </a:extLst>
          </p:cNvPr>
          <p:cNvSpPr>
            <a:spLocks xmlns:a="http://schemas.openxmlformats.org/drawingml/2006/main" noGrp="1"/>
          </p:cNvSpPr>
          <p:nvPr/>
        </p:nvSpPr>
        <p:spPr>
          <a:xfrm xmlns:a="http://schemas.openxmlformats.org/drawingml/2006/main">
            <a:off x="90678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tests đạt</a:t>
            </a:r>
          </a:p>
        </p:txBody>
      </p:sp>
      <p:graphicFrame>
        <p:nvGraphicFramePr>
          <p:cNvPr id="23" name=""/>
          <p:cNvGraphicFramePr/>
          <p:nvPr/>
        </p:nvGraphicFramePr>
        <p:xfrm>
          <a:off xmlns:a="http://schemas.openxmlformats.org/drawingml/2006/main" x="495300" y="2190750"/>
          <a:ext xmlns:a="http://schemas.openxmlformats.org/drawingml/2006/main" cx="11201400" cy="3429000"/>
        </p:xfrm>
        <a:graphic xmlns:a="http://schemas.openxmlformats.org/drawingml/2006/main">
          <a:graphicData uri="http://schemas.openxmlformats.org/drawingml/2006/table">
            <a:tbl>
              <a:tblPr/>
              <a:tblGrid>
                <a:gridCol w="2000250"/>
                <a:gridCol w="4572000"/>
                <a:gridCol w="4629150"/>
              </a:tblGrid>
              <a:tr h="457200">
                <a:tc>
                  <a:txBody>
                    <a:bodyPr/>
                    <a:lstStyle/>
                    <a:p>
                      <a:r>
                        <a:t>LỚP</a:t>
                      </a:r>
                    </a:p>
                  </a:txBody>
                  <a:tcPr marL="91440" marR="91440" marT="45720" marB="45720"/>
                </a:tc>
                <a:tc>
                  <a:txBody>
                    <a:bodyPr/>
                    <a:lstStyle/>
                    <a:p>
                      <a:r>
                        <a:t>BẰNG CHỨNG ĐÃ CÓ</a:t>
                      </a:r>
                    </a:p>
                  </a:txBody>
                  <a:tcPr marL="91440" marR="91440" marT="45720" marB="45720"/>
                </a:tc>
                <a:tc>
                  <a:txBody>
                    <a:bodyPr/>
                    <a:lstStyle/>
                    <a:p>
                      <a:r>
                        <a:t>NHẬN ĐỊNH TIẾN ĐỘ</a:t>
                      </a:r>
                    </a:p>
                  </a:txBody>
                  <a:tcPr marL="91440" marR="91440" marT="45720" marB="45720"/>
                </a:tc>
              </a:tr>
              <a:tr h="590550">
                <a:tc>
                  <a:txBody>
                    <a:bodyPr/>
                    <a:lstStyle/>
                    <a:p>
                      <a:r>
                        <a:t>Web</a:t>
                      </a:r>
                    </a:p>
                  </a:txBody>
                  <a:tcPr marL="91440" marR="91440" marT="45720" marB="45720"/>
                </a:tc>
                <a:tc>
                  <a:txBody>
                    <a:bodyPr/>
                    <a:lstStyle/>
                    <a:p>
                      <a:r>
                        <a:t>Bao phủ module A–K, 70 trang chức năng</a:t>
                      </a:r>
                    </a:p>
                  </a:txBody>
                  <a:tcPr marL="91440" marR="91440" marT="45720" marB="45720"/>
                </a:tc>
                <a:tc>
                  <a:txBody>
                    <a:bodyPr/>
                    <a:lstStyle/>
                    <a:p>
                      <a:r>
                        <a:t>Giao diện rộng, tích hợp API chưa khép kín</a:t>
                      </a:r>
                    </a:p>
                  </a:txBody>
                  <a:tcPr marL="91440" marR="91440" marT="45720" marB="45720"/>
                </a:tc>
              </a:tr>
              <a:tr h="590550">
                <a:tc>
                  <a:txBody>
                    <a:bodyPr/>
                    <a:lstStyle/>
                    <a:p>
                      <a:r>
                        <a:t>Backend</a:t>
                      </a:r>
                    </a:p>
                  </a:txBody>
                  <a:tcPr marL="91440" marR="91440" marT="45720" marB="45720"/>
                </a:tc>
                <a:tc>
                  <a:txBody>
                    <a:bodyPr/>
                    <a:lstStyle/>
                    <a:p>
                      <a:r>
                        <a:t>27 controller, 28 service, transaction ở nhiều luồng</a:t>
                      </a:r>
                    </a:p>
                  </a:txBody>
                  <a:tcPr marL="91440" marR="91440" marT="45720" marB="45720"/>
                </a:tc>
                <a:tc>
                  <a:txBody>
                    <a:bodyPr/>
                    <a:lstStyle/>
                    <a:p>
                      <a:r>
                        <a:t>Mô hình nghiệp vụ đã đi khá sâu</a:t>
                      </a:r>
                    </a:p>
                  </a:txBody>
                  <a:tcPr marL="91440" marR="91440" marT="45720" marB="45720"/>
                </a:tc>
              </a:tr>
              <a:tr h="590550">
                <a:tc>
                  <a:txBody>
                    <a:bodyPr/>
                    <a:lstStyle/>
                    <a:p>
                      <a:r>
                        <a:t>Dữ liệu</a:t>
                      </a:r>
                    </a:p>
                  </a:txBody>
                  <a:tcPr marL="91440" marR="91440" marT="45720" marB="45720"/>
                </a:tc>
                <a:tc>
                  <a:txBody>
                    <a:bodyPr/>
                    <a:lstStyle/>
                    <a:p>
                      <a:r>
                        <a:t>66 model, 85 enum, 27 migration</a:t>
                      </a:r>
                    </a:p>
                  </a:txBody>
                  <a:tcPr marL="91440" marR="91440" marT="45720" marB="45720"/>
                </a:tc>
                <a:tc>
                  <a:txBody>
                    <a:bodyPr/>
                    <a:lstStyle/>
                    <a:p>
                      <a:r>
                        <a:t>Schema phong phú, mapping và backfill cần kiểm soát</a:t>
                      </a:r>
                    </a:p>
                  </a:txBody>
                  <a:tcPr marL="91440" marR="91440" marT="45720" marB="45720"/>
                </a:tc>
              </a:tr>
              <a:tr h="590550">
                <a:tc>
                  <a:txBody>
                    <a:bodyPr/>
                    <a:lstStyle/>
                    <a:p>
                      <a:r>
                        <a:t>Mobile</a:t>
                      </a:r>
                    </a:p>
                  </a:txBody>
                  <a:tcPr marL="91440" marR="91440" marT="45720" marB="45720"/>
                </a:tc>
                <a:tc>
                  <a:txBody>
                    <a:bodyPr/>
                    <a:lstStyle/>
                    <a:p>
                      <a:r>
                        <a:t>Nhận việc, GPS, ảnh, SOS, offline sync</a:t>
                      </a:r>
                    </a:p>
                  </a:txBody>
                  <a:tcPr marL="91440" marR="91440" marT="45720" marB="45720"/>
                </a:tc>
                <a:tc>
                  <a:txBody>
                    <a:bodyPr/>
                    <a:lstStyle/>
                    <a:p>
                      <a:r>
                        <a:t>Năng lực chính đã có, cần thống nhất backend</a:t>
                      </a:r>
                    </a:p>
                  </a:txBody>
                  <a:tcPr marL="91440" marR="91440" marT="45720" marB="45720"/>
                </a:tc>
              </a:tr>
              <a:tr h="590550">
                <a:tc>
                  <a:txBody>
                    <a:bodyPr/>
                    <a:lstStyle/>
                    <a:p>
                      <a:r>
                        <a:t>Phát hành</a:t>
                      </a:r>
                    </a:p>
                  </a:txBody>
                  <a:tcPr marL="91440" marR="91440" marT="45720" marB="45720"/>
                </a:tc>
                <a:tc>
                  <a:txBody>
                    <a:bodyPr/>
                    <a:lstStyle/>
                    <a:p>
                      <a:r>
                        <a:t>170 test đạt và từng lớp build được</a:t>
                      </a:r>
                    </a:p>
                  </a:txBody>
                  <a:tcPr marL="91440" marR="91440" marT="45720" marB="45720"/>
                </a:tc>
                <a:tc>
                  <a:txBody>
                    <a:bodyPr/>
                    <a:lstStyle/>
                    <a:p>
                      <a:r>
                        <a:t>Chưa chốt baseline production và CI</a:t>
                      </a:r>
                    </a:p>
                  </a:txBody>
                  <a:tcPr marL="91440" marR="91440" marT="45720" marB="45720"/>
                </a:tc>
              </a:tr>
            </a:tbl>
          </a:graphicData>
        </a:graphic>
      </p:graphicFrame>
      <p:sp>
        <p:nvSpPr>
          <p:cNvPr id="11" name="">
            <a:extLst xmlns:a="http://schemas.openxmlformats.org/drawingml/2006/main">
              <a:ext uri="{FF2B5EF4-FFF2-40B4-BE49-F238E27FC236}">
                <a16:creationId xmlns:a16="http://schemas.microsoft.com/office/drawing/2014/main" id="{B5E49C3E-D18D-4C5D-8406-66FBF95C74A7}"/>
              </a:ext>
            </a:extLst>
          </p:cNvPr>
          <p:cNvSpPr>
            <a:spLocks xmlns:a="http://schemas.openxmlformats.org/drawingml/2006/main" noGrp="1"/>
          </p:cNvSpPr>
          <p:nvPr/>
        </p:nvSpPr>
        <p:spPr>
          <a:xfrm xmlns:a="http://schemas.openxmlformats.org/drawingml/2006/main">
            <a:off x="714375" y="58578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275" b="0" i="1">
                <a:solidFill>
                  <a:srgbClr val="59636E"/>
                </a:solidFill>
                <a:latin typeface="Cambria"/>
                <a:ea typeface="Cambria"/>
                <a:cs typeface="Cambria"/>
              </a:defRPr>
            </a:pPr>
            <a:r>
              <a:rPr sz="1275" b="0" i="1">
                <a:solidFill>
                  <a:srgbClr val="59636E"/>
                </a:solidFill>
                <a:latin typeface="Cambria"/>
                <a:ea typeface="Cambria"/>
                <a:cs typeface="Cambria"/>
              </a:rPr>
              <a:t>Không dùng phần trăm hoàn thành vì repository chưa có tiêu chí nghiệm thu chung cho từng module.</a:t>
            </a:r>
          </a:p>
        </p:txBody>
      </p:sp>
      <p:sp>
        <p:nvSpPr>
          <p:cNvPr id="12" name="">
            <a:extLst xmlns:a="http://schemas.openxmlformats.org/drawingml/2006/main">
              <a:ext uri="{FF2B5EF4-FFF2-40B4-BE49-F238E27FC236}">
                <a16:creationId xmlns:a16="http://schemas.microsoft.com/office/drawing/2014/main" id="{13404E9F-0A10-4279-862B-C5A380217579}"/>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3" name="">
            <a:extLst xmlns:a="http://schemas.openxmlformats.org/drawingml/2006/main">
              <a:ext uri="{FF2B5EF4-FFF2-40B4-BE49-F238E27FC236}">
                <a16:creationId xmlns:a16="http://schemas.microsoft.com/office/drawing/2014/main" id="{64BD70FF-894D-478F-B298-425A99313D9B}"/>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11</a:t>
            </a:r>
          </a:p>
        </p:txBody>
      </p:sp>
    </p:spTree>
    <p:extLst>
      <p:ext uri="{BB962C8B-B14F-4D97-AF65-F5344CB8AC3E}">
        <p14:creationId xmlns:p14="http://schemas.microsoft.com/office/powerpoint/2010/main" val="369431699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c7c6263c4b554857"/>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49" name="slide-title">
            <a:extLst xmlns:a="http://schemas.openxmlformats.org/drawingml/2006/main">
              <a:ext uri="{FF2B5EF4-FFF2-40B4-BE49-F238E27FC236}">
                <a16:creationId xmlns:a16="http://schemas.microsoft.com/office/drawing/2014/main" id="{3BE0F255-8603-4BBA-86BD-9E357F9326EF}"/>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KẾT QUẢ KIỂM THỬ VÀ BUILD</a:t>
            </a:r>
          </a:p>
        </p:txBody>
      </p:sp>
      <p:graphicFrame>
        <p:nvGraphicFramePr>
          <p:cNvPr id="56" name=""/>
          <p:cNvGraphicFramePr/>
          <p:nvPr/>
        </p:nvGraphicFramePr>
        <p:xfrm>
          <a:off xmlns:a="http://schemas.openxmlformats.org/drawingml/2006/main" x="552450" y="1000125"/>
          <a:ext xmlns:a="http://schemas.openxmlformats.org/drawingml/2006/main" cx="11087100" cy="4810125"/>
        </p:xfrm>
        <a:graphic xmlns:a="http://schemas.openxmlformats.org/drawingml/2006/main">
          <a:graphicData uri="http://schemas.openxmlformats.org/drawingml/2006/table">
            <a:tbl>
              <a:tblPr/>
              <a:tblGrid>
                <a:gridCol w="3238500"/>
                <a:gridCol w="2428875"/>
                <a:gridCol w="5419725"/>
              </a:tblGrid>
              <a:tr h="419100">
                <a:tc>
                  <a:txBody>
                    <a:bodyPr/>
                    <a:lstStyle/>
                    <a:p>
                      <a:r>
                        <a:t>HẠNG MỤC</a:t>
                      </a:r>
                    </a:p>
                  </a:txBody>
                  <a:tcPr marL="91440" marR="91440" marT="45720" marB="45720"/>
                </a:tc>
                <a:tc>
                  <a:txBody>
                    <a:bodyPr/>
                    <a:lstStyle/>
                    <a:p>
                      <a:r>
                        <a:t>KẾT QUẢ</a:t>
                      </a:r>
                    </a:p>
                  </a:txBody>
                  <a:tcPr marL="91440" marR="91440" marT="45720" marB="45720"/>
                </a:tc>
                <a:tc>
                  <a:txBody>
                    <a:bodyPr/>
                    <a:lstStyle/>
                    <a:p>
                      <a:r>
                        <a:t>GHI CHÚ</a:t>
                      </a:r>
                    </a:p>
                  </a:txBody>
                  <a:tcPr marL="91440" marR="91440" marT="45720" marB="45720"/>
                </a:tc>
              </a:tr>
              <a:tr h="485775">
                <a:tc>
                  <a:txBody>
                    <a:bodyPr/>
                    <a:lstStyle/>
                    <a:p>
                      <a:r>
                        <a:t>Backend Jest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31 suites, 129 tests</a:t>
                      </a:r>
                    </a:p>
                  </a:txBody>
                  <a:tcPr marL="91440" marR="91440" marT="45720" marB="45720"/>
                </a:tc>
              </a:tr>
              <a:tr h="485775">
                <a:tc>
                  <a:txBody>
                    <a:bodyPr/>
                    <a:lstStyle/>
                    <a:p>
                      <a:r>
                        <a:t>Frontend Vitest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13 files, 37 tests</a:t>
                      </a:r>
                    </a:p>
                  </a:txBody>
                  <a:tcPr marL="91440" marR="91440" marT="45720" marB="45720"/>
                </a:tc>
              </a:tr>
              <a:tr h="485775">
                <a:tc>
                  <a:txBody>
                    <a:bodyPr/>
                    <a:lstStyle/>
                    <a:p>
                      <a:r>
                        <a:t>Driver app Vitest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1 file, 4 tests</a:t>
                      </a:r>
                    </a:p>
                  </a:txBody>
                  <a:tcPr marL="91440" marR="91440" marT="45720" marB="45720"/>
                </a:tc>
              </a:tr>
              <a:tr h="485775">
                <a:tc>
                  <a:txBody>
                    <a:bodyPr/>
                    <a:lstStyle/>
                    <a:p>
                      <a:r>
                        <a:t>Prisma validate</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Schema hợp lệ</a:t>
                      </a:r>
                    </a:p>
                  </a:txBody>
                  <a:tcPr marL="91440" marR="91440" marT="45720" marB="45720"/>
                </a:tc>
              </a:tr>
              <a:tr h="485775">
                <a:tc>
                  <a:txBody>
                    <a:bodyPr/>
                    <a:lstStyle/>
                    <a:p>
                      <a:r>
                        <a:t>Nest build chính</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Build trực tiếp thành công</a:t>
                      </a:r>
                    </a:p>
                  </a:txBody>
                  <a:tcPr marL="91440" marR="91440" marT="45720" marB="45720"/>
                </a:tc>
              </a:tr>
              <a:tr h="485775">
                <a:tc>
                  <a:txBody>
                    <a:bodyPr/>
                    <a:lstStyle/>
                    <a:p>
                      <a:r>
                        <a:t>Web production build</a:t>
                      </a:r>
                    </a:p>
                  </a:txBody>
                  <a:tcPr marL="91440" marR="91440" marT="45720" marB="45720"/>
                </a:tc>
                <a:tc>
                  <a:txBody>
                    <a:bodyPr/>
                    <a:lstStyle/>
                    <a:p>
                      <a:pPr algn="ctr"/>
                      <a:r>
                        <a:rPr sz="1125" b="1">
                          <a:solidFill>
                            <a:srgbClr val="A95400"/>
                          </a:solidFill>
                          <a:latin typeface="Cambria"/>
                          <a:ea typeface="Cambria"/>
                          <a:cs typeface="Cambria"/>
                        </a:rPr>
                        <a:t>ĐẠT CÓ CẢNH BÁO</a:t>
                      </a:r>
                    </a:p>
                  </a:txBody>
                  <a:tcPr marL="91440" marR="91440" marT="45720" marB="45720" anchor="ctr">
                    <a:solidFill>
                      <a:srgbClr val="FFF1D7"/>
                    </a:solidFill>
                  </a:tcPr>
                </a:tc>
                <a:tc>
                  <a:txBody>
                    <a:bodyPr/>
                    <a:lstStyle/>
                    <a:p>
                      <a:r>
                        <a:t>Main JS 3.39 MB, exceljs 0.94 MB</a:t>
                      </a:r>
                    </a:p>
                  </a:txBody>
                  <a:tcPr marL="91440" marR="91440" marT="45720" marB="45720"/>
                </a:tc>
              </a:tr>
              <a:tr h="485775">
                <a:tc>
                  <a:txBody>
                    <a:bodyPr/>
                    <a:lstStyle/>
                    <a:p>
                      <a:r>
                        <a:t>Driver app typecheck</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tsc --noEmit</a:t>
                      </a:r>
                    </a:p>
                  </a:txBody>
                  <a:tcPr marL="91440" marR="91440" marT="45720" marB="45720"/>
                </a:tc>
              </a:tr>
              <a:tr h="485775">
                <a:tc>
                  <a:txBody>
                    <a:bodyPr/>
                    <a:lstStyle/>
                    <a:p>
                      <a:r>
                        <a:t>Driver backend build</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Nest build thành công</a:t>
                      </a:r>
                    </a:p>
                  </a:txBody>
                  <a:tcPr marL="91440" marR="91440" marT="45720" marB="45720"/>
                </a:tc>
              </a:tr>
              <a:tr h="485775">
                <a:tc>
                  <a:txBody>
                    <a:bodyPr/>
                    <a:lstStyle/>
                    <a:p>
                      <a:r>
                        <a:t>Root npm run build</a:t>
                      </a:r>
                    </a:p>
                  </a:txBody>
                  <a:tcPr marL="91440" marR="91440" marT="45720" marB="45720"/>
                </a:tc>
                <a:tc>
                  <a:txBody>
                    <a:bodyPr/>
                    <a:lstStyle/>
                    <a:p>
                      <a:pPr algn="ctr"/>
                      <a:r>
                        <a:rPr sz="1125" b="1">
                          <a:solidFill>
                            <a:srgbClr val="E00000"/>
                          </a:solidFill>
                          <a:latin typeface="Cambria"/>
                          <a:ea typeface="Cambria"/>
                          <a:cs typeface="Cambria"/>
                        </a:rPr>
                        <a:t>CHƯA ĐẠT</a:t>
                      </a:r>
                    </a:p>
                  </a:txBody>
                  <a:tcPr marL="91440" marR="91440" marT="45720" marB="45720" anchor="ctr">
                    <a:solidFill>
                      <a:srgbClr val="FFE4E4"/>
                    </a:solidFill>
                  </a:tcPr>
                </a:tc>
                <a:tc>
                  <a:txBody>
                    <a:bodyPr/>
                    <a:lstStyle/>
                    <a:p>
                      <a:r>
                        <a:t>prisma generate bị khóa DLL trên Windows</a:t>
                      </a:r>
                    </a:p>
                  </a:txBody>
                  <a:tcPr marL="91440" marR="91440" marT="45720" marB="45720"/>
                </a:tc>
              </a:tr>
            </a:tbl>
          </a:graphicData>
        </a:graphic>
      </p:graphicFrame>
      <p:sp>
        <p:nvSpPr>
          <p:cNvPr id="51" name="">
            <a:extLst xmlns:a="http://schemas.openxmlformats.org/drawingml/2006/main">
              <a:ext uri="{FF2B5EF4-FFF2-40B4-BE49-F238E27FC236}">
                <a16:creationId xmlns:a16="http://schemas.microsoft.com/office/drawing/2014/main" id="{436DF1E0-F201-4385-8B1B-ECFC3052E180}"/>
              </a:ext>
            </a:extLst>
          </p:cNvPr>
          <p:cNvSpPr>
            <a:spLocks xmlns:a="http://schemas.openxmlformats.org/drawingml/2006/main" noGrp="1"/>
          </p:cNvSpPr>
          <p:nvPr/>
        </p:nvSpPr>
        <p:spPr>
          <a:xfrm xmlns:a="http://schemas.openxmlformats.org/drawingml/2006/main">
            <a:off x="666750" y="59531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Mã nguồn biên dịch được khi tách bước generate Prisma. Quy trình build tổng cần xử lý khóa tiến trình và chuẩn hóa CI.</a:t>
            </a:r>
          </a:p>
        </p:txBody>
      </p:sp>
      <p:sp>
        <p:nvSpPr>
          <p:cNvPr id="52" name="">
            <a:extLst xmlns:a="http://schemas.openxmlformats.org/drawingml/2006/main">
              <a:ext uri="{FF2B5EF4-FFF2-40B4-BE49-F238E27FC236}">
                <a16:creationId xmlns:a16="http://schemas.microsoft.com/office/drawing/2014/main" id="{BA67753D-82BD-45A4-B470-904DE843EAB0}"/>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53" name="">
            <a:extLst xmlns:a="http://schemas.openxmlformats.org/drawingml/2006/main">
              <a:ext uri="{FF2B5EF4-FFF2-40B4-BE49-F238E27FC236}">
                <a16:creationId xmlns:a16="http://schemas.microsoft.com/office/drawing/2014/main" id="{EFA9C895-74DF-4551-ABF0-B28547B5D5A9}"/>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12</a:t>
            </a:r>
          </a:p>
        </p:txBody>
      </p:sp>
    </p:spTree>
    <p:extLst>
      <p:ext uri="{BB962C8B-B14F-4D97-AF65-F5344CB8AC3E}">
        <p14:creationId xmlns:p14="http://schemas.microsoft.com/office/powerpoint/2010/main" val="24079678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693CE3F-77FA-4814-9E65-9A168150899F}"/>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BẤT CẬP VÀ RỦI RO ƯU TIÊN</a:t>
            </a:r>
          </a:p>
        </p:txBody>
      </p:sp>
      <p:graphicFrame>
        <p:nvGraphicFramePr>
          <p:cNvPr id="7" name=""/>
          <p:cNvGraphicFramePr/>
          <p:nvPr/>
        </p:nvGraphicFramePr>
        <p:xfrm>
          <a:off xmlns:a="http://schemas.openxmlformats.org/drawingml/2006/main" x="323850" y="971550"/>
          <a:ext xmlns:a="http://schemas.openxmlformats.org/drawingml/2006/main" cx="11544300" cy="5143500"/>
        </p:xfrm>
        <a:graphic xmlns:a="http://schemas.openxmlformats.org/drawingml/2006/main">
          <a:graphicData uri="http://schemas.openxmlformats.org/drawingml/2006/table">
            <a:tbl>
              <a:tblPr/>
              <a:tblGrid>
                <a:gridCol w="2571750"/>
                <a:gridCol w="3667125"/>
                <a:gridCol w="3810000"/>
                <a:gridCol w="1495425"/>
              </a:tblGrid>
              <a:tr h="476250">
                <a:tc>
                  <a:txBody>
                    <a:bodyPr/>
                    <a:lstStyle/>
                    <a:p>
                      <a:r>
                        <a:t>RỦI RO</a:t>
                      </a:r>
                    </a:p>
                  </a:txBody>
                  <a:tcPr marL="91440" marR="91440" marT="45720" marB="45720"/>
                </a:tc>
                <a:tc>
                  <a:txBody>
                    <a:bodyPr/>
                    <a:lstStyle/>
                    <a:p>
                      <a:r>
                        <a:t>BẰNG CHỨNG</a:t>
                      </a:r>
                    </a:p>
                  </a:txBody>
                  <a:tcPr marL="91440" marR="91440" marT="45720" marB="45720"/>
                </a:tc>
                <a:tc>
                  <a:txBody>
                    <a:bodyPr/>
                    <a:lstStyle/>
                    <a:p>
                      <a:r>
                        <a:t>TÁC ĐỘNG</a:t>
                      </a:r>
                    </a:p>
                  </a:txBody>
                  <a:tcPr marL="91440" marR="91440" marT="45720" marB="45720"/>
                </a:tc>
                <a:tc>
                  <a:txBody>
                    <a:bodyPr/>
                    <a:lstStyle/>
                    <a:p>
                      <a:r>
                        <a:t>ƯU TIÊN</a:t>
                      </a:r>
                    </a:p>
                  </a:txBody>
                  <a:tcPr marL="91440" marR="91440" marT="45720" marB="45720"/>
                </a:tc>
              </a:tr>
              <a:tr h="647700">
                <a:tc>
                  <a:txBody>
                    <a:bodyPr/>
                    <a:lstStyle/>
                    <a:p>
                      <a:r>
                        <a:t>Mock/fallback trong luồng thật</a:t>
                      </a:r>
                    </a:p>
                  </a:txBody>
                  <a:tcPr marL="91440" marR="91440" marT="45720" marB="45720"/>
                </a:tc>
                <a:tc>
                  <a:txBody>
                    <a:bodyPr/>
                    <a:lstStyle/>
                    <a:p>
                      <a:r>
                        <a:t>24 trang có cả dấu hiệu API và fallback*</a:t>
                      </a:r>
                    </a:p>
                  </a:txBody>
                  <a:tcPr marL="91440" marR="91440" marT="45720" marB="45720"/>
                </a:tc>
                <a:tc>
                  <a:txBody>
                    <a:bodyPr/>
                    <a:lstStyle/>
                    <a:p>
                      <a:r>
                        <a:t>Sai số liệu, khó phát hiện lỗi</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Cô lập dữ liệu theo đơn vị</a:t>
                      </a:r>
                    </a:p>
                  </a:txBody>
                  <a:tcPr marL="91440" marR="91440" marT="45720" marB="45720"/>
                </a:tc>
                <a:tc>
                  <a:txBody>
                    <a:bodyPr/>
                    <a:lstStyle/>
                    <a:p>
                      <a:r>
                        <a:t>Scope utility mới dùng ở một số service</a:t>
                      </a:r>
                    </a:p>
                  </a:txBody>
                  <a:tcPr marL="91440" marR="91440" marT="45720" marB="45720"/>
                </a:tc>
                <a:tc>
                  <a:txBody>
                    <a:bodyPr/>
                    <a:lstStyle/>
                    <a:p>
                      <a:r>
                        <a:t>Lộ dữ liệu chéo đơn vị</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Xóa vật lý dữ liệu</a:t>
                      </a:r>
                    </a:p>
                  </a:txBody>
                  <a:tcPr marL="91440" marR="91440" marT="45720" marB="45720"/>
                </a:tc>
                <a:tc>
                  <a:txBody>
                    <a:bodyPr/>
                    <a:lstStyle/>
                    <a:p>
                      <a:r>
                        <a:t>Delete/deleteMany ở catalog, vehicle, plan…</a:t>
                      </a:r>
                    </a:p>
                  </a:txBody>
                  <a:tcPr marL="91440" marR="91440" marT="45720" marB="45720"/>
                </a:tc>
                <a:tc>
                  <a:txBody>
                    <a:bodyPr/>
                    <a:lstStyle/>
                    <a:p>
                      <a:r>
                        <a:t>Mất lịch sử, khó audit</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Công thức nghiệp vụ chưa chốt</a:t>
                      </a:r>
                    </a:p>
                  </a:txBody>
                  <a:tcPr marL="91440" marR="91440" marT="45720" marB="45720"/>
                </a:tc>
                <a:tc>
                  <a:txBody>
                    <a:bodyPr/>
                    <a:lstStyle/>
                    <a:p>
                      <a:r>
                        <a:t>KPI, năng suất, GPS threshold còn UNKNOWN</a:t>
                      </a:r>
                    </a:p>
                  </a:txBody>
                  <a:tcPr marL="91440" marR="91440" marT="45720" marB="45720"/>
                </a:tc>
                <a:tc>
                  <a:txBody>
                    <a:bodyPr/>
                    <a:lstStyle/>
                    <a:p>
                      <a:r>
                        <a:t>Kết quả báo cáo không được chấp nhận</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Hai backend mobile</a:t>
                      </a:r>
                    </a:p>
                  </a:txBody>
                  <a:tcPr marL="91440" marR="91440" marT="45720" marB="45720"/>
                </a:tc>
                <a:tc>
                  <a:txBody>
                    <a:bodyPr/>
                    <a:lstStyle/>
                    <a:p>
                      <a:r>
                        <a:t>Main backend và Backend_Driver song song</a:t>
                      </a:r>
                    </a:p>
                  </a:txBody>
                  <a:tcPr marL="91440" marR="91440" marT="45720" marB="45720"/>
                </a:tc>
                <a:tc>
                  <a:txBody>
                    <a:bodyPr/>
                    <a:lstStyle/>
                    <a:p>
                      <a:r>
                        <a:t>Lệch API, tăng chi phí bảo trì</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Quy trình phát hành</a:t>
                      </a:r>
                    </a:p>
                  </a:txBody>
                  <a:tcPr marL="91440" marR="91440" marT="45720" marB="45720"/>
                </a:tc>
                <a:tc>
                  <a:txBody>
                    <a:bodyPr/>
                    <a:lstStyle/>
                    <a:p>
                      <a:r>
                        <a:t>Không có GitHub Actions, 325 entry thay đổi</a:t>
                      </a:r>
                    </a:p>
                  </a:txBody>
                  <a:tcPr marL="91440" marR="91440" marT="45720" marB="45720"/>
                </a:tc>
                <a:tc>
                  <a:txBody>
                    <a:bodyPr/>
                    <a:lstStyle/>
                    <a:p>
                      <a:r>
                        <a:t>Khó truy vết và rollback</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Kích thước bundle</a:t>
                      </a:r>
                    </a:p>
                  </a:txBody>
                  <a:tcPr marL="91440" marR="91440" marT="45720" marB="45720"/>
                </a:tc>
                <a:tc>
                  <a:txBody>
                    <a:bodyPr/>
                    <a:lstStyle/>
                    <a:p>
                      <a:r>
                        <a:t>Main JS 3.39 MB sau minify</a:t>
                      </a:r>
                    </a:p>
                  </a:txBody>
                  <a:tcPr marL="91440" marR="91440" marT="45720" marB="45720"/>
                </a:tc>
                <a:tc>
                  <a:txBody>
                    <a:bodyPr/>
                    <a:lstStyle/>
                    <a:p>
                      <a:r>
                        <a:t>Tải chậm, khó dùng mạng yếu</a:t>
                      </a:r>
                    </a:p>
                  </a:txBody>
                  <a:tcPr marL="91440" marR="91440" marT="45720" marB="45720"/>
                </a:tc>
                <a:tc>
                  <a:txBody>
                    <a:bodyPr/>
                    <a:lstStyle/>
                    <a:p>
                      <a:pPr algn="ctr"/>
                      <a:r>
                        <a:rPr sz="1350" b="1">
                          <a:solidFill>
                            <a:srgbClr val="075AA7"/>
                          </a:solidFill>
                          <a:latin typeface="Cambria"/>
                          <a:ea typeface="Cambria"/>
                          <a:cs typeface="Cambria"/>
                        </a:rPr>
                        <a:t>P2</a:t>
                      </a:r>
                    </a:p>
                  </a:txBody>
                  <a:tcPr marL="91440" marR="91440" marT="45720" marB="45720" anchor="ctr">
                    <a:solidFill>
                      <a:srgbClr val="E7F0FB"/>
                    </a:solidFill>
                  </a:tcPr>
                </a:tc>
              </a:tr>
            </a:tbl>
          </a:graphicData>
        </a:graphic>
      </p:graphicFrame>
      <p:sp>
        <p:nvSpPr>
          <p:cNvPr id="3" name="">
            <a:extLst xmlns:a="http://schemas.openxmlformats.org/drawingml/2006/main">
              <a:ext uri="{FF2B5EF4-FFF2-40B4-BE49-F238E27FC236}">
                <a16:creationId xmlns:a16="http://schemas.microsoft.com/office/drawing/2014/main" id="{3440B604-8506-49BC-BBBD-3A778DBF4C38}"/>
              </a:ext>
            </a:extLst>
          </p:cNvPr>
          <p:cNvSpPr>
            <a:spLocks xmlns:a="http://schemas.openxmlformats.org/drawingml/2006/main" noGrp="1"/>
          </p:cNvSpPr>
          <p:nvPr/>
        </p:nvSpPr>
        <p:spPr>
          <a:xfrm xmlns:a="http://schemas.openxmlformats.org/drawingml/2006/main">
            <a:off x="619125" y="61912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125" b="0" i="1">
                <a:solidFill>
                  <a:srgbClr val="59636E"/>
                </a:solidFill>
                <a:latin typeface="Cambria"/>
                <a:ea typeface="Cambria"/>
                <a:cs typeface="Cambria"/>
              </a:defRPr>
            </a:pPr>
            <a:r>
              <a:rPr sz="1125" b="0" i="1">
                <a:solidFill>
                  <a:srgbClr val="59636E"/>
                </a:solidFill>
                <a:latin typeface="Cambria"/>
                <a:ea typeface="Cambria"/>
                <a:cs typeface="Cambria"/>
              </a:rPr>
              <a:t>* Dấu hiệu từ quét source, chưa phải tỷ lệ hoàn tất chính thức.</a:t>
            </a:r>
          </a:p>
        </p:txBody>
      </p:sp>
      <p:sp>
        <p:nvSpPr>
          <p:cNvPr id="4" name="">
            <a:extLst xmlns:a="http://schemas.openxmlformats.org/drawingml/2006/main">
              <a:ext uri="{FF2B5EF4-FFF2-40B4-BE49-F238E27FC236}">
                <a16:creationId xmlns:a16="http://schemas.microsoft.com/office/drawing/2014/main" id="{3ED2CDA9-4E30-42BC-8752-E484EC631EDD}"/>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5" name="">
            <a:extLst xmlns:a="http://schemas.openxmlformats.org/drawingml/2006/main">
              <a:ext uri="{FF2B5EF4-FFF2-40B4-BE49-F238E27FC236}">
                <a16:creationId xmlns:a16="http://schemas.microsoft.com/office/drawing/2014/main" id="{01E4DD52-2A97-4CF4-AF83-1729DA0D4160}"/>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13</a:t>
            </a:r>
          </a:p>
        </p:txBody>
      </p:sp>
    </p:spTree>
    <p:extLst>
      <p:ext uri="{BB962C8B-B14F-4D97-AF65-F5344CB8AC3E}">
        <p14:creationId xmlns:p14="http://schemas.microsoft.com/office/powerpoint/2010/main" val="289647396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512921B8-1629-4115-AB5F-3FBB35B664DD}"/>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KHÓ KHĂN HIỆN TẠI</a:t>
            </a:r>
          </a:p>
        </p:txBody>
      </p:sp>
      <p:sp>
        <p:nvSpPr>
          <p:cNvPr id="2" name="">
            <a:extLst xmlns:a="http://schemas.openxmlformats.org/drawingml/2006/main">
              <a:ext uri="{FF2B5EF4-FFF2-40B4-BE49-F238E27FC236}">
                <a16:creationId xmlns:a16="http://schemas.microsoft.com/office/drawing/2014/main" id="{3D2220A8-B193-41E8-B04F-065DF125C15B}"/>
              </a:ext>
            </a:extLst>
          </p:cNvPr>
          <p:cNvSpPr>
            <a:spLocks xmlns:a="http://schemas.openxmlformats.org/drawingml/2006/main" noGrp="1"/>
          </p:cNvSpPr>
          <p:nvPr/>
        </p:nvSpPr>
        <p:spPr>
          <a:xfrm xmlns:a="http://schemas.openxmlformats.org/drawingml/2006/main">
            <a:off x="590550" y="109537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NGHIỆP VỤ</a:t>
            </a:r>
          </a:p>
        </p:txBody>
      </p:sp>
      <p:sp>
        <p:nvSpPr>
          <p:cNvPr id="3" name="">
            <a:extLst xmlns:a="http://schemas.openxmlformats.org/drawingml/2006/main">
              <a:ext uri="{FF2B5EF4-FFF2-40B4-BE49-F238E27FC236}">
                <a16:creationId xmlns:a16="http://schemas.microsoft.com/office/drawing/2014/main" id="{64A4B677-E822-4E7F-8370-A6D1C8C4546C}"/>
              </a:ext>
            </a:extLst>
          </p:cNvPr>
          <p:cNvSpPr>
            <a:spLocks xmlns:a="http://schemas.openxmlformats.org/drawingml/2006/main" noGrp="1"/>
          </p:cNvSpPr>
          <p:nvPr/>
        </p:nvSpPr>
        <p:spPr>
          <a:xfrm xmlns:a="http://schemas.openxmlformats.org/drawingml/2006/main">
            <a:off x="2905125" y="1209675"/>
            <a:ext cx="28575" cy="7048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4" name="">
            <a:extLst xmlns:a="http://schemas.openxmlformats.org/drawingml/2006/main">
              <a:ext uri="{FF2B5EF4-FFF2-40B4-BE49-F238E27FC236}">
                <a16:creationId xmlns:a16="http://schemas.microsoft.com/office/drawing/2014/main" id="{ADB9A23E-2465-4C91-8DE3-CFF9FF110324}"/>
              </a:ext>
            </a:extLst>
          </p:cNvPr>
          <p:cNvSpPr>
            <a:spLocks xmlns:a="http://schemas.openxmlformats.org/drawingml/2006/main" noGrp="1"/>
          </p:cNvSpPr>
          <p:nvPr/>
        </p:nvSpPr>
        <p:spPr>
          <a:xfrm xmlns:a="http://schemas.openxmlformats.org/drawingml/2006/main">
            <a:off x="3190875" y="109537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Chưa chốt công thức KPI, năng suất xe, ngưỡng GPS/sai tuyến, ưu tiên xe và loại minh chứng khi đổi kế hoạch.</a:t>
            </a:r>
          </a:p>
        </p:txBody>
      </p:sp>
      <p:sp>
        <p:nvSpPr>
          <p:cNvPr id="5" name="">
            <a:extLst xmlns:a="http://schemas.openxmlformats.org/drawingml/2006/main">
              <a:ext uri="{FF2B5EF4-FFF2-40B4-BE49-F238E27FC236}">
                <a16:creationId xmlns:a16="http://schemas.microsoft.com/office/drawing/2014/main" id="{E0A33C10-6226-4F54-A4A2-7240CC3BC09C}"/>
              </a:ext>
            </a:extLst>
          </p:cNvPr>
          <p:cNvSpPr>
            <a:spLocks xmlns:a="http://schemas.openxmlformats.org/drawingml/2006/main" noGrp="1"/>
          </p:cNvSpPr>
          <p:nvPr/>
        </p:nvSpPr>
        <p:spPr>
          <a:xfrm xmlns:a="http://schemas.openxmlformats.org/drawingml/2006/main">
            <a:off x="590550" y="233362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DỮ LIỆU</a:t>
            </a:r>
          </a:p>
        </p:txBody>
      </p:sp>
      <p:sp>
        <p:nvSpPr>
          <p:cNvPr id="6" name="">
            <a:extLst xmlns:a="http://schemas.openxmlformats.org/drawingml/2006/main">
              <a:ext uri="{FF2B5EF4-FFF2-40B4-BE49-F238E27FC236}">
                <a16:creationId xmlns:a16="http://schemas.microsoft.com/office/drawing/2014/main" id="{277E9AFA-35CA-4F1E-9EAC-BB9FBA10BD3E}"/>
              </a:ext>
            </a:extLst>
          </p:cNvPr>
          <p:cNvSpPr>
            <a:spLocks xmlns:a="http://schemas.openxmlformats.org/drawingml/2006/main" noGrp="1"/>
          </p:cNvSpPr>
          <p:nvPr/>
        </p:nvSpPr>
        <p:spPr>
          <a:xfrm xmlns:a="http://schemas.openxmlformats.org/drawingml/2006/main">
            <a:off x="2905125" y="2447925"/>
            <a:ext cx="28575" cy="7048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145B1D16-BB4C-4A06-8A1A-ADD82BFB3AD1}"/>
              </a:ext>
            </a:extLst>
          </p:cNvPr>
          <p:cNvSpPr>
            <a:spLocks xmlns:a="http://schemas.openxmlformats.org/drawingml/2006/main" noGrp="1"/>
          </p:cNvSpPr>
          <p:nvPr/>
        </p:nvSpPr>
        <p:spPr>
          <a:xfrm xmlns:a="http://schemas.openxmlformats.org/drawingml/2006/main">
            <a:off x="3190875" y="23336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Workbook MMTB nhiều sheet, mã cũ không đồng nhất, cần mapping được duyệt và backfill có thể kiểm tra/rollback.</a:t>
            </a:r>
          </a:p>
        </p:txBody>
      </p:sp>
      <p:sp>
        <p:nvSpPr>
          <p:cNvPr id="8" name="">
            <a:extLst xmlns:a="http://schemas.openxmlformats.org/drawingml/2006/main">
              <a:ext uri="{FF2B5EF4-FFF2-40B4-BE49-F238E27FC236}">
                <a16:creationId xmlns:a16="http://schemas.microsoft.com/office/drawing/2014/main" id="{D04CD012-97D4-4293-8E1C-F58427F1DFFA}"/>
              </a:ext>
            </a:extLst>
          </p:cNvPr>
          <p:cNvSpPr>
            <a:spLocks xmlns:a="http://schemas.openxmlformats.org/drawingml/2006/main" noGrp="1"/>
          </p:cNvSpPr>
          <p:nvPr/>
        </p:nvSpPr>
        <p:spPr>
          <a:xfrm xmlns:a="http://schemas.openxmlformats.org/drawingml/2006/main">
            <a:off x="590550" y="357187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KỸ THUẬT</a:t>
            </a:r>
          </a:p>
        </p:txBody>
      </p:sp>
      <p:sp>
        <p:nvSpPr>
          <p:cNvPr id="9" name="">
            <a:extLst xmlns:a="http://schemas.openxmlformats.org/drawingml/2006/main">
              <a:ext uri="{FF2B5EF4-FFF2-40B4-BE49-F238E27FC236}">
                <a16:creationId xmlns:a16="http://schemas.microsoft.com/office/drawing/2014/main" id="{EB318D85-E215-44AB-B179-9F02FB0C3F42}"/>
              </a:ext>
            </a:extLst>
          </p:cNvPr>
          <p:cNvSpPr>
            <a:spLocks xmlns:a="http://schemas.openxmlformats.org/drawingml/2006/main" noGrp="1"/>
          </p:cNvSpPr>
          <p:nvPr/>
        </p:nvSpPr>
        <p:spPr>
          <a:xfrm xmlns:a="http://schemas.openxmlformats.org/drawingml/2006/main">
            <a:off x="2905125" y="3686175"/>
            <a:ext cx="28575" cy="704850"/>
          </a:xfrm>
          <a:prstGeom xmlns:a="http://schemas.openxmlformats.org/drawingml/2006/main" prst="rect">
            <a:avLst/>
          </a:prstGeom>
          <a:solidFill xmlns:a="http://schemas.openxmlformats.org/drawingml/2006/main">
            <a:srgbClr val="E00000"/>
          </a:solidFill>
          <a:ln xmlns:a="http://schemas.openxmlformats.org/drawingml/2006/main" w="0">
            <a:solidFill>
              <a:srgbClr val="E00000"/>
            </a:solidFill>
          </a:ln>
        </p:spPr>
      </p:sp>
      <p:sp>
        <p:nvSpPr>
          <p:cNvPr id="10" name="">
            <a:extLst xmlns:a="http://schemas.openxmlformats.org/drawingml/2006/main">
              <a:ext uri="{FF2B5EF4-FFF2-40B4-BE49-F238E27FC236}">
                <a16:creationId xmlns:a16="http://schemas.microsoft.com/office/drawing/2014/main" id="{5D350928-EE0F-425E-8D3D-297C6A6558BF}"/>
              </a:ext>
            </a:extLst>
          </p:cNvPr>
          <p:cNvSpPr>
            <a:spLocks xmlns:a="http://schemas.openxmlformats.org/drawingml/2006/main" noGrp="1"/>
          </p:cNvSpPr>
          <p:nvPr/>
        </p:nvSpPr>
        <p:spPr>
          <a:xfrm xmlns:a="http://schemas.openxmlformats.org/drawingml/2006/main">
            <a:off x="3190875" y="357187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Frontend vẫn phụ thuộc fallback. Báo cáo thiếu endpoint/mapper. Hai backend mobile có nguy cơ phân kỳ và bundle web còn lớn.</a:t>
            </a:r>
          </a:p>
        </p:txBody>
      </p:sp>
      <p:sp>
        <p:nvSpPr>
          <p:cNvPr id="11" name="">
            <a:extLst xmlns:a="http://schemas.openxmlformats.org/drawingml/2006/main">
              <a:ext uri="{FF2B5EF4-FFF2-40B4-BE49-F238E27FC236}">
                <a16:creationId xmlns:a16="http://schemas.microsoft.com/office/drawing/2014/main" id="{9CC68D4B-F95D-486E-B9E0-B2F70AE58632}"/>
              </a:ext>
            </a:extLst>
          </p:cNvPr>
          <p:cNvSpPr>
            <a:spLocks xmlns:a="http://schemas.openxmlformats.org/drawingml/2006/main" noGrp="1"/>
          </p:cNvSpPr>
          <p:nvPr/>
        </p:nvSpPr>
        <p:spPr>
          <a:xfrm xmlns:a="http://schemas.openxmlformats.org/drawingml/2006/main">
            <a:off x="590550" y="481012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TRIỂN KHAI</a:t>
            </a:r>
          </a:p>
        </p:txBody>
      </p:sp>
      <p:sp>
        <p:nvSpPr>
          <p:cNvPr id="12" name="">
            <a:extLst xmlns:a="http://schemas.openxmlformats.org/drawingml/2006/main">
              <a:ext uri="{FF2B5EF4-FFF2-40B4-BE49-F238E27FC236}">
                <a16:creationId xmlns:a16="http://schemas.microsoft.com/office/drawing/2014/main" id="{AE7E3BDE-2A16-4AE8-AF41-27CCFD60C15D}"/>
              </a:ext>
            </a:extLst>
          </p:cNvPr>
          <p:cNvSpPr>
            <a:spLocks xmlns:a="http://schemas.openxmlformats.org/drawingml/2006/main" noGrp="1"/>
          </p:cNvSpPr>
          <p:nvPr/>
        </p:nvSpPr>
        <p:spPr>
          <a:xfrm xmlns:a="http://schemas.openxmlformats.org/drawingml/2006/main">
            <a:off x="2905125" y="4924425"/>
            <a:ext cx="28575" cy="704850"/>
          </a:xfrm>
          <a:prstGeom xmlns:a="http://schemas.openxmlformats.org/drawingml/2006/main" prst="rect">
            <a:avLst/>
          </a:prstGeom>
          <a:solidFill xmlns:a="http://schemas.openxmlformats.org/drawingml/2006/main">
            <a:srgbClr val="E00000"/>
          </a:solidFill>
          <a:ln xmlns:a="http://schemas.openxmlformats.org/drawingml/2006/main" w="0">
            <a:solidFill>
              <a:srgbClr val="E00000"/>
            </a:solidFill>
          </a:ln>
        </p:spPr>
      </p:sp>
      <p:sp>
        <p:nvSpPr>
          <p:cNvPr id="13" name="">
            <a:extLst xmlns:a="http://schemas.openxmlformats.org/drawingml/2006/main">
              <a:ext uri="{FF2B5EF4-FFF2-40B4-BE49-F238E27FC236}">
                <a16:creationId xmlns:a16="http://schemas.microsoft.com/office/drawing/2014/main" id="{4436778A-7ECF-44E3-A240-B73B81135B30}"/>
              </a:ext>
            </a:extLst>
          </p:cNvPr>
          <p:cNvSpPr>
            <a:spLocks xmlns:a="http://schemas.openxmlformats.org/drawingml/2006/main" noGrp="1"/>
          </p:cNvSpPr>
          <p:nvPr/>
        </p:nvSpPr>
        <p:spPr>
          <a:xfrm xmlns:a="http://schemas.openxmlformats.org/drawingml/2006/main">
            <a:off x="3190875" y="48101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Nhiều thay đổi chưa gom baseline, chưa có CI tự động, môi trường Windows đang khóa Prisma engine khi build tổng.</a:t>
            </a:r>
          </a:p>
        </p:txBody>
      </p:sp>
      <p:sp>
        <p:nvSpPr>
          <p:cNvPr id="14" name="">
            <a:extLst xmlns:a="http://schemas.openxmlformats.org/drawingml/2006/main">
              <a:ext uri="{FF2B5EF4-FFF2-40B4-BE49-F238E27FC236}">
                <a16:creationId xmlns:a16="http://schemas.microsoft.com/office/drawing/2014/main" id="{9BDC3C1C-DC6C-47A7-88B3-1EA90B663BE7}"/>
              </a:ext>
            </a:extLst>
          </p:cNvPr>
          <p:cNvSpPr>
            <a:spLocks xmlns:a="http://schemas.openxmlformats.org/drawingml/2006/main" noGrp="1"/>
          </p:cNvSpPr>
          <p:nvPr/>
        </p:nvSpPr>
        <p:spPr>
          <a:xfrm xmlns:a="http://schemas.openxmlformats.org/drawingml/2006/main">
            <a:off x="685800" y="5857875"/>
            <a:ext cx="10763250" cy="495300"/>
          </a:xfrm>
          <a:prstGeom xmlns:a="http://schemas.openxmlformats.org/drawingml/2006/main" prst="roundRect">
            <a:avLst>
              <a:gd name="adj" fmla="val 13462"/>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96271"/>
          </a:bodyPr>
          <a:lstStyle xmlns:a="http://schemas.openxmlformats.org/drawingml/2006/main"/>
          <a:p xmlns:a="http://schemas.openxmlformats.org/drawingml/2006/main">
            <a:pPr algn="ctr">
              <a:lnSpc>
                <a:spcPct val="100000"/>
              </a:lnSpc>
              <a:buNone/>
              <a:defRPr sz="1425" b="0" i="1">
                <a:solidFill>
                  <a:srgbClr val="59636E"/>
                </a:solidFill>
                <a:latin typeface="Cambria"/>
                <a:ea typeface="Cambria"/>
                <a:cs typeface="Cambria"/>
              </a:defRPr>
            </a:pPr>
            <a:r>
              <a:rPr sz="1425" b="0" i="1">
                <a:solidFill>
                  <a:srgbClr val="59636E"/>
                </a:solidFill>
                <a:latin typeface="Cambria"/>
                <a:ea typeface="Cambria"/>
                <a:cs typeface="Cambria"/>
              </a:rPr>
              <a:t>Các khó khăn trên cần được xử lý theo thứ tự rủi ro. Việc bổ sung thêm màn hình trước khi khóa dữ liệu và quyền truy cập sẽ làm tăng chi phí sửa lại.</a:t>
            </a:r>
          </a:p>
        </p:txBody>
      </p:sp>
      <p:sp>
        <p:nvSpPr>
          <p:cNvPr id="15" name="">
            <a:extLst xmlns:a="http://schemas.openxmlformats.org/drawingml/2006/main">
              <a:ext uri="{FF2B5EF4-FFF2-40B4-BE49-F238E27FC236}">
                <a16:creationId xmlns:a16="http://schemas.microsoft.com/office/drawing/2014/main" id="{9FBD7B0E-CDB4-4B53-BA49-7975220BC2C7}"/>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6" name="">
            <a:extLst xmlns:a="http://schemas.openxmlformats.org/drawingml/2006/main">
              <a:ext uri="{FF2B5EF4-FFF2-40B4-BE49-F238E27FC236}">
                <a16:creationId xmlns:a16="http://schemas.microsoft.com/office/drawing/2014/main" id="{4385F4BF-4501-4116-88B5-25CE8CDF2735}"/>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14</a:t>
            </a:r>
          </a:p>
        </p:txBody>
      </p:sp>
    </p:spTree>
    <p:extLst>
      <p:ext uri="{BB962C8B-B14F-4D97-AF65-F5344CB8AC3E}">
        <p14:creationId xmlns:p14="http://schemas.microsoft.com/office/powerpoint/2010/main" val="32896702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5a481223a4b042ba"/>
          <a:stretch xmlns:a="http://schemas.openxmlformats.org/drawingml/2006/main">
            <a:fillRect l="0" t="0" r="0" b="0"/>
          </a:stretch>
        </p:blipFill>
        <p:spPr>
          <a:xfrm xmlns:a="http://schemas.openxmlformats.org/drawingml/2006/main">
            <a:off x="0" y="0"/>
            <a:ext cx="12191695" cy="7062395"/>
          </a:xfrm>
          <a:prstGeom xmlns:a="http://schemas.openxmlformats.org/drawingml/2006/main" prst="rect">
            <a:avLst/>
          </a:prstGeom>
        </p:spPr>
      </p:pic>
      <p:sp>
        <p:nvSpPr>
          <p:cNvPr id="33" name="slide-title">
            <a:extLst xmlns:a="http://schemas.openxmlformats.org/drawingml/2006/main">
              <a:ext uri="{FF2B5EF4-FFF2-40B4-BE49-F238E27FC236}">
                <a16:creationId xmlns:a16="http://schemas.microsoft.com/office/drawing/2014/main" id="{B54C8E6B-7BAD-4DB8-8AF5-8BAC6D73D451}"/>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LỘ TRÌNH HOÀN THIỆN ĐỀ XUẤT</a:t>
            </a:r>
          </a:p>
        </p:txBody>
      </p:sp>
      <p:graphicFrame>
        <p:nvGraphicFramePr>
          <p:cNvPr id="40" name=""/>
          <p:cNvGraphicFramePr/>
          <p:nvPr/>
        </p:nvGraphicFramePr>
        <p:xfrm>
          <a:off xmlns:a="http://schemas.openxmlformats.org/drawingml/2006/main" x="457200" y="1000125"/>
          <a:ext xmlns:a="http://schemas.openxmlformats.org/drawingml/2006/main" cx="11277600" cy="4762500"/>
        </p:xfrm>
        <a:graphic xmlns:a="http://schemas.openxmlformats.org/drawingml/2006/main">
          <a:graphicData uri="http://schemas.openxmlformats.org/drawingml/2006/table">
            <a:tbl>
              <a:tblPr/>
              <a:tblGrid>
                <a:gridCol w="2667000"/>
                <a:gridCol w="3333750"/>
                <a:gridCol w="5276850"/>
              </a:tblGrid>
              <a:tr h="476250">
                <a:tc>
                  <a:txBody>
                    <a:bodyPr/>
                    <a:lstStyle/>
                    <a:p>
                      <a:r>
                        <a:t>GIAI ĐOẠN</a:t>
                      </a:r>
                    </a:p>
                  </a:txBody>
                  <a:tcPr marL="91440" marR="91440" marT="45720" marB="45720"/>
                </a:tc>
                <a:tc>
                  <a:txBody>
                    <a:bodyPr/>
                    <a:lstStyle/>
                    <a:p>
                      <a:r>
                        <a:t>MỤC TIÊU</a:t>
                      </a:r>
                    </a:p>
                  </a:txBody>
                  <a:tcPr marL="91440" marR="91440" marT="45720" marB="45720"/>
                </a:tc>
                <a:tc>
                  <a:txBody>
                    <a:bodyPr/>
                    <a:lstStyle/>
                    <a:p>
                      <a:r>
                        <a:t>ĐẦU RA CHÍNH</a:t>
                      </a:r>
                    </a:p>
                  </a:txBody>
                  <a:tcPr marL="91440" marR="91440" marT="45720" marB="45720"/>
                </a:tc>
              </a:tr>
              <a:tr h="857250">
                <a:tc>
                  <a:txBody>
                    <a:bodyPr/>
                    <a:lstStyle/>
                    <a:p>
                      <a:r>
                        <a:t>0. Ổn định baseline</a:t>
                      </a:r>
                    </a:p>
                    <a:p>
                      <a:r>
                        <a:t>2–3 ngày</a:t>
                      </a:r>
                    </a:p>
                  </a:txBody>
                  <a:tcPr marL="91440" marR="91440" marT="45720" marB="45720"/>
                </a:tc>
                <a:tc>
                  <a:txBody>
                    <a:bodyPr/>
                    <a:lstStyle/>
                    <a:p>
                      <a:r>
                        <a:t>Chốt nhánh và build lặp lại</a:t>
                      </a:r>
                    </a:p>
                  </a:txBody>
                  <a:tcPr marL="91440" marR="91440" marT="45720" marB="45720"/>
                </a:tc>
                <a:tc>
                  <a:txBody>
                    <a:bodyPr/>
                    <a:lstStyle/>
                    <a:p>
                      <a:r>
                        <a:t>Dọn working tree, thiết lập CI, xử lý Prisma lock và lập danh sách trang mock</a:t>
                      </a:r>
                    </a:p>
                  </a:txBody>
                  <a:tcPr marL="91440" marR="91440" marT="45720" marB="45720"/>
                </a:tc>
              </a:tr>
              <a:tr h="857250">
                <a:tc>
                  <a:txBody>
                    <a:bodyPr/>
                    <a:lstStyle/>
                    <a:p>
                      <a:r>
                        <a:t>1. Khép kín dữ liệu/API</a:t>
                      </a:r>
                    </a:p>
                    <a:p>
                      <a:r>
                        <a:t>1–2 tuần</a:t>
                      </a:r>
                    </a:p>
                  </a:txBody>
                  <a:tcPr marL="91440" marR="91440" marT="45720" marB="45720"/>
                </a:tc>
                <a:tc>
                  <a:txBody>
                    <a:bodyPr/>
                    <a:lstStyle/>
                    <a:p>
                      <a:r>
                        <a:t>Loại gap P0 trên luồng chính</a:t>
                      </a:r>
                    </a:p>
                  </a:txBody>
                  <a:tcPr marL="91440" marR="91440" marT="45720" marB="45720"/>
                </a:tc>
                <a:tc>
                  <a:txBody>
                    <a:bodyPr/>
                    <a:lstStyle/>
                    <a:p>
                      <a:r>
                        <a:t>Scope đơn vị, policy delete/audit, API báo cáo và bỏ fallback quan trọng</a:t>
                      </a:r>
                    </a:p>
                  </a:txBody>
                  <a:tcPr marL="91440" marR="91440" marT="45720" marB="45720"/>
                </a:tc>
              </a:tr>
              <a:tr h="857250">
                <a:tc>
                  <a:txBody>
                    <a:bodyPr/>
                    <a:lstStyle/>
                    <a:p>
                      <a:r>
                        <a:t>2. Xác nhận nghiệp vụ</a:t>
                      </a:r>
                    </a:p>
                    <a:p>
                      <a:r>
                        <a:t>1–2 tuần</a:t>
                      </a:r>
                    </a:p>
                  </a:txBody>
                  <a:tcPr marL="91440" marR="91440" marT="45720" marB="45720"/>
                </a:tc>
                <a:tc>
                  <a:txBody>
                    <a:bodyPr/>
                    <a:lstStyle/>
                    <a:p>
                      <a:r>
                        <a:t>Chốt các rule UNKNOWN</a:t>
                      </a:r>
                    </a:p>
                  </a:txBody>
                  <a:tcPr marL="91440" marR="91440" marT="45720" marB="45720"/>
                </a:tc>
                <a:tc>
                  <a:txBody>
                    <a:bodyPr/>
                    <a:lstStyle/>
                    <a:p>
                      <a:r>
                        <a:t>KPI, GPS, năng suất, ưu tiên xe, minh chứng và nghiệm thu</a:t>
                      </a:r>
                    </a:p>
                  </a:txBody>
                  <a:tcPr marL="91440" marR="91440" marT="45720" marB="45720"/>
                </a:tc>
              </a:tr>
              <a:tr h="857250">
                <a:tc>
                  <a:txBody>
                    <a:bodyPr/>
                    <a:lstStyle/>
                    <a:p>
                      <a:r>
                        <a:t>3. Pilot có kiểm soát</a:t>
                      </a:r>
                    </a:p>
                    <a:p>
                      <a:r>
                        <a:t>1 tuần</a:t>
                      </a:r>
                    </a:p>
                  </a:txBody>
                  <a:tcPr marL="91440" marR="91440" marT="45720" marB="45720"/>
                </a:tc>
                <a:tc>
                  <a:txBody>
                    <a:bodyPr/>
                    <a:lstStyle/>
                    <a:p>
                      <a:r>
                        <a:t>Kiểm chứng đầu cuối tại một đơn vị</a:t>
                      </a:r>
                    </a:p>
                  </a:txBody>
                  <a:tcPr marL="91440" marR="91440" marT="45720" marB="45720"/>
                </a:tc>
                <a:tc>
                  <a:txBody>
                    <a:bodyPr/>
                    <a:lstStyle/>
                    <a:p>
                      <a:r>
                        <a:t>UAT theo role, đối soát dữ liệu, offline sync và rollback/runbook</a:t>
                      </a:r>
                    </a:p>
                  </a:txBody>
                  <a:tcPr marL="91440" marR="91440" marT="45720" marB="45720"/>
                </a:tc>
              </a:tr>
              <a:tr h="857250">
                <a:tc>
                  <a:txBody>
                    <a:bodyPr/>
                    <a:lstStyle/>
                    <a:p>
                      <a:r>
                        <a:t>4. Mở rộng</a:t>
                      </a:r>
                    </a:p>
                  </a:txBody>
                  <a:tcPr marL="91440" marR="91440" marT="45720" marB="45720"/>
                </a:tc>
                <a:tc>
                  <a:txBody>
                    <a:bodyPr/>
                    <a:lstStyle/>
                    <a:p>
                      <a:r>
                        <a:t>Nhân rộng sau khi pilot đạt</a:t>
                      </a:r>
                    </a:p>
                  </a:txBody>
                  <a:tcPr marL="91440" marR="91440" marT="45720" marB="45720"/>
                </a:tc>
                <a:tc>
                  <a:txBody>
                    <a:bodyPr/>
                    <a:lstStyle/>
                    <a:p>
                      <a:r>
                        <a:t>Theo dõi SLA, lỗi dữ liệu, hiệu năng và adoption</a:t>
                      </a:r>
                    </a:p>
                  </a:txBody>
                  <a:tcPr marL="91440" marR="91440" marT="45720" marB="45720"/>
                </a:tc>
              </a:tr>
            </a:tbl>
          </a:graphicData>
        </a:graphic>
      </p:graphicFrame>
      <p:sp>
        <p:nvSpPr>
          <p:cNvPr id="35" name="">
            <a:extLst xmlns:a="http://schemas.openxmlformats.org/drawingml/2006/main">
              <a:ext uri="{FF2B5EF4-FFF2-40B4-BE49-F238E27FC236}">
                <a16:creationId xmlns:a16="http://schemas.microsoft.com/office/drawing/2014/main" id="{F14E1807-E2AA-44CA-857C-F5A9D06ACDF4}"/>
              </a:ext>
            </a:extLst>
          </p:cNvPr>
          <p:cNvSpPr>
            <a:spLocks xmlns:a="http://schemas.openxmlformats.org/drawingml/2006/main" noGrp="1"/>
          </p:cNvSpPr>
          <p:nvPr/>
        </p:nvSpPr>
        <p:spPr>
          <a:xfrm xmlns:a="http://schemas.openxmlformats.org/drawingml/2006/main">
            <a:off x="74295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Thời lượng là ước lượng phục vụ lập kế hoạch. Cần điều chỉnh sau khi chốt phạm vi pilot và nguồn lực thực tế.</a:t>
            </a:r>
          </a:p>
        </p:txBody>
      </p:sp>
      <p:sp>
        <p:nvSpPr>
          <p:cNvPr id="36" name="">
            <a:extLst xmlns:a="http://schemas.openxmlformats.org/drawingml/2006/main">
              <a:ext uri="{FF2B5EF4-FFF2-40B4-BE49-F238E27FC236}">
                <a16:creationId xmlns:a16="http://schemas.microsoft.com/office/drawing/2014/main" id="{9893D993-E1F0-46B4-B1BB-E2CEC8927E34}"/>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37" name="">
            <a:extLst xmlns:a="http://schemas.openxmlformats.org/drawingml/2006/main">
              <a:ext uri="{FF2B5EF4-FFF2-40B4-BE49-F238E27FC236}">
                <a16:creationId xmlns:a16="http://schemas.microsoft.com/office/drawing/2014/main" id="{5B6DD0A4-AF5C-4FB8-82A9-811CE539401D}"/>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15</a:t>
            </a:r>
          </a:p>
        </p:txBody>
      </p:sp>
    </p:spTree>
    <p:extLst>
      <p:ext uri="{BB962C8B-B14F-4D97-AF65-F5344CB8AC3E}">
        <p14:creationId xmlns:p14="http://schemas.microsoft.com/office/powerpoint/2010/main" val="27166829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5a99b8b1dba34056"/>
          <a:stretch xmlns:a="http://schemas.openxmlformats.org/drawingml/2006/main">
            <a:fillRect l="0" t="0" r="0" b="0"/>
          </a:stretch>
        </p:blipFill>
        <p:spPr>
          <a:xfrm xmlns:a="http://schemas.openxmlformats.org/drawingml/2006/main">
            <a:off x="-83975" y="0"/>
            <a:ext cx="12191695" cy="685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36B3D65-4E0F-4ED5-8AA0-764ADC591847}"/>
              </a:ext>
            </a:extLst>
          </p:cNvPr>
          <p:cNvSpPr>
            <a:spLocks xmlns:a="http://schemas.openxmlformats.org/drawingml/2006/main" noGrp="1"/>
          </p:cNvSpPr>
          <p:nvPr/>
        </p:nvSpPr>
        <p:spPr>
          <a:xfrm xmlns:a="http://schemas.openxmlformats.org/drawingml/2006/main">
            <a:off x="2381250" y="2476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06B35"/>
                </a:solidFill>
                <a:latin typeface="Cambria"/>
                <a:ea typeface="Cambria"/>
                <a:cs typeface="Cambria"/>
              </a:defRPr>
            </a:pPr>
            <a:r>
              <a:rPr sz="3600" b="1" i="0">
                <a:solidFill>
                  <a:srgbClr val="006B35"/>
                </a:solidFill>
                <a:latin typeface="Cambria"/>
                <a:ea typeface="Cambria"/>
                <a:cs typeface="Cambria"/>
              </a:rPr>
              <a:t>TRÂN TRỌNG CẢM ƠN</a:t>
            </a:r>
          </a:p>
        </p:txBody>
      </p:sp>
      <p:sp>
        <p:nvSpPr>
          <p:cNvPr id="10" name="">
            <a:extLst xmlns:a="http://schemas.openxmlformats.org/drawingml/2006/main">
              <a:ext uri="{FF2B5EF4-FFF2-40B4-BE49-F238E27FC236}">
                <a16:creationId xmlns:a16="http://schemas.microsoft.com/office/drawing/2014/main" id="{B2D7A6C5-4F0F-44F0-AF03-63A9F13F4F0F}"/>
              </a:ext>
            </a:extLst>
          </p:cNvPr>
          <p:cNvSpPr>
            <a:spLocks xmlns:a="http://schemas.openxmlformats.org/drawingml/2006/main" noGrp="1"/>
          </p:cNvSpPr>
          <p:nvPr/>
        </p:nvSpPr>
        <p:spPr>
          <a:xfrm xmlns:a="http://schemas.openxmlformats.org/drawingml/2006/main">
            <a:off x="3048000" y="363855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Ba quyết định cần chốt tiếp theo</a:t>
            </a:r>
          </a:p>
        </p:txBody>
      </p:sp>
      <p:sp>
        <p:nvSpPr>
          <p:cNvPr id="11" name="">
            <a:extLst xmlns:a="http://schemas.openxmlformats.org/drawingml/2006/main">
              <a:ext uri="{FF2B5EF4-FFF2-40B4-BE49-F238E27FC236}">
                <a16:creationId xmlns:a16="http://schemas.microsoft.com/office/drawing/2014/main" id="{C9C3FC73-F314-45D1-BEFE-7086B1C4CFDC}"/>
              </a:ext>
            </a:extLst>
          </p:cNvPr>
          <p:cNvSpPr>
            <a:spLocks xmlns:a="http://schemas.openxmlformats.org/drawingml/2006/main" noGrp="1"/>
          </p:cNvSpPr>
          <p:nvPr/>
        </p:nvSpPr>
        <p:spPr>
          <a:xfrm xmlns:a="http://schemas.openxmlformats.org/drawingml/2006/main">
            <a:off x="1095375" y="41433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1. Phạm vi và đơn vị pilot   2. Quy tắc nghiệp vụ còn UNKNOWN   3. Tiêu chí nghiệm thu production</a:t>
            </a:r>
          </a:p>
        </p:txBody>
      </p:sp>
      <p:sp>
        <p:nvSpPr>
          <p:cNvPr id="12" name="">
            <a:extLst xmlns:a="http://schemas.openxmlformats.org/drawingml/2006/main">
              <a:ext uri="{FF2B5EF4-FFF2-40B4-BE49-F238E27FC236}">
                <a16:creationId xmlns:a16="http://schemas.microsoft.com/office/drawing/2014/main" id="{5C24C4AF-8897-4946-B698-75D2E21112DB}"/>
              </a:ext>
            </a:extLst>
          </p:cNvPr>
          <p:cNvSpPr>
            <a:spLocks xmlns:a="http://schemas.openxmlformats.org/drawingml/2006/main" noGrp="1"/>
          </p:cNvSpPr>
          <p:nvPr/>
        </p:nvSpPr>
        <p:spPr>
          <a:xfrm xmlns:a="http://schemas.openxmlformats.org/drawingml/2006/main">
            <a:off x="2381250" y="56197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PHÒNG VẬN HÀNH SỐ</a:t>
            </a:r>
          </a:p>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KLH Koun Mom, Ratanakiri, Cambodia | 21.09.2026</a:t>
            </a:r>
          </a:p>
        </p:txBody>
      </p:sp>
    </p:spTree>
    <p:extLst>
      <p:ext uri="{BB962C8B-B14F-4D97-AF65-F5344CB8AC3E}">
        <p14:creationId xmlns:p14="http://schemas.microsoft.com/office/powerpoint/2010/main" val="140226607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2026-09-21T14:52:29.8720000Z</dcterms:created>
  <dcterms:modified xsi:type="dcterms:W3CDTF">2026-09-21T14:52:29.8720000Z</dcterms:modified>
</coreProperties>
</file>