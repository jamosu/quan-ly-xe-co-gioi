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1" d="1"/>
          <a:sy n="1" d="1"/>
        </p:scale>
        <p:origin x="0" y="0"/>
      </p:cViewPr>
      <p:guideLst/>
    </p:cSldViewPr>
  </p:slide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Nguồn: repository D:/ThacoAgri_Code/Mockup, rà soát tại working tree ngày 21/09/2026. Nội dung giới thiệu dựa trên code, schema và tài liệu nghiệp vụ. File mẫu chỉ được dùng làm chuẩn nhận diện và bố cục.</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Cấu trúc báo cáo cân bằng hai mục tiêu: giới thiệu phần mềm đang có những gì và mô tả tiến độ, bất cập, khó khăn hiện tại.</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Nguồn: AI_PROJECT_CONTEXT.md; docs/BRD_extracted.txt; .agents/context/project-overview.md; backend/prisma/schema.prisma. Giá trị nêu trên là mục tiêu vận hành, không phải cam kết đã đạt production.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Nguồn: AI_PROJECT_CONTEXT.md; docs/business/ROLE_PERMISSION.md; docs/architecture/SYSTEM_OVERVIEW.md; backend/src/app.module.ts; frontend/src/App.tsx; Frontend_Driver/package.json.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Nguồn: .agents/context/module-map.md; docs/architecture/MODULE_MAP.md; backend/src các domain production-plans, transport, vehicles, implements, maintenance, repairs, fuel, mobile-driver, alerts, driver-kpi, catalogs và dashboard; backend/prisma/schema.prisma. Các nghiệp vụ có mức độ hoàn thiện khác nhau.</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Nguồn: .agents/context/module-map.md; docs/architecture/MODULE_MAP.md; backend/src/app.module.ts; frontend/src/App.tsx; kiểm tra trực tiếp pages/services/schema.</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Nguồn: frontend/src/components/dispatch/DispatchOrderForm.tsx; frontend/src/api/scheduling.ts; backend/src/work-orders/work-orders.controller.ts; backend/src/work-orders/work-orders.service.ts; backend/src/mobile-driver/mobile-sync.controller.ts; backend/src/mobile-driver/mobile-sync.service.ts; Frontend_Driver/src/syncEngine.ts; Frontend_Driver/src/screens/TaskDetailScreen.tsx. VERIFIED: pull/sync và ORDER_ACCEPTED. GAP: chưa tìm thấy thư viện hoặc service push notification hệ điều hành, và mobile UI chưa có nút cannot-accept riêng.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Nguồn: backend/prisma/schema.prisma; backend/prisma/migrations; backend/scripts/import-*; .agents/context/database-overview.md; workbook MMTB là dữ liệu tham chiếu, không phải schema.</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Nguồn: frontend/src/App.tsx; frontend/src/pages; frontend/src/api; quét source code theo dấu hiệu apiClient/apiService và mock/fallback/localStorage. Sáu trang báo cáo trong frontend/src/pages/reports khởi tạo list rỗng và không gọi API trực tiếp.</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Nguồn: Frontend_Driver/src/syncEngine.ts; Frontend_Driver/src/database.ts; Frontend_Driver/src/screens/TaskDetailScreen.tsx; backend/src/mobile-driver/mobile-sync.service.ts; backend/src/work-orders/work-orders.service.ts. Main backend là API mặc định của app. Repository vẫn có Backend_Driver độc lập nên cần kiểm soát nguy cơ phân kỳ.</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Nguồn: docs/business/DISPATCH_ORDER_FLOW.md; ACCEPTANCE_FLOW.md; backend/prisma/schema.prisma; backend/src/work-orders; backend/src/mobile-driver.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Nguồn: backend/src/production-plans/production-plans.controller.ts; production-plans.service.ts; schema.prisma PlanStatus, PlotStatus.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Nguồn: DispatchOrderForm.tsx; scheduling.ts; work-orders.service.ts; mobile-sync.service.ts; Frontend_Driver/src/syncEngine.ts.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Nguồn: docs/business/ACCEPTANCE_FLOW.md; backend/src/work-orders; schema.prisma WorkAcceptanceStatus, WorkSessionStatus.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Nguồn: backend/src/transport/transport.controller.ts; transport.service.ts; schema.prisma TransportStatus; internal-feed module.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Nguồn: docs/business/VEHICLE_FLOW.md; vehicles.service.ts; implements.service.ts; vehicle-driver-assignments.service.ts.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Nguồn: maintenance.controller.ts; maintenance.service.ts; repairs.controller.ts; workshop workflow; schema.prisma WorkshopRequestStatus.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Nguồn: backend/src/fuel/fuel.controller.ts; fuel.service.ts; schema.prisma FuelDispenseTicket, FuelWarehouse.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Nguồn: alerts.service.ts; vehicles.service.ts; mobile-driver.service.ts; .agents/context/business-rules.md.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Nguồn: DRIVER_FLOW.md; driver-kpi.controller.ts; driver-kpi.service.ts; schema.prisma DriverKpiEventType.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Nguồn: ROLE_PERMISSION.md; catalogs modules; auth and RolesGuard; common/utils/management-scope; .agents/context/business-rules.md.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Nguồn: dashboard.controller.ts; dashboard.service.ts; alerts.service.ts; frontend pages and API mappings; .agents/context/module-map.md.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Nguồn: đếm trực tiếp frontend/src/App.tsx, frontend/src/pages, backend/src, backend/prisma/schema.prisma và kết quả test. Các số liệu thể hiện độ rộng codebase, không phải phần trăm hoàn thành nghiệp vụ.</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Lệnh chạy ngày 21/09/2026: npm test; backend nest build; frontend npm run build; Frontend_Driver npm run typecheck và npm test; Backend_Driver npm run build; prisma validate. Root build dừng tại EPERM rename query_engine-windows.dll.node do file đang bị tiến trình khác giữ.</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Nguồn: scan source hiện tại và các tài liệu business-rule evidence. P0/P1/P2 là khuyến nghị ưu tiên của báo cáo, không phải trạng thái nghiệp vụ đã được phê duyệt.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Nguồn: .agents/context/business-rules.md; CURRENT_SYSTEM_ANALYSIS.md; build/test output; package versions; repository status.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Đây là khuyến nghị triển khai dựa trên mức độ rủi ro quan sát được. Thời lượng chưa phải cam kết tiến độ chính thức.</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Kết thúc báo cáo. Đề nghị dùng deck này làm tài liệu chốt scope pilot và danh sách quyết định nghiệp vụ.</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p:pic>
        <p:nvPicPr>
          <p:cNvPr id="7" name="Picture 3"/>
          <p:cNvPicPr>
            <a:picLocks noChangeAspect="1"/>
          </p:cNvPicPr>
          <p:nvPr/>
        </p:nvPicPr>
        <p:blipFill>
          <a:blip r:embed="rId2"/>
          <a:stretch>
            <a:fillRect/>
          </a:stretch>
        </p:blipFill>
        <p:spPr>
          <a:xfrm>
            <a:off x="1185" y="0"/>
            <a:ext cx="12189630" cy="6858000"/>
          </a:xfrm>
          <a:prstGeom prst="rect">
            <a:avLst/>
          </a:prstGeom>
        </p:spPr>
      </p:pic>
      <p:sp>
        <p:nvSpPr>
          <p:cNvPr id="5" name="Title 4"/>
          <p:cNvSpPr>
            <a:spLocks noGrp="1"/>
          </p:cNvSpPr>
          <p:nvPr>
            <p:ph type="title"/>
          </p:nvPr>
        </p:nvSpPr>
        <p:spPr>
          <a:xfrm>
            <a:off x="2295524" y="0"/>
            <a:ext cx="9896475" cy="752475"/>
          </a:xfrm>
        </p:spPr>
        <p:txBody>
          <a:bodyPr>
            <a:normAutofit/>
          </a:bodyPr>
          <a:lstStyle>
            <a:lvl1pPr algn="ctr">
              <a:lnSpc>
                <a:spcPct val="100000"/>
              </a:lnSpc>
              <a:buNone/>
              <a:defRPr sz="2000" b="1">
                <a:solidFill>
                  <a:srgbClr val="39853F"/>
                </a:solidFill>
              </a:defRPr>
            </a:lvl1pPr>
          </a:lstStyle>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panose="020B0604020202020204"/>
        <a:buChar char="•"/>
        <a:defRPr sz="3200" kern="1200">
          <a:solidFill>
            <a:schemeClr val="tx1"/>
          </a:solidFill>
          <a:latin typeface="+mn-lt"/>
          <a:ea typeface="+mn-lt"/>
          <a:cs typeface="+mn-lt"/>
        </a:defRPr>
      </a:lvl1pPr>
      <a:lvl2pPr marL="742950" indent="-285750" algn="l" defTabSz="914400">
        <a:spcBef>
          <a:spcPct val="20000"/>
        </a:spcBef>
        <a:buFont typeface="Arial" panose="020B0604020202020204"/>
        <a:buChar char="–"/>
        <a:defRPr sz="2800" kern="1200">
          <a:solidFill>
            <a:schemeClr val="tx1"/>
          </a:solidFill>
          <a:latin typeface="+mn-lt"/>
          <a:ea typeface="+mn-lt"/>
          <a:cs typeface="+mn-lt"/>
        </a:defRPr>
      </a:lvl2pPr>
      <a:lvl3pPr marL="1143000" indent="-228600" algn="l" defTabSz="914400">
        <a:spcBef>
          <a:spcPct val="20000"/>
        </a:spcBef>
        <a:buFont typeface="Arial" panose="020B0604020202020204"/>
        <a:buChar char="•"/>
        <a:defRPr sz="2400" kern="1200">
          <a:solidFill>
            <a:schemeClr val="tx1"/>
          </a:solidFill>
          <a:latin typeface="+mn-lt"/>
          <a:ea typeface="+mn-lt"/>
          <a:cs typeface="+mn-lt"/>
        </a:defRPr>
      </a:lvl3pPr>
      <a:lvl4pPr marL="1600200" indent="-228600" algn="l" defTabSz="914400">
        <a:spcBef>
          <a:spcPct val="20000"/>
        </a:spcBef>
        <a:buFont typeface="Arial" panose="020B0604020202020204"/>
        <a:buChar char="–"/>
        <a:defRPr sz="2000" kern="1200">
          <a:solidFill>
            <a:schemeClr val="tx1"/>
          </a:solidFill>
          <a:latin typeface="+mn-lt"/>
          <a:ea typeface="+mn-lt"/>
          <a:cs typeface="+mn-lt"/>
        </a:defRPr>
      </a:lvl4pPr>
      <a:lvl5pPr marL="2057400" indent="-228600" algn="l" defTabSz="914400">
        <a:spcBef>
          <a:spcPct val="20000"/>
        </a:spcBef>
        <a:buFont typeface="Arial" panose="020B0604020202020204"/>
        <a:buChar char="»"/>
        <a:defRPr sz="2000" kern="1200">
          <a:solidFill>
            <a:schemeClr val="tx1"/>
          </a:solidFill>
          <a:latin typeface="+mn-lt"/>
          <a:ea typeface="+mn-lt"/>
          <a:cs typeface="+mn-lt"/>
        </a:defRPr>
      </a:lvl5pPr>
      <a:lvl6pPr marL="2514600" indent="-228600" algn="l" defTabSz="914400">
        <a:spcBef>
          <a:spcPct val="20000"/>
        </a:spcBef>
        <a:buFont typeface="Arial" panose="020B0604020202020204"/>
        <a:buChar char="•"/>
        <a:defRPr sz="2000" kern="1200">
          <a:solidFill>
            <a:schemeClr val="tx1"/>
          </a:solidFill>
          <a:latin typeface="+mn-lt"/>
          <a:ea typeface="+mn-lt"/>
          <a:cs typeface="+mn-lt"/>
        </a:defRPr>
      </a:lvl6pPr>
      <a:lvl7pPr marL="2971800" indent="-228600" algn="l" defTabSz="914400">
        <a:spcBef>
          <a:spcPct val="20000"/>
        </a:spcBef>
        <a:buFont typeface="Arial" panose="020B0604020202020204"/>
        <a:buChar char="•"/>
        <a:defRPr sz="2000" kern="1200">
          <a:solidFill>
            <a:schemeClr val="tx1"/>
          </a:solidFill>
          <a:latin typeface="+mn-lt"/>
          <a:ea typeface="+mn-lt"/>
          <a:cs typeface="+mn-lt"/>
        </a:defRPr>
      </a:lvl7pPr>
      <a:lvl8pPr marL="3429000" indent="-228600" algn="l" defTabSz="914400">
        <a:spcBef>
          <a:spcPct val="20000"/>
        </a:spcBef>
        <a:buFont typeface="Arial" panose="020B0604020202020204"/>
        <a:buChar char="•"/>
        <a:defRPr sz="2000" kern="1200">
          <a:solidFill>
            <a:schemeClr val="tx1"/>
          </a:solidFill>
          <a:latin typeface="+mn-lt"/>
          <a:ea typeface="+mn-lt"/>
          <a:cs typeface="+mn-lt"/>
        </a:defRPr>
      </a:lvl8pPr>
      <a:lvl9pPr marL="3886200" indent="-228600" algn="l" defTabSz="914400">
        <a:spcBef>
          <a:spcPct val="20000"/>
        </a:spcBef>
        <a:buFont typeface="Arial" panose="020B0604020202020204"/>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6" name="Image 0"/>
          <p:cNvPicPr>
            <a:picLocks noChangeAspect="1"/>
          </p:cNvPicPr>
          <p:nvPr/>
        </p:nvPicPr>
        <p:blipFill>
          <a:blip r:embed="rId1"/>
          <a:stretch>
            <a:fillRect/>
          </a:stretch>
        </p:blipFill>
        <p:spPr>
          <a:xfrm>
            <a:off x="-83975" y="0"/>
            <a:ext cx="12191695" cy="6858000"/>
          </a:xfrm>
          <a:prstGeom prst="rect">
            <a:avLst/>
          </a:prstGeom>
        </p:spPr>
      </p:pic>
      <p:sp>
        <p:nvSpPr>
          <p:cNvPr id="11" name="Rectangle 10"/>
          <p:cNvSpPr>
            <a:spLocks noGrp="1"/>
          </p:cNvSpPr>
          <p:nvPr/>
        </p:nvSpPr>
        <p:spPr>
          <a:xfrm>
            <a:off x="1428750" y="1924050"/>
            <a:ext cx="9334500" cy="495300"/>
          </a:xfrm>
          <a:prstGeom prst="rect">
            <a:avLst/>
          </a:prstGeom>
          <a:noFill/>
          <a:ln w="0">
            <a:noFill/>
          </a:ln>
        </p:spPr>
        <p:txBody>
          <a:bodyPr wrap="square" lIns="38100" tIns="19050" rIns="38100" bIns="19050" anchor="ctr">
            <a:normAutofit/>
          </a:bodyPr>
          <a:lstStyle/>
          <a:p>
            <a:pPr algn="ctr">
              <a:lnSpc>
                <a:spcPct val="100000"/>
              </a:lnSpc>
              <a:buNone/>
              <a:defRPr sz="2025" b="1" i="0">
                <a:solidFill>
                  <a:srgbClr val="006B35"/>
                </a:solidFill>
                <a:latin typeface="Cambria" panose="02040503050406030204"/>
                <a:ea typeface="Cambria" panose="02040503050406030204"/>
                <a:cs typeface="Cambria" panose="02040503050406030204"/>
              </a:defRPr>
            </a:pPr>
            <a:r>
              <a:rPr sz="2025" b="1" i="0">
                <a:solidFill>
                  <a:srgbClr val="006B35"/>
                </a:solidFill>
                <a:latin typeface="Cambria" panose="02040503050406030204"/>
                <a:ea typeface="Cambria" panose="02040503050406030204"/>
                <a:cs typeface="Cambria" panose="02040503050406030204"/>
              </a:rPr>
              <a:t>GIỚI THIỆU PHẦN MỀM VÀ BÁO CÁO TIẾN ĐỘ</a:t>
            </a:r>
            <a:endParaRPr sz="2025" b="1" i="0">
              <a:solidFill>
                <a:srgbClr val="006B35"/>
              </a:solidFill>
              <a:latin typeface="Cambria" panose="02040503050406030204"/>
              <a:ea typeface="Cambria" panose="02040503050406030204"/>
              <a:cs typeface="Cambria" panose="02040503050406030204"/>
            </a:endParaRPr>
          </a:p>
        </p:txBody>
      </p:sp>
      <p:sp>
        <p:nvSpPr>
          <p:cNvPr id="12" name="Rectangle 11"/>
          <p:cNvSpPr>
            <a:spLocks noGrp="1"/>
          </p:cNvSpPr>
          <p:nvPr/>
        </p:nvSpPr>
        <p:spPr>
          <a:xfrm>
            <a:off x="1190625" y="2571750"/>
            <a:ext cx="9810750" cy="666750"/>
          </a:xfrm>
          <a:prstGeom prst="rect">
            <a:avLst/>
          </a:prstGeom>
          <a:noFill/>
          <a:ln w="0">
            <a:noFill/>
          </a:ln>
        </p:spPr>
        <p:txBody>
          <a:bodyPr wrap="square" lIns="38100" tIns="19050" rIns="38100" bIns="19050" anchor="ctr">
            <a:normAutofit/>
          </a:bodyPr>
          <a:lstStyle/>
          <a:p>
            <a:pPr algn="ctr">
              <a:lnSpc>
                <a:spcPct val="100000"/>
              </a:lnSpc>
              <a:buNone/>
              <a:defRPr sz="3150" b="1" i="0">
                <a:solidFill>
                  <a:srgbClr val="E00000"/>
                </a:solidFill>
                <a:latin typeface="Cambria" panose="02040503050406030204"/>
                <a:ea typeface="Cambria" panose="02040503050406030204"/>
                <a:cs typeface="Cambria" panose="02040503050406030204"/>
              </a:defRPr>
            </a:pPr>
            <a:r>
              <a:rPr sz="3150" b="1" i="0">
                <a:solidFill>
                  <a:srgbClr val="E00000"/>
                </a:solidFill>
                <a:latin typeface="Cambria" panose="02040503050406030204"/>
                <a:ea typeface="Cambria" panose="02040503050406030204"/>
                <a:cs typeface="Cambria" panose="02040503050406030204"/>
              </a:rPr>
              <a:t>HỆ THỐNG QUẢN LÝ XE CƠ GIỚI &amp; PTVC</a:t>
            </a:r>
            <a:endParaRPr sz="3150" b="1" i="0">
              <a:solidFill>
                <a:srgbClr val="E00000"/>
              </a:solidFill>
              <a:latin typeface="Cambria" panose="02040503050406030204"/>
              <a:ea typeface="Cambria" panose="02040503050406030204"/>
              <a:cs typeface="Cambria" panose="02040503050406030204"/>
            </a:endParaRPr>
          </a:p>
        </p:txBody>
      </p:sp>
      <p:sp>
        <p:nvSpPr>
          <p:cNvPr id="13" name="Rectangle 12"/>
          <p:cNvSpPr>
            <a:spLocks noGrp="1"/>
          </p:cNvSpPr>
          <p:nvPr/>
        </p:nvSpPr>
        <p:spPr>
          <a:xfrm>
            <a:off x="1428750" y="3333750"/>
            <a:ext cx="9334500" cy="457200"/>
          </a:xfrm>
          <a:prstGeom prst="rect">
            <a:avLst/>
          </a:prstGeom>
          <a:noFill/>
          <a:ln w="0">
            <a:noFill/>
          </a:ln>
        </p:spPr>
        <p:txBody>
          <a:bodyPr wrap="square" lIns="38100" tIns="19050" rIns="38100" bIns="19050" anchor="ctr">
            <a:normAutofit/>
          </a:bodyPr>
          <a:lstStyle/>
          <a:p>
            <a:pPr algn="ctr">
              <a:lnSpc>
                <a:spcPct val="100000"/>
              </a:lnSpc>
              <a:buNone/>
              <a:defRPr sz="1800" b="0" i="1">
                <a:solidFill>
                  <a:srgbClr val="59636E"/>
                </a:solidFill>
                <a:latin typeface="Cambria" panose="02040503050406030204"/>
                <a:ea typeface="Cambria" panose="02040503050406030204"/>
                <a:cs typeface="Cambria" panose="02040503050406030204"/>
              </a:defRPr>
            </a:pPr>
            <a:r>
              <a:rPr sz="1800" b="0" i="1">
                <a:solidFill>
                  <a:srgbClr val="59636E"/>
                </a:solidFill>
                <a:latin typeface="Cambria" panose="02040503050406030204"/>
                <a:ea typeface="Cambria" panose="02040503050406030204"/>
                <a:cs typeface="Cambria" panose="02040503050406030204"/>
              </a:rPr>
              <a:t>Phạm vi chức năng, trải nghiệm người dùng, tiến độ mã nguồn và các bất cập hiện tại</a:t>
            </a:r>
            <a:endParaRPr sz="1800" b="0" i="1">
              <a:solidFill>
                <a:srgbClr val="59636E"/>
              </a:solidFill>
              <a:latin typeface="Cambria" panose="02040503050406030204"/>
              <a:ea typeface="Cambria" panose="02040503050406030204"/>
              <a:cs typeface="Cambria" panose="02040503050406030204"/>
            </a:endParaRPr>
          </a:p>
        </p:txBody>
      </p:sp>
      <p:sp>
        <p:nvSpPr>
          <p:cNvPr id="14" name="Rectangle 13"/>
          <p:cNvSpPr>
            <a:spLocks noGrp="1"/>
          </p:cNvSpPr>
          <p:nvPr/>
        </p:nvSpPr>
        <p:spPr>
          <a:xfrm>
            <a:off x="1714500" y="4000500"/>
            <a:ext cx="8763000" cy="323850"/>
          </a:xfrm>
          <a:prstGeom prst="rect">
            <a:avLst/>
          </a:prstGeom>
          <a:noFill/>
          <a:ln w="0">
            <a:noFill/>
          </a:ln>
        </p:spPr>
        <p:txBody>
          <a:bodyPr wrap="square" lIns="38100" tIns="19050" rIns="38100" bIns="19050" anchor="ctr">
            <a:normAutofit/>
          </a:bodyPr>
          <a:lstStyle/>
          <a:p>
            <a:pPr algn="ctr">
              <a:lnSpc>
                <a:spcPct val="100000"/>
              </a:lnSpc>
              <a:buNone/>
              <a:defRPr sz="1500" b="1" i="0">
                <a:solidFill>
                  <a:srgbClr val="006B35"/>
                </a:solidFill>
                <a:latin typeface="Cambria" panose="02040503050406030204"/>
                <a:ea typeface="Cambria" panose="02040503050406030204"/>
                <a:cs typeface="Cambria" panose="02040503050406030204"/>
              </a:defRPr>
            </a:pPr>
            <a:r>
              <a:rPr sz="1500" b="1" i="0">
                <a:solidFill>
                  <a:srgbClr val="006B35"/>
                </a:solidFill>
                <a:latin typeface="Cambria" panose="02040503050406030204"/>
                <a:ea typeface="Cambria" panose="02040503050406030204"/>
                <a:cs typeface="Cambria" panose="02040503050406030204"/>
              </a:rPr>
              <a:t>Phạm vi rà soát: web React, API NestJS, Prisma/MySQL và ứng dụng tài xế</a:t>
            </a:r>
            <a:endParaRPr sz="1500" b="1" i="0">
              <a:solidFill>
                <a:srgbClr val="006B35"/>
              </a:solidFill>
              <a:latin typeface="Cambria" panose="02040503050406030204"/>
              <a:ea typeface="Cambria" panose="02040503050406030204"/>
              <a:cs typeface="Cambria" panose="02040503050406030204"/>
            </a:endParaRPr>
          </a:p>
        </p:txBody>
      </p:sp>
      <p:sp>
        <p:nvSpPr>
          <p:cNvPr id="15" name="Rectangle 14"/>
          <p:cNvSpPr>
            <a:spLocks noGrp="1"/>
          </p:cNvSpPr>
          <p:nvPr/>
        </p:nvSpPr>
        <p:spPr>
          <a:xfrm>
            <a:off x="2381250" y="5638800"/>
            <a:ext cx="7429500" cy="552450"/>
          </a:xfrm>
          <a:prstGeom prst="rect">
            <a:avLst/>
          </a:prstGeom>
          <a:noFill/>
          <a:ln w="0">
            <a:noFill/>
          </a:ln>
        </p:spPr>
        <p:txBody>
          <a:bodyPr wrap="square" lIns="38100" tIns="19050" rIns="38100" bIns="19050" anchor="ctr">
            <a:normAutofit/>
          </a:bodyPr>
          <a:lstStyle/>
          <a:p>
            <a:pPr algn="ctr">
              <a:lnSpc>
                <a:spcPct val="100000"/>
              </a:lnSpc>
              <a:buNone/>
              <a:defRPr sz="1425" b="1" i="0">
                <a:solidFill>
                  <a:srgbClr val="006B35"/>
                </a:solidFill>
                <a:latin typeface="Cambria" panose="02040503050406030204"/>
                <a:ea typeface="Cambria" panose="02040503050406030204"/>
                <a:cs typeface="Cambria" panose="02040503050406030204"/>
              </a:defRPr>
            </a:pPr>
            <a:r>
              <a:rPr sz="1425" b="1" i="0">
                <a:solidFill>
                  <a:srgbClr val="006B35"/>
                </a:solidFill>
                <a:latin typeface="Cambria" panose="02040503050406030204"/>
                <a:ea typeface="Cambria" panose="02040503050406030204"/>
                <a:cs typeface="Cambria" panose="02040503050406030204"/>
              </a:rPr>
              <a:t>PHÒNG VẬN HÀNH SỐ</a:t>
            </a:r>
            <a:endParaRPr sz="1425" b="1" i="0">
              <a:solidFill>
                <a:srgbClr val="006B35"/>
              </a:solidFill>
              <a:latin typeface="Cambria" panose="02040503050406030204"/>
              <a:ea typeface="Cambria" panose="02040503050406030204"/>
              <a:cs typeface="Cambria" panose="02040503050406030204"/>
            </a:endParaRPr>
          </a:p>
          <a:p>
            <a:pPr algn="ctr">
              <a:lnSpc>
                <a:spcPct val="100000"/>
              </a:lnSpc>
              <a:buNone/>
              <a:defRPr sz="1425" b="1" i="0">
                <a:solidFill>
                  <a:srgbClr val="006B35"/>
                </a:solidFill>
                <a:latin typeface="Cambria" panose="02040503050406030204"/>
                <a:ea typeface="Cambria" panose="02040503050406030204"/>
                <a:cs typeface="Cambria" panose="02040503050406030204"/>
              </a:defRPr>
            </a:pPr>
            <a:r>
              <a:rPr sz="1425" b="1" i="0">
                <a:solidFill>
                  <a:srgbClr val="006B35"/>
                </a:solidFill>
                <a:latin typeface="Cambria" panose="02040503050406030204"/>
                <a:ea typeface="Cambria" panose="02040503050406030204"/>
                <a:cs typeface="Cambria" panose="02040503050406030204"/>
              </a:rPr>
              <a:t>KLH Koun Mom, Ratanakiri, Cambodia | 21.09.2026</a:t>
            </a:r>
            <a:endParaRPr sz="1425" b="1" i="0">
              <a:solidFill>
                <a:srgbClr val="006B35"/>
              </a:solidFill>
              <a:latin typeface="Cambria" panose="02040503050406030204"/>
              <a:ea typeface="Cambria" panose="02040503050406030204"/>
              <a:cs typeface="Cambria" panose="02040503050406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4" name="Image 0"/>
          <p:cNvPicPr>
            <a:picLocks noChangeAspect="1"/>
          </p:cNvPicPr>
          <p:nvPr/>
        </p:nvPicPr>
        <p:blipFill>
          <a:blip r:embed="rId1"/>
          <a:stretch>
            <a:fillRect/>
          </a:stretch>
        </p:blipFill>
        <p:spPr>
          <a:xfrm>
            <a:off x="0" y="0"/>
            <a:ext cx="12191695" cy="6858000"/>
          </a:xfrm>
          <a:prstGeom prst="rect">
            <a:avLst/>
          </a:prstGeom>
        </p:spPr>
      </p:pic>
      <p:sp>
        <p:nvSpPr>
          <p:cNvPr id="43" name="slide-title"/>
          <p:cNvSpPr>
            <a:spLocks noGrp="1"/>
          </p:cNvSpPr>
          <p:nvPr/>
        </p:nvSpPr>
        <p:spPr>
          <a:xfrm>
            <a:off x="2571750" y="142875"/>
            <a:ext cx="9191625" cy="590550"/>
          </a:xfrm>
          <a:prstGeom prst="rect">
            <a:avLst/>
          </a:prstGeom>
          <a:noFill/>
          <a:ln w="0">
            <a:noFill/>
          </a:ln>
        </p:spPr>
        <p:txBody>
          <a:bodyPr wrap="square" lIns="38100" tIns="19050" rIns="38100" bIns="19050" anchor="ctr">
            <a:normAutofit/>
          </a:bodyPr>
          <a:lstStyle/>
          <a:p>
            <a:pPr algn="ctr">
              <a:lnSpc>
                <a:spcPct val="100000"/>
              </a:lnSpc>
              <a:buNone/>
              <a:defRPr sz="2100" b="1" i="0">
                <a:solidFill>
                  <a:srgbClr val="E00000"/>
                </a:solidFill>
                <a:latin typeface="Cambria" panose="02040503050406030204"/>
                <a:ea typeface="Cambria" panose="02040503050406030204"/>
                <a:cs typeface="Cambria" panose="02040503050406030204"/>
              </a:defRPr>
            </a:pPr>
            <a:r>
              <a:rPr sz="2100" b="1" i="0">
                <a:solidFill>
                  <a:srgbClr val="E00000"/>
                </a:solidFill>
                <a:latin typeface="Cambria" panose="02040503050406030204"/>
                <a:ea typeface="Cambria" panose="02040503050406030204"/>
                <a:cs typeface="Cambria" panose="02040503050406030204"/>
              </a:rPr>
              <a:t>NỘI DUNG BÁO CÁO</a:t>
            </a:r>
            <a:endParaRPr sz="2100" b="1" i="0">
              <a:solidFill>
                <a:srgbClr val="E00000"/>
              </a:solidFill>
              <a:latin typeface="Cambria" panose="02040503050406030204"/>
              <a:ea typeface="Cambria" panose="02040503050406030204"/>
              <a:cs typeface="Cambria" panose="02040503050406030204"/>
            </a:endParaRPr>
          </a:p>
        </p:txBody>
      </p:sp>
      <p:sp>
        <p:nvSpPr>
          <p:cNvPr id="44" name="Rectangle 43"/>
          <p:cNvSpPr>
            <a:spLocks noGrp="1"/>
          </p:cNvSpPr>
          <p:nvPr/>
        </p:nvSpPr>
        <p:spPr>
          <a:xfrm>
            <a:off x="457200" y="990600"/>
            <a:ext cx="685800" cy="361950"/>
          </a:xfrm>
          <a:prstGeom prst="rect">
            <a:avLst/>
          </a:prstGeom>
          <a:solidFill>
            <a:srgbClr val="006B35"/>
          </a:solidFill>
          <a:ln w="0">
            <a:noFill/>
          </a:ln>
        </p:spPr>
        <p:txBody>
          <a:bodyPr wrap="square" lIns="38100" tIns="19050" rIns="38100" bIns="19050" anchor="ctr">
            <a:normAutofit/>
          </a:bodyPr>
          <a:lstStyle/>
          <a:p>
            <a:pPr algn="ctr">
              <a:lnSpc>
                <a:spcPct val="100000"/>
              </a:lnSpc>
              <a:buNone/>
              <a:defRPr sz="1650" b="1" i="0">
                <a:solidFill>
                  <a:srgbClr val="FFFFFF"/>
                </a:solidFill>
                <a:latin typeface="Cambria" panose="02040503050406030204"/>
                <a:ea typeface="Cambria" panose="02040503050406030204"/>
                <a:cs typeface="Cambria" panose="02040503050406030204"/>
              </a:defRPr>
            </a:pPr>
            <a:r>
              <a:rPr sz="1650" b="1" i="0">
                <a:solidFill>
                  <a:srgbClr val="FFFFFF"/>
                </a:solidFill>
                <a:latin typeface="Cambria" panose="02040503050406030204"/>
                <a:ea typeface="Cambria" panose="02040503050406030204"/>
                <a:cs typeface="Cambria" panose="02040503050406030204"/>
              </a:rPr>
              <a:t>01</a:t>
            </a:r>
            <a:endParaRPr sz="1650" b="1" i="0">
              <a:solidFill>
                <a:srgbClr val="FFFFFF"/>
              </a:solidFill>
              <a:latin typeface="Cambria" panose="02040503050406030204"/>
              <a:ea typeface="Cambria" panose="02040503050406030204"/>
              <a:cs typeface="Cambria" panose="02040503050406030204"/>
            </a:endParaRPr>
          </a:p>
        </p:txBody>
      </p:sp>
      <p:sp>
        <p:nvSpPr>
          <p:cNvPr id="45" name="Rectangle 44"/>
          <p:cNvSpPr>
            <a:spLocks noGrp="1"/>
          </p:cNvSpPr>
          <p:nvPr/>
        </p:nvSpPr>
        <p:spPr>
          <a:xfrm>
            <a:off x="1238250" y="990600"/>
            <a:ext cx="9982200" cy="361950"/>
          </a:xfrm>
          <a:prstGeom prst="rect">
            <a:avLst/>
          </a:prstGeom>
          <a:solidFill>
            <a:srgbClr val="F8F9F8"/>
          </a:solidFill>
          <a:ln w="9525">
            <a:solidFill>
              <a:srgbClr val="D8DDDA"/>
            </a:solidFill>
          </a:ln>
        </p:spPr>
        <p:txBody>
          <a:bodyPr wrap="square" lIns="38100" tIns="19050" rIns="38100" bIns="19050" anchor="ctr">
            <a:normAutofit/>
          </a:bodyPr>
          <a:lstStyle/>
          <a:p>
            <a:pPr algn="l">
              <a:lnSpc>
                <a:spcPct val="100000"/>
              </a:lnSpc>
              <a:buNone/>
              <a:defRPr sz="1575" b="0" i="0">
                <a:solidFill>
                  <a:srgbClr val="006B35"/>
                </a:solidFill>
                <a:latin typeface="Cambria" panose="02040503050406030204"/>
                <a:ea typeface="Cambria" panose="02040503050406030204"/>
                <a:cs typeface="Cambria" panose="02040503050406030204"/>
              </a:defRPr>
            </a:pPr>
            <a:r>
              <a:rPr sz="1575" b="0" i="0">
                <a:solidFill>
                  <a:srgbClr val="006B35"/>
                </a:solidFill>
                <a:latin typeface="Cambria" panose="02040503050406030204"/>
                <a:ea typeface="Cambria" panose="02040503050406030204"/>
                <a:cs typeface="Cambria" panose="02040503050406030204"/>
              </a:rPr>
              <a:t>Phần mềm phục vụ ai và giải quyết công việc gì</a:t>
            </a:r>
            <a:endParaRPr sz="1575" b="0" i="0">
              <a:solidFill>
                <a:srgbClr val="006B35"/>
              </a:solidFill>
              <a:latin typeface="Cambria" panose="02040503050406030204"/>
              <a:ea typeface="Cambria" panose="02040503050406030204"/>
              <a:cs typeface="Cambria" panose="02040503050406030204"/>
            </a:endParaRPr>
          </a:p>
        </p:txBody>
      </p:sp>
      <p:sp>
        <p:nvSpPr>
          <p:cNvPr id="46" name="Rectangle 45"/>
          <p:cNvSpPr>
            <a:spLocks noGrp="1"/>
          </p:cNvSpPr>
          <p:nvPr/>
        </p:nvSpPr>
        <p:spPr>
          <a:xfrm>
            <a:off x="457200" y="1514475"/>
            <a:ext cx="685800" cy="361950"/>
          </a:xfrm>
          <a:prstGeom prst="rect">
            <a:avLst/>
          </a:prstGeom>
          <a:solidFill>
            <a:srgbClr val="075AA7"/>
          </a:solidFill>
          <a:ln w="0">
            <a:noFill/>
          </a:ln>
        </p:spPr>
        <p:txBody>
          <a:bodyPr wrap="square" lIns="38100" tIns="19050" rIns="38100" bIns="19050" anchor="ctr">
            <a:normAutofit/>
          </a:bodyPr>
          <a:lstStyle/>
          <a:p>
            <a:pPr algn="ctr">
              <a:lnSpc>
                <a:spcPct val="100000"/>
              </a:lnSpc>
              <a:buNone/>
              <a:defRPr sz="1650" b="1" i="0">
                <a:solidFill>
                  <a:srgbClr val="FFFFFF"/>
                </a:solidFill>
                <a:latin typeface="Cambria" panose="02040503050406030204"/>
                <a:ea typeface="Cambria" panose="02040503050406030204"/>
                <a:cs typeface="Cambria" panose="02040503050406030204"/>
              </a:defRPr>
            </a:pPr>
            <a:r>
              <a:rPr sz="1650" b="1" i="0">
                <a:solidFill>
                  <a:srgbClr val="FFFFFF"/>
                </a:solidFill>
                <a:latin typeface="Cambria" panose="02040503050406030204"/>
                <a:ea typeface="Cambria" panose="02040503050406030204"/>
                <a:cs typeface="Cambria" panose="02040503050406030204"/>
              </a:rPr>
              <a:t>02</a:t>
            </a:r>
            <a:endParaRPr sz="1650" b="1" i="0">
              <a:solidFill>
                <a:srgbClr val="FFFFFF"/>
              </a:solidFill>
              <a:latin typeface="Cambria" panose="02040503050406030204"/>
              <a:ea typeface="Cambria" panose="02040503050406030204"/>
              <a:cs typeface="Cambria" panose="02040503050406030204"/>
            </a:endParaRPr>
          </a:p>
        </p:txBody>
      </p:sp>
      <p:sp>
        <p:nvSpPr>
          <p:cNvPr id="47" name="Rectangle 46"/>
          <p:cNvSpPr>
            <a:spLocks noGrp="1"/>
          </p:cNvSpPr>
          <p:nvPr/>
        </p:nvSpPr>
        <p:spPr>
          <a:xfrm>
            <a:off x="1238250" y="1514475"/>
            <a:ext cx="9982200" cy="361950"/>
          </a:xfrm>
          <a:prstGeom prst="rect">
            <a:avLst/>
          </a:prstGeom>
          <a:solidFill>
            <a:srgbClr val="F8F9F8"/>
          </a:solidFill>
          <a:ln w="9525">
            <a:solidFill>
              <a:srgbClr val="D8DDDA"/>
            </a:solidFill>
          </a:ln>
        </p:spPr>
        <p:txBody>
          <a:bodyPr wrap="square" lIns="38100" tIns="19050" rIns="38100" bIns="19050" anchor="ctr">
            <a:normAutofit/>
          </a:bodyPr>
          <a:lstStyle/>
          <a:p>
            <a:pPr algn="l">
              <a:lnSpc>
                <a:spcPct val="100000"/>
              </a:lnSpc>
              <a:buNone/>
              <a:defRPr sz="1575" b="0" i="0">
                <a:solidFill>
                  <a:srgbClr val="006B35"/>
                </a:solidFill>
                <a:latin typeface="Cambria" panose="02040503050406030204"/>
                <a:ea typeface="Cambria" panose="02040503050406030204"/>
                <a:cs typeface="Cambria" panose="02040503050406030204"/>
              </a:defRPr>
            </a:pPr>
            <a:r>
              <a:rPr sz="1575" b="0" i="0">
                <a:solidFill>
                  <a:srgbClr val="006B35"/>
                </a:solidFill>
                <a:latin typeface="Cambria" panose="02040503050406030204"/>
                <a:ea typeface="Cambria" panose="02040503050406030204"/>
                <a:cs typeface="Cambria" panose="02040503050406030204"/>
              </a:rPr>
              <a:t>Các nhóm chức năng và module A–K</a:t>
            </a:r>
            <a:endParaRPr sz="1575" b="0" i="0">
              <a:solidFill>
                <a:srgbClr val="006B35"/>
              </a:solidFill>
              <a:latin typeface="Cambria" panose="02040503050406030204"/>
              <a:ea typeface="Cambria" panose="02040503050406030204"/>
              <a:cs typeface="Cambria" panose="02040503050406030204"/>
            </a:endParaRPr>
          </a:p>
        </p:txBody>
      </p:sp>
      <p:sp>
        <p:nvSpPr>
          <p:cNvPr id="48" name="Rectangle 47"/>
          <p:cNvSpPr>
            <a:spLocks noGrp="1"/>
          </p:cNvSpPr>
          <p:nvPr/>
        </p:nvSpPr>
        <p:spPr>
          <a:xfrm>
            <a:off x="457200" y="2038350"/>
            <a:ext cx="685800" cy="361950"/>
          </a:xfrm>
          <a:prstGeom prst="rect">
            <a:avLst/>
          </a:prstGeom>
          <a:solidFill>
            <a:srgbClr val="006B35"/>
          </a:solidFill>
          <a:ln w="0">
            <a:noFill/>
          </a:ln>
        </p:spPr>
        <p:txBody>
          <a:bodyPr wrap="square" lIns="38100" tIns="19050" rIns="38100" bIns="19050" anchor="ctr">
            <a:normAutofit/>
          </a:bodyPr>
          <a:lstStyle/>
          <a:p>
            <a:pPr algn="ctr">
              <a:lnSpc>
                <a:spcPct val="100000"/>
              </a:lnSpc>
              <a:buNone/>
              <a:defRPr sz="1650" b="1" i="0">
                <a:solidFill>
                  <a:srgbClr val="FFFFFF"/>
                </a:solidFill>
                <a:latin typeface="Cambria" panose="02040503050406030204"/>
                <a:ea typeface="Cambria" panose="02040503050406030204"/>
                <a:cs typeface="Cambria" panose="02040503050406030204"/>
              </a:defRPr>
            </a:pPr>
            <a:r>
              <a:rPr sz="1650" b="1" i="0">
                <a:solidFill>
                  <a:srgbClr val="FFFFFF"/>
                </a:solidFill>
                <a:latin typeface="Cambria" panose="02040503050406030204"/>
                <a:ea typeface="Cambria" panose="02040503050406030204"/>
                <a:cs typeface="Cambria" panose="02040503050406030204"/>
              </a:rPr>
              <a:t>03</a:t>
            </a:r>
            <a:endParaRPr sz="1650" b="1" i="0">
              <a:solidFill>
                <a:srgbClr val="FFFFFF"/>
              </a:solidFill>
              <a:latin typeface="Cambria" panose="02040503050406030204"/>
              <a:ea typeface="Cambria" panose="02040503050406030204"/>
              <a:cs typeface="Cambria" panose="02040503050406030204"/>
            </a:endParaRPr>
          </a:p>
        </p:txBody>
      </p:sp>
      <p:sp>
        <p:nvSpPr>
          <p:cNvPr id="49" name="Rectangle 48"/>
          <p:cNvSpPr>
            <a:spLocks noGrp="1"/>
          </p:cNvSpPr>
          <p:nvPr/>
        </p:nvSpPr>
        <p:spPr>
          <a:xfrm>
            <a:off x="1238250" y="2038350"/>
            <a:ext cx="9982200" cy="361950"/>
          </a:xfrm>
          <a:prstGeom prst="rect">
            <a:avLst/>
          </a:prstGeom>
          <a:solidFill>
            <a:srgbClr val="F8F9F8"/>
          </a:solidFill>
          <a:ln w="9525">
            <a:solidFill>
              <a:srgbClr val="D8DDDA"/>
            </a:solidFill>
          </a:ln>
        </p:spPr>
        <p:txBody>
          <a:bodyPr wrap="square" lIns="38100" tIns="19050" rIns="38100" bIns="19050" anchor="ctr">
            <a:normAutofit/>
          </a:bodyPr>
          <a:lstStyle/>
          <a:p>
            <a:pPr algn="l">
              <a:lnSpc>
                <a:spcPct val="100000"/>
              </a:lnSpc>
              <a:buNone/>
              <a:defRPr sz="1575" b="0" i="0">
                <a:solidFill>
                  <a:srgbClr val="006B35"/>
                </a:solidFill>
                <a:latin typeface="Cambria" panose="02040503050406030204"/>
                <a:ea typeface="Cambria" panose="02040503050406030204"/>
                <a:cs typeface="Cambria" panose="02040503050406030204"/>
              </a:defRPr>
            </a:pPr>
            <a:r>
              <a:rPr sz="1575" b="0" i="0">
                <a:solidFill>
                  <a:srgbClr val="006B35"/>
                </a:solidFill>
                <a:latin typeface="Cambria" panose="02040503050406030204"/>
                <a:ea typeface="Cambria" panose="02040503050406030204"/>
                <a:cs typeface="Cambria" panose="02040503050406030204"/>
              </a:rPr>
              <a:t>Quy trình tạo lệnh và chuyển lệnh đến tài xế</a:t>
            </a:r>
            <a:endParaRPr sz="1575" b="0" i="0">
              <a:solidFill>
                <a:srgbClr val="006B35"/>
              </a:solidFill>
              <a:latin typeface="Cambria" panose="02040503050406030204"/>
              <a:ea typeface="Cambria" panose="02040503050406030204"/>
              <a:cs typeface="Cambria" panose="02040503050406030204"/>
            </a:endParaRPr>
          </a:p>
        </p:txBody>
      </p:sp>
      <p:sp>
        <p:nvSpPr>
          <p:cNvPr id="50" name="Rectangle 49"/>
          <p:cNvSpPr>
            <a:spLocks noGrp="1"/>
          </p:cNvSpPr>
          <p:nvPr/>
        </p:nvSpPr>
        <p:spPr>
          <a:xfrm>
            <a:off x="457200" y="2562225"/>
            <a:ext cx="685800" cy="361950"/>
          </a:xfrm>
          <a:prstGeom prst="rect">
            <a:avLst/>
          </a:prstGeom>
          <a:solidFill>
            <a:srgbClr val="075AA7"/>
          </a:solidFill>
          <a:ln w="0">
            <a:noFill/>
          </a:ln>
        </p:spPr>
        <p:txBody>
          <a:bodyPr wrap="square" lIns="38100" tIns="19050" rIns="38100" bIns="19050" anchor="ctr">
            <a:normAutofit/>
          </a:bodyPr>
          <a:lstStyle/>
          <a:p>
            <a:pPr algn="ctr">
              <a:lnSpc>
                <a:spcPct val="100000"/>
              </a:lnSpc>
              <a:buNone/>
              <a:defRPr sz="1650" b="1" i="0">
                <a:solidFill>
                  <a:srgbClr val="FFFFFF"/>
                </a:solidFill>
                <a:latin typeface="Cambria" panose="02040503050406030204"/>
                <a:ea typeface="Cambria" panose="02040503050406030204"/>
                <a:cs typeface="Cambria" panose="02040503050406030204"/>
              </a:defRPr>
            </a:pPr>
            <a:r>
              <a:rPr sz="1650" b="1" i="0">
                <a:solidFill>
                  <a:srgbClr val="FFFFFF"/>
                </a:solidFill>
                <a:latin typeface="Cambria" panose="02040503050406030204"/>
                <a:ea typeface="Cambria" panose="02040503050406030204"/>
                <a:cs typeface="Cambria" panose="02040503050406030204"/>
              </a:rPr>
              <a:t>04</a:t>
            </a:r>
            <a:endParaRPr sz="1650" b="1" i="0">
              <a:solidFill>
                <a:srgbClr val="FFFFFF"/>
              </a:solidFill>
              <a:latin typeface="Cambria" panose="02040503050406030204"/>
              <a:ea typeface="Cambria" panose="02040503050406030204"/>
              <a:cs typeface="Cambria" panose="02040503050406030204"/>
            </a:endParaRPr>
          </a:p>
        </p:txBody>
      </p:sp>
      <p:sp>
        <p:nvSpPr>
          <p:cNvPr id="51" name="Rectangle 50"/>
          <p:cNvSpPr>
            <a:spLocks noGrp="1"/>
          </p:cNvSpPr>
          <p:nvPr/>
        </p:nvSpPr>
        <p:spPr>
          <a:xfrm>
            <a:off x="1238250" y="2562225"/>
            <a:ext cx="9982200" cy="361950"/>
          </a:xfrm>
          <a:prstGeom prst="rect">
            <a:avLst/>
          </a:prstGeom>
          <a:solidFill>
            <a:srgbClr val="F8F9F8"/>
          </a:solidFill>
          <a:ln w="9525">
            <a:solidFill>
              <a:srgbClr val="D8DDDA"/>
            </a:solidFill>
          </a:ln>
        </p:spPr>
        <p:txBody>
          <a:bodyPr wrap="square" lIns="38100" tIns="19050" rIns="38100" bIns="19050" anchor="ctr">
            <a:normAutofit/>
          </a:bodyPr>
          <a:lstStyle/>
          <a:p>
            <a:pPr algn="l">
              <a:lnSpc>
                <a:spcPct val="100000"/>
              </a:lnSpc>
              <a:buNone/>
              <a:defRPr sz="1575" b="0" i="0">
                <a:solidFill>
                  <a:srgbClr val="006B35"/>
                </a:solidFill>
                <a:latin typeface="Cambria" panose="02040503050406030204"/>
                <a:ea typeface="Cambria" panose="02040503050406030204"/>
                <a:cs typeface="Cambria" panose="02040503050406030204"/>
              </a:defRPr>
            </a:pPr>
            <a:r>
              <a:rPr sz="1575" b="0" i="0">
                <a:solidFill>
                  <a:srgbClr val="006B35"/>
                </a:solidFill>
                <a:latin typeface="Cambria" panose="02040503050406030204"/>
                <a:ea typeface="Cambria" panose="02040503050406030204"/>
                <a:cs typeface="Cambria" panose="02040503050406030204"/>
              </a:rPr>
              <a:t>Sơ đồ quy trình cho từng nghiệp vụ chính</a:t>
            </a:r>
            <a:endParaRPr sz="1575" b="0" i="0">
              <a:solidFill>
                <a:srgbClr val="006B35"/>
              </a:solidFill>
              <a:latin typeface="Cambria" panose="02040503050406030204"/>
              <a:ea typeface="Cambria" panose="02040503050406030204"/>
              <a:cs typeface="Cambria" panose="02040503050406030204"/>
            </a:endParaRPr>
          </a:p>
        </p:txBody>
      </p:sp>
      <p:sp>
        <p:nvSpPr>
          <p:cNvPr id="52" name="Rectangle 51"/>
          <p:cNvSpPr>
            <a:spLocks noGrp="1"/>
          </p:cNvSpPr>
          <p:nvPr/>
        </p:nvSpPr>
        <p:spPr>
          <a:xfrm>
            <a:off x="457200" y="3086100"/>
            <a:ext cx="685800" cy="361950"/>
          </a:xfrm>
          <a:prstGeom prst="rect">
            <a:avLst/>
          </a:prstGeom>
          <a:solidFill>
            <a:srgbClr val="006B35"/>
          </a:solidFill>
          <a:ln w="0">
            <a:noFill/>
          </a:ln>
        </p:spPr>
        <p:txBody>
          <a:bodyPr wrap="square" lIns="38100" tIns="19050" rIns="38100" bIns="19050" anchor="ctr">
            <a:normAutofit/>
          </a:bodyPr>
          <a:lstStyle/>
          <a:p>
            <a:pPr algn="ctr">
              <a:lnSpc>
                <a:spcPct val="100000"/>
              </a:lnSpc>
              <a:buNone/>
              <a:defRPr sz="1650" b="1" i="0">
                <a:solidFill>
                  <a:srgbClr val="FFFFFF"/>
                </a:solidFill>
                <a:latin typeface="Cambria" panose="02040503050406030204"/>
                <a:ea typeface="Cambria" panose="02040503050406030204"/>
                <a:cs typeface="Cambria" panose="02040503050406030204"/>
              </a:defRPr>
            </a:pPr>
            <a:r>
              <a:rPr sz="1650" b="1" i="0">
                <a:solidFill>
                  <a:srgbClr val="FFFFFF"/>
                </a:solidFill>
                <a:latin typeface="Cambria" panose="02040503050406030204"/>
                <a:ea typeface="Cambria" panose="02040503050406030204"/>
                <a:cs typeface="Cambria" panose="02040503050406030204"/>
              </a:rPr>
              <a:t>05</a:t>
            </a:r>
            <a:endParaRPr sz="1650" b="1" i="0">
              <a:solidFill>
                <a:srgbClr val="FFFFFF"/>
              </a:solidFill>
              <a:latin typeface="Cambria" panose="02040503050406030204"/>
              <a:ea typeface="Cambria" panose="02040503050406030204"/>
              <a:cs typeface="Cambria" panose="02040503050406030204"/>
            </a:endParaRPr>
          </a:p>
        </p:txBody>
      </p:sp>
      <p:sp>
        <p:nvSpPr>
          <p:cNvPr id="53" name="Rectangle 52"/>
          <p:cNvSpPr>
            <a:spLocks noGrp="1"/>
          </p:cNvSpPr>
          <p:nvPr/>
        </p:nvSpPr>
        <p:spPr>
          <a:xfrm>
            <a:off x="1238250" y="3086100"/>
            <a:ext cx="9982200" cy="361950"/>
          </a:xfrm>
          <a:prstGeom prst="rect">
            <a:avLst/>
          </a:prstGeom>
          <a:solidFill>
            <a:srgbClr val="F8F9F8"/>
          </a:solidFill>
          <a:ln w="9525">
            <a:solidFill>
              <a:srgbClr val="D8DDDA"/>
            </a:solidFill>
          </a:ln>
        </p:spPr>
        <p:txBody>
          <a:bodyPr wrap="square" lIns="38100" tIns="19050" rIns="38100" bIns="19050" anchor="ctr">
            <a:normAutofit/>
          </a:bodyPr>
          <a:lstStyle/>
          <a:p>
            <a:pPr algn="l">
              <a:lnSpc>
                <a:spcPct val="100000"/>
              </a:lnSpc>
              <a:buNone/>
              <a:defRPr sz="1575" b="0" i="0">
                <a:solidFill>
                  <a:srgbClr val="006B35"/>
                </a:solidFill>
                <a:latin typeface="Cambria" panose="02040503050406030204"/>
                <a:ea typeface="Cambria" panose="02040503050406030204"/>
                <a:cs typeface="Cambria" panose="02040503050406030204"/>
              </a:defRPr>
            </a:pPr>
            <a:r>
              <a:rPr sz="1575" b="0" i="0">
                <a:solidFill>
                  <a:srgbClr val="006B35"/>
                </a:solidFill>
                <a:latin typeface="Cambria" panose="02040503050406030204"/>
                <a:ea typeface="Cambria" panose="02040503050406030204"/>
                <a:cs typeface="Cambria" panose="02040503050406030204"/>
              </a:rPr>
              <a:t>Dữ liệu, kiến trúc và kênh sử dụng</a:t>
            </a:r>
            <a:endParaRPr sz="1575" b="0" i="0">
              <a:solidFill>
                <a:srgbClr val="006B35"/>
              </a:solidFill>
              <a:latin typeface="Cambria" panose="02040503050406030204"/>
              <a:ea typeface="Cambria" panose="02040503050406030204"/>
              <a:cs typeface="Cambria" panose="02040503050406030204"/>
            </a:endParaRPr>
          </a:p>
        </p:txBody>
      </p:sp>
      <p:sp>
        <p:nvSpPr>
          <p:cNvPr id="54" name="Rectangle 53"/>
          <p:cNvSpPr>
            <a:spLocks noGrp="1"/>
          </p:cNvSpPr>
          <p:nvPr/>
        </p:nvSpPr>
        <p:spPr>
          <a:xfrm>
            <a:off x="457200" y="3609975"/>
            <a:ext cx="685800" cy="361950"/>
          </a:xfrm>
          <a:prstGeom prst="rect">
            <a:avLst/>
          </a:prstGeom>
          <a:solidFill>
            <a:srgbClr val="075AA7"/>
          </a:solidFill>
          <a:ln w="0">
            <a:noFill/>
          </a:ln>
        </p:spPr>
        <p:txBody>
          <a:bodyPr wrap="square" lIns="38100" tIns="19050" rIns="38100" bIns="19050" anchor="ctr">
            <a:normAutofit/>
          </a:bodyPr>
          <a:lstStyle/>
          <a:p>
            <a:pPr algn="ctr">
              <a:lnSpc>
                <a:spcPct val="100000"/>
              </a:lnSpc>
              <a:buNone/>
              <a:defRPr sz="1650" b="1" i="0">
                <a:solidFill>
                  <a:srgbClr val="FFFFFF"/>
                </a:solidFill>
                <a:latin typeface="Cambria" panose="02040503050406030204"/>
                <a:ea typeface="Cambria" panose="02040503050406030204"/>
                <a:cs typeface="Cambria" panose="02040503050406030204"/>
              </a:defRPr>
            </a:pPr>
            <a:r>
              <a:rPr sz="1650" b="1" i="0">
                <a:solidFill>
                  <a:srgbClr val="FFFFFF"/>
                </a:solidFill>
                <a:latin typeface="Cambria" panose="02040503050406030204"/>
                <a:ea typeface="Cambria" panose="02040503050406030204"/>
                <a:cs typeface="Cambria" panose="02040503050406030204"/>
              </a:rPr>
              <a:t>06</a:t>
            </a:r>
            <a:endParaRPr sz="1650" b="1" i="0">
              <a:solidFill>
                <a:srgbClr val="FFFFFF"/>
              </a:solidFill>
              <a:latin typeface="Cambria" panose="02040503050406030204"/>
              <a:ea typeface="Cambria" panose="02040503050406030204"/>
              <a:cs typeface="Cambria" panose="02040503050406030204"/>
            </a:endParaRPr>
          </a:p>
        </p:txBody>
      </p:sp>
      <p:sp>
        <p:nvSpPr>
          <p:cNvPr id="55" name="Rectangle 54"/>
          <p:cNvSpPr>
            <a:spLocks noGrp="1"/>
          </p:cNvSpPr>
          <p:nvPr/>
        </p:nvSpPr>
        <p:spPr>
          <a:xfrm>
            <a:off x="1238250" y="3609975"/>
            <a:ext cx="9982200" cy="361950"/>
          </a:xfrm>
          <a:prstGeom prst="rect">
            <a:avLst/>
          </a:prstGeom>
          <a:solidFill>
            <a:srgbClr val="F8F9F8"/>
          </a:solidFill>
          <a:ln w="9525">
            <a:solidFill>
              <a:srgbClr val="D8DDDA"/>
            </a:solidFill>
          </a:ln>
        </p:spPr>
        <p:txBody>
          <a:bodyPr wrap="square" lIns="38100" tIns="19050" rIns="38100" bIns="19050" anchor="ctr">
            <a:normAutofit/>
          </a:bodyPr>
          <a:lstStyle/>
          <a:p>
            <a:pPr algn="l">
              <a:lnSpc>
                <a:spcPct val="100000"/>
              </a:lnSpc>
              <a:buNone/>
              <a:defRPr sz="1575" b="0" i="0">
                <a:solidFill>
                  <a:srgbClr val="006B35"/>
                </a:solidFill>
                <a:latin typeface="Cambria" panose="02040503050406030204"/>
                <a:ea typeface="Cambria" panose="02040503050406030204"/>
                <a:cs typeface="Cambria" panose="02040503050406030204"/>
              </a:defRPr>
            </a:pPr>
            <a:r>
              <a:rPr sz="1575" b="0" i="0">
                <a:solidFill>
                  <a:srgbClr val="006B35"/>
                </a:solidFill>
                <a:latin typeface="Cambria" panose="02040503050406030204"/>
                <a:ea typeface="Cambria" panose="02040503050406030204"/>
                <a:cs typeface="Cambria" panose="02040503050406030204"/>
              </a:rPr>
              <a:t>Tiến độ phát triển hiện tại</a:t>
            </a:r>
            <a:endParaRPr sz="1575" b="0" i="0">
              <a:solidFill>
                <a:srgbClr val="006B35"/>
              </a:solidFill>
              <a:latin typeface="Cambria" panose="02040503050406030204"/>
              <a:ea typeface="Cambria" panose="02040503050406030204"/>
              <a:cs typeface="Cambria" panose="02040503050406030204"/>
            </a:endParaRPr>
          </a:p>
        </p:txBody>
      </p:sp>
      <p:sp>
        <p:nvSpPr>
          <p:cNvPr id="56" name="Rectangle 55"/>
          <p:cNvSpPr>
            <a:spLocks noGrp="1"/>
          </p:cNvSpPr>
          <p:nvPr/>
        </p:nvSpPr>
        <p:spPr>
          <a:xfrm>
            <a:off x="457200" y="4133850"/>
            <a:ext cx="685800" cy="361950"/>
          </a:xfrm>
          <a:prstGeom prst="rect">
            <a:avLst/>
          </a:prstGeom>
          <a:solidFill>
            <a:srgbClr val="006B35"/>
          </a:solidFill>
          <a:ln w="0">
            <a:noFill/>
          </a:ln>
        </p:spPr>
        <p:txBody>
          <a:bodyPr wrap="square" lIns="38100" tIns="19050" rIns="38100" bIns="19050" anchor="ctr">
            <a:normAutofit/>
          </a:bodyPr>
          <a:lstStyle/>
          <a:p>
            <a:pPr algn="ctr">
              <a:lnSpc>
                <a:spcPct val="100000"/>
              </a:lnSpc>
              <a:buNone/>
              <a:defRPr sz="1650" b="1" i="0">
                <a:solidFill>
                  <a:srgbClr val="FFFFFF"/>
                </a:solidFill>
                <a:latin typeface="Cambria" panose="02040503050406030204"/>
                <a:ea typeface="Cambria" panose="02040503050406030204"/>
                <a:cs typeface="Cambria" panose="02040503050406030204"/>
              </a:defRPr>
            </a:pPr>
            <a:r>
              <a:rPr sz="1650" b="1" i="0">
                <a:solidFill>
                  <a:srgbClr val="FFFFFF"/>
                </a:solidFill>
                <a:latin typeface="Cambria" panose="02040503050406030204"/>
                <a:ea typeface="Cambria" panose="02040503050406030204"/>
                <a:cs typeface="Cambria" panose="02040503050406030204"/>
              </a:rPr>
              <a:t>07</a:t>
            </a:r>
            <a:endParaRPr sz="1650" b="1" i="0">
              <a:solidFill>
                <a:srgbClr val="FFFFFF"/>
              </a:solidFill>
              <a:latin typeface="Cambria" panose="02040503050406030204"/>
              <a:ea typeface="Cambria" panose="02040503050406030204"/>
              <a:cs typeface="Cambria" panose="02040503050406030204"/>
            </a:endParaRPr>
          </a:p>
        </p:txBody>
      </p:sp>
      <p:sp>
        <p:nvSpPr>
          <p:cNvPr id="57" name="Rectangle 56"/>
          <p:cNvSpPr>
            <a:spLocks noGrp="1"/>
          </p:cNvSpPr>
          <p:nvPr/>
        </p:nvSpPr>
        <p:spPr>
          <a:xfrm>
            <a:off x="1238250" y="4133850"/>
            <a:ext cx="9982200" cy="361950"/>
          </a:xfrm>
          <a:prstGeom prst="rect">
            <a:avLst/>
          </a:prstGeom>
          <a:solidFill>
            <a:srgbClr val="F8F9F8"/>
          </a:solidFill>
          <a:ln w="9525">
            <a:solidFill>
              <a:srgbClr val="D8DDDA"/>
            </a:solidFill>
          </a:ln>
        </p:spPr>
        <p:txBody>
          <a:bodyPr wrap="square" lIns="38100" tIns="19050" rIns="38100" bIns="19050" anchor="ctr">
            <a:normAutofit/>
          </a:bodyPr>
          <a:lstStyle/>
          <a:p>
            <a:pPr algn="l">
              <a:lnSpc>
                <a:spcPct val="100000"/>
              </a:lnSpc>
              <a:buNone/>
              <a:defRPr sz="1575" b="0" i="0">
                <a:solidFill>
                  <a:srgbClr val="006B35"/>
                </a:solidFill>
                <a:latin typeface="Cambria" panose="02040503050406030204"/>
                <a:ea typeface="Cambria" panose="02040503050406030204"/>
                <a:cs typeface="Cambria" panose="02040503050406030204"/>
              </a:defRPr>
            </a:pPr>
            <a:r>
              <a:rPr sz="1575" b="0" i="0">
                <a:solidFill>
                  <a:srgbClr val="006B35"/>
                </a:solidFill>
                <a:latin typeface="Cambria" panose="02040503050406030204"/>
                <a:ea typeface="Cambria" panose="02040503050406030204"/>
                <a:cs typeface="Cambria" panose="02040503050406030204"/>
              </a:rPr>
              <a:t>Kết quả kiểm thử và build</a:t>
            </a:r>
            <a:endParaRPr sz="1575" b="0" i="0">
              <a:solidFill>
                <a:srgbClr val="006B35"/>
              </a:solidFill>
              <a:latin typeface="Cambria" panose="02040503050406030204"/>
              <a:ea typeface="Cambria" panose="02040503050406030204"/>
              <a:cs typeface="Cambria" panose="02040503050406030204"/>
            </a:endParaRPr>
          </a:p>
        </p:txBody>
      </p:sp>
      <p:sp>
        <p:nvSpPr>
          <p:cNvPr id="58" name="Rectangle 57"/>
          <p:cNvSpPr>
            <a:spLocks noGrp="1"/>
          </p:cNvSpPr>
          <p:nvPr/>
        </p:nvSpPr>
        <p:spPr>
          <a:xfrm>
            <a:off x="457200" y="4657725"/>
            <a:ext cx="685800" cy="361950"/>
          </a:xfrm>
          <a:prstGeom prst="rect">
            <a:avLst/>
          </a:prstGeom>
          <a:solidFill>
            <a:srgbClr val="075AA7"/>
          </a:solidFill>
          <a:ln w="0">
            <a:noFill/>
          </a:ln>
        </p:spPr>
        <p:txBody>
          <a:bodyPr wrap="square" lIns="38100" tIns="19050" rIns="38100" bIns="19050" anchor="ctr">
            <a:normAutofit/>
          </a:bodyPr>
          <a:lstStyle/>
          <a:p>
            <a:pPr algn="ctr">
              <a:lnSpc>
                <a:spcPct val="100000"/>
              </a:lnSpc>
              <a:buNone/>
              <a:defRPr sz="1650" b="1" i="0">
                <a:solidFill>
                  <a:srgbClr val="FFFFFF"/>
                </a:solidFill>
                <a:latin typeface="Cambria" panose="02040503050406030204"/>
                <a:ea typeface="Cambria" panose="02040503050406030204"/>
                <a:cs typeface="Cambria" panose="02040503050406030204"/>
              </a:defRPr>
            </a:pPr>
            <a:r>
              <a:rPr sz="1650" b="1" i="0">
                <a:solidFill>
                  <a:srgbClr val="FFFFFF"/>
                </a:solidFill>
                <a:latin typeface="Cambria" panose="02040503050406030204"/>
                <a:ea typeface="Cambria" panose="02040503050406030204"/>
                <a:cs typeface="Cambria" panose="02040503050406030204"/>
              </a:rPr>
              <a:t>08</a:t>
            </a:r>
            <a:endParaRPr sz="1650" b="1" i="0">
              <a:solidFill>
                <a:srgbClr val="FFFFFF"/>
              </a:solidFill>
              <a:latin typeface="Cambria" panose="02040503050406030204"/>
              <a:ea typeface="Cambria" panose="02040503050406030204"/>
              <a:cs typeface="Cambria" panose="02040503050406030204"/>
            </a:endParaRPr>
          </a:p>
        </p:txBody>
      </p:sp>
      <p:sp>
        <p:nvSpPr>
          <p:cNvPr id="59" name="Rectangle 58"/>
          <p:cNvSpPr>
            <a:spLocks noGrp="1"/>
          </p:cNvSpPr>
          <p:nvPr/>
        </p:nvSpPr>
        <p:spPr>
          <a:xfrm>
            <a:off x="1238250" y="4657725"/>
            <a:ext cx="9982200" cy="361950"/>
          </a:xfrm>
          <a:prstGeom prst="rect">
            <a:avLst/>
          </a:prstGeom>
          <a:solidFill>
            <a:srgbClr val="F8F9F8"/>
          </a:solidFill>
          <a:ln w="9525">
            <a:solidFill>
              <a:srgbClr val="D8DDDA"/>
            </a:solidFill>
          </a:ln>
        </p:spPr>
        <p:txBody>
          <a:bodyPr wrap="square" lIns="38100" tIns="19050" rIns="38100" bIns="19050" anchor="ctr">
            <a:normAutofit/>
          </a:bodyPr>
          <a:lstStyle/>
          <a:p>
            <a:pPr algn="l">
              <a:lnSpc>
                <a:spcPct val="100000"/>
              </a:lnSpc>
              <a:buNone/>
              <a:defRPr sz="1575" b="0" i="0">
                <a:solidFill>
                  <a:srgbClr val="006B35"/>
                </a:solidFill>
                <a:latin typeface="Cambria" panose="02040503050406030204"/>
                <a:ea typeface="Cambria" panose="02040503050406030204"/>
                <a:cs typeface="Cambria" panose="02040503050406030204"/>
              </a:defRPr>
            </a:pPr>
            <a:r>
              <a:rPr sz="1575" b="0" i="0">
                <a:solidFill>
                  <a:srgbClr val="006B35"/>
                </a:solidFill>
                <a:latin typeface="Cambria" panose="02040503050406030204"/>
                <a:ea typeface="Cambria" panose="02040503050406030204"/>
                <a:cs typeface="Cambria" panose="02040503050406030204"/>
              </a:rPr>
              <a:t>Bất cập, khó khăn và rủi ro</a:t>
            </a:r>
            <a:endParaRPr sz="1575" b="0" i="0">
              <a:solidFill>
                <a:srgbClr val="006B35"/>
              </a:solidFill>
              <a:latin typeface="Cambria" panose="02040503050406030204"/>
              <a:ea typeface="Cambria" panose="02040503050406030204"/>
              <a:cs typeface="Cambria" panose="02040503050406030204"/>
            </a:endParaRPr>
          </a:p>
        </p:txBody>
      </p:sp>
      <p:sp>
        <p:nvSpPr>
          <p:cNvPr id="60" name="Rectangle 59"/>
          <p:cNvSpPr>
            <a:spLocks noGrp="1"/>
          </p:cNvSpPr>
          <p:nvPr/>
        </p:nvSpPr>
        <p:spPr>
          <a:xfrm>
            <a:off x="457200" y="5181600"/>
            <a:ext cx="685800" cy="361950"/>
          </a:xfrm>
          <a:prstGeom prst="rect">
            <a:avLst/>
          </a:prstGeom>
          <a:solidFill>
            <a:srgbClr val="006B35"/>
          </a:solidFill>
          <a:ln w="0">
            <a:noFill/>
          </a:ln>
        </p:spPr>
        <p:txBody>
          <a:bodyPr wrap="square" lIns="38100" tIns="19050" rIns="38100" bIns="19050" anchor="ctr">
            <a:normAutofit/>
          </a:bodyPr>
          <a:lstStyle/>
          <a:p>
            <a:pPr algn="ctr">
              <a:lnSpc>
                <a:spcPct val="100000"/>
              </a:lnSpc>
              <a:buNone/>
              <a:defRPr sz="1650" b="1" i="0">
                <a:solidFill>
                  <a:srgbClr val="FFFFFF"/>
                </a:solidFill>
                <a:latin typeface="Cambria" panose="02040503050406030204"/>
                <a:ea typeface="Cambria" panose="02040503050406030204"/>
                <a:cs typeface="Cambria" panose="02040503050406030204"/>
              </a:defRPr>
            </a:pPr>
            <a:r>
              <a:rPr sz="1650" b="1" i="0">
                <a:solidFill>
                  <a:srgbClr val="FFFFFF"/>
                </a:solidFill>
                <a:latin typeface="Cambria" panose="02040503050406030204"/>
                <a:ea typeface="Cambria" panose="02040503050406030204"/>
                <a:cs typeface="Cambria" panose="02040503050406030204"/>
              </a:rPr>
              <a:t>09</a:t>
            </a:r>
            <a:endParaRPr sz="1650" b="1" i="0">
              <a:solidFill>
                <a:srgbClr val="FFFFFF"/>
              </a:solidFill>
              <a:latin typeface="Cambria" panose="02040503050406030204"/>
              <a:ea typeface="Cambria" panose="02040503050406030204"/>
              <a:cs typeface="Cambria" panose="02040503050406030204"/>
            </a:endParaRPr>
          </a:p>
        </p:txBody>
      </p:sp>
      <p:sp>
        <p:nvSpPr>
          <p:cNvPr id="61" name="Rectangle 60"/>
          <p:cNvSpPr>
            <a:spLocks noGrp="1"/>
          </p:cNvSpPr>
          <p:nvPr/>
        </p:nvSpPr>
        <p:spPr>
          <a:xfrm>
            <a:off x="1238250" y="5181600"/>
            <a:ext cx="9982200" cy="361950"/>
          </a:xfrm>
          <a:prstGeom prst="rect">
            <a:avLst/>
          </a:prstGeom>
          <a:solidFill>
            <a:srgbClr val="F8F9F8"/>
          </a:solidFill>
          <a:ln w="9525">
            <a:solidFill>
              <a:srgbClr val="D8DDDA"/>
            </a:solidFill>
          </a:ln>
        </p:spPr>
        <p:txBody>
          <a:bodyPr wrap="square" lIns="38100" tIns="19050" rIns="38100" bIns="19050" anchor="ctr">
            <a:normAutofit/>
          </a:bodyPr>
          <a:lstStyle/>
          <a:p>
            <a:pPr algn="l">
              <a:lnSpc>
                <a:spcPct val="100000"/>
              </a:lnSpc>
              <a:buNone/>
              <a:defRPr sz="1575" b="0" i="0">
                <a:solidFill>
                  <a:srgbClr val="006B35"/>
                </a:solidFill>
                <a:latin typeface="Cambria" panose="02040503050406030204"/>
                <a:ea typeface="Cambria" panose="02040503050406030204"/>
                <a:cs typeface="Cambria" panose="02040503050406030204"/>
              </a:defRPr>
            </a:pPr>
            <a:r>
              <a:rPr sz="1575" b="0" i="0">
                <a:solidFill>
                  <a:srgbClr val="006B35"/>
                </a:solidFill>
                <a:latin typeface="Cambria" panose="02040503050406030204"/>
                <a:ea typeface="Cambria" panose="02040503050406030204"/>
                <a:cs typeface="Cambria" panose="02040503050406030204"/>
              </a:rPr>
              <a:t>Lộ trình hoàn thiện đề xuất</a:t>
            </a:r>
            <a:endParaRPr sz="1575" b="0" i="0">
              <a:solidFill>
                <a:srgbClr val="006B35"/>
              </a:solidFill>
              <a:latin typeface="Cambria" panose="02040503050406030204"/>
              <a:ea typeface="Cambria" panose="02040503050406030204"/>
              <a:cs typeface="Cambria" panose="02040503050406030204"/>
            </a:endParaRPr>
          </a:p>
        </p:txBody>
      </p:sp>
      <p:sp>
        <p:nvSpPr>
          <p:cNvPr id="62" name="Rectangle 61"/>
          <p:cNvSpPr>
            <a:spLocks noGrp="1"/>
          </p:cNvSpPr>
          <p:nvPr/>
        </p:nvSpPr>
        <p:spPr>
          <a:xfrm>
            <a:off x="266700" y="6534150"/>
            <a:ext cx="7429500" cy="190500"/>
          </a:xfrm>
          <a:prstGeom prst="rect">
            <a:avLst/>
          </a:prstGeom>
          <a:noFill/>
          <a:ln w="0">
            <a:noFill/>
          </a:ln>
        </p:spPr>
        <p:txBody>
          <a:bodyPr wrap="square" lIns="38100" tIns="19050" rIns="38100" bIns="19050" anchor="ctr">
            <a:normAutofit/>
          </a:bodyPr>
          <a:lstStyle/>
          <a:p>
            <a:pPr algn="l">
              <a:lnSpc>
                <a:spcPct val="100000"/>
              </a:lnSpc>
              <a:buNone/>
              <a:defRPr sz="825" b="0" i="1">
                <a:solidFill>
                  <a:srgbClr val="8A8F93"/>
                </a:solidFill>
                <a:latin typeface="Cambria" panose="02040503050406030204"/>
                <a:ea typeface="Cambria" panose="02040503050406030204"/>
                <a:cs typeface="Cambria" panose="02040503050406030204"/>
              </a:defRPr>
            </a:pPr>
            <a:r>
              <a:rPr sz="825" b="0" i="1">
                <a:solidFill>
                  <a:srgbClr val="8A8F93"/>
                </a:solidFill>
                <a:latin typeface="Cambria" panose="02040503050406030204"/>
                <a:ea typeface="Cambria" panose="02040503050406030204"/>
                <a:cs typeface="Cambria" panose="02040503050406030204"/>
              </a:rPr>
              <a:t>Giới thiệu phần mềm và tiến độ phát triển | THACO AGRI Fleet | 21/09/2026</a:t>
            </a:r>
            <a:endParaRPr sz="825" b="0" i="1">
              <a:solidFill>
                <a:srgbClr val="8A8F93"/>
              </a:solidFill>
              <a:latin typeface="Cambria" panose="02040503050406030204"/>
              <a:ea typeface="Cambria" panose="02040503050406030204"/>
              <a:cs typeface="Cambria" panose="02040503050406030204"/>
            </a:endParaRPr>
          </a:p>
        </p:txBody>
      </p:sp>
      <p:sp>
        <p:nvSpPr>
          <p:cNvPr id="63" name="Rectangle 62"/>
          <p:cNvSpPr>
            <a:spLocks noGrp="1"/>
          </p:cNvSpPr>
          <p:nvPr/>
        </p:nvSpPr>
        <p:spPr>
          <a:xfrm>
            <a:off x="11658600" y="6534150"/>
            <a:ext cx="228600" cy="190500"/>
          </a:xfrm>
          <a:prstGeom prst="rect">
            <a:avLst/>
          </a:prstGeom>
          <a:noFill/>
          <a:ln w="0">
            <a:noFill/>
          </a:ln>
        </p:spPr>
        <p:txBody>
          <a:bodyPr wrap="square" lIns="38100" tIns="19050" rIns="38100" bIns="19050" anchor="ctr">
            <a:normAutofit/>
          </a:bodyPr>
          <a:lstStyle/>
          <a:p>
            <a:pPr algn="r">
              <a:lnSpc>
                <a:spcPct val="100000"/>
              </a:lnSpc>
              <a:buNone/>
              <a:defRPr sz="825" b="0" i="0">
                <a:solidFill>
                  <a:srgbClr val="8A8F93"/>
                </a:solidFill>
                <a:latin typeface="Cambria" panose="02040503050406030204"/>
                <a:ea typeface="Cambria" panose="02040503050406030204"/>
                <a:cs typeface="Cambria" panose="02040503050406030204"/>
              </a:defRPr>
            </a:pPr>
            <a:r>
              <a:rPr sz="825" b="0" i="0">
                <a:solidFill>
                  <a:srgbClr val="8A8F93"/>
                </a:solidFill>
                <a:latin typeface="Cambria" panose="02040503050406030204"/>
                <a:ea typeface="Cambria" panose="02040503050406030204"/>
                <a:cs typeface="Cambria" panose="02040503050406030204"/>
              </a:rPr>
              <a:t>2</a:t>
            </a:r>
            <a:endParaRPr sz="825" b="0" i="0">
              <a:solidFill>
                <a:srgbClr val="8A8F93"/>
              </a:solidFill>
              <a:latin typeface="Cambria" panose="02040503050406030204"/>
              <a:ea typeface="Cambria" panose="02040503050406030204"/>
              <a:cs typeface="Cambria" panose="02040503050406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slide-title"/>
          <p:cNvSpPr>
            <a:spLocks noGrp="1"/>
          </p:cNvSpPr>
          <p:nvPr/>
        </p:nvSpPr>
        <p:spPr>
          <a:xfrm>
            <a:off x="2571750" y="142875"/>
            <a:ext cx="9191625" cy="590550"/>
          </a:xfrm>
          <a:prstGeom prst="rect">
            <a:avLst/>
          </a:prstGeom>
          <a:noFill/>
          <a:ln w="0">
            <a:noFill/>
          </a:ln>
        </p:spPr>
        <p:txBody>
          <a:bodyPr wrap="square" lIns="38100" tIns="19050" rIns="38100" bIns="19050" anchor="ctr">
            <a:normAutofit/>
          </a:bodyPr>
          <a:lstStyle/>
          <a:p>
            <a:pPr algn="ctr">
              <a:lnSpc>
                <a:spcPct val="100000"/>
              </a:lnSpc>
              <a:buNone/>
              <a:defRPr sz="2100" b="1" i="0">
                <a:solidFill>
                  <a:srgbClr val="E00000"/>
                </a:solidFill>
                <a:latin typeface="Cambria" panose="02040503050406030204"/>
                <a:ea typeface="Cambria" panose="02040503050406030204"/>
                <a:cs typeface="Cambria" panose="02040503050406030204"/>
              </a:defRPr>
            </a:pPr>
            <a:r>
              <a:rPr sz="2100" b="1" i="0">
                <a:solidFill>
                  <a:srgbClr val="E00000"/>
                </a:solidFill>
                <a:latin typeface="Cambria" panose="02040503050406030204"/>
                <a:ea typeface="Cambria" panose="02040503050406030204"/>
                <a:cs typeface="Cambria" panose="02040503050406030204"/>
              </a:rPr>
              <a:t>PHẦN MỀM PHỤC VỤ VẬN HÀNH GÌ</a:t>
            </a:r>
            <a:endParaRPr sz="2100" b="1" i="0">
              <a:solidFill>
                <a:srgbClr val="E00000"/>
              </a:solidFill>
              <a:latin typeface="Cambria" panose="02040503050406030204"/>
              <a:ea typeface="Cambria" panose="02040503050406030204"/>
              <a:cs typeface="Cambria" panose="02040503050406030204"/>
            </a:endParaRPr>
          </a:p>
        </p:txBody>
      </p:sp>
      <p:sp>
        <p:nvSpPr>
          <p:cNvPr id="2" name="Rectangle 1"/>
          <p:cNvSpPr>
            <a:spLocks noGrp="1"/>
          </p:cNvSpPr>
          <p:nvPr/>
        </p:nvSpPr>
        <p:spPr>
          <a:xfrm>
            <a:off x="781050" y="1066800"/>
            <a:ext cx="2381250" cy="342900"/>
          </a:xfrm>
          <a:prstGeom prst="rect">
            <a:avLst/>
          </a:prstGeom>
          <a:noFill/>
          <a:ln w="0">
            <a:noFill/>
          </a:ln>
        </p:spPr>
        <p:txBody>
          <a:bodyPr wrap="square" lIns="38100" tIns="19050" rIns="38100" bIns="19050" anchor="t">
            <a:normAutofit/>
          </a:bodyPr>
          <a:lstStyle/>
          <a:p>
            <a:pPr algn="l">
              <a:lnSpc>
                <a:spcPct val="100000"/>
              </a:lnSpc>
              <a:buNone/>
              <a:defRPr sz="1800" b="1" i="0">
                <a:solidFill>
                  <a:srgbClr val="006B35"/>
                </a:solidFill>
                <a:latin typeface="Cambria" panose="02040503050406030204"/>
                <a:ea typeface="Cambria" panose="02040503050406030204"/>
                <a:cs typeface="Cambria" panose="02040503050406030204"/>
              </a:defRPr>
            </a:pPr>
            <a:r>
              <a:rPr sz="1800" b="1" i="0">
                <a:solidFill>
                  <a:srgbClr val="006B35"/>
                </a:solidFill>
                <a:latin typeface="Cambria" panose="02040503050406030204"/>
                <a:ea typeface="Cambria" panose="02040503050406030204"/>
                <a:cs typeface="Cambria" panose="02040503050406030204"/>
              </a:rPr>
              <a:t>Mục tiêu</a:t>
            </a:r>
            <a:endParaRPr sz="1800" b="1" i="0">
              <a:solidFill>
                <a:srgbClr val="006B35"/>
              </a:solidFill>
              <a:latin typeface="Cambria" panose="02040503050406030204"/>
              <a:ea typeface="Cambria" panose="02040503050406030204"/>
              <a:cs typeface="Cambria" panose="02040503050406030204"/>
            </a:endParaRPr>
          </a:p>
        </p:txBody>
      </p:sp>
      <p:sp>
        <p:nvSpPr>
          <p:cNvPr id="3" name="Rectangle 2"/>
          <p:cNvSpPr>
            <a:spLocks noGrp="1"/>
          </p:cNvSpPr>
          <p:nvPr/>
        </p:nvSpPr>
        <p:spPr>
          <a:xfrm>
            <a:off x="723900" y="1476375"/>
            <a:ext cx="4953000" cy="2190750"/>
          </a:xfrm>
          <a:prstGeom prst="rect">
            <a:avLst/>
          </a:prstGeom>
          <a:noFill/>
          <a:ln w="0">
            <a:noFill/>
          </a:ln>
        </p:spPr>
        <p:txBody>
          <a:bodyPr wrap="square" lIns="38100" tIns="19050" rIns="38100" bIns="19050" anchor="t">
            <a:normAutofit/>
          </a:bodyPr>
          <a:lstStyle/>
          <a:p>
            <a:pPr marL="241300" indent="-114300" algn="l">
              <a:lnSpc>
                <a:spcPct val="104000"/>
              </a:lnSpc>
              <a:spcAft>
                <a:spcPts val="1000"/>
              </a:spcAft>
              <a:buNone/>
              <a:defRPr sz="1575" b="0" i="0">
                <a:solidFill>
                  <a:srgbClr val="17212B"/>
                </a:solidFill>
                <a:latin typeface="Cambria" panose="02040503050406030204"/>
                <a:ea typeface="Cambria" panose="02040503050406030204"/>
                <a:cs typeface="Cambria" panose="02040503050406030204"/>
              </a:defRPr>
            </a:pPr>
            <a:r>
              <a:rPr sz="1575" b="0" i="0">
                <a:solidFill>
                  <a:srgbClr val="17212B"/>
                </a:solidFill>
                <a:latin typeface="Cambria" panose="02040503050406030204"/>
                <a:ea typeface="Cambria" panose="02040503050406030204"/>
                <a:cs typeface="Cambria" panose="02040503050406030204"/>
              </a:rPr>
              <a:t>Quản lý tập trung xe cơ giới, thiết bị nông nghiệp và tình trạng sẵn sàng</a:t>
            </a:r>
            <a:endParaRPr sz="1575" b="0" i="0">
              <a:solidFill>
                <a:srgbClr val="17212B"/>
              </a:solidFill>
              <a:latin typeface="Cambria" panose="02040503050406030204"/>
              <a:ea typeface="Cambria" panose="02040503050406030204"/>
              <a:cs typeface="Cambria" panose="02040503050406030204"/>
            </a:endParaRPr>
          </a:p>
          <a:p>
            <a:pPr marL="241300" indent="-114300" algn="l">
              <a:lnSpc>
                <a:spcPct val="104000"/>
              </a:lnSpc>
              <a:spcAft>
                <a:spcPts val="1000"/>
              </a:spcAft>
              <a:buNone/>
              <a:defRPr sz="1575" b="0" i="0">
                <a:solidFill>
                  <a:srgbClr val="17212B"/>
                </a:solidFill>
                <a:latin typeface="Cambria" panose="02040503050406030204"/>
                <a:ea typeface="Cambria" panose="02040503050406030204"/>
                <a:cs typeface="Cambria" panose="02040503050406030204"/>
              </a:defRPr>
            </a:pPr>
            <a:r>
              <a:rPr sz="1575" b="0" i="0">
                <a:solidFill>
                  <a:srgbClr val="17212B"/>
                </a:solidFill>
                <a:latin typeface="Cambria" panose="02040503050406030204"/>
                <a:ea typeface="Cambria" panose="02040503050406030204"/>
                <a:cs typeface="Cambria" panose="02040503050406030204"/>
              </a:rPr>
              <a:t>Kết nối kế hoạch sản xuất với điều xe, thực hiện công việc và nghiệm thu</a:t>
            </a:r>
            <a:endParaRPr sz="1575" b="0" i="0">
              <a:solidFill>
                <a:srgbClr val="17212B"/>
              </a:solidFill>
              <a:latin typeface="Cambria" panose="02040503050406030204"/>
              <a:ea typeface="Cambria" panose="02040503050406030204"/>
              <a:cs typeface="Cambria" panose="02040503050406030204"/>
            </a:endParaRPr>
          </a:p>
          <a:p>
            <a:pPr marL="241300" indent="-114300" algn="l">
              <a:lnSpc>
                <a:spcPct val="104000"/>
              </a:lnSpc>
              <a:spcAft>
                <a:spcPts val="1000"/>
              </a:spcAft>
              <a:buNone/>
              <a:defRPr sz="1575" b="0" i="0">
                <a:solidFill>
                  <a:srgbClr val="17212B"/>
                </a:solidFill>
                <a:latin typeface="Cambria" panose="02040503050406030204"/>
                <a:ea typeface="Cambria" panose="02040503050406030204"/>
                <a:cs typeface="Cambria" panose="02040503050406030204"/>
              </a:defRPr>
            </a:pPr>
            <a:r>
              <a:rPr sz="1575" b="0" i="0">
                <a:solidFill>
                  <a:srgbClr val="17212B"/>
                </a:solidFill>
                <a:latin typeface="Cambria" panose="02040503050406030204"/>
                <a:ea typeface="Cambria" panose="02040503050406030204"/>
                <a:cs typeface="Cambria" panose="02040503050406030204"/>
              </a:rPr>
              <a:t>Theo dõi GPS, nhiên liệu, bảo dưỡng, sửa chữa và hiệu quả lái xe</a:t>
            </a:r>
            <a:endParaRPr sz="1575" b="0" i="0">
              <a:solidFill>
                <a:srgbClr val="17212B"/>
              </a:solidFill>
              <a:latin typeface="Cambria" panose="02040503050406030204"/>
              <a:ea typeface="Cambria" panose="02040503050406030204"/>
              <a:cs typeface="Cambria" panose="02040503050406030204"/>
            </a:endParaRPr>
          </a:p>
        </p:txBody>
      </p:sp>
      <p:sp>
        <p:nvSpPr>
          <p:cNvPr id="4" name="Rectangle 3"/>
          <p:cNvSpPr>
            <a:spLocks noGrp="1"/>
          </p:cNvSpPr>
          <p:nvPr/>
        </p:nvSpPr>
        <p:spPr>
          <a:xfrm>
            <a:off x="6438900" y="1066800"/>
            <a:ext cx="2857500" cy="342900"/>
          </a:xfrm>
          <a:prstGeom prst="rect">
            <a:avLst/>
          </a:prstGeom>
          <a:noFill/>
          <a:ln w="0">
            <a:noFill/>
          </a:ln>
        </p:spPr>
        <p:txBody>
          <a:bodyPr wrap="square" lIns="38100" tIns="19050" rIns="38100" bIns="19050" anchor="t">
            <a:normAutofit/>
          </a:bodyPr>
          <a:lstStyle/>
          <a:p>
            <a:pPr algn="l">
              <a:lnSpc>
                <a:spcPct val="100000"/>
              </a:lnSpc>
              <a:buNone/>
              <a:defRPr sz="1800" b="1" i="0">
                <a:solidFill>
                  <a:srgbClr val="075AA7"/>
                </a:solidFill>
                <a:latin typeface="Cambria" panose="02040503050406030204"/>
                <a:ea typeface="Cambria" panose="02040503050406030204"/>
                <a:cs typeface="Cambria" panose="02040503050406030204"/>
              </a:defRPr>
            </a:pPr>
            <a:r>
              <a:rPr sz="1800" b="1" i="0">
                <a:solidFill>
                  <a:srgbClr val="075AA7"/>
                </a:solidFill>
                <a:latin typeface="Cambria" panose="02040503050406030204"/>
                <a:ea typeface="Cambria" panose="02040503050406030204"/>
                <a:cs typeface="Cambria" panose="02040503050406030204"/>
              </a:rPr>
              <a:t>Người sử dụng</a:t>
            </a:r>
            <a:endParaRPr sz="1800" b="1" i="0">
              <a:solidFill>
                <a:srgbClr val="075AA7"/>
              </a:solidFill>
              <a:latin typeface="Cambria" panose="02040503050406030204"/>
              <a:ea typeface="Cambria" panose="02040503050406030204"/>
              <a:cs typeface="Cambria" panose="02040503050406030204"/>
            </a:endParaRPr>
          </a:p>
        </p:txBody>
      </p:sp>
      <p:sp>
        <p:nvSpPr>
          <p:cNvPr id="5" name="Rectangle 4"/>
          <p:cNvSpPr>
            <a:spLocks noGrp="1"/>
          </p:cNvSpPr>
          <p:nvPr/>
        </p:nvSpPr>
        <p:spPr>
          <a:xfrm>
            <a:off x="6381750" y="1476375"/>
            <a:ext cx="5048250" cy="2190750"/>
          </a:xfrm>
          <a:prstGeom prst="rect">
            <a:avLst/>
          </a:prstGeom>
          <a:noFill/>
          <a:ln w="0">
            <a:noFill/>
          </a:ln>
        </p:spPr>
        <p:txBody>
          <a:bodyPr wrap="square" lIns="38100" tIns="19050" rIns="38100" bIns="19050" anchor="t">
            <a:normAutofit/>
          </a:bodyPr>
          <a:lstStyle/>
          <a:p>
            <a:pPr marL="241300" indent="-114300" algn="l">
              <a:lnSpc>
                <a:spcPct val="104000"/>
              </a:lnSpc>
              <a:spcAft>
                <a:spcPts val="1000"/>
              </a:spcAft>
              <a:buNone/>
              <a:defRPr sz="1575" b="0" i="0">
                <a:solidFill>
                  <a:srgbClr val="17212B"/>
                </a:solidFill>
                <a:latin typeface="Cambria" panose="02040503050406030204"/>
                <a:ea typeface="Cambria" panose="02040503050406030204"/>
                <a:cs typeface="Cambria" panose="02040503050406030204"/>
              </a:defRPr>
            </a:pPr>
            <a:r>
              <a:rPr sz="1575" b="0" i="0">
                <a:solidFill>
                  <a:srgbClr val="17212B"/>
                </a:solidFill>
                <a:latin typeface="Cambria" panose="02040503050406030204"/>
                <a:ea typeface="Cambria" panose="02040503050406030204"/>
                <a:cs typeface="Cambria" panose="02040503050406030204"/>
              </a:rPr>
              <a:t>Ban Xe cơ giới và cán bộ điều hành tại đơn vị</a:t>
            </a:r>
            <a:endParaRPr sz="1575" b="0" i="0">
              <a:solidFill>
                <a:srgbClr val="17212B"/>
              </a:solidFill>
              <a:latin typeface="Cambria" panose="02040503050406030204"/>
              <a:ea typeface="Cambria" panose="02040503050406030204"/>
              <a:cs typeface="Cambria" panose="02040503050406030204"/>
            </a:endParaRPr>
          </a:p>
          <a:p>
            <a:pPr marL="241300" indent="-114300" algn="l">
              <a:lnSpc>
                <a:spcPct val="104000"/>
              </a:lnSpc>
              <a:spcAft>
                <a:spcPts val="1000"/>
              </a:spcAft>
              <a:buNone/>
              <a:defRPr sz="1575" b="0" i="0">
                <a:solidFill>
                  <a:srgbClr val="17212B"/>
                </a:solidFill>
                <a:latin typeface="Cambria" panose="02040503050406030204"/>
                <a:ea typeface="Cambria" panose="02040503050406030204"/>
                <a:cs typeface="Cambria" panose="02040503050406030204"/>
              </a:defRPr>
            </a:pPr>
            <a:r>
              <a:rPr sz="1575" b="0" i="0">
                <a:solidFill>
                  <a:srgbClr val="17212B"/>
                </a:solidFill>
                <a:latin typeface="Cambria" panose="02040503050406030204"/>
                <a:ea typeface="Cambria" panose="02040503050406030204"/>
                <a:cs typeface="Cambria" panose="02040503050406030204"/>
              </a:rPr>
              <a:t>Quản lý nông trường, nhân sự xưởng BTSC và kho nhiên liệu</a:t>
            </a:r>
            <a:endParaRPr sz="1575" b="0" i="0">
              <a:solidFill>
                <a:srgbClr val="17212B"/>
              </a:solidFill>
              <a:latin typeface="Cambria" panose="02040503050406030204"/>
              <a:ea typeface="Cambria" panose="02040503050406030204"/>
              <a:cs typeface="Cambria" panose="02040503050406030204"/>
            </a:endParaRPr>
          </a:p>
          <a:p>
            <a:pPr marL="241300" indent="-114300" algn="l">
              <a:lnSpc>
                <a:spcPct val="104000"/>
              </a:lnSpc>
              <a:spcAft>
                <a:spcPts val="1000"/>
              </a:spcAft>
              <a:buNone/>
              <a:defRPr sz="1575" b="0" i="0">
                <a:solidFill>
                  <a:srgbClr val="17212B"/>
                </a:solidFill>
                <a:latin typeface="Cambria" panose="02040503050406030204"/>
                <a:ea typeface="Cambria" panose="02040503050406030204"/>
                <a:cs typeface="Cambria" panose="02040503050406030204"/>
              </a:defRPr>
            </a:pPr>
            <a:r>
              <a:rPr sz="1575" b="0" i="0">
                <a:solidFill>
                  <a:srgbClr val="17212B"/>
                </a:solidFill>
                <a:latin typeface="Cambria" panose="02040503050406030204"/>
                <a:ea typeface="Cambria" panose="02040503050406030204"/>
                <a:cs typeface="Cambria" panose="02040503050406030204"/>
              </a:rPr>
              <a:t>Lái xe qua ứng dụng mobile, quản trị hệ thống và lãnh đạo theo dõi báo cáo</a:t>
            </a:r>
            <a:endParaRPr sz="1575" b="0" i="0">
              <a:solidFill>
                <a:srgbClr val="17212B"/>
              </a:solidFill>
              <a:latin typeface="Cambria" panose="02040503050406030204"/>
              <a:ea typeface="Cambria" panose="02040503050406030204"/>
              <a:cs typeface="Cambria" panose="02040503050406030204"/>
            </a:endParaRPr>
          </a:p>
        </p:txBody>
      </p:sp>
      <p:sp>
        <p:nvSpPr>
          <p:cNvPr id="6" name="Rectangle 5"/>
          <p:cNvSpPr>
            <a:spLocks noGrp="1"/>
          </p:cNvSpPr>
          <p:nvPr/>
        </p:nvSpPr>
        <p:spPr>
          <a:xfrm>
            <a:off x="838200" y="3981450"/>
            <a:ext cx="10515600" cy="19050"/>
          </a:xfrm>
          <a:prstGeom prst="rect">
            <a:avLst/>
          </a:prstGeom>
          <a:solidFill>
            <a:srgbClr val="5FAE3E"/>
          </a:solidFill>
          <a:ln w="0">
            <a:solidFill>
              <a:srgbClr val="5FAE3E"/>
            </a:solidFill>
          </a:ln>
        </p:spPr>
      </p:sp>
      <p:sp>
        <p:nvSpPr>
          <p:cNvPr id="7" name="Rectangle 6"/>
          <p:cNvSpPr>
            <a:spLocks noGrp="1"/>
          </p:cNvSpPr>
          <p:nvPr/>
        </p:nvSpPr>
        <p:spPr>
          <a:xfrm>
            <a:off x="781050" y="4238625"/>
            <a:ext cx="5905500" cy="342900"/>
          </a:xfrm>
          <a:prstGeom prst="rect">
            <a:avLst/>
          </a:prstGeom>
          <a:noFill/>
          <a:ln w="0">
            <a:noFill/>
          </a:ln>
        </p:spPr>
        <p:txBody>
          <a:bodyPr wrap="square" lIns="38100" tIns="19050" rIns="38100" bIns="19050" anchor="t">
            <a:normAutofit/>
          </a:bodyPr>
          <a:lstStyle/>
          <a:p>
            <a:pPr algn="l">
              <a:lnSpc>
                <a:spcPct val="100000"/>
              </a:lnSpc>
              <a:buNone/>
              <a:defRPr sz="1725" b="1" i="0">
                <a:solidFill>
                  <a:srgbClr val="E00000"/>
                </a:solidFill>
                <a:latin typeface="Cambria" panose="02040503050406030204"/>
                <a:ea typeface="Cambria" panose="02040503050406030204"/>
                <a:cs typeface="Cambria" panose="02040503050406030204"/>
              </a:defRPr>
            </a:pPr>
            <a:r>
              <a:rPr sz="1725" b="1" i="0">
                <a:solidFill>
                  <a:srgbClr val="E00000"/>
                </a:solidFill>
                <a:latin typeface="Cambria" panose="02040503050406030204"/>
                <a:ea typeface="Cambria" panose="02040503050406030204"/>
                <a:cs typeface="Cambria" panose="02040503050406030204"/>
              </a:rPr>
              <a:t>Giá trị dự kiến khi dữ liệu và quy trình được khép kín</a:t>
            </a:r>
            <a:endParaRPr sz="1725" b="1" i="0">
              <a:solidFill>
                <a:srgbClr val="E00000"/>
              </a:solidFill>
              <a:latin typeface="Cambria" panose="02040503050406030204"/>
              <a:ea typeface="Cambria" panose="02040503050406030204"/>
              <a:cs typeface="Cambria" panose="02040503050406030204"/>
            </a:endParaRPr>
          </a:p>
        </p:txBody>
      </p:sp>
      <p:sp>
        <p:nvSpPr>
          <p:cNvPr id="8" name="Rounded Rectangle 7"/>
          <p:cNvSpPr>
            <a:spLocks noGrp="1"/>
          </p:cNvSpPr>
          <p:nvPr/>
        </p:nvSpPr>
        <p:spPr>
          <a:xfrm>
            <a:off x="781050" y="4686300"/>
            <a:ext cx="10553700" cy="1066800"/>
          </a:xfrm>
          <a:prstGeom prst="roundRect">
            <a:avLst>
              <a:gd name="adj" fmla="val 7143"/>
            </a:avLst>
          </a:prstGeom>
          <a:solidFill>
            <a:srgbClr val="E8F2E2"/>
          </a:solidFill>
          <a:ln w="9525">
            <a:solidFill>
              <a:srgbClr val="5FAE3E"/>
            </a:solidFill>
          </a:ln>
        </p:spPr>
        <p:txBody>
          <a:bodyPr wrap="square" lIns="38100" tIns="19050" rIns="38100" bIns="19050" anchor="ctr">
            <a:normAutofit/>
          </a:bodyPr>
          <a:lstStyle/>
          <a:p>
            <a:pPr algn="ctr">
              <a:lnSpc>
                <a:spcPct val="100000"/>
              </a:lnSpc>
              <a:buNone/>
              <a:defRPr sz="1875" b="1" i="0">
                <a:solidFill>
                  <a:srgbClr val="17212B"/>
                </a:solidFill>
                <a:latin typeface="Cambria" panose="02040503050406030204"/>
                <a:ea typeface="Cambria" panose="02040503050406030204"/>
                <a:cs typeface="Cambria" panose="02040503050406030204"/>
              </a:defRPr>
            </a:pPr>
            <a:r>
              <a:rPr sz="1875" b="1" i="0">
                <a:solidFill>
                  <a:srgbClr val="17212B"/>
                </a:solidFill>
                <a:latin typeface="Cambria" panose="02040503050406030204"/>
                <a:ea typeface="Cambria" panose="02040503050406030204"/>
                <a:cs typeface="Cambria" panose="02040503050406030204"/>
              </a:rPr>
              <a:t>Một nguồn dữ liệu vận hành để biết xe nào sẵn sàng, công việc nào đang chậm, chi phí phát sinh ở đâu và ai chịu trách nhiệm xử lý.</a:t>
            </a:r>
            <a:endParaRPr sz="1875" b="1" i="0">
              <a:solidFill>
                <a:srgbClr val="17212B"/>
              </a:solidFill>
              <a:latin typeface="Cambria" panose="02040503050406030204"/>
              <a:ea typeface="Cambria" panose="02040503050406030204"/>
              <a:cs typeface="Cambria" panose="02040503050406030204"/>
            </a:endParaRPr>
          </a:p>
        </p:txBody>
      </p:sp>
      <p:sp>
        <p:nvSpPr>
          <p:cNvPr id="9" name="Rectangle 8"/>
          <p:cNvSpPr>
            <a:spLocks noGrp="1"/>
          </p:cNvSpPr>
          <p:nvPr/>
        </p:nvSpPr>
        <p:spPr>
          <a:xfrm>
            <a:off x="266700" y="6534150"/>
            <a:ext cx="7429500" cy="190500"/>
          </a:xfrm>
          <a:prstGeom prst="rect">
            <a:avLst/>
          </a:prstGeom>
          <a:noFill/>
          <a:ln w="0">
            <a:noFill/>
          </a:ln>
        </p:spPr>
        <p:txBody>
          <a:bodyPr wrap="square" lIns="38100" tIns="19050" rIns="38100" bIns="19050" anchor="ctr">
            <a:normAutofit/>
          </a:bodyPr>
          <a:lstStyle/>
          <a:p>
            <a:pPr algn="l">
              <a:lnSpc>
                <a:spcPct val="100000"/>
              </a:lnSpc>
              <a:buNone/>
              <a:defRPr sz="825" b="0" i="1">
                <a:solidFill>
                  <a:srgbClr val="8A8F93"/>
                </a:solidFill>
                <a:latin typeface="Cambria" panose="02040503050406030204"/>
                <a:ea typeface="Cambria" panose="02040503050406030204"/>
                <a:cs typeface="Cambria" panose="02040503050406030204"/>
              </a:defRPr>
            </a:pPr>
            <a:r>
              <a:rPr sz="825" b="0" i="1">
                <a:solidFill>
                  <a:srgbClr val="8A8F93"/>
                </a:solidFill>
                <a:latin typeface="Cambria" panose="02040503050406030204"/>
                <a:ea typeface="Cambria" panose="02040503050406030204"/>
                <a:cs typeface="Cambria" panose="02040503050406030204"/>
              </a:rPr>
              <a:t>Giới thiệu phần mềm và tiến độ phát triển | THACO AGRI Fleet | 21/09/2026</a:t>
            </a:r>
            <a:endParaRPr sz="825" b="0" i="1">
              <a:solidFill>
                <a:srgbClr val="8A8F93"/>
              </a:solidFill>
              <a:latin typeface="Cambria" panose="02040503050406030204"/>
              <a:ea typeface="Cambria" panose="02040503050406030204"/>
              <a:cs typeface="Cambria" panose="02040503050406030204"/>
            </a:endParaRPr>
          </a:p>
        </p:txBody>
      </p:sp>
      <p:sp>
        <p:nvSpPr>
          <p:cNvPr id="10" name="Rectangle 9"/>
          <p:cNvSpPr>
            <a:spLocks noGrp="1"/>
          </p:cNvSpPr>
          <p:nvPr/>
        </p:nvSpPr>
        <p:spPr>
          <a:xfrm>
            <a:off x="11658600" y="6534150"/>
            <a:ext cx="228600" cy="190500"/>
          </a:xfrm>
          <a:prstGeom prst="rect">
            <a:avLst/>
          </a:prstGeom>
          <a:noFill/>
          <a:ln w="0">
            <a:noFill/>
          </a:ln>
        </p:spPr>
        <p:txBody>
          <a:bodyPr wrap="square" lIns="38100" tIns="19050" rIns="38100" bIns="19050" anchor="ctr">
            <a:normAutofit/>
          </a:bodyPr>
          <a:lstStyle/>
          <a:p>
            <a:pPr algn="r">
              <a:lnSpc>
                <a:spcPct val="100000"/>
              </a:lnSpc>
              <a:buNone/>
              <a:defRPr sz="825" b="0" i="0">
                <a:solidFill>
                  <a:srgbClr val="8A8F93"/>
                </a:solidFill>
                <a:latin typeface="Cambria" panose="02040503050406030204"/>
                <a:ea typeface="Cambria" panose="02040503050406030204"/>
                <a:cs typeface="Cambria" panose="02040503050406030204"/>
              </a:defRPr>
            </a:pPr>
            <a:r>
              <a:rPr sz="825" b="0" i="0">
                <a:solidFill>
                  <a:srgbClr val="8A8F93"/>
                </a:solidFill>
                <a:latin typeface="Cambria" panose="02040503050406030204"/>
                <a:ea typeface="Cambria" panose="02040503050406030204"/>
                <a:cs typeface="Cambria" panose="02040503050406030204"/>
              </a:rPr>
              <a:t>3</a:t>
            </a:r>
            <a:endParaRPr sz="825" b="0" i="0">
              <a:solidFill>
                <a:srgbClr val="8A8F93"/>
              </a:solidFill>
              <a:latin typeface="Cambria" panose="02040503050406030204"/>
              <a:ea typeface="Cambria" panose="02040503050406030204"/>
              <a:cs typeface="Cambria" panose="02040503050406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slide-title"/>
          <p:cNvSpPr>
            <a:spLocks noGrp="1"/>
          </p:cNvSpPr>
          <p:nvPr/>
        </p:nvSpPr>
        <p:spPr>
          <a:xfrm>
            <a:off x="2571750" y="142875"/>
            <a:ext cx="9191625" cy="590550"/>
          </a:xfrm>
          <a:prstGeom prst="rect">
            <a:avLst/>
          </a:prstGeom>
          <a:noFill/>
          <a:ln w="0">
            <a:noFill/>
          </a:ln>
        </p:spPr>
        <p:txBody>
          <a:bodyPr wrap="square" lIns="38100" tIns="19050" rIns="38100" bIns="19050" anchor="ctr">
            <a:normAutofit/>
          </a:bodyPr>
          <a:lstStyle/>
          <a:p>
            <a:pPr algn="ctr">
              <a:lnSpc>
                <a:spcPct val="100000"/>
              </a:lnSpc>
              <a:buNone/>
              <a:defRPr sz="2100" b="1" i="0">
                <a:solidFill>
                  <a:srgbClr val="E00000"/>
                </a:solidFill>
                <a:latin typeface="Cambria" panose="02040503050406030204"/>
                <a:ea typeface="Cambria" panose="02040503050406030204"/>
                <a:cs typeface="Cambria" panose="02040503050406030204"/>
              </a:defRPr>
            </a:pPr>
            <a:r>
              <a:rPr sz="2100" b="1" i="0">
                <a:solidFill>
                  <a:srgbClr val="E00000"/>
                </a:solidFill>
                <a:latin typeface="Cambria" panose="02040503050406030204"/>
                <a:ea typeface="Cambria" panose="02040503050406030204"/>
                <a:cs typeface="Cambria" panose="02040503050406030204"/>
              </a:rPr>
              <a:t>ĐỐI TƯỢNG SỬ DỤNG VÀ KIẾN TRÚC</a:t>
            </a:r>
            <a:endParaRPr sz="2100" b="1" i="0">
              <a:solidFill>
                <a:srgbClr val="E00000"/>
              </a:solidFill>
              <a:latin typeface="Cambria" panose="02040503050406030204"/>
              <a:ea typeface="Cambria" panose="02040503050406030204"/>
              <a:cs typeface="Cambria" panose="02040503050406030204"/>
            </a:endParaRPr>
          </a:p>
        </p:txBody>
      </p:sp>
      <p:sp>
        <p:nvSpPr>
          <p:cNvPr id="2" name="Rectangle 1"/>
          <p:cNvSpPr>
            <a:spLocks noGrp="1"/>
          </p:cNvSpPr>
          <p:nvPr/>
        </p:nvSpPr>
        <p:spPr>
          <a:xfrm>
            <a:off x="523875" y="1000125"/>
            <a:ext cx="3429000" cy="304800"/>
          </a:xfrm>
          <a:prstGeom prst="rect">
            <a:avLst/>
          </a:prstGeom>
          <a:noFill/>
          <a:ln w="0">
            <a:noFill/>
          </a:ln>
        </p:spPr>
        <p:txBody>
          <a:bodyPr wrap="square" lIns="38100" tIns="19050" rIns="38100" bIns="19050" anchor="t">
            <a:normAutofit/>
          </a:bodyPr>
          <a:lstStyle/>
          <a:p>
            <a:pPr algn="l">
              <a:lnSpc>
                <a:spcPct val="100000"/>
              </a:lnSpc>
              <a:buNone/>
              <a:defRPr sz="1725" b="1" i="0">
                <a:solidFill>
                  <a:srgbClr val="006B35"/>
                </a:solidFill>
                <a:latin typeface="Cambria" panose="02040503050406030204"/>
                <a:ea typeface="Cambria" panose="02040503050406030204"/>
                <a:cs typeface="Cambria" panose="02040503050406030204"/>
              </a:defRPr>
            </a:pPr>
            <a:r>
              <a:rPr sz="1725" b="1" i="0">
                <a:solidFill>
                  <a:srgbClr val="006B35"/>
                </a:solidFill>
                <a:latin typeface="Cambria" panose="02040503050406030204"/>
                <a:ea typeface="Cambria" panose="02040503050406030204"/>
                <a:cs typeface="Cambria" panose="02040503050406030204"/>
              </a:rPr>
              <a:t>Vai trò và công việc chính</a:t>
            </a:r>
            <a:endParaRPr sz="1725" b="1" i="0">
              <a:solidFill>
                <a:srgbClr val="006B35"/>
              </a:solidFill>
              <a:latin typeface="Cambria" panose="02040503050406030204"/>
              <a:ea typeface="Cambria" panose="02040503050406030204"/>
              <a:cs typeface="Cambria" panose="02040503050406030204"/>
            </a:endParaRPr>
          </a:p>
        </p:txBody>
      </p:sp>
      <p:graphicFrame>
        <p:nvGraphicFramePr>
          <p:cNvPr id="11" name="Table 10"/>
          <p:cNvGraphicFramePr/>
          <p:nvPr/>
        </p:nvGraphicFramePr>
        <p:xfrm>
          <a:off x="476250" y="1381125"/>
          <a:ext cx="11239500" cy="3143250"/>
        </p:xfrm>
        <a:graphic>
          <a:graphicData uri="http://schemas.openxmlformats.org/drawingml/2006/table">
            <a:tbl>
              <a:tblPr/>
              <a:tblGrid>
                <a:gridCol w="3143250"/>
                <a:gridCol w="8096250"/>
              </a:tblGrid>
              <a:tr h="457200">
                <a:tc>
                  <a:txBody>
                    <a:bodyPr/>
                    <a:lstStyle/>
                    <a:p>
                      <a:r>
                        <a:t>NHÓM NGƯỜI DÙNG</a:t>
                      </a:r>
                    </a:p>
                  </a:txBody>
                  <a:tcPr/>
                </a:tc>
                <a:tc>
                  <a:txBody>
                    <a:bodyPr/>
                    <a:lstStyle/>
                    <a:p>
                      <a:r>
                        <a:t>CÔNG VIỆC TRÊN HỆ THỐNG</a:t>
                      </a:r>
                    </a:p>
                  </a:txBody>
                  <a:tcPr/>
                </a:tc>
              </a:tr>
              <a:tr h="533400">
                <a:tc>
                  <a:txBody>
                    <a:bodyPr/>
                    <a:lstStyle/>
                    <a:p>
                      <a:r>
                        <a:t>Ban Xe cơ giới / điều hành</a:t>
                      </a:r>
                    </a:p>
                  </a:txBody>
                  <a:tcPr/>
                </a:tc>
                <a:tc>
                  <a:txBody>
                    <a:bodyPr/>
                    <a:lstStyle/>
                    <a:p>
                      <a:r>
                        <a:t>Lập kế hoạch, phân bổ xe, theo dõi tiến độ và xử lý điều chỉnh</a:t>
                      </a:r>
                    </a:p>
                  </a:txBody>
                  <a:tcPr/>
                </a:tc>
              </a:tr>
              <a:tr h="533400">
                <a:tc>
                  <a:txBody>
                    <a:bodyPr/>
                    <a:lstStyle/>
                    <a:p>
                      <a:r>
                        <a:t>Đơn vị / nông trường</a:t>
                      </a:r>
                    </a:p>
                  </a:txBody>
                  <a:tcPr>
                    <a:solidFill>
                      <a:schemeClr val="accent4"/>
                    </a:solidFill>
                  </a:tcPr>
                </a:tc>
                <a:tc>
                  <a:txBody>
                    <a:bodyPr/>
                    <a:lstStyle/>
                    <a:p>
                      <a:r>
                        <a:t>Đăng ký nhu cầu, điều xe trong phạm vi kế hoạch, xác nhận kết quả</a:t>
                      </a:r>
                    </a:p>
                  </a:txBody>
                  <a:tcPr>
                    <a:solidFill>
                      <a:schemeClr val="accent4"/>
                    </a:solidFill>
                  </a:tcPr>
                </a:tc>
              </a:tr>
              <a:tr h="533400">
                <a:tc>
                  <a:txBody>
                    <a:bodyPr/>
                    <a:lstStyle/>
                    <a:p>
                      <a:r>
                        <a:t>Xưởng và kho nhiên liệu</a:t>
                      </a:r>
                    </a:p>
                  </a:txBody>
                  <a:tcPr/>
                </a:tc>
                <a:tc>
                  <a:txBody>
                    <a:bodyPr/>
                    <a:lstStyle/>
                    <a:p>
                      <a:r>
                        <a:t>Bảo dưỡng, sửa chữa, phụ tùng, tồn kho và cấp phát nhiên liệu</a:t>
                      </a:r>
                    </a:p>
                  </a:txBody>
                  <a:tcPr/>
                </a:tc>
              </a:tr>
              <a:tr h="533400">
                <a:tc>
                  <a:txBody>
                    <a:bodyPr/>
                    <a:lstStyle/>
                    <a:p>
                      <a:r>
                        <a:t>Lái xe</a:t>
                      </a:r>
                    </a:p>
                  </a:txBody>
                  <a:tcPr/>
                </a:tc>
                <a:tc>
                  <a:txBody>
                    <a:bodyPr/>
                    <a:lstStyle/>
                    <a:p>
                      <a:r>
                        <a:t>Nhận việc, bắt đầu hoặc kết thúc chuyến, gửi minh chứng và SOS</a:t>
                      </a:r>
                    </a:p>
                  </a:txBody>
                  <a:tcPr/>
                </a:tc>
              </a:tr>
              <a:tr h="533400">
                <a:tc>
                  <a:txBody>
                    <a:bodyPr/>
                    <a:lstStyle/>
                    <a:p>
                      <a:r>
                        <a:t>Lãnh đạo / quản trị</a:t>
                      </a:r>
                    </a:p>
                  </a:txBody>
                  <a:tcPr/>
                </a:tc>
                <a:tc>
                  <a:txBody>
                    <a:bodyPr/>
                    <a:lstStyle/>
                    <a:p>
                      <a:r>
                        <a:t>Dashboard, báo cáo, danh mục, người dùng, vai trò và phạm vi dữ liệu</a:t>
                      </a:r>
                    </a:p>
                  </a:txBody>
                  <a:tcPr/>
                </a:tc>
              </a:tr>
            </a:tbl>
          </a:graphicData>
        </a:graphic>
      </p:graphicFrame>
      <p:sp>
        <p:nvSpPr>
          <p:cNvPr id="4" name="Rectangle 3"/>
          <p:cNvSpPr>
            <a:spLocks noGrp="1"/>
          </p:cNvSpPr>
          <p:nvPr/>
        </p:nvSpPr>
        <p:spPr>
          <a:xfrm>
            <a:off x="523875" y="4810125"/>
            <a:ext cx="2667000" cy="304800"/>
          </a:xfrm>
          <a:prstGeom prst="rect">
            <a:avLst/>
          </a:prstGeom>
          <a:noFill/>
          <a:ln w="0">
            <a:noFill/>
          </a:ln>
        </p:spPr>
        <p:txBody>
          <a:bodyPr wrap="square" lIns="38100" tIns="19050" rIns="38100" bIns="19050" anchor="t">
            <a:normAutofit/>
          </a:bodyPr>
          <a:lstStyle/>
          <a:p>
            <a:pPr algn="l">
              <a:lnSpc>
                <a:spcPct val="100000"/>
              </a:lnSpc>
              <a:buNone/>
              <a:defRPr sz="1725" b="1" i="0">
                <a:solidFill>
                  <a:srgbClr val="006B35"/>
                </a:solidFill>
                <a:latin typeface="Cambria" panose="02040503050406030204"/>
                <a:ea typeface="Cambria" panose="02040503050406030204"/>
                <a:cs typeface="Cambria" panose="02040503050406030204"/>
              </a:defRPr>
            </a:pPr>
            <a:r>
              <a:rPr sz="1725" b="1" i="0">
                <a:solidFill>
                  <a:srgbClr val="006B35"/>
                </a:solidFill>
                <a:latin typeface="Cambria" panose="02040503050406030204"/>
                <a:ea typeface="Cambria" panose="02040503050406030204"/>
                <a:cs typeface="Cambria" panose="02040503050406030204"/>
              </a:rPr>
              <a:t>Kiến trúc triển khai</a:t>
            </a:r>
            <a:endParaRPr sz="1725" b="1" i="0">
              <a:solidFill>
                <a:srgbClr val="006B35"/>
              </a:solidFill>
              <a:latin typeface="Cambria" panose="02040503050406030204"/>
              <a:ea typeface="Cambria" panose="02040503050406030204"/>
              <a:cs typeface="Cambria" panose="02040503050406030204"/>
            </a:endParaRPr>
          </a:p>
        </p:txBody>
      </p:sp>
      <p:sp>
        <p:nvSpPr>
          <p:cNvPr id="5" name="Rounded Rectangle 4"/>
          <p:cNvSpPr>
            <a:spLocks noGrp="1"/>
          </p:cNvSpPr>
          <p:nvPr/>
        </p:nvSpPr>
        <p:spPr>
          <a:xfrm>
            <a:off x="523875" y="5219700"/>
            <a:ext cx="11144250" cy="552450"/>
          </a:xfrm>
          <a:prstGeom prst="roundRect">
            <a:avLst>
              <a:gd name="adj" fmla="val 10345"/>
            </a:avLst>
          </a:prstGeom>
          <a:solidFill>
            <a:srgbClr val="E8F2E2"/>
          </a:solidFill>
          <a:ln w="9525">
            <a:solidFill>
              <a:srgbClr val="5FAE3E"/>
            </a:solidFill>
          </a:ln>
        </p:spPr>
        <p:txBody>
          <a:bodyPr wrap="square" lIns="38100" tIns="19050" rIns="38100" bIns="19050" anchor="ctr">
            <a:normAutofit/>
          </a:bodyPr>
          <a:lstStyle/>
          <a:p>
            <a:pPr algn="ctr">
              <a:lnSpc>
                <a:spcPct val="100000"/>
              </a:lnSpc>
              <a:buNone/>
              <a:defRPr sz="1725" b="1" i="0">
                <a:solidFill>
                  <a:srgbClr val="17212B"/>
                </a:solidFill>
                <a:latin typeface="Cambria" panose="02040503050406030204"/>
                <a:ea typeface="Cambria" panose="02040503050406030204"/>
                <a:cs typeface="Cambria" panose="02040503050406030204"/>
              </a:defRPr>
            </a:pPr>
            <a:r>
              <a:rPr sz="1725" b="1" i="0">
                <a:solidFill>
                  <a:srgbClr val="17212B"/>
                </a:solidFill>
                <a:latin typeface="Cambria" panose="02040503050406030204"/>
                <a:ea typeface="Cambria" panose="02040503050406030204"/>
                <a:cs typeface="Cambria" panose="02040503050406030204"/>
              </a:rPr>
              <a:t>Web React/Vite, API NestJS, Prisma/MySQL và ứng dụng tài xế Expo/React Native</a:t>
            </a:r>
            <a:endParaRPr sz="1725" b="1" i="0">
              <a:solidFill>
                <a:srgbClr val="17212B"/>
              </a:solidFill>
              <a:latin typeface="Cambria" panose="02040503050406030204"/>
              <a:ea typeface="Cambria" panose="02040503050406030204"/>
              <a:cs typeface="Cambria" panose="02040503050406030204"/>
            </a:endParaRPr>
          </a:p>
        </p:txBody>
      </p:sp>
      <p:sp>
        <p:nvSpPr>
          <p:cNvPr id="6" name="Rectangle 5"/>
          <p:cNvSpPr>
            <a:spLocks noGrp="1"/>
          </p:cNvSpPr>
          <p:nvPr/>
        </p:nvSpPr>
        <p:spPr>
          <a:xfrm>
            <a:off x="571500" y="5905500"/>
            <a:ext cx="11049000" cy="342900"/>
          </a:xfrm>
          <a:prstGeom prst="rect">
            <a:avLst/>
          </a:prstGeom>
          <a:noFill/>
          <a:ln w="0">
            <a:noFill/>
          </a:ln>
        </p:spPr>
        <p:txBody>
          <a:bodyPr wrap="square" lIns="38100" tIns="19050" rIns="38100" bIns="19050" anchor="t">
            <a:normAutofit/>
          </a:bodyPr>
          <a:lstStyle/>
          <a:p>
            <a:pPr algn="ctr">
              <a:lnSpc>
                <a:spcPct val="100000"/>
              </a:lnSpc>
              <a:buNone/>
              <a:defRPr sz="1350" b="0" i="1">
                <a:solidFill>
                  <a:srgbClr val="59636E"/>
                </a:solidFill>
                <a:latin typeface="Cambria" panose="02040503050406030204"/>
                <a:ea typeface="Cambria" panose="02040503050406030204"/>
                <a:cs typeface="Cambria" panose="02040503050406030204"/>
              </a:defRPr>
            </a:pPr>
            <a:r>
              <a:rPr sz="1350" b="0" i="1">
                <a:solidFill>
                  <a:srgbClr val="59636E"/>
                </a:solidFill>
                <a:latin typeface="Cambria" panose="02040503050406030204"/>
                <a:ea typeface="Cambria" panose="02040503050406030204"/>
                <a:cs typeface="Cambria" panose="02040503050406030204"/>
              </a:rPr>
              <a:t>JWT và role guard đã có. Kiểm soát dữ liệu theo đơn vị cần tiếp tục chuẩn hóa ở từng service.</a:t>
            </a:r>
            <a:endParaRPr sz="1350" b="0" i="1">
              <a:solidFill>
                <a:srgbClr val="59636E"/>
              </a:solidFill>
              <a:latin typeface="Cambria" panose="02040503050406030204"/>
              <a:ea typeface="Cambria" panose="02040503050406030204"/>
              <a:cs typeface="Cambria" panose="02040503050406030204"/>
            </a:endParaRPr>
          </a:p>
        </p:txBody>
      </p:sp>
      <p:sp>
        <p:nvSpPr>
          <p:cNvPr id="7" name="Rectangle 6"/>
          <p:cNvSpPr>
            <a:spLocks noGrp="1"/>
          </p:cNvSpPr>
          <p:nvPr/>
        </p:nvSpPr>
        <p:spPr>
          <a:xfrm>
            <a:off x="266700" y="6534150"/>
            <a:ext cx="7429500" cy="190500"/>
          </a:xfrm>
          <a:prstGeom prst="rect">
            <a:avLst/>
          </a:prstGeom>
          <a:noFill/>
          <a:ln w="0">
            <a:noFill/>
          </a:ln>
        </p:spPr>
        <p:txBody>
          <a:bodyPr wrap="square" lIns="38100" tIns="19050" rIns="38100" bIns="19050" anchor="ctr">
            <a:normAutofit/>
          </a:bodyPr>
          <a:lstStyle/>
          <a:p>
            <a:pPr algn="l">
              <a:lnSpc>
                <a:spcPct val="100000"/>
              </a:lnSpc>
              <a:buNone/>
              <a:defRPr sz="825" b="0" i="1">
                <a:solidFill>
                  <a:srgbClr val="8A8F93"/>
                </a:solidFill>
                <a:latin typeface="Cambria" panose="02040503050406030204"/>
                <a:ea typeface="Cambria" panose="02040503050406030204"/>
                <a:cs typeface="Cambria" panose="02040503050406030204"/>
              </a:defRPr>
            </a:pPr>
            <a:r>
              <a:rPr sz="825" b="0" i="1">
                <a:solidFill>
                  <a:srgbClr val="8A8F93"/>
                </a:solidFill>
                <a:latin typeface="Cambria" panose="02040503050406030204"/>
                <a:ea typeface="Cambria" panose="02040503050406030204"/>
                <a:cs typeface="Cambria" panose="02040503050406030204"/>
              </a:rPr>
              <a:t>Giới thiệu phần mềm và tiến độ phát triển | THACO AGRI Fleet | 21/09/2026</a:t>
            </a:r>
            <a:endParaRPr sz="825" b="0" i="1">
              <a:solidFill>
                <a:srgbClr val="8A8F93"/>
              </a:solidFill>
              <a:latin typeface="Cambria" panose="02040503050406030204"/>
              <a:ea typeface="Cambria" panose="02040503050406030204"/>
              <a:cs typeface="Cambria" panose="02040503050406030204"/>
            </a:endParaRPr>
          </a:p>
        </p:txBody>
      </p:sp>
      <p:sp>
        <p:nvSpPr>
          <p:cNvPr id="8" name="Rectangle 7"/>
          <p:cNvSpPr>
            <a:spLocks noGrp="1"/>
          </p:cNvSpPr>
          <p:nvPr/>
        </p:nvSpPr>
        <p:spPr>
          <a:xfrm>
            <a:off x="11658600" y="6534150"/>
            <a:ext cx="228600" cy="190500"/>
          </a:xfrm>
          <a:prstGeom prst="rect">
            <a:avLst/>
          </a:prstGeom>
          <a:noFill/>
          <a:ln w="0">
            <a:noFill/>
          </a:ln>
        </p:spPr>
        <p:txBody>
          <a:bodyPr wrap="square" lIns="38100" tIns="19050" rIns="38100" bIns="19050" anchor="ctr">
            <a:normAutofit/>
          </a:bodyPr>
          <a:lstStyle/>
          <a:p>
            <a:pPr algn="r">
              <a:lnSpc>
                <a:spcPct val="100000"/>
              </a:lnSpc>
              <a:buNone/>
              <a:defRPr sz="825" b="0" i="0">
                <a:solidFill>
                  <a:srgbClr val="8A8F93"/>
                </a:solidFill>
                <a:latin typeface="Cambria" panose="02040503050406030204"/>
                <a:ea typeface="Cambria" panose="02040503050406030204"/>
                <a:cs typeface="Cambria" panose="02040503050406030204"/>
              </a:defRPr>
            </a:pPr>
            <a:r>
              <a:rPr sz="825" b="0" i="0">
                <a:solidFill>
                  <a:srgbClr val="8A8F93"/>
                </a:solidFill>
                <a:latin typeface="Cambria" panose="02040503050406030204"/>
                <a:ea typeface="Cambria" panose="02040503050406030204"/>
                <a:cs typeface="Cambria" panose="02040503050406030204"/>
              </a:rPr>
              <a:t>4</a:t>
            </a:r>
            <a:endParaRPr sz="825" b="0" i="0">
              <a:solidFill>
                <a:srgbClr val="8A8F93"/>
              </a:solidFill>
              <a:latin typeface="Cambria" panose="02040503050406030204"/>
              <a:ea typeface="Cambria" panose="02040503050406030204"/>
              <a:cs typeface="Cambria" panose="02040503050406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slide-title"/>
          <p:cNvSpPr>
            <a:spLocks noGrp="1"/>
          </p:cNvSpPr>
          <p:nvPr/>
        </p:nvSpPr>
        <p:spPr>
          <a:xfrm>
            <a:off x="2571750" y="142875"/>
            <a:ext cx="9191625" cy="590550"/>
          </a:xfrm>
          <a:prstGeom prst="rect">
            <a:avLst/>
          </a:prstGeom>
          <a:noFill/>
          <a:ln w="0">
            <a:noFill/>
          </a:ln>
        </p:spPr>
        <p:txBody>
          <a:bodyPr wrap="square" lIns="38100" tIns="19050" rIns="38100" bIns="19050" anchor="ctr">
            <a:normAutofit/>
          </a:bodyPr>
          <a:lstStyle/>
          <a:p>
            <a:pPr algn="ctr">
              <a:lnSpc>
                <a:spcPct val="100000"/>
              </a:lnSpc>
              <a:buNone/>
              <a:defRPr sz="2100" b="1" i="0">
                <a:solidFill>
                  <a:srgbClr val="E00000"/>
                </a:solidFill>
                <a:latin typeface="Cambria" panose="02040503050406030204"/>
                <a:ea typeface="Cambria" panose="02040503050406030204"/>
                <a:cs typeface="Cambria" panose="02040503050406030204"/>
              </a:defRPr>
            </a:pPr>
            <a:r>
              <a:rPr sz="2100" b="1" i="0">
                <a:solidFill>
                  <a:srgbClr val="E00000"/>
                </a:solidFill>
                <a:latin typeface="Cambria" panose="02040503050406030204"/>
                <a:ea typeface="Cambria" panose="02040503050406030204"/>
                <a:cs typeface="Cambria" panose="02040503050406030204"/>
              </a:rPr>
              <a:t>CÁC NGHIỆP VỤ CHÍNH NGOÀI ĐIỀU XE</a:t>
            </a:r>
            <a:endParaRPr sz="2100" b="1" i="0">
              <a:solidFill>
                <a:srgbClr val="E00000"/>
              </a:solidFill>
              <a:latin typeface="Cambria" panose="02040503050406030204"/>
              <a:ea typeface="Cambria" panose="02040503050406030204"/>
              <a:cs typeface="Cambria" panose="02040503050406030204"/>
            </a:endParaRPr>
          </a:p>
        </p:txBody>
      </p:sp>
      <p:graphicFrame>
        <p:nvGraphicFramePr>
          <p:cNvPr id="6" name="Table 5"/>
          <p:cNvGraphicFramePr/>
          <p:nvPr/>
        </p:nvGraphicFramePr>
        <p:xfrm>
          <a:off x="381000" y="952500"/>
          <a:ext cx="11430000" cy="5219700"/>
        </p:xfrm>
        <a:graphic>
          <a:graphicData uri="http://schemas.openxmlformats.org/drawingml/2006/table">
            <a:tbl>
              <a:tblPr/>
              <a:tblGrid>
                <a:gridCol w="2333625"/>
                <a:gridCol w="7667625"/>
                <a:gridCol w="1428750"/>
              </a:tblGrid>
              <a:tr h="419100">
                <a:tc>
                  <a:txBody>
                    <a:bodyPr/>
                    <a:lstStyle/>
                    <a:p>
                      <a:r>
                        <a:t>NGHIỆP VỤ</a:t>
                      </a:r>
                    </a:p>
                  </a:txBody>
                  <a:tcPr/>
                </a:tc>
                <a:tc>
                  <a:txBody>
                    <a:bodyPr/>
                    <a:lstStyle/>
                    <a:p>
                      <a:r>
                        <a:t>THAO TÁC CỤ THỂ TRÊN HỆ THỐNG</a:t>
                      </a:r>
                    </a:p>
                  </a:txBody>
                  <a:tcPr/>
                </a:tc>
                <a:tc>
                  <a:txBody>
                    <a:bodyPr/>
                    <a:lstStyle/>
                    <a:p>
                      <a:r>
                        <a:t>MODULE</a:t>
                      </a:r>
                    </a:p>
                  </a:txBody>
                  <a:tcPr/>
                </a:tc>
              </a:tr>
              <a:tr h="590550">
                <a:tc>
                  <a:txBody>
                    <a:bodyPr/>
                    <a:lstStyle/>
                    <a:p>
                      <a:r>
                        <a:t>Kế hoạch sản xuất</a:t>
                      </a:r>
                    </a:p>
                  </a:txBody>
                  <a:tcPr/>
                </a:tc>
                <a:tc>
                  <a:txBody>
                    <a:bodyPr/>
                    <a:lstStyle/>
                    <a:p>
                      <a:r>
                        <a:t>Lập kế hoạch theo lô/công việc, phê duyệt, điều chỉnh có lý do, theo dõi tiến độ và sinh lệnh</a:t>
                      </a:r>
                    </a:p>
                  </a:txBody>
                  <a:tcPr/>
                </a:tc>
                <a:tc>
                  <a:txBody>
                    <a:bodyPr/>
                    <a:lstStyle/>
                    <a:p>
                      <a:pPr algn="ctr"/>
                      <a:r>
                        <a:rPr sz="1200" b="1">
                          <a:solidFill>
                            <a:srgbClr val="006B35"/>
                          </a:solidFill>
                          <a:latin typeface="Cambria" panose="02040503050406030204"/>
                          <a:ea typeface="Cambria" panose="02040503050406030204"/>
                          <a:cs typeface="Cambria" panose="02040503050406030204"/>
                        </a:rPr>
                        <a:t>D</a:t>
                      </a:r>
                      <a:endParaRPr sz="1200" b="1">
                        <a:solidFill>
                          <a:srgbClr val="006B35"/>
                        </a:solidFill>
                        <a:latin typeface="Cambria" panose="02040503050406030204"/>
                        <a:ea typeface="Cambria" panose="02040503050406030204"/>
                        <a:cs typeface="Cambria" panose="02040503050406030204"/>
                      </a:endParaRPr>
                    </a:p>
                  </a:txBody>
                  <a:tcPr anchor="ctr"/>
                </a:tc>
              </a:tr>
              <a:tr h="590550">
                <a:tc>
                  <a:txBody>
                    <a:bodyPr/>
                    <a:lstStyle/>
                    <a:p>
                      <a:r>
                        <a:t>Vận chuyển</a:t>
                      </a:r>
                    </a:p>
                  </a:txBody>
                  <a:tcPr/>
                </a:tc>
                <a:tc>
                  <a:txBody>
                    <a:bodyPr/>
                    <a:lstStyle/>
                    <a:p>
                      <a:r>
                        <a:t>Khai báo hàng, tuyến, điểm lấy/giao, xếp dỡ, hành trình về bãi, đối soát và nghiệm thu</a:t>
                      </a:r>
                    </a:p>
                  </a:txBody>
                  <a:tcPr/>
                </a:tc>
                <a:tc>
                  <a:txBody>
                    <a:bodyPr/>
                    <a:lstStyle/>
                    <a:p>
                      <a:pPr algn="ctr"/>
                      <a:r>
                        <a:rPr sz="1200" b="1">
                          <a:solidFill>
                            <a:srgbClr val="006B35"/>
                          </a:solidFill>
                          <a:latin typeface="Cambria" panose="02040503050406030204"/>
                          <a:ea typeface="Cambria" panose="02040503050406030204"/>
                          <a:cs typeface="Cambria" panose="02040503050406030204"/>
                        </a:rPr>
                        <a:t>D</a:t>
                      </a:r>
                      <a:endParaRPr sz="1200" b="1">
                        <a:solidFill>
                          <a:srgbClr val="006B35"/>
                        </a:solidFill>
                        <a:latin typeface="Cambria" panose="02040503050406030204"/>
                        <a:ea typeface="Cambria" panose="02040503050406030204"/>
                        <a:cs typeface="Cambria" panose="02040503050406030204"/>
                      </a:endParaRPr>
                    </a:p>
                  </a:txBody>
                  <a:tcPr anchor="ctr"/>
                </a:tc>
              </a:tr>
              <a:tr h="590550">
                <a:tc>
                  <a:txBody>
                    <a:bodyPr/>
                    <a:lstStyle/>
                    <a:p>
                      <a:r>
                        <a:t>Đội xe và thiết bị</a:t>
                      </a:r>
                    </a:p>
                  </a:txBody>
                  <a:tcPr/>
                </a:tc>
                <a:tc>
                  <a:txBody>
                    <a:bodyPr/>
                    <a:lstStyle/>
                    <a:p>
                      <a:r>
                        <a:t>Quản lý hồ sơ xe, phân về đội, gán tài xế, gắn/tháo nông cụ, lịch sử và khả dụng</a:t>
                      </a:r>
                    </a:p>
                  </a:txBody>
                  <a:tcPr/>
                </a:tc>
                <a:tc>
                  <a:txBody>
                    <a:bodyPr/>
                    <a:lstStyle/>
                    <a:p>
                      <a:pPr algn="ctr"/>
                      <a:r>
                        <a:rPr sz="1200" b="1">
                          <a:solidFill>
                            <a:srgbClr val="006B35"/>
                          </a:solidFill>
                          <a:latin typeface="Cambria" panose="02040503050406030204"/>
                          <a:ea typeface="Cambria" panose="02040503050406030204"/>
                          <a:cs typeface="Cambria" panose="02040503050406030204"/>
                        </a:rPr>
                        <a:t>C</a:t>
                      </a:r>
                      <a:endParaRPr sz="1200" b="1">
                        <a:solidFill>
                          <a:srgbClr val="006B35"/>
                        </a:solidFill>
                        <a:latin typeface="Cambria" panose="02040503050406030204"/>
                        <a:ea typeface="Cambria" panose="02040503050406030204"/>
                        <a:cs typeface="Cambria" panose="02040503050406030204"/>
                      </a:endParaRPr>
                    </a:p>
                  </a:txBody>
                  <a:tcPr anchor="ctr"/>
                </a:tc>
              </a:tr>
              <a:tr h="590550">
                <a:tc>
                  <a:txBody>
                    <a:bodyPr/>
                    <a:lstStyle/>
                    <a:p>
                      <a:r>
                        <a:t>Bảo dưỡng và sửa chữa</a:t>
                      </a:r>
                    </a:p>
                  </a:txBody>
                  <a:tcPr/>
                </a:tc>
                <a:tc>
                  <a:txBody>
                    <a:bodyPr/>
                    <a:lstStyle/>
                    <a:p>
                      <a:r>
                        <a:t>Theo dõi giờ máy/ODO, lập kế hoạch BTSC, phiếu sửa chữa, phụ tùng còn nợ và bàn giao xe</a:t>
                      </a:r>
                    </a:p>
                  </a:txBody>
                  <a:tcPr/>
                </a:tc>
                <a:tc>
                  <a:txBody>
                    <a:bodyPr/>
                    <a:lstStyle/>
                    <a:p>
                      <a:pPr algn="ctr"/>
                      <a:r>
                        <a:rPr sz="1200" b="1">
                          <a:solidFill>
                            <a:srgbClr val="006B35"/>
                          </a:solidFill>
                          <a:latin typeface="Cambria" panose="02040503050406030204"/>
                          <a:ea typeface="Cambria" panose="02040503050406030204"/>
                          <a:cs typeface="Cambria" panose="02040503050406030204"/>
                        </a:rPr>
                        <a:t>E</a:t>
                      </a:r>
                      <a:endParaRPr sz="1200" b="1">
                        <a:solidFill>
                          <a:srgbClr val="006B35"/>
                        </a:solidFill>
                        <a:latin typeface="Cambria" panose="02040503050406030204"/>
                        <a:ea typeface="Cambria" panose="02040503050406030204"/>
                        <a:cs typeface="Cambria" panose="02040503050406030204"/>
                      </a:endParaRPr>
                    </a:p>
                  </a:txBody>
                  <a:tcPr anchor="ctr"/>
                </a:tc>
              </a:tr>
              <a:tr h="590550">
                <a:tc>
                  <a:txBody>
                    <a:bodyPr/>
                    <a:lstStyle/>
                    <a:p>
                      <a:r>
                        <a:t>Nhiên liệu</a:t>
                      </a:r>
                    </a:p>
                  </a:txBody>
                  <a:tcPr/>
                </a:tc>
                <a:tc>
                  <a:txBody>
                    <a:bodyPr/>
                    <a:lstStyle/>
                    <a:p>
                      <a:r>
                        <a:t>Quản lý kho/bồn, phiếu cấp phát, định mức theo xe, chênh lệch tiêu hao và đối soát tồn</a:t>
                      </a:r>
                    </a:p>
                  </a:txBody>
                  <a:tcPr/>
                </a:tc>
                <a:tc>
                  <a:txBody>
                    <a:bodyPr/>
                    <a:lstStyle/>
                    <a:p>
                      <a:pPr algn="ctr"/>
                      <a:r>
                        <a:rPr sz="1200" b="1">
                          <a:solidFill>
                            <a:srgbClr val="006B35"/>
                          </a:solidFill>
                          <a:latin typeface="Cambria" panose="02040503050406030204"/>
                          <a:ea typeface="Cambria" panose="02040503050406030204"/>
                          <a:cs typeface="Cambria" panose="02040503050406030204"/>
                        </a:rPr>
                        <a:t>J</a:t>
                      </a:r>
                      <a:endParaRPr sz="1200" b="1">
                        <a:solidFill>
                          <a:srgbClr val="006B35"/>
                        </a:solidFill>
                        <a:latin typeface="Cambria" panose="02040503050406030204"/>
                        <a:ea typeface="Cambria" panose="02040503050406030204"/>
                        <a:cs typeface="Cambria" panose="02040503050406030204"/>
                      </a:endParaRPr>
                    </a:p>
                  </a:txBody>
                  <a:tcPr anchor="ctr"/>
                </a:tc>
              </a:tr>
              <a:tr h="590550">
                <a:tc>
                  <a:txBody>
                    <a:bodyPr/>
                    <a:lstStyle/>
                    <a:p>
                      <a:r>
                        <a:t>Lái xe</a:t>
                      </a:r>
                    </a:p>
                  </a:txBody>
                  <a:tcPr/>
                </a:tc>
                <a:tc>
                  <a:txBody>
                    <a:bodyPr/>
                    <a:lstStyle/>
                    <a:p>
                      <a:r>
                        <a:t>Hồ sơ, GPLX/sức khỏe, ca làm, nhận việc trên mobile, tiến độ, ảnh, SOS và KPI</a:t>
                      </a:r>
                    </a:p>
                  </a:txBody>
                  <a:tcPr/>
                </a:tc>
                <a:tc>
                  <a:txBody>
                    <a:bodyPr/>
                    <a:lstStyle/>
                    <a:p>
                      <a:pPr algn="ctr"/>
                      <a:r>
                        <a:rPr sz="1200" b="1">
                          <a:solidFill>
                            <a:srgbClr val="006B35"/>
                          </a:solidFill>
                          <a:latin typeface="Cambria" panose="02040503050406030204"/>
                          <a:ea typeface="Cambria" panose="02040503050406030204"/>
                          <a:cs typeface="Cambria" panose="02040503050406030204"/>
                        </a:rPr>
                        <a:t>I</a:t>
                      </a:r>
                      <a:endParaRPr sz="1200" b="1">
                        <a:solidFill>
                          <a:srgbClr val="006B35"/>
                        </a:solidFill>
                        <a:latin typeface="Cambria" panose="02040503050406030204"/>
                        <a:ea typeface="Cambria" panose="02040503050406030204"/>
                        <a:cs typeface="Cambria" panose="02040503050406030204"/>
                      </a:endParaRPr>
                    </a:p>
                  </a:txBody>
                  <a:tcPr anchor="ctr"/>
                </a:tc>
              </a:tr>
              <a:tr h="590550">
                <a:tc>
                  <a:txBody>
                    <a:bodyPr/>
                    <a:lstStyle/>
                    <a:p>
                      <a:r>
                        <a:t>GPS và cảnh báo</a:t>
                      </a:r>
                    </a:p>
                  </a:txBody>
                  <a:tcPr/>
                </a:tc>
                <a:tc>
                  <a:txBody>
                    <a:bodyPr/>
                    <a:lstStyle/>
                    <a:p>
                      <a:r>
                        <a:t>Vị trí hiện tại, lịch sử hành trình, cảnh báo mất tín hiệu, sai tuyến, vượt tốc, SOS và BTSC</a:t>
                      </a:r>
                    </a:p>
                  </a:txBody>
                  <a:tcPr/>
                </a:tc>
                <a:tc>
                  <a:txBody>
                    <a:bodyPr/>
                    <a:lstStyle/>
                    <a:p>
                      <a:pPr algn="ctr"/>
                      <a:r>
                        <a:rPr sz="1200" b="1">
                          <a:solidFill>
                            <a:srgbClr val="006B35"/>
                          </a:solidFill>
                          <a:latin typeface="Cambria" panose="02040503050406030204"/>
                          <a:ea typeface="Cambria" panose="02040503050406030204"/>
                          <a:cs typeface="Cambria" panose="02040503050406030204"/>
                        </a:rPr>
                        <a:t>B, K</a:t>
                      </a:r>
                      <a:endParaRPr sz="1200" b="1">
                        <a:solidFill>
                          <a:srgbClr val="006B35"/>
                        </a:solidFill>
                        <a:latin typeface="Cambria" panose="02040503050406030204"/>
                        <a:ea typeface="Cambria" panose="02040503050406030204"/>
                        <a:cs typeface="Cambria" panose="02040503050406030204"/>
                      </a:endParaRPr>
                    </a:p>
                  </a:txBody>
                  <a:tcPr anchor="ctr"/>
                </a:tc>
              </a:tr>
              <a:tr h="590550">
                <a:tc>
                  <a:txBody>
                    <a:bodyPr/>
                    <a:lstStyle/>
                    <a:p>
                      <a:r>
                        <a:t>Quản trị và báo cáo</a:t>
                      </a:r>
                    </a:p>
                  </a:txBody>
                  <a:tcPr/>
                </a:tc>
                <a:tc>
                  <a:txBody>
                    <a:bodyPr/>
                    <a:lstStyle/>
                    <a:p>
                      <a:r>
                        <a:t>Danh mục, import/export Excel, người dùng/vai trò, phạm vi đơn vị, dashboard và báo cáo quản trị</a:t>
                      </a:r>
                    </a:p>
                  </a:txBody>
                  <a:tcPr/>
                </a:tc>
                <a:tc>
                  <a:txBody>
                    <a:bodyPr/>
                    <a:lstStyle/>
                    <a:p>
                      <a:pPr algn="ctr"/>
                      <a:r>
                        <a:rPr sz="1200" b="1">
                          <a:solidFill>
                            <a:srgbClr val="006B35"/>
                          </a:solidFill>
                          <a:latin typeface="Cambria" panose="02040503050406030204"/>
                          <a:ea typeface="Cambria" panose="02040503050406030204"/>
                          <a:cs typeface="Cambria" panose="02040503050406030204"/>
                        </a:rPr>
                        <a:t>A, F, G, H</a:t>
                      </a:r>
                      <a:endParaRPr sz="1200" b="1">
                        <a:solidFill>
                          <a:srgbClr val="006B35"/>
                        </a:solidFill>
                        <a:latin typeface="Cambria" panose="02040503050406030204"/>
                        <a:ea typeface="Cambria" panose="02040503050406030204"/>
                        <a:cs typeface="Cambria" panose="02040503050406030204"/>
                      </a:endParaRPr>
                    </a:p>
                  </a:txBody>
                  <a:tcPr anchor="ctr"/>
                </a:tc>
              </a:tr>
            </a:tbl>
          </a:graphicData>
        </a:graphic>
      </p:graphicFrame>
      <p:sp>
        <p:nvSpPr>
          <p:cNvPr id="3" name="Rectangle 2"/>
          <p:cNvSpPr>
            <a:spLocks noGrp="1"/>
          </p:cNvSpPr>
          <p:nvPr/>
        </p:nvSpPr>
        <p:spPr>
          <a:xfrm>
            <a:off x="266700" y="6534150"/>
            <a:ext cx="7429500" cy="190500"/>
          </a:xfrm>
          <a:prstGeom prst="rect">
            <a:avLst/>
          </a:prstGeom>
          <a:noFill/>
          <a:ln w="0">
            <a:noFill/>
          </a:ln>
        </p:spPr>
        <p:txBody>
          <a:bodyPr wrap="square" lIns="38100" tIns="19050" rIns="38100" bIns="19050" anchor="ctr">
            <a:normAutofit/>
          </a:bodyPr>
          <a:lstStyle/>
          <a:p>
            <a:pPr algn="l">
              <a:lnSpc>
                <a:spcPct val="100000"/>
              </a:lnSpc>
              <a:buNone/>
              <a:defRPr sz="825" b="0" i="1">
                <a:solidFill>
                  <a:srgbClr val="8A8F93"/>
                </a:solidFill>
                <a:latin typeface="Cambria" panose="02040503050406030204"/>
                <a:ea typeface="Cambria" panose="02040503050406030204"/>
                <a:cs typeface="Cambria" panose="02040503050406030204"/>
              </a:defRPr>
            </a:pPr>
            <a:r>
              <a:rPr sz="825" b="0" i="1">
                <a:solidFill>
                  <a:srgbClr val="8A8F93"/>
                </a:solidFill>
                <a:latin typeface="Cambria" panose="02040503050406030204"/>
                <a:ea typeface="Cambria" panose="02040503050406030204"/>
                <a:cs typeface="Cambria" panose="02040503050406030204"/>
              </a:rPr>
              <a:t>Giới thiệu phần mềm và tiến độ phát triển | THACO AGRI Fleet | 21/09/2026</a:t>
            </a:r>
            <a:endParaRPr sz="825" b="0" i="1">
              <a:solidFill>
                <a:srgbClr val="8A8F93"/>
              </a:solidFill>
              <a:latin typeface="Cambria" panose="02040503050406030204"/>
              <a:ea typeface="Cambria" panose="02040503050406030204"/>
              <a:cs typeface="Cambria" panose="02040503050406030204"/>
            </a:endParaRPr>
          </a:p>
        </p:txBody>
      </p:sp>
      <p:sp>
        <p:nvSpPr>
          <p:cNvPr id="4" name="Rectangle 3"/>
          <p:cNvSpPr>
            <a:spLocks noGrp="1"/>
          </p:cNvSpPr>
          <p:nvPr/>
        </p:nvSpPr>
        <p:spPr>
          <a:xfrm>
            <a:off x="11658600" y="6534150"/>
            <a:ext cx="228600" cy="190500"/>
          </a:xfrm>
          <a:prstGeom prst="rect">
            <a:avLst/>
          </a:prstGeom>
          <a:noFill/>
          <a:ln w="0">
            <a:noFill/>
          </a:ln>
        </p:spPr>
        <p:txBody>
          <a:bodyPr wrap="square" lIns="38100" tIns="19050" rIns="38100" bIns="19050" anchor="ctr">
            <a:normAutofit/>
          </a:bodyPr>
          <a:lstStyle/>
          <a:p>
            <a:pPr algn="r">
              <a:lnSpc>
                <a:spcPct val="100000"/>
              </a:lnSpc>
              <a:buNone/>
              <a:defRPr sz="825" b="0" i="0">
                <a:solidFill>
                  <a:srgbClr val="8A8F93"/>
                </a:solidFill>
                <a:latin typeface="Cambria" panose="02040503050406030204"/>
                <a:ea typeface="Cambria" panose="02040503050406030204"/>
                <a:cs typeface="Cambria" panose="02040503050406030204"/>
              </a:defRPr>
            </a:pPr>
            <a:r>
              <a:rPr sz="825" b="0" i="0">
                <a:solidFill>
                  <a:srgbClr val="8A8F93"/>
                </a:solidFill>
                <a:latin typeface="Cambria" panose="02040503050406030204"/>
                <a:ea typeface="Cambria" panose="02040503050406030204"/>
                <a:cs typeface="Cambria" panose="02040503050406030204"/>
              </a:rPr>
              <a:t>5</a:t>
            </a:r>
            <a:endParaRPr sz="825" b="0" i="0">
              <a:solidFill>
                <a:srgbClr val="8A8F93"/>
              </a:solidFill>
              <a:latin typeface="Cambria" panose="02040503050406030204"/>
              <a:ea typeface="Cambria" panose="02040503050406030204"/>
              <a:cs typeface="Cambria" panose="0204050305040603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slide-title"/>
          <p:cNvSpPr>
            <a:spLocks noGrp="1"/>
          </p:cNvSpPr>
          <p:nvPr/>
        </p:nvSpPr>
        <p:spPr>
          <a:xfrm>
            <a:off x="2571750" y="142875"/>
            <a:ext cx="9191625" cy="590550"/>
          </a:xfrm>
          <a:prstGeom prst="rect">
            <a:avLst/>
          </a:prstGeom>
          <a:noFill/>
          <a:ln w="0">
            <a:noFill/>
          </a:ln>
        </p:spPr>
        <p:txBody>
          <a:bodyPr wrap="square" lIns="38100" tIns="19050" rIns="38100" bIns="19050" anchor="ctr">
            <a:normAutofit/>
          </a:bodyPr>
          <a:lstStyle/>
          <a:p>
            <a:pPr algn="ctr">
              <a:lnSpc>
                <a:spcPct val="100000"/>
              </a:lnSpc>
              <a:buNone/>
              <a:defRPr sz="2100" b="1" i="0">
                <a:solidFill>
                  <a:srgbClr val="E00000"/>
                </a:solidFill>
                <a:latin typeface="Cambria" panose="02040503050406030204"/>
                <a:ea typeface="Cambria" panose="02040503050406030204"/>
                <a:cs typeface="Cambria" panose="02040503050406030204"/>
              </a:defRPr>
            </a:pPr>
            <a:r>
              <a:rPr sz="2100" b="1" i="0">
                <a:solidFill>
                  <a:srgbClr val="E00000"/>
                </a:solidFill>
                <a:latin typeface="Cambria" panose="02040503050406030204"/>
                <a:ea typeface="Cambria" panose="02040503050406030204"/>
                <a:cs typeface="Cambria" panose="02040503050406030204"/>
              </a:rPr>
              <a:t>BẢN ĐỒ MODULE A–K VÀ MỨC ĐỘ TRIỂN KHAI</a:t>
            </a:r>
            <a:endParaRPr sz="2100" b="1" i="0">
              <a:solidFill>
                <a:srgbClr val="E00000"/>
              </a:solidFill>
              <a:latin typeface="Cambria" panose="02040503050406030204"/>
              <a:ea typeface="Cambria" panose="02040503050406030204"/>
              <a:cs typeface="Cambria" panose="02040503050406030204"/>
            </a:endParaRPr>
          </a:p>
        </p:txBody>
      </p:sp>
      <p:graphicFrame>
        <p:nvGraphicFramePr>
          <p:cNvPr id="6" name="Table 5"/>
          <p:cNvGraphicFramePr/>
          <p:nvPr/>
        </p:nvGraphicFramePr>
        <p:xfrm>
          <a:off x="342900" y="952500"/>
          <a:ext cx="11506200" cy="5257800"/>
        </p:xfrm>
        <a:graphic>
          <a:graphicData uri="http://schemas.openxmlformats.org/drawingml/2006/table">
            <a:tbl>
              <a:tblPr/>
              <a:tblGrid>
                <a:gridCol w="495300"/>
                <a:gridCol w="1809750"/>
                <a:gridCol w="4476750"/>
                <a:gridCol w="4724400"/>
              </a:tblGrid>
              <a:tr h="438150">
                <a:tc>
                  <a:txBody>
                    <a:bodyPr/>
                    <a:lstStyle/>
                    <a:p>
                      <a:r>
                        <a:t>M</a:t>
                      </a:r>
                    </a:p>
                  </a:txBody>
                  <a:tcPr/>
                </a:tc>
                <a:tc>
                  <a:txBody>
                    <a:bodyPr/>
                    <a:lstStyle/>
                    <a:p>
                      <a:r>
                        <a:t>PHÂN HỆ</a:t>
                      </a:r>
                    </a:p>
                  </a:txBody>
                  <a:tcPr/>
                </a:tc>
                <a:tc>
                  <a:txBody>
                    <a:bodyPr/>
                    <a:lstStyle/>
                    <a:p>
                      <a:r>
                        <a:t>BẰNG CHỨNG ĐÃ CÓ</a:t>
                      </a:r>
                    </a:p>
                  </a:txBody>
                  <a:tcPr/>
                </a:tc>
                <a:tc>
                  <a:txBody>
                    <a:bodyPr/>
                    <a:lstStyle/>
                    <a:p>
                      <a:r>
                        <a:t>NHẬN ĐỊNH HIỆN TẠI</a:t>
                      </a:r>
                    </a:p>
                  </a:txBody>
                  <a:tcPr/>
                </a:tc>
              </a:tr>
              <a:tr h="438150">
                <a:tc>
                  <a:txBody>
                    <a:bodyPr/>
                    <a:lstStyle/>
                    <a:p>
                      <a:pPr algn="ctr"/>
                      <a:r>
                        <a:rPr sz="1200" b="1">
                          <a:solidFill>
                            <a:srgbClr val="006B35"/>
                          </a:solidFill>
                          <a:latin typeface="Cambria" panose="02040503050406030204"/>
                          <a:ea typeface="Cambria" panose="02040503050406030204"/>
                          <a:cs typeface="Cambria" panose="02040503050406030204"/>
                        </a:rPr>
                        <a:t>A</a:t>
                      </a:r>
                      <a:endParaRPr sz="1200" b="1">
                        <a:solidFill>
                          <a:srgbClr val="006B35"/>
                        </a:solidFill>
                        <a:latin typeface="Cambria" panose="02040503050406030204"/>
                        <a:ea typeface="Cambria" panose="02040503050406030204"/>
                        <a:cs typeface="Cambria" panose="02040503050406030204"/>
                      </a:endParaRPr>
                    </a:p>
                  </a:txBody>
                  <a:tcPr>
                    <a:solidFill>
                      <a:srgbClr val="EAF2E6"/>
                    </a:solidFill>
                  </a:tcPr>
                </a:tc>
                <a:tc>
                  <a:txBody>
                    <a:bodyPr/>
                    <a:lstStyle/>
                    <a:p>
                      <a:r>
                        <a:t>Dashboard</a:t>
                      </a:r>
                    </a:p>
                  </a:txBody>
                  <a:tcPr/>
                </a:tc>
                <a:tc>
                  <a:txBody>
                    <a:bodyPr/>
                    <a:lstStyle/>
                    <a:p>
                      <a:r>
                        <a:t>Có API tổng hợp, UI đã nối</a:t>
                      </a:r>
                    </a:p>
                  </a:txBody>
                  <a:tcPr/>
                </a:tc>
                <a:tc>
                  <a:txBody>
                    <a:bodyPr/>
                    <a:lstStyle/>
                    <a:p>
                      <a:r>
                        <a:t>Đang hoàn thiện số liệu</a:t>
                      </a:r>
                    </a:p>
                  </a:txBody>
                  <a:tcPr/>
                </a:tc>
              </a:tr>
              <a:tr h="438150">
                <a:tc>
                  <a:txBody>
                    <a:bodyPr/>
                    <a:lstStyle/>
                    <a:p>
                      <a:pPr algn="ctr"/>
                      <a:r>
                        <a:rPr sz="1200" b="1">
                          <a:solidFill>
                            <a:srgbClr val="006B35"/>
                          </a:solidFill>
                          <a:latin typeface="Cambria" panose="02040503050406030204"/>
                          <a:ea typeface="Cambria" panose="02040503050406030204"/>
                          <a:cs typeface="Cambria" panose="02040503050406030204"/>
                        </a:rPr>
                        <a:t>B</a:t>
                      </a:r>
                      <a:endParaRPr sz="1200" b="1">
                        <a:solidFill>
                          <a:srgbClr val="006B35"/>
                        </a:solidFill>
                        <a:latin typeface="Cambria" panose="02040503050406030204"/>
                        <a:ea typeface="Cambria" panose="02040503050406030204"/>
                        <a:cs typeface="Cambria" panose="02040503050406030204"/>
                      </a:endParaRPr>
                    </a:p>
                  </a:txBody>
                  <a:tcPr>
                    <a:solidFill>
                      <a:srgbClr val="EAF2E6"/>
                    </a:solidFill>
                  </a:tcPr>
                </a:tc>
                <a:tc>
                  <a:txBody>
                    <a:bodyPr/>
                    <a:lstStyle/>
                    <a:p>
                      <a:r>
                        <a:t>GPS</a:t>
                      </a:r>
                    </a:p>
                  </a:txBody>
                  <a:tcPr/>
                </a:tc>
                <a:tc>
                  <a:txBody>
                    <a:bodyPr/>
                    <a:lstStyle/>
                    <a:p>
                      <a:r>
                        <a:t>Telemetry, realtime, SOS</a:t>
                      </a:r>
                    </a:p>
                  </a:txBody>
                  <a:tcPr/>
                </a:tc>
                <a:tc>
                  <a:txBody>
                    <a:bodyPr/>
                    <a:lstStyle/>
                    <a:p>
                      <a:r>
                        <a:t>Hybrid / cần tích hợp thiết bị</a:t>
                      </a:r>
                    </a:p>
                  </a:txBody>
                  <a:tcPr/>
                </a:tc>
              </a:tr>
              <a:tr h="438150">
                <a:tc>
                  <a:txBody>
                    <a:bodyPr/>
                    <a:lstStyle/>
                    <a:p>
                      <a:pPr algn="ctr"/>
                      <a:r>
                        <a:rPr sz="1200" b="1">
                          <a:solidFill>
                            <a:srgbClr val="006B35"/>
                          </a:solidFill>
                          <a:latin typeface="Cambria" panose="02040503050406030204"/>
                          <a:ea typeface="Cambria" panose="02040503050406030204"/>
                          <a:cs typeface="Cambria" panose="02040503050406030204"/>
                        </a:rPr>
                        <a:t>C</a:t>
                      </a:r>
                      <a:endParaRPr sz="1200" b="1">
                        <a:solidFill>
                          <a:srgbClr val="006B35"/>
                        </a:solidFill>
                        <a:latin typeface="Cambria" panose="02040503050406030204"/>
                        <a:ea typeface="Cambria" panose="02040503050406030204"/>
                        <a:cs typeface="Cambria" panose="02040503050406030204"/>
                      </a:endParaRPr>
                    </a:p>
                  </a:txBody>
                  <a:tcPr>
                    <a:solidFill>
                      <a:srgbClr val="EAF2E6"/>
                    </a:solidFill>
                  </a:tcPr>
                </a:tc>
                <a:tc>
                  <a:txBody>
                    <a:bodyPr/>
                    <a:lstStyle/>
                    <a:p>
                      <a:r>
                        <a:t>Đội xe</a:t>
                      </a:r>
                    </a:p>
                  </a:txBody>
                  <a:tcPr/>
                </a:tc>
                <a:tc>
                  <a:txBody>
                    <a:bodyPr/>
                    <a:lstStyle/>
                    <a:p>
                      <a:r>
                        <a:t>Vehicle, implement, lịch sử</a:t>
                      </a:r>
                    </a:p>
                  </a:txBody>
                  <a:tcPr/>
                </a:tc>
                <a:tc>
                  <a:txBody>
                    <a:bodyPr/>
                    <a:lstStyle/>
                    <a:p>
                      <a:r>
                        <a:t>Tích hợp tương đối sâu</a:t>
                      </a:r>
                    </a:p>
                  </a:txBody>
                  <a:tcPr/>
                </a:tc>
              </a:tr>
              <a:tr h="438150">
                <a:tc>
                  <a:txBody>
                    <a:bodyPr/>
                    <a:lstStyle/>
                    <a:p>
                      <a:pPr algn="ctr"/>
                      <a:r>
                        <a:rPr sz="1200" b="1">
                          <a:solidFill>
                            <a:srgbClr val="006B35"/>
                          </a:solidFill>
                          <a:latin typeface="Cambria" panose="02040503050406030204"/>
                          <a:ea typeface="Cambria" panose="02040503050406030204"/>
                          <a:cs typeface="Cambria" panose="02040503050406030204"/>
                        </a:rPr>
                        <a:t>D</a:t>
                      </a:r>
                      <a:endParaRPr sz="1200" b="1">
                        <a:solidFill>
                          <a:srgbClr val="006B35"/>
                        </a:solidFill>
                        <a:latin typeface="Cambria" panose="02040503050406030204"/>
                        <a:ea typeface="Cambria" panose="02040503050406030204"/>
                        <a:cs typeface="Cambria" panose="02040503050406030204"/>
                      </a:endParaRPr>
                    </a:p>
                  </a:txBody>
                  <a:tcPr>
                    <a:solidFill>
                      <a:srgbClr val="EAF2E6"/>
                    </a:solidFill>
                  </a:tcPr>
                </a:tc>
                <a:tc>
                  <a:txBody>
                    <a:bodyPr/>
                    <a:lstStyle/>
                    <a:p>
                      <a:r>
                        <a:t>Điều xe</a:t>
                      </a:r>
                    </a:p>
                  </a:txBody>
                  <a:tcPr/>
                </a:tc>
                <a:tc>
                  <a:txBody>
                    <a:bodyPr/>
                    <a:lstStyle/>
                    <a:p>
                      <a:r>
                        <a:t>Plan, dispatch, work order</a:t>
                      </a:r>
                    </a:p>
                  </a:txBody>
                  <a:tcPr/>
                </a:tc>
                <a:tc>
                  <a:txBody>
                    <a:bodyPr/>
                    <a:lstStyle/>
                    <a:p>
                      <a:r>
                        <a:t>Luồng chính đã có</a:t>
                      </a:r>
                    </a:p>
                  </a:txBody>
                  <a:tcPr/>
                </a:tc>
              </a:tr>
              <a:tr h="438150">
                <a:tc>
                  <a:txBody>
                    <a:bodyPr/>
                    <a:lstStyle/>
                    <a:p>
                      <a:pPr algn="ctr"/>
                      <a:r>
                        <a:rPr sz="1200" b="1">
                          <a:solidFill>
                            <a:srgbClr val="006B35"/>
                          </a:solidFill>
                          <a:latin typeface="Cambria" panose="02040503050406030204"/>
                          <a:ea typeface="Cambria" panose="02040503050406030204"/>
                          <a:cs typeface="Cambria" panose="02040503050406030204"/>
                        </a:rPr>
                        <a:t>E</a:t>
                      </a:r>
                      <a:endParaRPr sz="1200" b="1">
                        <a:solidFill>
                          <a:srgbClr val="006B35"/>
                        </a:solidFill>
                        <a:latin typeface="Cambria" panose="02040503050406030204"/>
                        <a:ea typeface="Cambria" panose="02040503050406030204"/>
                        <a:cs typeface="Cambria" panose="02040503050406030204"/>
                      </a:endParaRPr>
                    </a:p>
                  </a:txBody>
                  <a:tcPr>
                    <a:solidFill>
                      <a:srgbClr val="EAF2E6"/>
                    </a:solidFill>
                  </a:tcPr>
                </a:tc>
                <a:tc>
                  <a:txBody>
                    <a:bodyPr/>
                    <a:lstStyle/>
                    <a:p>
                      <a:r>
                        <a:t>BTSC</a:t>
                      </a:r>
                    </a:p>
                  </a:txBody>
                  <a:tcPr/>
                </a:tc>
                <a:tc>
                  <a:txBody>
                    <a:bodyPr/>
                    <a:lstStyle/>
                    <a:p>
                      <a:r>
                        <a:t>Maintenance, repair, workshop</a:t>
                      </a:r>
                    </a:p>
                  </a:txBody>
                  <a:tcPr/>
                </a:tc>
                <a:tc>
                  <a:txBody>
                    <a:bodyPr/>
                    <a:lstStyle/>
                    <a:p>
                      <a:r>
                        <a:t>Luồng chính đã có</a:t>
                      </a:r>
                    </a:p>
                  </a:txBody>
                  <a:tcPr/>
                </a:tc>
              </a:tr>
              <a:tr h="438150">
                <a:tc>
                  <a:txBody>
                    <a:bodyPr/>
                    <a:lstStyle/>
                    <a:p>
                      <a:pPr algn="ctr"/>
                      <a:r>
                        <a:rPr sz="1200" b="1">
                          <a:solidFill>
                            <a:srgbClr val="006B35"/>
                          </a:solidFill>
                          <a:latin typeface="Cambria" panose="02040503050406030204"/>
                          <a:ea typeface="Cambria" panose="02040503050406030204"/>
                          <a:cs typeface="Cambria" panose="02040503050406030204"/>
                        </a:rPr>
                        <a:t>F</a:t>
                      </a:r>
                      <a:endParaRPr sz="1200" b="1">
                        <a:solidFill>
                          <a:srgbClr val="006B35"/>
                        </a:solidFill>
                        <a:latin typeface="Cambria" panose="02040503050406030204"/>
                        <a:ea typeface="Cambria" panose="02040503050406030204"/>
                        <a:cs typeface="Cambria" panose="02040503050406030204"/>
                      </a:endParaRPr>
                    </a:p>
                  </a:txBody>
                  <a:tcPr>
                    <a:solidFill>
                      <a:srgbClr val="EAF2E6"/>
                    </a:solidFill>
                  </a:tcPr>
                </a:tc>
                <a:tc>
                  <a:txBody>
                    <a:bodyPr/>
                    <a:lstStyle/>
                    <a:p>
                      <a:r>
                        <a:t>Báo cáo</a:t>
                      </a:r>
                    </a:p>
                  </a:txBody>
                  <a:tcPr/>
                </a:tc>
                <a:tc>
                  <a:txBody>
                    <a:bodyPr/>
                    <a:lstStyle/>
                    <a:p>
                      <a:r>
                        <a:t>6 trang báo cáo khởi tạo rỗng</a:t>
                      </a:r>
                    </a:p>
                  </a:txBody>
                  <a:tcPr/>
                </a:tc>
                <a:tc>
                  <a:txBody>
                    <a:bodyPr/>
                    <a:lstStyle/>
                    <a:p>
                      <a:r>
                        <a:t>Khoảng trống rõ</a:t>
                      </a:r>
                    </a:p>
                  </a:txBody>
                  <a:tcPr/>
                </a:tc>
              </a:tr>
              <a:tr h="438150">
                <a:tc>
                  <a:txBody>
                    <a:bodyPr/>
                    <a:lstStyle/>
                    <a:p>
                      <a:pPr algn="ctr"/>
                      <a:r>
                        <a:rPr sz="1200" b="1">
                          <a:solidFill>
                            <a:srgbClr val="006B35"/>
                          </a:solidFill>
                          <a:latin typeface="Cambria" panose="02040503050406030204"/>
                          <a:ea typeface="Cambria" panose="02040503050406030204"/>
                          <a:cs typeface="Cambria" panose="02040503050406030204"/>
                        </a:rPr>
                        <a:t>G</a:t>
                      </a:r>
                      <a:endParaRPr sz="1200" b="1">
                        <a:solidFill>
                          <a:srgbClr val="006B35"/>
                        </a:solidFill>
                        <a:latin typeface="Cambria" panose="02040503050406030204"/>
                        <a:ea typeface="Cambria" panose="02040503050406030204"/>
                        <a:cs typeface="Cambria" panose="02040503050406030204"/>
                      </a:endParaRPr>
                    </a:p>
                  </a:txBody>
                  <a:tcPr>
                    <a:solidFill>
                      <a:srgbClr val="EAF2E6"/>
                    </a:solidFill>
                  </a:tcPr>
                </a:tc>
                <a:tc>
                  <a:txBody>
                    <a:bodyPr/>
                    <a:lstStyle/>
                    <a:p>
                      <a:r>
                        <a:t>Phân quyền</a:t>
                      </a:r>
                    </a:p>
                  </a:txBody>
                  <a:tcPr/>
                </a:tc>
                <a:tc>
                  <a:txBody>
                    <a:bodyPr/>
                    <a:lstStyle/>
                    <a:p>
                      <a:r>
                        <a:t>JWT, roles, scope utilities</a:t>
                      </a:r>
                    </a:p>
                  </a:txBody>
                  <a:tcPr/>
                </a:tc>
                <a:tc>
                  <a:txBody>
                    <a:bodyPr/>
                    <a:lstStyle/>
                    <a:p>
                      <a:r>
                        <a:t>Scope đơn vị chưa đồng đều</a:t>
                      </a:r>
                    </a:p>
                  </a:txBody>
                  <a:tcPr/>
                </a:tc>
              </a:tr>
              <a:tr h="438150">
                <a:tc>
                  <a:txBody>
                    <a:bodyPr/>
                    <a:lstStyle/>
                    <a:p>
                      <a:pPr algn="ctr"/>
                      <a:r>
                        <a:rPr sz="1200" b="1">
                          <a:solidFill>
                            <a:srgbClr val="006B35"/>
                          </a:solidFill>
                          <a:latin typeface="Cambria" panose="02040503050406030204"/>
                          <a:ea typeface="Cambria" panose="02040503050406030204"/>
                          <a:cs typeface="Cambria" panose="02040503050406030204"/>
                        </a:rPr>
                        <a:t>H</a:t>
                      </a:r>
                      <a:endParaRPr sz="1200" b="1">
                        <a:solidFill>
                          <a:srgbClr val="006B35"/>
                        </a:solidFill>
                        <a:latin typeface="Cambria" panose="02040503050406030204"/>
                        <a:ea typeface="Cambria" panose="02040503050406030204"/>
                        <a:cs typeface="Cambria" panose="02040503050406030204"/>
                      </a:endParaRPr>
                    </a:p>
                  </a:txBody>
                  <a:tcPr>
                    <a:solidFill>
                      <a:srgbClr val="EAF2E6"/>
                    </a:solidFill>
                  </a:tcPr>
                </a:tc>
                <a:tc>
                  <a:txBody>
                    <a:bodyPr/>
                    <a:lstStyle/>
                    <a:p>
                      <a:r>
                        <a:t>Danh mục</a:t>
                      </a:r>
                    </a:p>
                  </a:txBody>
                  <a:tcPr/>
                </a:tc>
                <a:tc>
                  <a:txBody>
                    <a:bodyPr/>
                    <a:lstStyle/>
                    <a:p>
                      <a:r>
                        <a:t>Catalog API và import Excel</a:t>
                      </a:r>
                    </a:p>
                  </a:txBody>
                  <a:tcPr/>
                </a:tc>
                <a:tc>
                  <a:txBody>
                    <a:bodyPr/>
                    <a:lstStyle/>
                    <a:p>
                      <a:r>
                        <a:t>Còn fallback local</a:t>
                      </a:r>
                    </a:p>
                  </a:txBody>
                  <a:tcPr/>
                </a:tc>
              </a:tr>
              <a:tr h="438150">
                <a:tc>
                  <a:txBody>
                    <a:bodyPr/>
                    <a:lstStyle/>
                    <a:p>
                      <a:pPr algn="ctr"/>
                      <a:r>
                        <a:rPr sz="1200" b="1">
                          <a:solidFill>
                            <a:srgbClr val="006B35"/>
                          </a:solidFill>
                          <a:latin typeface="Cambria" panose="02040503050406030204"/>
                          <a:ea typeface="Cambria" panose="02040503050406030204"/>
                          <a:cs typeface="Cambria" panose="02040503050406030204"/>
                        </a:rPr>
                        <a:t>I</a:t>
                      </a:r>
                      <a:endParaRPr sz="1200" b="1">
                        <a:solidFill>
                          <a:srgbClr val="006B35"/>
                        </a:solidFill>
                        <a:latin typeface="Cambria" panose="02040503050406030204"/>
                        <a:ea typeface="Cambria" panose="02040503050406030204"/>
                        <a:cs typeface="Cambria" panose="02040503050406030204"/>
                      </a:endParaRPr>
                    </a:p>
                  </a:txBody>
                  <a:tcPr>
                    <a:solidFill>
                      <a:srgbClr val="EAF2E6"/>
                    </a:solidFill>
                  </a:tcPr>
                </a:tc>
                <a:tc>
                  <a:txBody>
                    <a:bodyPr/>
                    <a:lstStyle/>
                    <a:p>
                      <a:r>
                        <a:t>Lái xe</a:t>
                      </a:r>
                    </a:p>
                  </a:txBody>
                  <a:tcPr/>
                </a:tc>
                <a:tc>
                  <a:txBody>
                    <a:bodyPr/>
                    <a:lstStyle/>
                    <a:p>
                      <a:r>
                        <a:t>Web, mobile, KPI, sync</a:t>
                      </a:r>
                    </a:p>
                  </a:txBody>
                  <a:tcPr/>
                </a:tc>
                <a:tc>
                  <a:txBody>
                    <a:bodyPr/>
                    <a:lstStyle/>
                    <a:p>
                      <a:r>
                        <a:t>Đang hoàn thiện đầu cuối</a:t>
                      </a:r>
                    </a:p>
                  </a:txBody>
                  <a:tcPr/>
                </a:tc>
              </a:tr>
              <a:tr h="438150">
                <a:tc>
                  <a:txBody>
                    <a:bodyPr/>
                    <a:lstStyle/>
                    <a:p>
                      <a:pPr algn="ctr"/>
                      <a:r>
                        <a:rPr sz="1200" b="1">
                          <a:solidFill>
                            <a:srgbClr val="006B35"/>
                          </a:solidFill>
                          <a:latin typeface="Cambria" panose="02040503050406030204"/>
                          <a:ea typeface="Cambria" panose="02040503050406030204"/>
                          <a:cs typeface="Cambria" panose="02040503050406030204"/>
                        </a:rPr>
                        <a:t>J</a:t>
                      </a:r>
                      <a:endParaRPr sz="1200" b="1">
                        <a:solidFill>
                          <a:srgbClr val="006B35"/>
                        </a:solidFill>
                        <a:latin typeface="Cambria" panose="02040503050406030204"/>
                        <a:ea typeface="Cambria" panose="02040503050406030204"/>
                        <a:cs typeface="Cambria" panose="02040503050406030204"/>
                      </a:endParaRPr>
                    </a:p>
                  </a:txBody>
                  <a:tcPr>
                    <a:solidFill>
                      <a:srgbClr val="EAF2E6"/>
                    </a:solidFill>
                  </a:tcPr>
                </a:tc>
                <a:tc>
                  <a:txBody>
                    <a:bodyPr/>
                    <a:lstStyle/>
                    <a:p>
                      <a:r>
                        <a:t>Nhiên liệu</a:t>
                      </a:r>
                    </a:p>
                  </a:txBody>
                  <a:tcPr/>
                </a:tc>
                <a:tc>
                  <a:txBody>
                    <a:bodyPr/>
                    <a:lstStyle/>
                    <a:p>
                      <a:r>
                        <a:t>Kho, phiếu cấp phát, variance</a:t>
                      </a:r>
                    </a:p>
                  </a:txBody>
                  <a:tcPr/>
                </a:tc>
                <a:tc>
                  <a:txBody>
                    <a:bodyPr/>
                    <a:lstStyle/>
                    <a:p>
                      <a:r>
                        <a:t>UI còn màn hình demo</a:t>
                      </a:r>
                    </a:p>
                  </a:txBody>
                  <a:tcPr/>
                </a:tc>
              </a:tr>
              <a:tr h="438150">
                <a:tc>
                  <a:txBody>
                    <a:bodyPr/>
                    <a:lstStyle/>
                    <a:p>
                      <a:pPr algn="ctr"/>
                      <a:r>
                        <a:rPr sz="1200" b="1">
                          <a:solidFill>
                            <a:srgbClr val="006B35"/>
                          </a:solidFill>
                          <a:latin typeface="Cambria" panose="02040503050406030204"/>
                          <a:ea typeface="Cambria" panose="02040503050406030204"/>
                          <a:cs typeface="Cambria" panose="02040503050406030204"/>
                        </a:rPr>
                        <a:t>K</a:t>
                      </a:r>
                      <a:endParaRPr sz="1200" b="1">
                        <a:solidFill>
                          <a:srgbClr val="006B35"/>
                        </a:solidFill>
                        <a:latin typeface="Cambria" panose="02040503050406030204"/>
                        <a:ea typeface="Cambria" panose="02040503050406030204"/>
                        <a:cs typeface="Cambria" panose="02040503050406030204"/>
                      </a:endParaRPr>
                    </a:p>
                  </a:txBody>
                  <a:tcPr>
                    <a:solidFill>
                      <a:srgbClr val="EAF2E6"/>
                    </a:solidFill>
                  </a:tcPr>
                </a:tc>
                <a:tc>
                  <a:txBody>
                    <a:bodyPr/>
                    <a:lstStyle/>
                    <a:p>
                      <a:r>
                        <a:t>Cảnh báo</a:t>
                      </a:r>
                    </a:p>
                  </a:txBody>
                  <a:tcPr/>
                </a:tc>
                <a:tc>
                  <a:txBody>
                    <a:bodyPr/>
                    <a:lstStyle/>
                    <a:p>
                      <a:r>
                        <a:t>Alert theo nhiều domain</a:t>
                      </a:r>
                    </a:p>
                  </a:txBody>
                  <a:tcPr/>
                </a:tc>
                <a:tc>
                  <a:txBody>
                    <a:bodyPr/>
                    <a:lstStyle/>
                    <a:p>
                      <a:r>
                        <a:t>Alert center còn phân tán</a:t>
                      </a:r>
                    </a:p>
                  </a:txBody>
                  <a:tcPr/>
                </a:tc>
              </a:tr>
            </a:tbl>
          </a:graphicData>
        </a:graphic>
      </p:graphicFrame>
      <p:sp>
        <p:nvSpPr>
          <p:cNvPr id="3" name="Rectangle 2"/>
          <p:cNvSpPr>
            <a:spLocks noGrp="1"/>
          </p:cNvSpPr>
          <p:nvPr/>
        </p:nvSpPr>
        <p:spPr>
          <a:xfrm>
            <a:off x="266700" y="6534150"/>
            <a:ext cx="7429500" cy="190500"/>
          </a:xfrm>
          <a:prstGeom prst="rect">
            <a:avLst/>
          </a:prstGeom>
          <a:noFill/>
          <a:ln w="0">
            <a:noFill/>
          </a:ln>
        </p:spPr>
        <p:txBody>
          <a:bodyPr wrap="square" lIns="38100" tIns="19050" rIns="38100" bIns="19050" anchor="ctr">
            <a:normAutofit/>
          </a:bodyPr>
          <a:lstStyle/>
          <a:p>
            <a:pPr algn="l">
              <a:lnSpc>
                <a:spcPct val="100000"/>
              </a:lnSpc>
              <a:buNone/>
              <a:defRPr sz="825" b="0" i="1">
                <a:solidFill>
                  <a:srgbClr val="8A8F93"/>
                </a:solidFill>
                <a:latin typeface="Cambria" panose="02040503050406030204"/>
                <a:ea typeface="Cambria" panose="02040503050406030204"/>
                <a:cs typeface="Cambria" panose="02040503050406030204"/>
              </a:defRPr>
            </a:pPr>
            <a:r>
              <a:rPr sz="825" b="0" i="1">
                <a:solidFill>
                  <a:srgbClr val="8A8F93"/>
                </a:solidFill>
                <a:latin typeface="Cambria" panose="02040503050406030204"/>
                <a:ea typeface="Cambria" panose="02040503050406030204"/>
                <a:cs typeface="Cambria" panose="02040503050406030204"/>
              </a:rPr>
              <a:t>Giới thiệu phần mềm và tiến độ phát triển | THACO AGRI Fleet | 21/09/2026</a:t>
            </a:r>
            <a:endParaRPr sz="825" b="0" i="1">
              <a:solidFill>
                <a:srgbClr val="8A8F93"/>
              </a:solidFill>
              <a:latin typeface="Cambria" panose="02040503050406030204"/>
              <a:ea typeface="Cambria" panose="02040503050406030204"/>
              <a:cs typeface="Cambria" panose="02040503050406030204"/>
            </a:endParaRPr>
          </a:p>
        </p:txBody>
      </p:sp>
      <p:sp>
        <p:nvSpPr>
          <p:cNvPr id="4" name="Rectangle 3"/>
          <p:cNvSpPr>
            <a:spLocks noGrp="1"/>
          </p:cNvSpPr>
          <p:nvPr/>
        </p:nvSpPr>
        <p:spPr>
          <a:xfrm>
            <a:off x="11658600" y="6534150"/>
            <a:ext cx="228600" cy="190500"/>
          </a:xfrm>
          <a:prstGeom prst="rect">
            <a:avLst/>
          </a:prstGeom>
          <a:noFill/>
          <a:ln w="0">
            <a:noFill/>
          </a:ln>
        </p:spPr>
        <p:txBody>
          <a:bodyPr wrap="square" lIns="38100" tIns="19050" rIns="38100" bIns="19050" anchor="ctr">
            <a:normAutofit/>
          </a:bodyPr>
          <a:lstStyle/>
          <a:p>
            <a:pPr algn="r">
              <a:lnSpc>
                <a:spcPct val="100000"/>
              </a:lnSpc>
              <a:buNone/>
              <a:defRPr sz="825" b="0" i="0">
                <a:solidFill>
                  <a:srgbClr val="8A8F93"/>
                </a:solidFill>
                <a:latin typeface="Cambria" panose="02040503050406030204"/>
                <a:ea typeface="Cambria" panose="02040503050406030204"/>
                <a:cs typeface="Cambria" panose="02040503050406030204"/>
              </a:defRPr>
            </a:pPr>
            <a:r>
              <a:rPr sz="825" b="0" i="0">
                <a:solidFill>
                  <a:srgbClr val="8A8F93"/>
                </a:solidFill>
                <a:latin typeface="Cambria" panose="02040503050406030204"/>
                <a:ea typeface="Cambria" panose="02040503050406030204"/>
                <a:cs typeface="Cambria" panose="02040503050406030204"/>
              </a:rPr>
              <a:t>6</a:t>
            </a:r>
            <a:endParaRPr sz="825" b="0" i="0">
              <a:solidFill>
                <a:srgbClr val="8A8F93"/>
              </a:solidFill>
              <a:latin typeface="Cambria" panose="02040503050406030204"/>
              <a:ea typeface="Cambria" panose="02040503050406030204"/>
              <a:cs typeface="Cambria" panose="02040503050406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slide-title"/>
          <p:cNvSpPr>
            <a:spLocks noGrp="1"/>
          </p:cNvSpPr>
          <p:nvPr/>
        </p:nvSpPr>
        <p:spPr>
          <a:xfrm>
            <a:off x="2571750" y="142875"/>
            <a:ext cx="9191625" cy="590550"/>
          </a:xfrm>
          <a:prstGeom prst="rect">
            <a:avLst/>
          </a:prstGeom>
          <a:noFill/>
          <a:ln w="0">
            <a:noFill/>
          </a:ln>
        </p:spPr>
        <p:txBody>
          <a:bodyPr wrap="square" lIns="38100" tIns="19050" rIns="38100" bIns="19050" anchor="ctr">
            <a:normAutofit/>
          </a:bodyPr>
          <a:lstStyle/>
          <a:p>
            <a:pPr algn="ctr">
              <a:lnSpc>
                <a:spcPct val="100000"/>
              </a:lnSpc>
              <a:buNone/>
              <a:defRPr sz="2100" b="1" i="0">
                <a:solidFill>
                  <a:srgbClr val="E00000"/>
                </a:solidFill>
                <a:latin typeface="Cambria" panose="02040503050406030204"/>
                <a:ea typeface="Cambria" panose="02040503050406030204"/>
                <a:cs typeface="Cambria" panose="02040503050406030204"/>
              </a:defRPr>
            </a:pPr>
            <a:r>
              <a:rPr sz="2100" b="1" i="0">
                <a:solidFill>
                  <a:srgbClr val="E00000"/>
                </a:solidFill>
                <a:latin typeface="Cambria" panose="02040503050406030204"/>
                <a:ea typeface="Cambria" panose="02040503050406030204"/>
                <a:cs typeface="Cambria" panose="02040503050406030204"/>
              </a:rPr>
              <a:t>QUY TRÌNH TẠO LỆNH VÀ CHUYỂN ĐẾN TÀI XẾ</a:t>
            </a:r>
            <a:endParaRPr sz="2100" b="1" i="0">
              <a:solidFill>
                <a:srgbClr val="E00000"/>
              </a:solidFill>
              <a:latin typeface="Cambria" panose="02040503050406030204"/>
              <a:ea typeface="Cambria" panose="02040503050406030204"/>
              <a:cs typeface="Cambria" panose="02040503050406030204"/>
            </a:endParaRPr>
          </a:p>
        </p:txBody>
      </p:sp>
      <p:graphicFrame>
        <p:nvGraphicFramePr>
          <p:cNvPr id="6" name="Table 5"/>
          <p:cNvGraphicFramePr/>
          <p:nvPr/>
        </p:nvGraphicFramePr>
        <p:xfrm>
          <a:off x="285750" y="895350"/>
          <a:ext cx="11620500" cy="3714750"/>
        </p:xfrm>
        <a:graphic>
          <a:graphicData uri="http://schemas.openxmlformats.org/drawingml/2006/table">
            <a:tbl>
              <a:tblPr/>
              <a:tblGrid>
                <a:gridCol w="1238250"/>
                <a:gridCol w="2000250"/>
                <a:gridCol w="6191250"/>
                <a:gridCol w="2190750"/>
              </a:tblGrid>
              <a:tr h="361950">
                <a:tc>
                  <a:txBody>
                    <a:bodyPr/>
                    <a:lstStyle/>
                    <a:p>
                      <a:r>
                        <a:t>BƯỚC</a:t>
                      </a:r>
                    </a:p>
                  </a:txBody>
                  <a:tcPr/>
                </a:tc>
                <a:tc>
                  <a:txBody>
                    <a:bodyPr/>
                    <a:lstStyle/>
                    <a:p>
                      <a:r>
                        <a:t>NGƯỜI / HỆ THỐNG</a:t>
                      </a:r>
                    </a:p>
                  </a:txBody>
                  <a:tcPr/>
                </a:tc>
                <a:tc>
                  <a:txBody>
                    <a:bodyPr/>
                    <a:lstStyle/>
                    <a:p>
                      <a:r>
                        <a:t>XỬ LÝ CỤ THỂ</a:t>
                      </a:r>
                    </a:p>
                  </a:txBody>
                  <a:tcPr/>
                </a:tc>
                <a:tc>
                  <a:txBody>
                    <a:bodyPr/>
                    <a:lstStyle/>
                    <a:p>
                      <a:r>
                        <a:t>KẾT QUẢ</a:t>
                      </a:r>
                    </a:p>
                  </a:txBody>
                  <a:tcPr/>
                </a:tc>
              </a:tr>
              <a:tr h="590550">
                <a:tc>
                  <a:txBody>
                    <a:bodyPr/>
                    <a:lstStyle/>
                    <a:p>
                      <a:r>
                        <a:t>1. Chuẩn bị</a:t>
                      </a:r>
                    </a:p>
                  </a:txBody>
                  <a:tcPr/>
                </a:tc>
                <a:tc>
                  <a:txBody>
                    <a:bodyPr/>
                    <a:lstStyle/>
                    <a:p>
                      <a:r>
                        <a:t>Admin / Điều phối / Quản lý nông trường</a:t>
                      </a:r>
                    </a:p>
                  </a:txBody>
                  <a:tcPr/>
                </a:tc>
                <a:tc>
                  <a:txBody>
                    <a:bodyPr/>
                    <a:lstStyle/>
                    <a:p>
                      <a:r>
                        <a:t>Nguồn trực tiếp hoặc kế hoạch. Chọn đơn vị, đội, KLH, nông trường, vị trí, công việc, khối lượng, ca và thời gian</a:t>
                      </a:r>
                    </a:p>
                  </a:txBody>
                  <a:tcPr/>
                </a:tc>
                <a:tc>
                  <a:txBody>
                    <a:bodyPr/>
                    <a:lstStyle/>
                    <a:p>
                      <a:r>
                        <a:t>Hồ sơ đúng phạm vi</a:t>
                      </a:r>
                    </a:p>
                  </a:txBody>
                  <a:tcPr/>
                </a:tc>
              </a:tr>
              <a:tr h="590550">
                <a:tc>
                  <a:txBody>
                    <a:bodyPr/>
                    <a:lstStyle/>
                    <a:p>
                      <a:r>
                        <a:t>2. Nguồn lực</a:t>
                      </a:r>
                    </a:p>
                  </a:txBody>
                  <a:tcPr/>
                </a:tc>
                <a:tc>
                  <a:txBody>
                    <a:bodyPr/>
                    <a:lstStyle/>
                    <a:p>
                      <a:r>
                        <a:t>Web + preparation-context</a:t>
                      </a:r>
                    </a:p>
                  </a:txBody>
                  <a:tcPr/>
                </a:tc>
                <a:tc>
                  <a:txBody>
                    <a:bodyPr/>
                    <a:lstStyle/>
                    <a:p>
                      <a:r>
                        <a:t>GET nguồn lực: xe, tài xế, nông cụ + selectable + lý do khóa. Chọn 1 xe, tài xế cố định/lệnh mở và nông cụ tương thích</a:t>
                      </a:r>
                    </a:p>
                  </a:txBody>
                  <a:tcPr/>
                </a:tc>
                <a:tc>
                  <a:txBody>
                    <a:bodyPr/>
                    <a:lstStyle/>
                    <a:p>
                      <a:r>
                        <a:t>Nguồn lực hợp lệ</a:t>
                      </a:r>
                    </a:p>
                  </a:txBody>
                  <a:tcPr/>
                </a:tc>
              </a:tr>
              <a:tr h="590550">
                <a:tc>
                  <a:txBody>
                    <a:bodyPr/>
                    <a:lstStyle/>
                    <a:p>
                      <a:r>
                        <a:t>3. Phát hành</a:t>
                      </a:r>
                    </a:p>
                  </a:txBody>
                  <a:tcPr/>
                </a:tc>
                <a:tc>
                  <a:txBody>
                    <a:bodyPr/>
                    <a:lstStyle/>
                    <a:p>
                      <a:r>
                        <a:t>Work Orders API</a:t>
                      </a:r>
                    </a:p>
                  </a:txBody>
                  <a:tcPr/>
                </a:tc>
                <a:tc>
                  <a:txBody>
                    <a:bodyPr/>
                    <a:lstStyle/>
                    <a:p>
                      <a:r>
                        <a:t>POST /work-orders/manual hoặc ISSUE. Kiểm tra quyền, xung đột, availability, tương thích rồi ghi transaction</a:t>
                      </a:r>
                    </a:p>
                  </a:txBody>
                  <a:tcPr/>
                </a:tc>
                <a:tc>
                  <a:txBody>
                    <a:bodyPr/>
                    <a:lstStyle/>
                    <a:p>
                      <a:r>
                        <a:t>DispatchOrder + WorkOrder + assignment + audit</a:t>
                      </a:r>
                    </a:p>
                  </a:txBody>
                  <a:tcPr/>
                </a:tc>
              </a:tr>
              <a:tr h="590550">
                <a:tc>
                  <a:txBody>
                    <a:bodyPr/>
                    <a:lstStyle/>
                    <a:p>
                      <a:r>
                        <a:t>4. Đến app</a:t>
                      </a:r>
                    </a:p>
                  </a:txBody>
                  <a:tcPr/>
                </a:tc>
                <a:tc>
                  <a:txBody>
                    <a:bodyPr/>
                    <a:lstStyle/>
                    <a:p>
                      <a:r>
                        <a:t>Mobile sync</a:t>
                      </a:r>
                    </a:p>
                  </a:txBody>
                  <a:tcPr/>
                </a:tc>
                <a:tc>
                  <a:txBody>
                    <a:bodyPr/>
                    <a:lstStyle/>
                    <a:p>
                      <a:r>
                        <a:t>JWT → GET /mobile/sync/pull theo driverId → lưu SQLite → hiển thị Hôm nay/Tuần</a:t>
                      </a:r>
                    </a:p>
                  </a:txBody>
                  <a:tcPr/>
                </a:tc>
                <a:tc>
                  <a:txBody>
                    <a:bodyPr/>
                    <a:lstStyle/>
                    <a:p>
                      <a:r>
                        <a:t>Lệnh ASSIGNED</a:t>
                      </a:r>
                    </a:p>
                  </a:txBody>
                  <a:tcPr/>
                </a:tc>
              </a:tr>
              <a:tr h="590550">
                <a:tc>
                  <a:txBody>
                    <a:bodyPr/>
                    <a:lstStyle/>
                    <a:p>
                      <a:r>
                        <a:t>5. Nhận lệnh</a:t>
                      </a:r>
                    </a:p>
                  </a:txBody>
                  <a:tcPr/>
                </a:tc>
                <a:tc>
                  <a:txBody>
                    <a:bodyPr/>
                    <a:lstStyle/>
                    <a:p>
                      <a:r>
                        <a:t>Ứng dụng tài xế</a:t>
                      </a:r>
                    </a:p>
                  </a:txBody>
                  <a:tcPr/>
                </a:tc>
                <a:tc>
                  <a:txBody>
                    <a:bodyPr/>
                    <a:lstStyle/>
                    <a:p>
                      <a:r>
                        <a:t>Nhận nhiệm vụ → queue ORDER_ACCEPTED → POST /mobile/sync/push khi có mạng</a:t>
                      </a:r>
                    </a:p>
                  </a:txBody>
                  <a:tcPr/>
                </a:tc>
                <a:tc>
                  <a:txBody>
                    <a:bodyPr/>
                    <a:lstStyle/>
                    <a:p>
                      <a:r>
                        <a:t>ACCEPTED → DRIVER_ACCEPTED + acceptedAt + KPI</a:t>
                      </a:r>
                    </a:p>
                  </a:txBody>
                  <a:tcPr/>
                </a:tc>
              </a:tr>
            </a:tbl>
          </a:graphicData>
        </a:graphic>
      </p:graphicFrame>
      <p:sp>
        <p:nvSpPr>
          <p:cNvPr id="3" name="Rectangle 2"/>
          <p:cNvSpPr>
            <a:spLocks noGrp="1"/>
          </p:cNvSpPr>
          <p:nvPr/>
        </p:nvSpPr>
        <p:spPr>
          <a:xfrm>
            <a:off x="266700" y="6534150"/>
            <a:ext cx="7429500" cy="190500"/>
          </a:xfrm>
          <a:prstGeom prst="rect">
            <a:avLst/>
          </a:prstGeom>
          <a:noFill/>
          <a:ln w="0">
            <a:noFill/>
          </a:ln>
        </p:spPr>
        <p:txBody>
          <a:bodyPr wrap="square" lIns="38100" tIns="19050" rIns="38100" bIns="19050" anchor="ctr">
            <a:normAutofit/>
          </a:bodyPr>
          <a:lstStyle/>
          <a:p>
            <a:pPr algn="l">
              <a:lnSpc>
                <a:spcPct val="100000"/>
              </a:lnSpc>
              <a:buNone/>
              <a:defRPr sz="825" b="0" i="1">
                <a:solidFill>
                  <a:srgbClr val="8A8F93"/>
                </a:solidFill>
                <a:latin typeface="Cambria" panose="02040503050406030204"/>
                <a:ea typeface="Cambria" panose="02040503050406030204"/>
                <a:cs typeface="Cambria" panose="02040503050406030204"/>
              </a:defRPr>
            </a:pPr>
            <a:r>
              <a:rPr sz="825" b="0" i="1">
                <a:solidFill>
                  <a:srgbClr val="8A8F93"/>
                </a:solidFill>
                <a:latin typeface="Cambria" panose="02040503050406030204"/>
                <a:ea typeface="Cambria" panose="02040503050406030204"/>
                <a:cs typeface="Cambria" panose="02040503050406030204"/>
              </a:rPr>
              <a:t>Giới thiệu phần mềm và tiến độ phát triển | THACO AGRI Fleet | 21/09/2026</a:t>
            </a:r>
            <a:endParaRPr sz="825" b="0" i="1">
              <a:solidFill>
                <a:srgbClr val="8A8F93"/>
              </a:solidFill>
              <a:latin typeface="Cambria" panose="02040503050406030204"/>
              <a:ea typeface="Cambria" panose="02040503050406030204"/>
              <a:cs typeface="Cambria" panose="02040503050406030204"/>
            </a:endParaRPr>
          </a:p>
        </p:txBody>
      </p:sp>
      <p:sp>
        <p:nvSpPr>
          <p:cNvPr id="4" name="Rectangle 3"/>
          <p:cNvSpPr>
            <a:spLocks noGrp="1"/>
          </p:cNvSpPr>
          <p:nvPr/>
        </p:nvSpPr>
        <p:spPr>
          <a:xfrm>
            <a:off x="11658600" y="6534150"/>
            <a:ext cx="228600" cy="190500"/>
          </a:xfrm>
          <a:prstGeom prst="rect">
            <a:avLst/>
          </a:prstGeom>
          <a:noFill/>
          <a:ln w="0">
            <a:noFill/>
          </a:ln>
        </p:spPr>
        <p:txBody>
          <a:bodyPr wrap="square" lIns="38100" tIns="19050" rIns="38100" bIns="19050" anchor="ctr">
            <a:normAutofit/>
          </a:bodyPr>
          <a:lstStyle/>
          <a:p>
            <a:pPr algn="r">
              <a:lnSpc>
                <a:spcPct val="100000"/>
              </a:lnSpc>
              <a:buNone/>
              <a:defRPr sz="825" b="0" i="0">
                <a:solidFill>
                  <a:srgbClr val="8A8F93"/>
                </a:solidFill>
                <a:latin typeface="Cambria" panose="02040503050406030204"/>
                <a:ea typeface="Cambria" panose="02040503050406030204"/>
                <a:cs typeface="Cambria" panose="02040503050406030204"/>
              </a:defRPr>
            </a:pPr>
            <a:r>
              <a:rPr sz="825" b="0" i="0">
                <a:solidFill>
                  <a:srgbClr val="8A8F93"/>
                </a:solidFill>
                <a:latin typeface="Cambria" panose="02040503050406030204"/>
                <a:ea typeface="Cambria" panose="02040503050406030204"/>
                <a:cs typeface="Cambria" panose="02040503050406030204"/>
              </a:rPr>
              <a:t>7</a:t>
            </a:r>
            <a:endParaRPr sz="825" b="0" i="0">
              <a:solidFill>
                <a:srgbClr val="8A8F93"/>
              </a:solidFill>
              <a:latin typeface="Cambria" panose="02040503050406030204"/>
              <a:ea typeface="Cambria" panose="02040503050406030204"/>
              <a:cs typeface="Cambria" panose="02040503050406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slide-title"/>
          <p:cNvSpPr>
            <a:spLocks noGrp="1"/>
          </p:cNvSpPr>
          <p:nvPr/>
        </p:nvSpPr>
        <p:spPr>
          <a:xfrm>
            <a:off x="2571750" y="142875"/>
            <a:ext cx="9191625" cy="590550"/>
          </a:xfrm>
          <a:prstGeom prst="rect">
            <a:avLst/>
          </a:prstGeom>
          <a:noFill/>
          <a:ln w="0">
            <a:noFill/>
          </a:ln>
        </p:spPr>
        <p:txBody>
          <a:bodyPr wrap="square" lIns="38100" tIns="19050" rIns="38100" bIns="19050" anchor="ctr">
            <a:normAutofit/>
          </a:bodyPr>
          <a:lstStyle/>
          <a:p>
            <a:pPr algn="ctr">
              <a:lnSpc>
                <a:spcPct val="100000"/>
              </a:lnSpc>
              <a:buNone/>
              <a:defRPr sz="2100" b="1" i="0">
                <a:solidFill>
                  <a:srgbClr val="E00000"/>
                </a:solidFill>
                <a:latin typeface="Cambria" panose="02040503050406030204"/>
                <a:ea typeface="Cambria" panose="02040503050406030204"/>
                <a:cs typeface="Cambria" panose="02040503050406030204"/>
              </a:defRPr>
            </a:pPr>
            <a:r>
              <a:rPr sz="2100" b="1" i="0">
                <a:solidFill>
                  <a:srgbClr val="E00000"/>
                </a:solidFill>
                <a:latin typeface="Cambria" panose="02040503050406030204"/>
                <a:ea typeface="Cambria" panose="02040503050406030204"/>
                <a:cs typeface="Cambria" panose="02040503050406030204"/>
              </a:rPr>
              <a:t>DỮ LIỆU VÀ TÍCH HỢP</a:t>
            </a:r>
            <a:endParaRPr sz="2100" b="1" i="0">
              <a:solidFill>
                <a:srgbClr val="E00000"/>
              </a:solidFill>
              <a:latin typeface="Cambria" panose="02040503050406030204"/>
              <a:ea typeface="Cambria" panose="02040503050406030204"/>
              <a:cs typeface="Cambria" panose="02040503050406030204"/>
            </a:endParaRPr>
          </a:p>
        </p:txBody>
      </p:sp>
      <p:graphicFrame>
        <p:nvGraphicFramePr>
          <p:cNvPr id="10" name="Table 9"/>
          <p:cNvGraphicFramePr/>
          <p:nvPr/>
        </p:nvGraphicFramePr>
        <p:xfrm>
          <a:off x="523875" y="1143000"/>
          <a:ext cx="11144250" cy="3905250"/>
        </p:xfrm>
        <a:graphic>
          <a:graphicData uri="http://schemas.openxmlformats.org/drawingml/2006/table">
            <a:tbl>
              <a:tblPr/>
              <a:tblGrid>
                <a:gridCol w="2476500"/>
                <a:gridCol w="4429125"/>
                <a:gridCol w="4238625"/>
              </a:tblGrid>
              <a:tr h="457200">
                <a:tc>
                  <a:txBody>
                    <a:bodyPr/>
                    <a:lstStyle/>
                    <a:p>
                      <a:r>
                        <a:t>LỚP</a:t>
                      </a:r>
                    </a:p>
                  </a:txBody>
                  <a:tcPr/>
                </a:tc>
                <a:tc>
                  <a:txBody>
                    <a:bodyPr/>
                    <a:lstStyle/>
                    <a:p>
                      <a:r>
                        <a:t>HIỆN TRẠNG</a:t>
                      </a:r>
                    </a:p>
                  </a:txBody>
                  <a:tcPr/>
                </a:tc>
                <a:tc>
                  <a:txBody>
                    <a:bodyPr/>
                    <a:lstStyle/>
                    <a:p>
                      <a:r>
                        <a:t>ĐIỂM CẦN KIỂM SOÁT</a:t>
                      </a:r>
                    </a:p>
                  </a:txBody>
                  <a:tcPr/>
                </a:tc>
              </a:tr>
              <a:tr h="666750">
                <a:tc>
                  <a:txBody>
                    <a:bodyPr/>
                    <a:lstStyle/>
                    <a:p>
                      <a:r>
                        <a:t>Danh mục nền</a:t>
                      </a:r>
                    </a:p>
                  </a:txBody>
                  <a:tcPr/>
                </a:tc>
                <a:tc>
                  <a:txBody>
                    <a:bodyPr/>
                    <a:lstStyle/>
                    <a:p>
                      <a:r>
                        <a:t>Company, đơn vị, đội, loại xe, tuyến, công việc</a:t>
                      </a:r>
                    </a:p>
                  </a:txBody>
                  <a:tcPr/>
                </a:tc>
                <a:tc>
                  <a:txBody>
                    <a:bodyPr/>
                    <a:lstStyle/>
                    <a:p>
                      <a:r>
                        <a:t>Chuẩn hóa mã và quan hệ cha–con</a:t>
                      </a:r>
                    </a:p>
                  </a:txBody>
                  <a:tcPr/>
                </a:tc>
              </a:tr>
              <a:tr h="666750">
                <a:tc>
                  <a:txBody>
                    <a:bodyPr/>
                    <a:lstStyle/>
                    <a:p>
                      <a:r>
                        <a:t>Đội xe / thiết bị</a:t>
                      </a:r>
                    </a:p>
                  </a:txBody>
                  <a:tcPr/>
                </a:tc>
                <a:tc>
                  <a:txBody>
                    <a:bodyPr/>
                    <a:lstStyle/>
                    <a:p>
                      <a:r>
                        <a:t>Vehicle, VehicleType, Implement, assignment</a:t>
                      </a:r>
                    </a:p>
                  </a:txBody>
                  <a:tcPr/>
                </a:tc>
                <a:tc>
                  <a:txBody>
                    <a:bodyPr/>
                    <a:lstStyle/>
                    <a:p>
                      <a:r>
                        <a:t>Mapping workbook MMTB và lịch sử phân công</a:t>
                      </a:r>
                    </a:p>
                  </a:txBody>
                  <a:tcPr/>
                </a:tc>
              </a:tr>
              <a:tr h="666750">
                <a:tc>
                  <a:txBody>
                    <a:bodyPr/>
                    <a:lstStyle/>
                    <a:p>
                      <a:r>
                        <a:t>Vận hành</a:t>
                      </a:r>
                    </a:p>
                  </a:txBody>
                  <a:tcPr/>
                </a:tc>
                <a:tc>
                  <a:txBody>
                    <a:bodyPr/>
                    <a:lstStyle/>
                    <a:p>
                      <a:r>
                        <a:t>Plan, DispatchOrder, OperationalWorkOrder, event</a:t>
                      </a:r>
                    </a:p>
                  </a:txBody>
                  <a:tcPr/>
                </a:tc>
                <a:tc>
                  <a:txBody>
                    <a:bodyPr/>
                    <a:lstStyle/>
                    <a:p>
                      <a:r>
                        <a:t>Đồng bộ nguồn lệnh và idempotency</a:t>
                      </a:r>
                    </a:p>
                  </a:txBody>
                  <a:tcPr/>
                </a:tc>
              </a:tr>
              <a:tr h="666750">
                <a:tc>
                  <a:txBody>
                    <a:bodyPr/>
                    <a:lstStyle/>
                    <a:p>
                      <a:r>
                        <a:t>Hỗ trợ</a:t>
                      </a:r>
                    </a:p>
                  </a:txBody>
                  <a:tcPr/>
                </a:tc>
                <a:tc>
                  <a:txBody>
                    <a:bodyPr/>
                    <a:lstStyle/>
                    <a:p>
                      <a:r>
                        <a:t>Fuel, maintenance, repair, alerts, KPI</a:t>
                      </a:r>
                    </a:p>
                  </a:txBody>
                  <a:tcPr/>
                </a:tc>
                <a:tc>
                  <a:txBody>
                    <a:bodyPr/>
                    <a:lstStyle/>
                    <a:p>
                      <a:r>
                        <a:t>Quy tắc còn thiếu xác nhận nghiệp vụ</a:t>
                      </a:r>
                    </a:p>
                  </a:txBody>
                  <a:tcPr/>
                </a:tc>
              </a:tr>
              <a:tr h="666750">
                <a:tc>
                  <a:txBody>
                    <a:bodyPr/>
                    <a:lstStyle/>
                    <a:p>
                      <a:r>
                        <a:t>Kênh sử dụng</a:t>
                      </a:r>
                    </a:p>
                  </a:txBody>
                  <a:tcPr/>
                </a:tc>
                <a:tc>
                  <a:txBody>
                    <a:bodyPr/>
                    <a:lstStyle/>
                    <a:p>
                      <a:r>
                        <a:t>Web, mobile, realtime, import/export Excel</a:t>
                      </a:r>
                    </a:p>
                  </a:txBody>
                  <a:tcPr/>
                </a:tc>
                <a:tc>
                  <a:txBody>
                    <a:bodyPr/>
                    <a:lstStyle/>
                    <a:p>
                      <a:r>
                        <a:t>Không để fallback che lỗi dữ liệu thật</a:t>
                      </a:r>
                    </a:p>
                  </a:txBody>
                  <a:tcPr/>
                </a:tc>
              </a:tr>
            </a:tbl>
          </a:graphicData>
        </a:graphic>
      </p:graphicFrame>
      <p:sp>
        <p:nvSpPr>
          <p:cNvPr id="3" name="Rectangle 2"/>
          <p:cNvSpPr>
            <a:spLocks noGrp="1"/>
          </p:cNvSpPr>
          <p:nvPr/>
        </p:nvSpPr>
        <p:spPr>
          <a:xfrm>
            <a:off x="571500" y="5381625"/>
            <a:ext cx="2095500" cy="285750"/>
          </a:xfrm>
          <a:prstGeom prst="rect">
            <a:avLst/>
          </a:prstGeom>
          <a:noFill/>
          <a:ln w="0">
            <a:noFill/>
          </a:ln>
        </p:spPr>
        <p:txBody>
          <a:bodyPr wrap="square" lIns="38100" tIns="19050" rIns="38100" bIns="19050" anchor="t">
            <a:normAutofit fontScale="98485"/>
          </a:bodyPr>
          <a:lstStyle/>
          <a:p>
            <a:pPr algn="l">
              <a:lnSpc>
                <a:spcPct val="100000"/>
              </a:lnSpc>
              <a:buNone/>
              <a:defRPr sz="1650" b="1" i="0">
                <a:solidFill>
                  <a:srgbClr val="006B35"/>
                </a:solidFill>
                <a:latin typeface="Cambria" panose="02040503050406030204"/>
                <a:ea typeface="Cambria" panose="02040503050406030204"/>
                <a:cs typeface="Cambria" panose="02040503050406030204"/>
              </a:defRPr>
            </a:pPr>
            <a:r>
              <a:rPr sz="1650" b="1" i="0">
                <a:solidFill>
                  <a:srgbClr val="006B35"/>
                </a:solidFill>
                <a:latin typeface="Cambria" panose="02040503050406030204"/>
                <a:ea typeface="Cambria" panose="02040503050406030204"/>
                <a:cs typeface="Cambria" panose="02040503050406030204"/>
              </a:rPr>
              <a:t>Điểm tích cực</a:t>
            </a:r>
            <a:endParaRPr sz="1650" b="1" i="0">
              <a:solidFill>
                <a:srgbClr val="006B35"/>
              </a:solidFill>
              <a:latin typeface="Cambria" panose="02040503050406030204"/>
              <a:ea typeface="Cambria" panose="02040503050406030204"/>
              <a:cs typeface="Cambria" panose="02040503050406030204"/>
            </a:endParaRPr>
          </a:p>
        </p:txBody>
      </p:sp>
      <p:sp>
        <p:nvSpPr>
          <p:cNvPr id="4" name="Rectangle 3"/>
          <p:cNvSpPr>
            <a:spLocks noGrp="1"/>
          </p:cNvSpPr>
          <p:nvPr/>
        </p:nvSpPr>
        <p:spPr>
          <a:xfrm>
            <a:off x="2476500" y="5381625"/>
            <a:ext cx="8763000" cy="323850"/>
          </a:xfrm>
          <a:prstGeom prst="rect">
            <a:avLst/>
          </a:prstGeom>
          <a:noFill/>
          <a:ln w="0">
            <a:noFill/>
          </a:ln>
        </p:spPr>
        <p:txBody>
          <a:bodyPr wrap="square" lIns="38100" tIns="19050" rIns="38100" bIns="19050" anchor="t">
            <a:normAutofit/>
          </a:bodyPr>
          <a:lstStyle/>
          <a:p>
            <a:pPr algn="l">
              <a:lnSpc>
                <a:spcPct val="100000"/>
              </a:lnSpc>
              <a:buNone/>
              <a:defRPr sz="1500" b="0" i="0">
                <a:solidFill>
                  <a:srgbClr val="17212B"/>
                </a:solidFill>
                <a:latin typeface="Cambria" panose="02040503050406030204"/>
                <a:ea typeface="Cambria" panose="02040503050406030204"/>
                <a:cs typeface="Cambria" panose="02040503050406030204"/>
              </a:defRPr>
            </a:pPr>
            <a:r>
              <a:rPr sz="1500" b="0" i="0">
                <a:solidFill>
                  <a:srgbClr val="17212B"/>
                </a:solidFill>
                <a:latin typeface="Cambria" panose="02040503050406030204"/>
                <a:ea typeface="Cambria" panose="02040503050406030204"/>
                <a:cs typeface="Cambria" panose="02040503050406030204"/>
              </a:rPr>
              <a:t>Schema đã mô hình hóa quan hệ vận hành và có migration/backfill gần đây.</a:t>
            </a:r>
            <a:endParaRPr sz="1500" b="0" i="0">
              <a:solidFill>
                <a:srgbClr val="17212B"/>
              </a:solidFill>
              <a:latin typeface="Cambria" panose="02040503050406030204"/>
              <a:ea typeface="Cambria" panose="02040503050406030204"/>
              <a:cs typeface="Cambria" panose="02040503050406030204"/>
            </a:endParaRPr>
          </a:p>
        </p:txBody>
      </p:sp>
      <p:sp>
        <p:nvSpPr>
          <p:cNvPr id="5" name="Rectangle 4"/>
          <p:cNvSpPr>
            <a:spLocks noGrp="1"/>
          </p:cNvSpPr>
          <p:nvPr/>
        </p:nvSpPr>
        <p:spPr>
          <a:xfrm>
            <a:off x="571500" y="5810250"/>
            <a:ext cx="2095500" cy="285750"/>
          </a:xfrm>
          <a:prstGeom prst="rect">
            <a:avLst/>
          </a:prstGeom>
          <a:noFill/>
          <a:ln w="0">
            <a:noFill/>
          </a:ln>
        </p:spPr>
        <p:txBody>
          <a:bodyPr wrap="square" lIns="38100" tIns="19050" rIns="38100" bIns="19050" anchor="t">
            <a:normAutofit fontScale="98485"/>
          </a:bodyPr>
          <a:lstStyle/>
          <a:p>
            <a:pPr algn="l">
              <a:lnSpc>
                <a:spcPct val="100000"/>
              </a:lnSpc>
              <a:buNone/>
              <a:defRPr sz="1650" b="1" i="0">
                <a:solidFill>
                  <a:srgbClr val="E00000"/>
                </a:solidFill>
                <a:latin typeface="Cambria" panose="02040503050406030204"/>
                <a:ea typeface="Cambria" panose="02040503050406030204"/>
                <a:cs typeface="Cambria" panose="02040503050406030204"/>
              </a:defRPr>
            </a:pPr>
            <a:r>
              <a:rPr sz="1650" b="1" i="0">
                <a:solidFill>
                  <a:srgbClr val="E00000"/>
                </a:solidFill>
                <a:latin typeface="Cambria" panose="02040503050406030204"/>
                <a:ea typeface="Cambria" panose="02040503050406030204"/>
                <a:cs typeface="Cambria" panose="02040503050406030204"/>
              </a:rPr>
              <a:t>Rủi ro</a:t>
            </a:r>
            <a:endParaRPr sz="1650" b="1" i="0">
              <a:solidFill>
                <a:srgbClr val="E00000"/>
              </a:solidFill>
              <a:latin typeface="Cambria" panose="02040503050406030204"/>
              <a:ea typeface="Cambria" panose="02040503050406030204"/>
              <a:cs typeface="Cambria" panose="02040503050406030204"/>
            </a:endParaRPr>
          </a:p>
        </p:txBody>
      </p:sp>
      <p:sp>
        <p:nvSpPr>
          <p:cNvPr id="6" name="Rectangle 5"/>
          <p:cNvSpPr>
            <a:spLocks noGrp="1"/>
          </p:cNvSpPr>
          <p:nvPr/>
        </p:nvSpPr>
        <p:spPr>
          <a:xfrm>
            <a:off x="2476500" y="5810250"/>
            <a:ext cx="8763000" cy="323850"/>
          </a:xfrm>
          <a:prstGeom prst="rect">
            <a:avLst/>
          </a:prstGeom>
          <a:noFill/>
          <a:ln w="0">
            <a:noFill/>
          </a:ln>
        </p:spPr>
        <p:txBody>
          <a:bodyPr wrap="square" lIns="38100" tIns="19050" rIns="38100" bIns="19050" anchor="t">
            <a:normAutofit/>
          </a:bodyPr>
          <a:lstStyle/>
          <a:p>
            <a:pPr algn="l">
              <a:lnSpc>
                <a:spcPct val="100000"/>
              </a:lnSpc>
              <a:buNone/>
              <a:defRPr sz="1500" b="0" i="0">
                <a:solidFill>
                  <a:srgbClr val="17212B"/>
                </a:solidFill>
                <a:latin typeface="Cambria" panose="02040503050406030204"/>
                <a:ea typeface="Cambria" panose="02040503050406030204"/>
                <a:cs typeface="Cambria" panose="02040503050406030204"/>
              </a:defRPr>
            </a:pPr>
            <a:r>
              <a:rPr sz="1500" b="0" i="0">
                <a:solidFill>
                  <a:srgbClr val="17212B"/>
                </a:solidFill>
                <a:latin typeface="Cambria" panose="02040503050406030204"/>
                <a:ea typeface="Cambria" panose="02040503050406030204"/>
                <a:cs typeface="Cambria" panose="02040503050406030204"/>
              </a:rPr>
              <a:t>Mapping đầy đủ giữa workbook nhiều sheet và dữ liệu chuẩn vẫn chưa được xác nhận.</a:t>
            </a:r>
            <a:endParaRPr sz="1500" b="0" i="0">
              <a:solidFill>
                <a:srgbClr val="17212B"/>
              </a:solidFill>
              <a:latin typeface="Cambria" panose="02040503050406030204"/>
              <a:ea typeface="Cambria" panose="02040503050406030204"/>
              <a:cs typeface="Cambria" panose="02040503050406030204"/>
            </a:endParaRPr>
          </a:p>
        </p:txBody>
      </p:sp>
      <p:sp>
        <p:nvSpPr>
          <p:cNvPr id="7" name="Rectangle 6"/>
          <p:cNvSpPr>
            <a:spLocks noGrp="1"/>
          </p:cNvSpPr>
          <p:nvPr/>
        </p:nvSpPr>
        <p:spPr>
          <a:xfrm>
            <a:off x="266700" y="6534150"/>
            <a:ext cx="7429500" cy="190500"/>
          </a:xfrm>
          <a:prstGeom prst="rect">
            <a:avLst/>
          </a:prstGeom>
          <a:noFill/>
          <a:ln w="0">
            <a:noFill/>
          </a:ln>
        </p:spPr>
        <p:txBody>
          <a:bodyPr wrap="square" lIns="38100" tIns="19050" rIns="38100" bIns="19050" anchor="ctr">
            <a:normAutofit/>
          </a:bodyPr>
          <a:lstStyle/>
          <a:p>
            <a:pPr algn="l">
              <a:lnSpc>
                <a:spcPct val="100000"/>
              </a:lnSpc>
              <a:buNone/>
              <a:defRPr sz="825" b="0" i="1">
                <a:solidFill>
                  <a:srgbClr val="8A8F93"/>
                </a:solidFill>
                <a:latin typeface="Cambria" panose="02040503050406030204"/>
                <a:ea typeface="Cambria" panose="02040503050406030204"/>
                <a:cs typeface="Cambria" panose="02040503050406030204"/>
              </a:defRPr>
            </a:pPr>
            <a:r>
              <a:rPr sz="825" b="0" i="1">
                <a:solidFill>
                  <a:srgbClr val="8A8F93"/>
                </a:solidFill>
                <a:latin typeface="Cambria" panose="02040503050406030204"/>
                <a:ea typeface="Cambria" panose="02040503050406030204"/>
                <a:cs typeface="Cambria" panose="02040503050406030204"/>
              </a:rPr>
              <a:t>Giới thiệu phần mềm và tiến độ phát triển | THACO AGRI Fleet | 21/09/2026</a:t>
            </a:r>
            <a:endParaRPr sz="825" b="0" i="1">
              <a:solidFill>
                <a:srgbClr val="8A8F93"/>
              </a:solidFill>
              <a:latin typeface="Cambria" panose="02040503050406030204"/>
              <a:ea typeface="Cambria" panose="02040503050406030204"/>
              <a:cs typeface="Cambria" panose="02040503050406030204"/>
            </a:endParaRPr>
          </a:p>
        </p:txBody>
      </p:sp>
      <p:sp>
        <p:nvSpPr>
          <p:cNvPr id="8" name="Rectangle 7"/>
          <p:cNvSpPr>
            <a:spLocks noGrp="1"/>
          </p:cNvSpPr>
          <p:nvPr/>
        </p:nvSpPr>
        <p:spPr>
          <a:xfrm>
            <a:off x="11658600" y="6534150"/>
            <a:ext cx="228600" cy="190500"/>
          </a:xfrm>
          <a:prstGeom prst="rect">
            <a:avLst/>
          </a:prstGeom>
          <a:noFill/>
          <a:ln w="0">
            <a:noFill/>
          </a:ln>
        </p:spPr>
        <p:txBody>
          <a:bodyPr wrap="square" lIns="38100" tIns="19050" rIns="38100" bIns="19050" anchor="ctr">
            <a:normAutofit/>
          </a:bodyPr>
          <a:lstStyle/>
          <a:p>
            <a:pPr algn="r">
              <a:lnSpc>
                <a:spcPct val="100000"/>
              </a:lnSpc>
              <a:buNone/>
              <a:defRPr sz="825" b="0" i="0">
                <a:solidFill>
                  <a:srgbClr val="8A8F93"/>
                </a:solidFill>
                <a:latin typeface="Cambria" panose="02040503050406030204"/>
                <a:ea typeface="Cambria" panose="02040503050406030204"/>
                <a:cs typeface="Cambria" panose="02040503050406030204"/>
              </a:defRPr>
            </a:pPr>
            <a:r>
              <a:rPr sz="825" b="0" i="0">
                <a:solidFill>
                  <a:srgbClr val="8A8F93"/>
                </a:solidFill>
                <a:latin typeface="Cambria" panose="02040503050406030204"/>
                <a:ea typeface="Cambria" panose="02040503050406030204"/>
                <a:cs typeface="Cambria" panose="02040503050406030204"/>
              </a:rPr>
              <a:t>8</a:t>
            </a:r>
            <a:endParaRPr sz="825" b="0" i="0">
              <a:solidFill>
                <a:srgbClr val="8A8F93"/>
              </a:solidFill>
              <a:latin typeface="Cambria" panose="02040503050406030204"/>
              <a:ea typeface="Cambria" panose="02040503050406030204"/>
              <a:cs typeface="Cambria" panose="02040503050406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slide-title"/>
          <p:cNvSpPr>
            <a:spLocks noGrp="1"/>
          </p:cNvSpPr>
          <p:nvPr/>
        </p:nvSpPr>
        <p:spPr>
          <a:xfrm>
            <a:off x="2571750" y="142875"/>
            <a:ext cx="9191625" cy="590550"/>
          </a:xfrm>
          <a:prstGeom prst="rect">
            <a:avLst/>
          </a:prstGeom>
          <a:noFill/>
          <a:ln w="0">
            <a:noFill/>
          </a:ln>
        </p:spPr>
        <p:txBody>
          <a:bodyPr wrap="square" lIns="38100" tIns="19050" rIns="38100" bIns="19050" anchor="ctr">
            <a:normAutofit/>
          </a:bodyPr>
          <a:lstStyle/>
          <a:p>
            <a:pPr algn="ctr">
              <a:lnSpc>
                <a:spcPct val="100000"/>
              </a:lnSpc>
              <a:buNone/>
              <a:defRPr sz="2100" b="1" i="0">
                <a:solidFill>
                  <a:srgbClr val="E00000"/>
                </a:solidFill>
                <a:latin typeface="Cambria" panose="02040503050406030204"/>
                <a:ea typeface="Cambria" panose="02040503050406030204"/>
                <a:cs typeface="Cambria" panose="02040503050406030204"/>
              </a:defRPr>
            </a:pPr>
            <a:r>
              <a:rPr sz="2100" b="1" i="0">
                <a:solidFill>
                  <a:srgbClr val="E00000"/>
                </a:solidFill>
                <a:latin typeface="Cambria" panose="02040503050406030204"/>
                <a:ea typeface="Cambria" panose="02040503050406030204"/>
                <a:cs typeface="Cambria" panose="02040503050406030204"/>
              </a:rPr>
              <a:t>TRẢI NGHIỆM WEB CHO KHỐI ĐIỀU HÀNH</a:t>
            </a:r>
            <a:endParaRPr sz="2100" b="1" i="0">
              <a:solidFill>
                <a:srgbClr val="E00000"/>
              </a:solidFill>
              <a:latin typeface="Cambria" panose="02040503050406030204"/>
              <a:ea typeface="Cambria" panose="02040503050406030204"/>
              <a:cs typeface="Cambria" panose="02040503050406030204"/>
            </a:endParaRPr>
          </a:p>
        </p:txBody>
      </p:sp>
      <p:sp>
        <p:nvSpPr>
          <p:cNvPr id="2" name="Rectangle 1"/>
          <p:cNvSpPr>
            <a:spLocks noGrp="1"/>
          </p:cNvSpPr>
          <p:nvPr/>
        </p:nvSpPr>
        <p:spPr>
          <a:xfrm>
            <a:off x="704850" y="1257300"/>
            <a:ext cx="2000250" cy="723900"/>
          </a:xfrm>
          <a:prstGeom prst="rect">
            <a:avLst/>
          </a:prstGeom>
          <a:noFill/>
          <a:ln w="0">
            <a:noFill/>
          </a:ln>
        </p:spPr>
        <p:txBody>
          <a:bodyPr wrap="square" lIns="38100" tIns="19050" rIns="38100" bIns="19050" anchor="ctr">
            <a:normAutofit/>
          </a:bodyPr>
          <a:lstStyle/>
          <a:p>
            <a:pPr algn="ctr">
              <a:lnSpc>
                <a:spcPct val="100000"/>
              </a:lnSpc>
              <a:buNone/>
              <a:defRPr sz="4200" b="1" i="0">
                <a:solidFill>
                  <a:srgbClr val="006B35"/>
                </a:solidFill>
                <a:latin typeface="Cambria" panose="02040503050406030204"/>
                <a:ea typeface="Cambria" panose="02040503050406030204"/>
                <a:cs typeface="Cambria" panose="02040503050406030204"/>
              </a:defRPr>
            </a:pPr>
            <a:r>
              <a:rPr sz="4200" b="1" i="0">
                <a:solidFill>
                  <a:srgbClr val="006B35"/>
                </a:solidFill>
                <a:latin typeface="Cambria" panose="02040503050406030204"/>
                <a:ea typeface="Cambria" panose="02040503050406030204"/>
                <a:cs typeface="Cambria" panose="02040503050406030204"/>
              </a:rPr>
              <a:t>70</a:t>
            </a:r>
            <a:endParaRPr sz="4200" b="1" i="0">
              <a:solidFill>
                <a:srgbClr val="006B35"/>
              </a:solidFill>
              <a:latin typeface="Cambria" panose="02040503050406030204"/>
              <a:ea typeface="Cambria" panose="02040503050406030204"/>
              <a:cs typeface="Cambria" panose="02040503050406030204"/>
            </a:endParaRPr>
          </a:p>
        </p:txBody>
      </p:sp>
      <p:sp>
        <p:nvSpPr>
          <p:cNvPr id="3" name="Rectangle 2"/>
          <p:cNvSpPr>
            <a:spLocks noGrp="1"/>
          </p:cNvSpPr>
          <p:nvPr/>
        </p:nvSpPr>
        <p:spPr>
          <a:xfrm>
            <a:off x="704850" y="1981200"/>
            <a:ext cx="2000250" cy="381000"/>
          </a:xfrm>
          <a:prstGeom prst="rect">
            <a:avLst/>
          </a:prstGeom>
          <a:noFill/>
          <a:ln w="0">
            <a:noFill/>
          </a:ln>
        </p:spPr>
        <p:txBody>
          <a:bodyPr wrap="square" lIns="38100" tIns="19050" rIns="38100" bIns="19050" anchor="t">
            <a:normAutofit/>
          </a:bodyPr>
          <a:lstStyle/>
          <a:p>
            <a:pPr algn="ctr">
              <a:lnSpc>
                <a:spcPct val="100000"/>
              </a:lnSpc>
              <a:buNone/>
              <a:defRPr sz="1500" b="1" i="0">
                <a:solidFill>
                  <a:srgbClr val="17212B"/>
                </a:solidFill>
                <a:latin typeface="Cambria" panose="02040503050406030204"/>
                <a:ea typeface="Cambria" panose="02040503050406030204"/>
                <a:cs typeface="Cambria" panose="02040503050406030204"/>
              </a:defRPr>
            </a:pPr>
            <a:r>
              <a:rPr sz="1500" b="1" i="0">
                <a:solidFill>
                  <a:srgbClr val="17212B"/>
                </a:solidFill>
                <a:latin typeface="Cambria" panose="02040503050406030204"/>
                <a:ea typeface="Cambria" panose="02040503050406030204"/>
                <a:cs typeface="Cambria" panose="02040503050406030204"/>
              </a:rPr>
              <a:t>trang chức năng</a:t>
            </a:r>
            <a:endParaRPr sz="1500" b="1" i="0">
              <a:solidFill>
                <a:srgbClr val="17212B"/>
              </a:solidFill>
              <a:latin typeface="Cambria" panose="02040503050406030204"/>
              <a:ea typeface="Cambria" panose="02040503050406030204"/>
              <a:cs typeface="Cambria" panose="02040503050406030204"/>
            </a:endParaRPr>
          </a:p>
        </p:txBody>
      </p:sp>
      <p:sp>
        <p:nvSpPr>
          <p:cNvPr id="4" name="Rectangle 3"/>
          <p:cNvSpPr>
            <a:spLocks noGrp="1"/>
          </p:cNvSpPr>
          <p:nvPr/>
        </p:nvSpPr>
        <p:spPr>
          <a:xfrm>
            <a:off x="3105150" y="1257300"/>
            <a:ext cx="2000250" cy="723900"/>
          </a:xfrm>
          <a:prstGeom prst="rect">
            <a:avLst/>
          </a:prstGeom>
          <a:noFill/>
          <a:ln w="0">
            <a:noFill/>
          </a:ln>
        </p:spPr>
        <p:txBody>
          <a:bodyPr wrap="square" lIns="38100" tIns="19050" rIns="38100" bIns="19050" anchor="ctr">
            <a:normAutofit/>
          </a:bodyPr>
          <a:lstStyle/>
          <a:p>
            <a:pPr algn="ctr">
              <a:lnSpc>
                <a:spcPct val="100000"/>
              </a:lnSpc>
              <a:buNone/>
              <a:defRPr sz="4200" b="1" i="0">
                <a:solidFill>
                  <a:srgbClr val="075AA7"/>
                </a:solidFill>
                <a:latin typeface="Cambria" panose="02040503050406030204"/>
                <a:ea typeface="Cambria" panose="02040503050406030204"/>
                <a:cs typeface="Cambria" panose="02040503050406030204"/>
              </a:defRPr>
            </a:pPr>
            <a:r>
              <a:rPr sz="4200" b="1" i="0">
                <a:solidFill>
                  <a:srgbClr val="075AA7"/>
                </a:solidFill>
                <a:latin typeface="Cambria" panose="02040503050406030204"/>
                <a:ea typeface="Cambria" panose="02040503050406030204"/>
                <a:cs typeface="Cambria" panose="02040503050406030204"/>
              </a:rPr>
              <a:t>104</a:t>
            </a:r>
            <a:endParaRPr sz="4200" b="1" i="0">
              <a:solidFill>
                <a:srgbClr val="075AA7"/>
              </a:solidFill>
              <a:latin typeface="Cambria" panose="02040503050406030204"/>
              <a:ea typeface="Cambria" panose="02040503050406030204"/>
              <a:cs typeface="Cambria" panose="02040503050406030204"/>
            </a:endParaRPr>
          </a:p>
        </p:txBody>
      </p:sp>
      <p:sp>
        <p:nvSpPr>
          <p:cNvPr id="5" name="Rectangle 4"/>
          <p:cNvSpPr>
            <a:spLocks noGrp="1"/>
          </p:cNvSpPr>
          <p:nvPr/>
        </p:nvSpPr>
        <p:spPr>
          <a:xfrm>
            <a:off x="3105150" y="1981200"/>
            <a:ext cx="2000250" cy="381000"/>
          </a:xfrm>
          <a:prstGeom prst="rect">
            <a:avLst/>
          </a:prstGeom>
          <a:noFill/>
          <a:ln w="0">
            <a:noFill/>
          </a:ln>
        </p:spPr>
        <p:txBody>
          <a:bodyPr wrap="square" lIns="38100" tIns="19050" rIns="38100" bIns="19050" anchor="t">
            <a:normAutofit/>
          </a:bodyPr>
          <a:lstStyle/>
          <a:p>
            <a:pPr algn="ctr">
              <a:lnSpc>
                <a:spcPct val="100000"/>
              </a:lnSpc>
              <a:buNone/>
              <a:defRPr sz="1500" b="1" i="0">
                <a:solidFill>
                  <a:srgbClr val="17212B"/>
                </a:solidFill>
                <a:latin typeface="Cambria" panose="02040503050406030204"/>
                <a:ea typeface="Cambria" panose="02040503050406030204"/>
                <a:cs typeface="Cambria" panose="02040503050406030204"/>
              </a:defRPr>
            </a:pPr>
            <a:r>
              <a:rPr sz="1500" b="1" i="0">
                <a:solidFill>
                  <a:srgbClr val="17212B"/>
                </a:solidFill>
                <a:latin typeface="Cambria" panose="02040503050406030204"/>
                <a:ea typeface="Cambria" panose="02040503050406030204"/>
                <a:cs typeface="Cambria" panose="02040503050406030204"/>
              </a:rPr>
              <a:t>đường dẫn web</a:t>
            </a:r>
            <a:endParaRPr sz="1500" b="1" i="0">
              <a:solidFill>
                <a:srgbClr val="17212B"/>
              </a:solidFill>
              <a:latin typeface="Cambria" panose="02040503050406030204"/>
              <a:ea typeface="Cambria" panose="02040503050406030204"/>
              <a:cs typeface="Cambria" panose="02040503050406030204"/>
            </a:endParaRPr>
          </a:p>
        </p:txBody>
      </p:sp>
      <p:sp>
        <p:nvSpPr>
          <p:cNvPr id="6" name="Rectangle 5"/>
          <p:cNvSpPr>
            <a:spLocks noGrp="1"/>
          </p:cNvSpPr>
          <p:nvPr/>
        </p:nvSpPr>
        <p:spPr>
          <a:xfrm>
            <a:off x="5505450" y="1257300"/>
            <a:ext cx="2000250" cy="723900"/>
          </a:xfrm>
          <a:prstGeom prst="rect">
            <a:avLst/>
          </a:prstGeom>
          <a:noFill/>
          <a:ln w="0">
            <a:noFill/>
          </a:ln>
        </p:spPr>
        <p:txBody>
          <a:bodyPr wrap="square" lIns="38100" tIns="19050" rIns="38100" bIns="19050" anchor="ctr">
            <a:normAutofit/>
          </a:bodyPr>
          <a:lstStyle/>
          <a:p>
            <a:pPr algn="ctr">
              <a:lnSpc>
                <a:spcPct val="100000"/>
              </a:lnSpc>
              <a:buNone/>
              <a:defRPr sz="4200" b="1" i="0">
                <a:solidFill>
                  <a:srgbClr val="E87518"/>
                </a:solidFill>
                <a:latin typeface="Cambria" panose="02040503050406030204"/>
                <a:ea typeface="Cambria" panose="02040503050406030204"/>
                <a:cs typeface="Cambria" panose="02040503050406030204"/>
              </a:defRPr>
            </a:pPr>
            <a:r>
              <a:rPr sz="4200" b="1" i="0">
                <a:solidFill>
                  <a:srgbClr val="E87518"/>
                </a:solidFill>
                <a:latin typeface="Cambria" panose="02040503050406030204"/>
                <a:ea typeface="Cambria" panose="02040503050406030204"/>
                <a:cs typeface="Cambria" panose="02040503050406030204"/>
              </a:rPr>
              <a:t>49</a:t>
            </a:r>
            <a:endParaRPr sz="4200" b="1" i="0">
              <a:solidFill>
                <a:srgbClr val="E87518"/>
              </a:solidFill>
              <a:latin typeface="Cambria" panose="02040503050406030204"/>
              <a:ea typeface="Cambria" panose="02040503050406030204"/>
              <a:cs typeface="Cambria" panose="02040503050406030204"/>
            </a:endParaRPr>
          </a:p>
        </p:txBody>
      </p:sp>
      <p:sp>
        <p:nvSpPr>
          <p:cNvPr id="7" name="Rectangle 6"/>
          <p:cNvSpPr>
            <a:spLocks noGrp="1"/>
          </p:cNvSpPr>
          <p:nvPr/>
        </p:nvSpPr>
        <p:spPr>
          <a:xfrm>
            <a:off x="5505450" y="1981200"/>
            <a:ext cx="2000250" cy="514350"/>
          </a:xfrm>
          <a:prstGeom prst="rect">
            <a:avLst/>
          </a:prstGeom>
          <a:noFill/>
          <a:ln w="0">
            <a:noFill/>
          </a:ln>
        </p:spPr>
        <p:txBody>
          <a:bodyPr wrap="square" lIns="38100" tIns="19050" rIns="38100" bIns="19050" anchor="t">
            <a:normAutofit/>
          </a:bodyPr>
          <a:lstStyle/>
          <a:p>
            <a:pPr algn="ctr">
              <a:lnSpc>
                <a:spcPct val="100000"/>
              </a:lnSpc>
              <a:buNone/>
              <a:defRPr sz="1350" b="1" i="0">
                <a:solidFill>
                  <a:srgbClr val="17212B"/>
                </a:solidFill>
                <a:latin typeface="Cambria" panose="02040503050406030204"/>
                <a:ea typeface="Cambria" panose="02040503050406030204"/>
                <a:cs typeface="Cambria" panose="02040503050406030204"/>
              </a:defRPr>
            </a:pPr>
            <a:r>
              <a:rPr sz="1350" b="1" i="0">
                <a:solidFill>
                  <a:srgbClr val="17212B"/>
                </a:solidFill>
                <a:latin typeface="Cambria" panose="02040503050406030204"/>
                <a:ea typeface="Cambria" panose="02040503050406030204"/>
                <a:cs typeface="Cambria" panose="02040503050406030204"/>
              </a:rPr>
              <a:t>trang có dấu hiệu</a:t>
            </a:r>
            <a:endParaRPr sz="1350" b="1" i="0">
              <a:solidFill>
                <a:srgbClr val="17212B"/>
              </a:solidFill>
              <a:latin typeface="Cambria" panose="02040503050406030204"/>
              <a:ea typeface="Cambria" panose="02040503050406030204"/>
              <a:cs typeface="Cambria" panose="02040503050406030204"/>
            </a:endParaRPr>
          </a:p>
          <a:p>
            <a:pPr algn="ctr">
              <a:lnSpc>
                <a:spcPct val="100000"/>
              </a:lnSpc>
              <a:buNone/>
              <a:defRPr sz="1350" b="1" i="0">
                <a:solidFill>
                  <a:srgbClr val="17212B"/>
                </a:solidFill>
                <a:latin typeface="Cambria" panose="02040503050406030204"/>
                <a:ea typeface="Cambria" panose="02040503050406030204"/>
                <a:cs typeface="Cambria" panose="02040503050406030204"/>
              </a:defRPr>
            </a:pPr>
            <a:r>
              <a:rPr sz="1350" b="1" i="0">
                <a:solidFill>
                  <a:srgbClr val="17212B"/>
                </a:solidFill>
                <a:latin typeface="Cambria" panose="02040503050406030204"/>
                <a:ea typeface="Cambria" panose="02040503050406030204"/>
                <a:cs typeface="Cambria" panose="02040503050406030204"/>
              </a:rPr>
              <a:t>kết nối API*</a:t>
            </a:r>
            <a:endParaRPr sz="1350" b="1" i="0">
              <a:solidFill>
                <a:srgbClr val="17212B"/>
              </a:solidFill>
              <a:latin typeface="Cambria" panose="02040503050406030204"/>
              <a:ea typeface="Cambria" panose="02040503050406030204"/>
              <a:cs typeface="Cambria" panose="02040503050406030204"/>
            </a:endParaRPr>
          </a:p>
        </p:txBody>
      </p:sp>
      <p:sp>
        <p:nvSpPr>
          <p:cNvPr id="8" name="Rectangle 7"/>
          <p:cNvSpPr>
            <a:spLocks noGrp="1"/>
          </p:cNvSpPr>
          <p:nvPr/>
        </p:nvSpPr>
        <p:spPr>
          <a:xfrm>
            <a:off x="7905750" y="1257300"/>
            <a:ext cx="2000250" cy="723900"/>
          </a:xfrm>
          <a:prstGeom prst="rect">
            <a:avLst/>
          </a:prstGeom>
          <a:noFill/>
          <a:ln w="0">
            <a:noFill/>
          </a:ln>
        </p:spPr>
        <p:txBody>
          <a:bodyPr wrap="square" lIns="38100" tIns="19050" rIns="38100" bIns="19050" anchor="ctr">
            <a:normAutofit/>
          </a:bodyPr>
          <a:lstStyle/>
          <a:p>
            <a:pPr algn="ctr">
              <a:lnSpc>
                <a:spcPct val="100000"/>
              </a:lnSpc>
              <a:buNone/>
              <a:defRPr sz="4200" b="1" i="0">
                <a:solidFill>
                  <a:srgbClr val="E00000"/>
                </a:solidFill>
                <a:latin typeface="Cambria" panose="02040503050406030204"/>
                <a:ea typeface="Cambria" panose="02040503050406030204"/>
                <a:cs typeface="Cambria" panose="02040503050406030204"/>
              </a:defRPr>
            </a:pPr>
            <a:r>
              <a:rPr sz="4200" b="1" i="0">
                <a:solidFill>
                  <a:srgbClr val="E00000"/>
                </a:solidFill>
                <a:latin typeface="Cambria" panose="02040503050406030204"/>
                <a:ea typeface="Cambria" panose="02040503050406030204"/>
                <a:cs typeface="Cambria" panose="02040503050406030204"/>
              </a:rPr>
              <a:t>24</a:t>
            </a:r>
            <a:endParaRPr sz="4200" b="1" i="0">
              <a:solidFill>
                <a:srgbClr val="E00000"/>
              </a:solidFill>
              <a:latin typeface="Cambria" panose="02040503050406030204"/>
              <a:ea typeface="Cambria" panose="02040503050406030204"/>
              <a:cs typeface="Cambria" panose="02040503050406030204"/>
            </a:endParaRPr>
          </a:p>
        </p:txBody>
      </p:sp>
      <p:sp>
        <p:nvSpPr>
          <p:cNvPr id="9" name="Rectangle 8"/>
          <p:cNvSpPr>
            <a:spLocks noGrp="1"/>
          </p:cNvSpPr>
          <p:nvPr/>
        </p:nvSpPr>
        <p:spPr>
          <a:xfrm>
            <a:off x="7905750" y="1981200"/>
            <a:ext cx="2000250" cy="514350"/>
          </a:xfrm>
          <a:prstGeom prst="rect">
            <a:avLst/>
          </a:prstGeom>
          <a:noFill/>
          <a:ln w="0">
            <a:noFill/>
          </a:ln>
        </p:spPr>
        <p:txBody>
          <a:bodyPr wrap="square" lIns="38100" tIns="19050" rIns="38100" bIns="19050" anchor="t">
            <a:normAutofit/>
          </a:bodyPr>
          <a:lstStyle/>
          <a:p>
            <a:pPr algn="ctr">
              <a:lnSpc>
                <a:spcPct val="100000"/>
              </a:lnSpc>
              <a:buNone/>
              <a:defRPr sz="1350" b="1" i="0">
                <a:solidFill>
                  <a:srgbClr val="17212B"/>
                </a:solidFill>
                <a:latin typeface="Cambria" panose="02040503050406030204"/>
                <a:ea typeface="Cambria" panose="02040503050406030204"/>
                <a:cs typeface="Cambria" panose="02040503050406030204"/>
              </a:defRPr>
            </a:pPr>
            <a:r>
              <a:rPr sz="1350" b="1" i="0">
                <a:solidFill>
                  <a:srgbClr val="17212B"/>
                </a:solidFill>
                <a:latin typeface="Cambria" panose="02040503050406030204"/>
                <a:ea typeface="Cambria" panose="02040503050406030204"/>
                <a:cs typeface="Cambria" panose="02040503050406030204"/>
              </a:rPr>
              <a:t>trang vừa dùng API</a:t>
            </a:r>
            <a:endParaRPr sz="1350" b="1" i="0">
              <a:solidFill>
                <a:srgbClr val="17212B"/>
              </a:solidFill>
              <a:latin typeface="Cambria" panose="02040503050406030204"/>
              <a:ea typeface="Cambria" panose="02040503050406030204"/>
              <a:cs typeface="Cambria" panose="02040503050406030204"/>
            </a:endParaRPr>
          </a:p>
          <a:p>
            <a:pPr algn="ctr">
              <a:lnSpc>
                <a:spcPct val="100000"/>
              </a:lnSpc>
              <a:buNone/>
              <a:defRPr sz="1350" b="1" i="0">
                <a:solidFill>
                  <a:srgbClr val="17212B"/>
                </a:solidFill>
                <a:latin typeface="Cambria" panose="02040503050406030204"/>
                <a:ea typeface="Cambria" panose="02040503050406030204"/>
                <a:cs typeface="Cambria" panose="02040503050406030204"/>
              </a:defRPr>
            </a:pPr>
            <a:r>
              <a:rPr sz="1350" b="1" i="0">
                <a:solidFill>
                  <a:srgbClr val="17212B"/>
                </a:solidFill>
                <a:latin typeface="Cambria" panose="02040503050406030204"/>
                <a:ea typeface="Cambria" panose="02040503050406030204"/>
                <a:cs typeface="Cambria" panose="02040503050406030204"/>
              </a:rPr>
              <a:t>vừa có mock/fallback*</a:t>
            </a:r>
            <a:endParaRPr sz="1350" b="1" i="0">
              <a:solidFill>
                <a:srgbClr val="17212B"/>
              </a:solidFill>
              <a:latin typeface="Cambria" panose="02040503050406030204"/>
              <a:ea typeface="Cambria" panose="02040503050406030204"/>
              <a:cs typeface="Cambria" panose="02040503050406030204"/>
            </a:endParaRPr>
          </a:p>
        </p:txBody>
      </p:sp>
      <p:sp>
        <p:nvSpPr>
          <p:cNvPr id="10" name="Rectangle 9"/>
          <p:cNvSpPr>
            <a:spLocks noGrp="1"/>
          </p:cNvSpPr>
          <p:nvPr/>
        </p:nvSpPr>
        <p:spPr>
          <a:xfrm>
            <a:off x="666750" y="3067050"/>
            <a:ext cx="4476750" cy="323850"/>
          </a:xfrm>
          <a:prstGeom prst="rect">
            <a:avLst/>
          </a:prstGeom>
          <a:noFill/>
          <a:ln w="0">
            <a:noFill/>
          </a:ln>
        </p:spPr>
        <p:txBody>
          <a:bodyPr wrap="square" lIns="38100" tIns="19050" rIns="38100" bIns="19050" anchor="t">
            <a:normAutofit/>
          </a:bodyPr>
          <a:lstStyle/>
          <a:p>
            <a:pPr algn="l">
              <a:lnSpc>
                <a:spcPct val="100000"/>
              </a:lnSpc>
              <a:buNone/>
              <a:defRPr sz="1725" b="1" i="0">
                <a:solidFill>
                  <a:srgbClr val="006B35"/>
                </a:solidFill>
                <a:latin typeface="Cambria" panose="02040503050406030204"/>
                <a:ea typeface="Cambria" panose="02040503050406030204"/>
                <a:cs typeface="Cambria" panose="02040503050406030204"/>
              </a:defRPr>
            </a:pPr>
            <a:r>
              <a:rPr sz="1725" b="1" i="0">
                <a:solidFill>
                  <a:srgbClr val="006B35"/>
                </a:solidFill>
                <a:latin typeface="Cambria" panose="02040503050406030204"/>
                <a:ea typeface="Cambria" panose="02040503050406030204"/>
                <a:cs typeface="Cambria" panose="02040503050406030204"/>
              </a:rPr>
              <a:t>Trải nghiệm giao diện đã được xây dựng</a:t>
            </a:r>
            <a:endParaRPr sz="1725" b="1" i="0">
              <a:solidFill>
                <a:srgbClr val="006B35"/>
              </a:solidFill>
              <a:latin typeface="Cambria" panose="02040503050406030204"/>
              <a:ea typeface="Cambria" panose="02040503050406030204"/>
              <a:cs typeface="Cambria" panose="02040503050406030204"/>
            </a:endParaRPr>
          </a:p>
        </p:txBody>
      </p:sp>
      <p:sp>
        <p:nvSpPr>
          <p:cNvPr id="11" name="Rectangle 10"/>
          <p:cNvSpPr>
            <a:spLocks noGrp="1"/>
          </p:cNvSpPr>
          <p:nvPr/>
        </p:nvSpPr>
        <p:spPr>
          <a:xfrm>
            <a:off x="619125" y="3429000"/>
            <a:ext cx="5048250" cy="1952625"/>
          </a:xfrm>
          <a:prstGeom prst="rect">
            <a:avLst/>
          </a:prstGeom>
          <a:noFill/>
          <a:ln w="0">
            <a:noFill/>
          </a:ln>
        </p:spPr>
        <p:txBody>
          <a:bodyPr wrap="square" lIns="38100" tIns="19050" rIns="38100" bIns="19050" anchor="t">
            <a:normAutofit/>
          </a:bodyPr>
          <a:lstStyle/>
          <a:p>
            <a:pPr marL="241300" indent="-114300" algn="l">
              <a:lnSpc>
                <a:spcPct val="104000"/>
              </a:lnSpc>
              <a:spcAft>
                <a:spcPts val="700"/>
              </a:spcAft>
              <a:buNone/>
              <a:defRPr sz="1500" b="0" i="0">
                <a:solidFill>
                  <a:srgbClr val="17212B"/>
                </a:solidFill>
                <a:latin typeface="Cambria" panose="02040503050406030204"/>
                <a:ea typeface="Cambria" panose="02040503050406030204"/>
                <a:cs typeface="Cambria" panose="02040503050406030204"/>
              </a:defRPr>
            </a:pPr>
            <a:r>
              <a:rPr sz="1500" b="0" i="0">
                <a:solidFill>
                  <a:srgbClr val="17212B"/>
                </a:solidFill>
                <a:latin typeface="Cambria" panose="02040503050406030204"/>
                <a:ea typeface="Cambria" panose="02040503050406030204"/>
                <a:cs typeface="Cambria" panose="02040503050406030204"/>
              </a:rPr>
              <a:t>Xem dashboard, bản đồ, danh sách xe và trạng thái vận hành</a:t>
            </a:r>
            <a:endParaRPr sz="1500" b="0" i="0">
              <a:solidFill>
                <a:srgbClr val="17212B"/>
              </a:solidFill>
              <a:latin typeface="Cambria" panose="02040503050406030204"/>
              <a:ea typeface="Cambria" panose="02040503050406030204"/>
              <a:cs typeface="Cambria" panose="02040503050406030204"/>
            </a:endParaRPr>
          </a:p>
          <a:p>
            <a:pPr marL="241300" indent="-114300" algn="l">
              <a:lnSpc>
                <a:spcPct val="104000"/>
              </a:lnSpc>
              <a:spcAft>
                <a:spcPts val="700"/>
              </a:spcAft>
              <a:buNone/>
              <a:defRPr sz="1500" b="0" i="0">
                <a:solidFill>
                  <a:srgbClr val="17212B"/>
                </a:solidFill>
                <a:latin typeface="Cambria" panose="02040503050406030204"/>
                <a:ea typeface="Cambria" panose="02040503050406030204"/>
                <a:cs typeface="Cambria" panose="02040503050406030204"/>
              </a:defRPr>
            </a:pPr>
            <a:r>
              <a:rPr sz="1500" b="0" i="0">
                <a:solidFill>
                  <a:srgbClr val="17212B"/>
                </a:solidFill>
                <a:latin typeface="Cambria" panose="02040503050406030204"/>
                <a:ea typeface="Cambria" panose="02040503050406030204"/>
                <a:cs typeface="Cambria" panose="02040503050406030204"/>
              </a:rPr>
              <a:t>Lập kế hoạch, điều xe, quản lý lệnh và theo dõi tiến độ</a:t>
            </a:r>
            <a:endParaRPr sz="1500" b="0" i="0">
              <a:solidFill>
                <a:srgbClr val="17212B"/>
              </a:solidFill>
              <a:latin typeface="Cambria" panose="02040503050406030204"/>
              <a:ea typeface="Cambria" panose="02040503050406030204"/>
              <a:cs typeface="Cambria" panose="02040503050406030204"/>
            </a:endParaRPr>
          </a:p>
          <a:p>
            <a:pPr marL="241300" indent="-114300" algn="l">
              <a:lnSpc>
                <a:spcPct val="104000"/>
              </a:lnSpc>
              <a:spcAft>
                <a:spcPts val="700"/>
              </a:spcAft>
              <a:buNone/>
              <a:defRPr sz="1500" b="0" i="0">
                <a:solidFill>
                  <a:srgbClr val="17212B"/>
                </a:solidFill>
                <a:latin typeface="Cambria" panose="02040503050406030204"/>
                <a:ea typeface="Cambria" panose="02040503050406030204"/>
                <a:cs typeface="Cambria" panose="02040503050406030204"/>
              </a:defRPr>
            </a:pPr>
            <a:r>
              <a:rPr sz="1500" b="0" i="0">
                <a:solidFill>
                  <a:srgbClr val="17212B"/>
                </a:solidFill>
                <a:latin typeface="Cambria" panose="02040503050406030204"/>
                <a:ea typeface="Cambria" panose="02040503050406030204"/>
                <a:cs typeface="Cambria" panose="02040503050406030204"/>
              </a:rPr>
              <a:t>Quản lý BTSC, nhiên liệu, lái xe, danh mục và phân quyền</a:t>
            </a:r>
            <a:endParaRPr sz="1500" b="0" i="0">
              <a:solidFill>
                <a:srgbClr val="17212B"/>
              </a:solidFill>
              <a:latin typeface="Cambria" panose="02040503050406030204"/>
              <a:ea typeface="Cambria" panose="02040503050406030204"/>
              <a:cs typeface="Cambria" panose="02040503050406030204"/>
            </a:endParaRPr>
          </a:p>
        </p:txBody>
      </p:sp>
      <p:sp>
        <p:nvSpPr>
          <p:cNvPr id="12" name="Rectangle 11"/>
          <p:cNvSpPr>
            <a:spLocks noGrp="1"/>
          </p:cNvSpPr>
          <p:nvPr/>
        </p:nvSpPr>
        <p:spPr>
          <a:xfrm>
            <a:off x="6381750" y="3067050"/>
            <a:ext cx="3048000" cy="323850"/>
          </a:xfrm>
          <a:prstGeom prst="rect">
            <a:avLst/>
          </a:prstGeom>
          <a:noFill/>
          <a:ln w="0">
            <a:noFill/>
          </a:ln>
        </p:spPr>
        <p:txBody>
          <a:bodyPr wrap="square" lIns="38100" tIns="19050" rIns="38100" bIns="19050" anchor="t">
            <a:normAutofit/>
          </a:bodyPr>
          <a:lstStyle/>
          <a:p>
            <a:pPr algn="l">
              <a:lnSpc>
                <a:spcPct val="100000"/>
              </a:lnSpc>
              <a:buNone/>
              <a:defRPr sz="1725" b="1" i="0">
                <a:solidFill>
                  <a:srgbClr val="E00000"/>
                </a:solidFill>
                <a:latin typeface="Cambria" panose="02040503050406030204"/>
                <a:ea typeface="Cambria" panose="02040503050406030204"/>
                <a:cs typeface="Cambria" panose="02040503050406030204"/>
              </a:defRPr>
            </a:pPr>
            <a:r>
              <a:rPr sz="1725" b="1" i="0">
                <a:solidFill>
                  <a:srgbClr val="E00000"/>
                </a:solidFill>
                <a:latin typeface="Cambria" panose="02040503050406030204"/>
                <a:ea typeface="Cambria" panose="02040503050406030204"/>
                <a:cs typeface="Cambria" panose="02040503050406030204"/>
              </a:rPr>
              <a:t>Phần cần hoàn thiện</a:t>
            </a:r>
            <a:endParaRPr sz="1725" b="1" i="0">
              <a:solidFill>
                <a:srgbClr val="E00000"/>
              </a:solidFill>
              <a:latin typeface="Cambria" panose="02040503050406030204"/>
              <a:ea typeface="Cambria" panose="02040503050406030204"/>
              <a:cs typeface="Cambria" panose="02040503050406030204"/>
            </a:endParaRPr>
          </a:p>
        </p:txBody>
      </p:sp>
      <p:sp>
        <p:nvSpPr>
          <p:cNvPr id="13" name="Rectangle 12"/>
          <p:cNvSpPr>
            <a:spLocks noGrp="1"/>
          </p:cNvSpPr>
          <p:nvPr/>
        </p:nvSpPr>
        <p:spPr>
          <a:xfrm>
            <a:off x="6334125" y="3429000"/>
            <a:ext cx="5048250" cy="1952625"/>
          </a:xfrm>
          <a:prstGeom prst="rect">
            <a:avLst/>
          </a:prstGeom>
          <a:noFill/>
          <a:ln w="0">
            <a:noFill/>
          </a:ln>
        </p:spPr>
        <p:txBody>
          <a:bodyPr wrap="square" lIns="38100" tIns="19050" rIns="38100" bIns="19050" anchor="t">
            <a:normAutofit/>
          </a:bodyPr>
          <a:lstStyle/>
          <a:p>
            <a:pPr marL="241300" indent="-114300" algn="l">
              <a:lnSpc>
                <a:spcPct val="104000"/>
              </a:lnSpc>
              <a:spcAft>
                <a:spcPts val="700"/>
              </a:spcAft>
              <a:buNone/>
              <a:defRPr sz="1500" b="0" i="0">
                <a:solidFill>
                  <a:srgbClr val="17212B"/>
                </a:solidFill>
                <a:latin typeface="Cambria" panose="02040503050406030204"/>
                <a:ea typeface="Cambria" panose="02040503050406030204"/>
                <a:cs typeface="Cambria" panose="02040503050406030204"/>
              </a:defRPr>
            </a:pPr>
            <a:r>
              <a:rPr sz="1500" b="0" i="0">
                <a:solidFill>
                  <a:srgbClr val="17212B"/>
                </a:solidFill>
                <a:latin typeface="Cambria" panose="02040503050406030204"/>
                <a:ea typeface="Cambria" panose="02040503050406030204"/>
                <a:cs typeface="Cambria" panose="02040503050406030204"/>
              </a:rPr>
              <a:t>Loại mock và fallback khỏi các luồng vận hành quan trọng</a:t>
            </a:r>
            <a:endParaRPr sz="1500" b="0" i="0">
              <a:solidFill>
                <a:srgbClr val="17212B"/>
              </a:solidFill>
              <a:latin typeface="Cambria" panose="02040503050406030204"/>
              <a:ea typeface="Cambria" panose="02040503050406030204"/>
              <a:cs typeface="Cambria" panose="02040503050406030204"/>
            </a:endParaRPr>
          </a:p>
          <a:p>
            <a:pPr marL="241300" indent="-114300" algn="l">
              <a:lnSpc>
                <a:spcPct val="104000"/>
              </a:lnSpc>
              <a:spcAft>
                <a:spcPts val="700"/>
              </a:spcAft>
              <a:buNone/>
              <a:defRPr sz="1500" b="0" i="0">
                <a:solidFill>
                  <a:srgbClr val="17212B"/>
                </a:solidFill>
                <a:latin typeface="Cambria" panose="02040503050406030204"/>
                <a:ea typeface="Cambria" panose="02040503050406030204"/>
                <a:cs typeface="Cambria" panose="02040503050406030204"/>
              </a:defRPr>
            </a:pPr>
            <a:r>
              <a:rPr sz="1500" b="0" i="0">
                <a:solidFill>
                  <a:srgbClr val="17212B"/>
                </a:solidFill>
                <a:latin typeface="Cambria" panose="02040503050406030204"/>
                <a:ea typeface="Cambria" panose="02040503050406030204"/>
                <a:cs typeface="Cambria" panose="02040503050406030204"/>
              </a:rPr>
              <a:t>Nối dữ liệu thật cho sáu trang báo cáo đang khởi tạo rỗng</a:t>
            </a:r>
            <a:endParaRPr sz="1500" b="0" i="0">
              <a:solidFill>
                <a:srgbClr val="17212B"/>
              </a:solidFill>
              <a:latin typeface="Cambria" panose="02040503050406030204"/>
              <a:ea typeface="Cambria" panose="02040503050406030204"/>
              <a:cs typeface="Cambria" panose="02040503050406030204"/>
            </a:endParaRPr>
          </a:p>
          <a:p>
            <a:pPr marL="241300" indent="-114300" algn="l">
              <a:lnSpc>
                <a:spcPct val="104000"/>
              </a:lnSpc>
              <a:spcAft>
                <a:spcPts val="700"/>
              </a:spcAft>
              <a:buNone/>
              <a:defRPr sz="1500" b="0" i="0">
                <a:solidFill>
                  <a:srgbClr val="17212B"/>
                </a:solidFill>
                <a:latin typeface="Cambria" panose="02040503050406030204"/>
                <a:ea typeface="Cambria" panose="02040503050406030204"/>
                <a:cs typeface="Cambria" panose="02040503050406030204"/>
              </a:defRPr>
            </a:pPr>
            <a:r>
              <a:rPr sz="1500" b="0" i="0">
                <a:solidFill>
                  <a:srgbClr val="17212B"/>
                </a:solidFill>
                <a:latin typeface="Cambria" panose="02040503050406030204"/>
                <a:ea typeface="Cambria" panose="02040503050406030204"/>
                <a:cs typeface="Cambria" panose="02040503050406030204"/>
              </a:rPr>
              <a:t>Chuẩn hóa lỗi API, tách bundle và kiểm chứng dữ liệu đầu cuối</a:t>
            </a:r>
            <a:endParaRPr sz="1500" b="0" i="0">
              <a:solidFill>
                <a:srgbClr val="17212B"/>
              </a:solidFill>
              <a:latin typeface="Cambria" panose="02040503050406030204"/>
              <a:ea typeface="Cambria" panose="02040503050406030204"/>
              <a:cs typeface="Cambria" panose="02040503050406030204"/>
            </a:endParaRPr>
          </a:p>
        </p:txBody>
      </p:sp>
      <p:sp>
        <p:nvSpPr>
          <p:cNvPr id="14" name="Rectangle 13"/>
          <p:cNvSpPr>
            <a:spLocks noGrp="1"/>
          </p:cNvSpPr>
          <p:nvPr/>
        </p:nvSpPr>
        <p:spPr>
          <a:xfrm>
            <a:off x="762000" y="5810250"/>
            <a:ext cx="10477500" cy="323850"/>
          </a:xfrm>
          <a:prstGeom prst="rect">
            <a:avLst/>
          </a:prstGeom>
          <a:noFill/>
          <a:ln w="0">
            <a:noFill/>
          </a:ln>
        </p:spPr>
        <p:txBody>
          <a:bodyPr wrap="square" lIns="38100" tIns="19050" rIns="38100" bIns="19050" anchor="t">
            <a:normAutofit/>
          </a:bodyPr>
          <a:lstStyle/>
          <a:p>
            <a:pPr algn="ctr">
              <a:lnSpc>
                <a:spcPct val="100000"/>
              </a:lnSpc>
              <a:buNone/>
              <a:defRPr sz="1275" b="0" i="1">
                <a:solidFill>
                  <a:srgbClr val="59636E"/>
                </a:solidFill>
                <a:latin typeface="Cambria" panose="02040503050406030204"/>
                <a:ea typeface="Cambria" panose="02040503050406030204"/>
                <a:cs typeface="Cambria" panose="02040503050406030204"/>
              </a:defRPr>
            </a:pPr>
            <a:r>
              <a:rPr sz="1275" b="0" i="1">
                <a:solidFill>
                  <a:srgbClr val="59636E"/>
                </a:solidFill>
                <a:latin typeface="Cambria" panose="02040503050406030204"/>
                <a:ea typeface="Cambria" panose="02040503050406030204"/>
                <a:cs typeface="Cambria" panose="02040503050406030204"/>
              </a:rPr>
              <a:t>* Chỉ báo từ quét source code; cần audit từng trang trước khi công bố tỷ lệ hoàn tất.</a:t>
            </a:r>
            <a:endParaRPr sz="1275" b="0" i="1">
              <a:solidFill>
                <a:srgbClr val="59636E"/>
              </a:solidFill>
              <a:latin typeface="Cambria" panose="02040503050406030204"/>
              <a:ea typeface="Cambria" panose="02040503050406030204"/>
              <a:cs typeface="Cambria" panose="02040503050406030204"/>
            </a:endParaRPr>
          </a:p>
        </p:txBody>
      </p:sp>
      <p:sp>
        <p:nvSpPr>
          <p:cNvPr id="15" name="Rectangle 14"/>
          <p:cNvSpPr>
            <a:spLocks noGrp="1"/>
          </p:cNvSpPr>
          <p:nvPr/>
        </p:nvSpPr>
        <p:spPr>
          <a:xfrm>
            <a:off x="266700" y="6534150"/>
            <a:ext cx="7429500" cy="190500"/>
          </a:xfrm>
          <a:prstGeom prst="rect">
            <a:avLst/>
          </a:prstGeom>
          <a:noFill/>
          <a:ln w="0">
            <a:noFill/>
          </a:ln>
        </p:spPr>
        <p:txBody>
          <a:bodyPr wrap="square" lIns="38100" tIns="19050" rIns="38100" bIns="19050" anchor="ctr">
            <a:normAutofit/>
          </a:bodyPr>
          <a:lstStyle/>
          <a:p>
            <a:pPr algn="l">
              <a:lnSpc>
                <a:spcPct val="100000"/>
              </a:lnSpc>
              <a:buNone/>
              <a:defRPr sz="825" b="0" i="1">
                <a:solidFill>
                  <a:srgbClr val="8A8F93"/>
                </a:solidFill>
                <a:latin typeface="Cambria" panose="02040503050406030204"/>
                <a:ea typeface="Cambria" panose="02040503050406030204"/>
                <a:cs typeface="Cambria" panose="02040503050406030204"/>
              </a:defRPr>
            </a:pPr>
            <a:r>
              <a:rPr sz="825" b="0" i="1">
                <a:solidFill>
                  <a:srgbClr val="8A8F93"/>
                </a:solidFill>
                <a:latin typeface="Cambria" panose="02040503050406030204"/>
                <a:ea typeface="Cambria" panose="02040503050406030204"/>
                <a:cs typeface="Cambria" panose="02040503050406030204"/>
              </a:rPr>
              <a:t>Giới thiệu phần mềm và tiến độ phát triển | THACO AGRI Fleet | 21/09/2026</a:t>
            </a:r>
            <a:endParaRPr sz="825" b="0" i="1">
              <a:solidFill>
                <a:srgbClr val="8A8F93"/>
              </a:solidFill>
              <a:latin typeface="Cambria" panose="02040503050406030204"/>
              <a:ea typeface="Cambria" panose="02040503050406030204"/>
              <a:cs typeface="Cambria" panose="02040503050406030204"/>
            </a:endParaRPr>
          </a:p>
        </p:txBody>
      </p:sp>
      <p:sp>
        <p:nvSpPr>
          <p:cNvPr id="16" name="Rectangle 15"/>
          <p:cNvSpPr>
            <a:spLocks noGrp="1"/>
          </p:cNvSpPr>
          <p:nvPr/>
        </p:nvSpPr>
        <p:spPr>
          <a:xfrm>
            <a:off x="11658600" y="6534150"/>
            <a:ext cx="228600" cy="190500"/>
          </a:xfrm>
          <a:prstGeom prst="rect">
            <a:avLst/>
          </a:prstGeom>
          <a:noFill/>
          <a:ln w="0">
            <a:noFill/>
          </a:ln>
        </p:spPr>
        <p:txBody>
          <a:bodyPr wrap="square" lIns="38100" tIns="19050" rIns="38100" bIns="19050" anchor="ctr">
            <a:normAutofit/>
          </a:bodyPr>
          <a:lstStyle/>
          <a:p>
            <a:pPr algn="r">
              <a:lnSpc>
                <a:spcPct val="100000"/>
              </a:lnSpc>
              <a:buNone/>
              <a:defRPr sz="825" b="0" i="0">
                <a:solidFill>
                  <a:srgbClr val="8A8F93"/>
                </a:solidFill>
                <a:latin typeface="Cambria" panose="02040503050406030204"/>
                <a:ea typeface="Cambria" panose="02040503050406030204"/>
                <a:cs typeface="Cambria" panose="02040503050406030204"/>
              </a:defRPr>
            </a:pPr>
            <a:r>
              <a:rPr sz="825" b="0" i="0">
                <a:solidFill>
                  <a:srgbClr val="8A8F93"/>
                </a:solidFill>
                <a:latin typeface="Cambria" panose="02040503050406030204"/>
                <a:ea typeface="Cambria" panose="02040503050406030204"/>
                <a:cs typeface="Cambria" panose="02040503050406030204"/>
              </a:rPr>
              <a:t>9</a:t>
            </a:r>
            <a:endParaRPr sz="825" b="0" i="0">
              <a:solidFill>
                <a:srgbClr val="8A8F93"/>
              </a:solidFill>
              <a:latin typeface="Cambria" panose="02040503050406030204"/>
              <a:ea typeface="Cambria" panose="02040503050406030204"/>
              <a:cs typeface="Cambria" panose="02040503050406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slide-title"/>
          <p:cNvSpPr>
            <a:spLocks noGrp="1"/>
          </p:cNvSpPr>
          <p:nvPr/>
        </p:nvSpPr>
        <p:spPr>
          <a:xfrm>
            <a:off x="2571750" y="142875"/>
            <a:ext cx="9191625" cy="590550"/>
          </a:xfrm>
          <a:prstGeom prst="rect">
            <a:avLst/>
          </a:prstGeom>
          <a:noFill/>
          <a:ln w="0">
            <a:noFill/>
          </a:ln>
        </p:spPr>
        <p:txBody>
          <a:bodyPr wrap="square" lIns="38100" tIns="19050" rIns="38100" bIns="19050" anchor="ctr">
            <a:normAutofit/>
          </a:bodyPr>
          <a:lstStyle/>
          <a:p>
            <a:pPr algn="ctr">
              <a:lnSpc>
                <a:spcPct val="100000"/>
              </a:lnSpc>
              <a:buNone/>
              <a:defRPr sz="2100" b="1" i="0">
                <a:solidFill>
                  <a:srgbClr val="E00000"/>
                </a:solidFill>
                <a:latin typeface="Cambria" panose="02040503050406030204"/>
                <a:ea typeface="Cambria" panose="02040503050406030204"/>
                <a:cs typeface="Cambria" panose="02040503050406030204"/>
              </a:defRPr>
            </a:pPr>
            <a:r>
              <a:rPr sz="2100" b="1" i="0">
                <a:solidFill>
                  <a:srgbClr val="E00000"/>
                </a:solidFill>
                <a:latin typeface="Cambria" panose="02040503050406030204"/>
                <a:ea typeface="Cambria" panose="02040503050406030204"/>
                <a:cs typeface="Cambria" panose="02040503050406030204"/>
              </a:rPr>
              <a:t>TÀI XẾ NHẬN LỆNH VÀ THỰC HIỆN TRÊN MOBILE</a:t>
            </a:r>
            <a:endParaRPr sz="2100" b="1" i="0">
              <a:solidFill>
                <a:srgbClr val="E00000"/>
              </a:solidFill>
              <a:latin typeface="Cambria" panose="02040503050406030204"/>
              <a:ea typeface="Cambria" panose="02040503050406030204"/>
              <a:cs typeface="Cambria" panose="02040503050406030204"/>
            </a:endParaRPr>
          </a:p>
        </p:txBody>
      </p:sp>
      <p:sp>
        <p:nvSpPr>
          <p:cNvPr id="2" name="Rectangle 1"/>
          <p:cNvSpPr>
            <a:spLocks noGrp="1"/>
          </p:cNvSpPr>
          <p:nvPr/>
        </p:nvSpPr>
        <p:spPr>
          <a:xfrm>
            <a:off x="619125" y="1123950"/>
            <a:ext cx="4191000" cy="342900"/>
          </a:xfrm>
          <a:prstGeom prst="rect">
            <a:avLst/>
          </a:prstGeom>
          <a:noFill/>
          <a:ln w="0">
            <a:noFill/>
          </a:ln>
        </p:spPr>
        <p:txBody>
          <a:bodyPr wrap="square" lIns="38100" tIns="19050" rIns="38100" bIns="19050" anchor="t">
            <a:normAutofit/>
          </a:bodyPr>
          <a:lstStyle/>
          <a:p>
            <a:pPr algn="l">
              <a:lnSpc>
                <a:spcPct val="100000"/>
              </a:lnSpc>
              <a:buNone/>
              <a:defRPr sz="1800" b="1" i="0">
                <a:solidFill>
                  <a:srgbClr val="006B35"/>
                </a:solidFill>
                <a:latin typeface="Cambria" panose="02040503050406030204"/>
                <a:ea typeface="Cambria" panose="02040503050406030204"/>
                <a:cs typeface="Cambria" panose="02040503050406030204"/>
              </a:defRPr>
            </a:pPr>
            <a:r>
              <a:rPr sz="1800" b="1" i="0">
                <a:solidFill>
                  <a:srgbClr val="006B35"/>
                </a:solidFill>
                <a:latin typeface="Cambria" panose="02040503050406030204"/>
                <a:ea typeface="Cambria" panose="02040503050406030204"/>
                <a:cs typeface="Cambria" panose="02040503050406030204"/>
              </a:rPr>
              <a:t>Luồng thao tác đã có</a:t>
            </a:r>
            <a:endParaRPr sz="1800" b="1" i="0">
              <a:solidFill>
                <a:srgbClr val="006B35"/>
              </a:solidFill>
              <a:latin typeface="Cambria" panose="02040503050406030204"/>
              <a:ea typeface="Cambria" panose="02040503050406030204"/>
              <a:cs typeface="Cambria" panose="02040503050406030204"/>
            </a:endParaRPr>
          </a:p>
        </p:txBody>
      </p:sp>
      <p:sp>
        <p:nvSpPr>
          <p:cNvPr id="3" name="Rectangle 2"/>
          <p:cNvSpPr>
            <a:spLocks noGrp="1"/>
          </p:cNvSpPr>
          <p:nvPr/>
        </p:nvSpPr>
        <p:spPr>
          <a:xfrm>
            <a:off x="571500" y="1571625"/>
            <a:ext cx="5429250" cy="3143250"/>
          </a:xfrm>
          <a:prstGeom prst="rect">
            <a:avLst/>
          </a:prstGeom>
          <a:noFill/>
          <a:ln w="0">
            <a:noFill/>
          </a:ln>
        </p:spPr>
        <p:txBody>
          <a:bodyPr wrap="square" lIns="38100" tIns="19050" rIns="38100" bIns="19050" anchor="t">
            <a:normAutofit/>
          </a:bodyPr>
          <a:lstStyle/>
          <a:p>
            <a:pPr marL="241300" indent="-114300" algn="l">
              <a:lnSpc>
                <a:spcPct val="104000"/>
              </a:lnSpc>
              <a:spcAft>
                <a:spcPts val="800"/>
              </a:spcAft>
              <a:buNone/>
              <a:defRPr sz="1500" b="0" i="0">
                <a:solidFill>
                  <a:srgbClr val="17212B"/>
                </a:solidFill>
                <a:latin typeface="Cambria" panose="02040503050406030204"/>
                <a:ea typeface="Cambria" panose="02040503050406030204"/>
                <a:cs typeface="Cambria" panose="02040503050406030204"/>
              </a:defRPr>
            </a:pPr>
            <a:r>
              <a:rPr sz="1500" b="0" i="0">
                <a:solidFill>
                  <a:srgbClr val="17212B"/>
                </a:solidFill>
                <a:latin typeface="Cambria" panose="02040503050406030204"/>
                <a:ea typeface="Cambria" panose="02040503050406030204"/>
                <a:cs typeface="Cambria" panose="02040503050406030204"/>
              </a:rPr>
              <a:t>Đồng bộ lệnh được giao về SQLite và hiển thị theo Hôm nay/Tuần</a:t>
            </a:r>
            <a:endParaRPr sz="1500" b="0" i="0">
              <a:solidFill>
                <a:srgbClr val="17212B"/>
              </a:solidFill>
              <a:latin typeface="Cambria" panose="02040503050406030204"/>
              <a:ea typeface="Cambria" panose="02040503050406030204"/>
              <a:cs typeface="Cambria" panose="02040503050406030204"/>
            </a:endParaRPr>
          </a:p>
          <a:p>
            <a:pPr marL="241300" indent="-114300" algn="l">
              <a:lnSpc>
                <a:spcPct val="104000"/>
              </a:lnSpc>
              <a:spcAft>
                <a:spcPts val="800"/>
              </a:spcAft>
              <a:buNone/>
              <a:defRPr sz="1500" b="0" i="0">
                <a:solidFill>
                  <a:srgbClr val="17212B"/>
                </a:solidFill>
                <a:latin typeface="Cambria" panose="02040503050406030204"/>
                <a:ea typeface="Cambria" panose="02040503050406030204"/>
                <a:cs typeface="Cambria" panose="02040503050406030204"/>
              </a:defRPr>
            </a:pPr>
            <a:r>
              <a:rPr sz="1500" b="0" i="0">
                <a:solidFill>
                  <a:srgbClr val="17212B"/>
                </a:solidFill>
                <a:latin typeface="Cambria" panose="02040503050406030204"/>
                <a:ea typeface="Cambria" panose="02040503050406030204"/>
                <a:cs typeface="Cambria" panose="02040503050406030204"/>
              </a:rPr>
              <a:t>Mở chi tiết để xem thời gian, địa điểm, xe và nội dung công việc</a:t>
            </a:r>
            <a:endParaRPr sz="1500" b="0" i="0">
              <a:solidFill>
                <a:srgbClr val="17212B"/>
              </a:solidFill>
              <a:latin typeface="Cambria" panose="02040503050406030204"/>
              <a:ea typeface="Cambria" panose="02040503050406030204"/>
              <a:cs typeface="Cambria" panose="02040503050406030204"/>
            </a:endParaRPr>
          </a:p>
          <a:p>
            <a:pPr marL="241300" indent="-114300" algn="l">
              <a:lnSpc>
                <a:spcPct val="104000"/>
              </a:lnSpc>
              <a:spcAft>
                <a:spcPts val="800"/>
              </a:spcAft>
              <a:buNone/>
              <a:defRPr sz="1500" b="0" i="0">
                <a:solidFill>
                  <a:srgbClr val="17212B"/>
                </a:solidFill>
                <a:latin typeface="Cambria" panose="02040503050406030204"/>
                <a:ea typeface="Cambria" panose="02040503050406030204"/>
                <a:cs typeface="Cambria" panose="02040503050406030204"/>
              </a:defRPr>
            </a:pPr>
            <a:r>
              <a:rPr sz="1500" b="0" i="0">
                <a:solidFill>
                  <a:srgbClr val="17212B"/>
                </a:solidFill>
                <a:latin typeface="Cambria" panose="02040503050406030204"/>
                <a:ea typeface="Cambria" panose="02040503050406030204"/>
                <a:cs typeface="Cambria" panose="02040503050406030204"/>
              </a:rPr>
              <a:t>Nhận nhiệm vụ, xác nhận nhận xe, nhập ODO/giờ máy và bắt đầu</a:t>
            </a:r>
            <a:endParaRPr sz="1500" b="0" i="0">
              <a:solidFill>
                <a:srgbClr val="17212B"/>
              </a:solidFill>
              <a:latin typeface="Cambria" panose="02040503050406030204"/>
              <a:ea typeface="Cambria" panose="02040503050406030204"/>
              <a:cs typeface="Cambria" panose="02040503050406030204"/>
            </a:endParaRPr>
          </a:p>
          <a:p>
            <a:pPr marL="241300" indent="-114300" algn="l">
              <a:lnSpc>
                <a:spcPct val="104000"/>
              </a:lnSpc>
              <a:spcAft>
                <a:spcPts val="800"/>
              </a:spcAft>
              <a:buNone/>
              <a:defRPr sz="1500" b="0" i="0">
                <a:solidFill>
                  <a:srgbClr val="17212B"/>
                </a:solidFill>
                <a:latin typeface="Cambria" panose="02040503050406030204"/>
                <a:ea typeface="Cambria" panose="02040503050406030204"/>
                <a:cs typeface="Cambria" panose="02040503050406030204"/>
              </a:defRPr>
            </a:pPr>
            <a:r>
              <a:rPr sz="1500" b="0" i="0">
                <a:solidFill>
                  <a:srgbClr val="17212B"/>
                </a:solidFill>
                <a:latin typeface="Cambria" panose="02040503050406030204"/>
                <a:ea typeface="Cambria" panose="02040503050406030204"/>
                <a:cs typeface="Cambria" panose="02040503050406030204"/>
              </a:rPr>
              <a:t>Tạm dừng, nghỉ, tiếp tục, cập nhật tiến độ và chụp ảnh minh chứng</a:t>
            </a:r>
            <a:endParaRPr sz="1500" b="0" i="0">
              <a:solidFill>
                <a:srgbClr val="17212B"/>
              </a:solidFill>
              <a:latin typeface="Cambria" panose="02040503050406030204"/>
              <a:ea typeface="Cambria" panose="02040503050406030204"/>
              <a:cs typeface="Cambria" panose="02040503050406030204"/>
            </a:endParaRPr>
          </a:p>
          <a:p>
            <a:pPr marL="241300" indent="-114300" algn="l">
              <a:lnSpc>
                <a:spcPct val="104000"/>
              </a:lnSpc>
              <a:spcAft>
                <a:spcPts val="800"/>
              </a:spcAft>
              <a:buNone/>
              <a:defRPr sz="1500" b="0" i="0">
                <a:solidFill>
                  <a:srgbClr val="17212B"/>
                </a:solidFill>
                <a:latin typeface="Cambria" panose="02040503050406030204"/>
                <a:ea typeface="Cambria" panose="02040503050406030204"/>
                <a:cs typeface="Cambria" panose="02040503050406030204"/>
              </a:defRPr>
            </a:pPr>
            <a:r>
              <a:rPr sz="1500" b="0" i="0">
                <a:solidFill>
                  <a:srgbClr val="17212B"/>
                </a:solidFill>
                <a:latin typeface="Cambria" panose="02040503050406030204"/>
                <a:ea typeface="Cambria" panose="02040503050406030204"/>
                <a:cs typeface="Cambria" panose="02040503050406030204"/>
              </a:rPr>
              <a:t>Kết thúc ngày, gửi báo cáo hoặc đề nghị nghiệm thu toàn bộ công việc</a:t>
            </a:r>
            <a:endParaRPr sz="1500" b="0" i="0">
              <a:solidFill>
                <a:srgbClr val="17212B"/>
              </a:solidFill>
              <a:latin typeface="Cambria" panose="02040503050406030204"/>
              <a:ea typeface="Cambria" panose="02040503050406030204"/>
              <a:cs typeface="Cambria" panose="02040503050406030204"/>
            </a:endParaRPr>
          </a:p>
        </p:txBody>
      </p:sp>
      <p:sp>
        <p:nvSpPr>
          <p:cNvPr id="4" name="Rectangle 3"/>
          <p:cNvSpPr>
            <a:spLocks noGrp="1"/>
          </p:cNvSpPr>
          <p:nvPr/>
        </p:nvSpPr>
        <p:spPr>
          <a:xfrm>
            <a:off x="6477000" y="1123950"/>
            <a:ext cx="4191000" cy="342900"/>
          </a:xfrm>
          <a:prstGeom prst="rect">
            <a:avLst/>
          </a:prstGeom>
          <a:noFill/>
          <a:ln w="0">
            <a:noFill/>
          </a:ln>
        </p:spPr>
        <p:txBody>
          <a:bodyPr wrap="square" lIns="38100" tIns="19050" rIns="38100" bIns="19050" anchor="t">
            <a:normAutofit/>
          </a:bodyPr>
          <a:lstStyle/>
          <a:p>
            <a:pPr algn="l">
              <a:lnSpc>
                <a:spcPct val="100000"/>
              </a:lnSpc>
              <a:buNone/>
              <a:defRPr sz="1800" b="1" i="0">
                <a:solidFill>
                  <a:srgbClr val="075AA7"/>
                </a:solidFill>
                <a:latin typeface="Cambria" panose="02040503050406030204"/>
                <a:ea typeface="Cambria" panose="02040503050406030204"/>
                <a:cs typeface="Cambria" panose="02040503050406030204"/>
              </a:defRPr>
            </a:pPr>
            <a:r>
              <a:rPr sz="1800" b="1" i="0">
                <a:solidFill>
                  <a:srgbClr val="075AA7"/>
                </a:solidFill>
                <a:latin typeface="Cambria" panose="02040503050406030204"/>
                <a:ea typeface="Cambria" panose="02040503050406030204"/>
                <a:cs typeface="Cambria" panose="02040503050406030204"/>
              </a:rPr>
              <a:t>Đồng bộ và ngoại lệ</a:t>
            </a:r>
            <a:endParaRPr sz="1800" b="1" i="0">
              <a:solidFill>
                <a:srgbClr val="075AA7"/>
              </a:solidFill>
              <a:latin typeface="Cambria" panose="02040503050406030204"/>
              <a:ea typeface="Cambria" panose="02040503050406030204"/>
              <a:cs typeface="Cambria" panose="02040503050406030204"/>
            </a:endParaRPr>
          </a:p>
        </p:txBody>
      </p:sp>
      <p:sp>
        <p:nvSpPr>
          <p:cNvPr id="5" name="Rectangle 4"/>
          <p:cNvSpPr>
            <a:spLocks noGrp="1"/>
          </p:cNvSpPr>
          <p:nvPr/>
        </p:nvSpPr>
        <p:spPr>
          <a:xfrm>
            <a:off x="6429375" y="1571625"/>
            <a:ext cx="5095875" cy="3143250"/>
          </a:xfrm>
          <a:prstGeom prst="rect">
            <a:avLst/>
          </a:prstGeom>
          <a:noFill/>
          <a:ln w="0">
            <a:noFill/>
          </a:ln>
        </p:spPr>
        <p:txBody>
          <a:bodyPr wrap="square" lIns="38100" tIns="19050" rIns="38100" bIns="19050" anchor="t">
            <a:normAutofit/>
          </a:bodyPr>
          <a:lstStyle/>
          <a:p>
            <a:pPr marL="241300" indent="-114300" algn="l">
              <a:lnSpc>
                <a:spcPct val="104000"/>
              </a:lnSpc>
              <a:spcAft>
                <a:spcPts val="800"/>
              </a:spcAft>
              <a:buNone/>
              <a:defRPr sz="1500" b="0" i="0">
                <a:solidFill>
                  <a:srgbClr val="17212B"/>
                </a:solidFill>
                <a:latin typeface="Cambria" panose="02040503050406030204"/>
                <a:ea typeface="Cambria" panose="02040503050406030204"/>
                <a:cs typeface="Cambria" panose="02040503050406030204"/>
              </a:defRPr>
            </a:pPr>
            <a:r>
              <a:rPr sz="1500" b="0" i="0">
                <a:solidFill>
                  <a:srgbClr val="17212B"/>
                </a:solidFill>
                <a:latin typeface="Cambria" panose="02040503050406030204"/>
                <a:ea typeface="Cambria" panose="02040503050406030204"/>
                <a:cs typeface="Cambria" panose="02040503050406030204"/>
              </a:rPr>
              <a:t>Sự kiện được xếp hàng offline và đẩy lên /mobile/sync/push khi có mạng</a:t>
            </a:r>
            <a:endParaRPr sz="1500" b="0" i="0">
              <a:solidFill>
                <a:srgbClr val="17212B"/>
              </a:solidFill>
              <a:latin typeface="Cambria" panose="02040503050406030204"/>
              <a:ea typeface="Cambria" panose="02040503050406030204"/>
              <a:cs typeface="Cambria" panose="02040503050406030204"/>
            </a:endParaRPr>
          </a:p>
          <a:p>
            <a:pPr marL="241300" indent="-114300" algn="l">
              <a:lnSpc>
                <a:spcPct val="104000"/>
              </a:lnSpc>
              <a:spcAft>
                <a:spcPts val="800"/>
              </a:spcAft>
              <a:buNone/>
              <a:defRPr sz="1500" b="0" i="0">
                <a:solidFill>
                  <a:srgbClr val="17212B"/>
                </a:solidFill>
                <a:latin typeface="Cambria" panose="02040503050406030204"/>
                <a:ea typeface="Cambria" panose="02040503050406030204"/>
                <a:cs typeface="Cambria" panose="02040503050406030204"/>
              </a:defRPr>
            </a:pPr>
            <a:r>
              <a:rPr sz="1500" b="0" i="0">
                <a:solidFill>
                  <a:srgbClr val="17212B"/>
                </a:solidFill>
                <a:latin typeface="Cambria" panose="02040503050406030204"/>
                <a:ea typeface="Cambria" panose="02040503050406030204"/>
                <a:cs typeface="Cambria" panose="02040503050406030204"/>
              </a:rPr>
              <a:t>Ảnh được tải riêng, sự kiện SOS và báo hỏng có độ ưu tiên cao hơn</a:t>
            </a:r>
            <a:endParaRPr sz="1500" b="0" i="0">
              <a:solidFill>
                <a:srgbClr val="17212B"/>
              </a:solidFill>
              <a:latin typeface="Cambria" panose="02040503050406030204"/>
              <a:ea typeface="Cambria" panose="02040503050406030204"/>
              <a:cs typeface="Cambria" panose="02040503050406030204"/>
            </a:endParaRPr>
          </a:p>
          <a:p>
            <a:pPr marL="241300" indent="-114300" algn="l">
              <a:lnSpc>
                <a:spcPct val="104000"/>
              </a:lnSpc>
              <a:spcAft>
                <a:spcPts val="800"/>
              </a:spcAft>
              <a:buNone/>
              <a:defRPr sz="1500" b="0" i="0">
                <a:solidFill>
                  <a:srgbClr val="17212B"/>
                </a:solidFill>
                <a:latin typeface="Cambria" panose="02040503050406030204"/>
                <a:ea typeface="Cambria" panose="02040503050406030204"/>
                <a:cs typeface="Cambria" panose="02040503050406030204"/>
              </a:defRPr>
            </a:pPr>
            <a:r>
              <a:rPr sz="1500" b="0" i="0">
                <a:solidFill>
                  <a:srgbClr val="17212B"/>
                </a:solidFill>
                <a:latin typeface="Cambria" panose="02040503050406030204"/>
                <a:ea typeface="Cambria" panose="02040503050406030204"/>
                <a:cs typeface="Cambria" panose="02040503050406030204"/>
              </a:rPr>
              <a:t>Có xin điều chỉnh lịch, yêu cầu chuyển việc, báo sự cố và SOS</a:t>
            </a:r>
            <a:endParaRPr sz="1500" b="0" i="0">
              <a:solidFill>
                <a:srgbClr val="17212B"/>
              </a:solidFill>
              <a:latin typeface="Cambria" panose="02040503050406030204"/>
              <a:ea typeface="Cambria" panose="02040503050406030204"/>
              <a:cs typeface="Cambria" panose="02040503050406030204"/>
            </a:endParaRPr>
          </a:p>
          <a:p>
            <a:pPr marL="241300" indent="-114300" algn="l">
              <a:lnSpc>
                <a:spcPct val="104000"/>
              </a:lnSpc>
              <a:spcAft>
                <a:spcPts val="800"/>
              </a:spcAft>
              <a:buNone/>
              <a:defRPr sz="1500" b="0" i="0">
                <a:solidFill>
                  <a:srgbClr val="17212B"/>
                </a:solidFill>
                <a:latin typeface="Cambria" panose="02040503050406030204"/>
                <a:ea typeface="Cambria" panose="02040503050406030204"/>
                <a:cs typeface="Cambria" panose="02040503050406030204"/>
              </a:defRPr>
            </a:pPr>
            <a:r>
              <a:rPr sz="1500" b="0" i="0">
                <a:solidFill>
                  <a:srgbClr val="17212B"/>
                </a:solidFill>
                <a:latin typeface="Cambria" panose="02040503050406030204"/>
                <a:ea typeface="Cambria" panose="02040503050406030204"/>
                <a:cs typeface="Cambria" panose="02040503050406030204"/>
              </a:rPr>
              <a:t>Backend kiểm tra version/quyền sở hữu lệnh và giữ dữ liệu khi xung đột</a:t>
            </a:r>
            <a:endParaRPr sz="1500" b="0" i="0">
              <a:solidFill>
                <a:srgbClr val="17212B"/>
              </a:solidFill>
              <a:latin typeface="Cambria" panose="02040503050406030204"/>
              <a:ea typeface="Cambria" panose="02040503050406030204"/>
              <a:cs typeface="Cambria" panose="02040503050406030204"/>
            </a:endParaRPr>
          </a:p>
          <a:p>
            <a:pPr marL="241300" indent="-114300" algn="l">
              <a:lnSpc>
                <a:spcPct val="104000"/>
              </a:lnSpc>
              <a:spcAft>
                <a:spcPts val="800"/>
              </a:spcAft>
              <a:buNone/>
              <a:defRPr sz="1500" b="0" i="0">
                <a:solidFill>
                  <a:srgbClr val="17212B"/>
                </a:solidFill>
                <a:latin typeface="Cambria" panose="02040503050406030204"/>
                <a:ea typeface="Cambria" panose="02040503050406030204"/>
                <a:cs typeface="Cambria" panose="02040503050406030204"/>
              </a:defRPr>
            </a:pPr>
            <a:r>
              <a:rPr sz="1500" b="0" i="0">
                <a:solidFill>
                  <a:srgbClr val="17212B"/>
                </a:solidFill>
                <a:latin typeface="Cambria" panose="02040503050406030204"/>
                <a:ea typeface="Cambria" panose="02040503050406030204"/>
                <a:cs typeface="Cambria" panose="02040503050406030204"/>
              </a:rPr>
              <a:t>Chưa xác minh push notification nền và nút từ chối lệnh trên mobile</a:t>
            </a:r>
            <a:endParaRPr sz="1500" b="0" i="0">
              <a:solidFill>
                <a:srgbClr val="17212B"/>
              </a:solidFill>
              <a:latin typeface="Cambria" panose="02040503050406030204"/>
              <a:ea typeface="Cambria" panose="02040503050406030204"/>
              <a:cs typeface="Cambria" panose="02040503050406030204"/>
            </a:endParaRPr>
          </a:p>
        </p:txBody>
      </p:sp>
      <p:sp>
        <p:nvSpPr>
          <p:cNvPr id="6" name="Rectangle 5"/>
          <p:cNvSpPr>
            <a:spLocks noGrp="1"/>
          </p:cNvSpPr>
          <p:nvPr/>
        </p:nvSpPr>
        <p:spPr>
          <a:xfrm>
            <a:off x="619125" y="4953000"/>
            <a:ext cx="3238500" cy="323850"/>
          </a:xfrm>
          <a:prstGeom prst="rect">
            <a:avLst/>
          </a:prstGeom>
          <a:noFill/>
          <a:ln w="0">
            <a:noFill/>
          </a:ln>
        </p:spPr>
        <p:txBody>
          <a:bodyPr wrap="square" lIns="38100" tIns="19050" rIns="38100" bIns="19050" anchor="t">
            <a:normAutofit/>
          </a:bodyPr>
          <a:lstStyle/>
          <a:p>
            <a:pPr algn="l">
              <a:lnSpc>
                <a:spcPct val="100000"/>
              </a:lnSpc>
              <a:buNone/>
              <a:defRPr sz="1725" b="1" i="0">
                <a:solidFill>
                  <a:srgbClr val="E00000"/>
                </a:solidFill>
                <a:latin typeface="Cambria" panose="02040503050406030204"/>
                <a:ea typeface="Cambria" panose="02040503050406030204"/>
                <a:cs typeface="Cambria" panose="02040503050406030204"/>
              </a:defRPr>
            </a:pPr>
            <a:r>
              <a:rPr sz="1725" b="1" i="0">
                <a:solidFill>
                  <a:srgbClr val="E00000"/>
                </a:solidFill>
                <a:latin typeface="Cambria" panose="02040503050406030204"/>
                <a:ea typeface="Cambria" panose="02040503050406030204"/>
                <a:cs typeface="Cambria" panose="02040503050406030204"/>
              </a:rPr>
              <a:t>Điểm cần kiểm chứng tại pilot</a:t>
            </a:r>
            <a:endParaRPr sz="1725" b="1" i="0">
              <a:solidFill>
                <a:srgbClr val="E00000"/>
              </a:solidFill>
              <a:latin typeface="Cambria" panose="02040503050406030204"/>
              <a:ea typeface="Cambria" panose="02040503050406030204"/>
              <a:cs typeface="Cambria" panose="02040503050406030204"/>
            </a:endParaRPr>
          </a:p>
        </p:txBody>
      </p:sp>
      <p:sp>
        <p:nvSpPr>
          <p:cNvPr id="7" name="Rounded Rectangle 6"/>
          <p:cNvSpPr>
            <a:spLocks noGrp="1"/>
          </p:cNvSpPr>
          <p:nvPr/>
        </p:nvSpPr>
        <p:spPr>
          <a:xfrm>
            <a:off x="619125" y="5353050"/>
            <a:ext cx="10858500" cy="628650"/>
          </a:xfrm>
          <a:prstGeom prst="roundRect">
            <a:avLst>
              <a:gd name="adj" fmla="val 10606"/>
            </a:avLst>
          </a:prstGeom>
          <a:solidFill>
            <a:srgbClr val="FFF5CE"/>
          </a:solidFill>
          <a:ln w="9525">
            <a:solidFill>
              <a:srgbClr val="E4C45A"/>
            </a:solidFill>
          </a:ln>
        </p:spPr>
        <p:txBody>
          <a:bodyPr wrap="square" lIns="38100" tIns="19050" rIns="38100" bIns="19050" anchor="ctr">
            <a:normAutofit/>
          </a:bodyPr>
          <a:lstStyle/>
          <a:p>
            <a:pPr algn="ctr">
              <a:lnSpc>
                <a:spcPct val="100000"/>
              </a:lnSpc>
              <a:buNone/>
              <a:defRPr sz="1575" b="0" i="0">
                <a:solidFill>
                  <a:srgbClr val="17212B"/>
                </a:solidFill>
                <a:latin typeface="Cambria" panose="02040503050406030204"/>
                <a:ea typeface="Cambria" panose="02040503050406030204"/>
                <a:cs typeface="Cambria" panose="02040503050406030204"/>
              </a:defRPr>
            </a:pPr>
            <a:r>
              <a:rPr sz="1575" b="0" i="0">
                <a:solidFill>
                  <a:srgbClr val="17212B"/>
                </a:solidFill>
                <a:latin typeface="Cambria" panose="02040503050406030204"/>
                <a:ea typeface="Cambria" panose="02040503050406030204"/>
                <a:cs typeface="Cambria" panose="02040503050406030204"/>
              </a:rPr>
              <a:t>Thời gian lệnh xuất hiện sau khi phát, hành vi khi mất mạng dài, xung đột đồng bộ, nhận lệnh trễ, tải ảnh và phân lại lệnh khi tài xế không thể nhận.</a:t>
            </a:r>
            <a:endParaRPr sz="1575" b="0" i="0">
              <a:solidFill>
                <a:srgbClr val="17212B"/>
              </a:solidFill>
              <a:latin typeface="Cambria" panose="02040503050406030204"/>
              <a:ea typeface="Cambria" panose="02040503050406030204"/>
              <a:cs typeface="Cambria" panose="02040503050406030204"/>
            </a:endParaRPr>
          </a:p>
        </p:txBody>
      </p:sp>
      <p:sp>
        <p:nvSpPr>
          <p:cNvPr id="8" name="Rectangle 7"/>
          <p:cNvSpPr>
            <a:spLocks noGrp="1"/>
          </p:cNvSpPr>
          <p:nvPr/>
        </p:nvSpPr>
        <p:spPr>
          <a:xfrm>
            <a:off x="266700" y="6534150"/>
            <a:ext cx="7429500" cy="190500"/>
          </a:xfrm>
          <a:prstGeom prst="rect">
            <a:avLst/>
          </a:prstGeom>
          <a:noFill/>
          <a:ln w="0">
            <a:noFill/>
          </a:ln>
        </p:spPr>
        <p:txBody>
          <a:bodyPr wrap="square" lIns="38100" tIns="19050" rIns="38100" bIns="19050" anchor="ctr">
            <a:normAutofit/>
          </a:bodyPr>
          <a:lstStyle/>
          <a:p>
            <a:pPr algn="l">
              <a:lnSpc>
                <a:spcPct val="100000"/>
              </a:lnSpc>
              <a:buNone/>
              <a:defRPr sz="825" b="0" i="1">
                <a:solidFill>
                  <a:srgbClr val="8A8F93"/>
                </a:solidFill>
                <a:latin typeface="Cambria" panose="02040503050406030204"/>
                <a:ea typeface="Cambria" panose="02040503050406030204"/>
                <a:cs typeface="Cambria" panose="02040503050406030204"/>
              </a:defRPr>
            </a:pPr>
            <a:r>
              <a:rPr sz="825" b="0" i="1">
                <a:solidFill>
                  <a:srgbClr val="8A8F93"/>
                </a:solidFill>
                <a:latin typeface="Cambria" panose="02040503050406030204"/>
                <a:ea typeface="Cambria" panose="02040503050406030204"/>
                <a:cs typeface="Cambria" panose="02040503050406030204"/>
              </a:rPr>
              <a:t>Giới thiệu phần mềm và tiến độ phát triển | THACO AGRI Fleet | 21/09/2026</a:t>
            </a:r>
            <a:endParaRPr sz="825" b="0" i="1">
              <a:solidFill>
                <a:srgbClr val="8A8F93"/>
              </a:solidFill>
              <a:latin typeface="Cambria" panose="02040503050406030204"/>
              <a:ea typeface="Cambria" panose="02040503050406030204"/>
              <a:cs typeface="Cambria" panose="02040503050406030204"/>
            </a:endParaRPr>
          </a:p>
        </p:txBody>
      </p:sp>
      <p:sp>
        <p:nvSpPr>
          <p:cNvPr id="9" name="Rectangle 8"/>
          <p:cNvSpPr>
            <a:spLocks noGrp="1"/>
          </p:cNvSpPr>
          <p:nvPr/>
        </p:nvSpPr>
        <p:spPr>
          <a:xfrm>
            <a:off x="11658600" y="6534150"/>
            <a:ext cx="228600" cy="190500"/>
          </a:xfrm>
          <a:prstGeom prst="rect">
            <a:avLst/>
          </a:prstGeom>
          <a:noFill/>
          <a:ln w="0">
            <a:noFill/>
          </a:ln>
        </p:spPr>
        <p:txBody>
          <a:bodyPr wrap="square" lIns="38100" tIns="19050" rIns="38100" bIns="19050" anchor="ctr">
            <a:normAutofit/>
          </a:bodyPr>
          <a:lstStyle/>
          <a:p>
            <a:pPr algn="r">
              <a:lnSpc>
                <a:spcPct val="100000"/>
              </a:lnSpc>
              <a:buNone/>
              <a:defRPr sz="825" b="0" i="0">
                <a:solidFill>
                  <a:srgbClr val="8A8F93"/>
                </a:solidFill>
                <a:latin typeface="Cambria" panose="02040503050406030204"/>
                <a:ea typeface="Cambria" panose="02040503050406030204"/>
                <a:cs typeface="Cambria" panose="02040503050406030204"/>
              </a:defRPr>
            </a:pPr>
            <a:r>
              <a:rPr sz="825" b="0" i="0">
                <a:solidFill>
                  <a:srgbClr val="8A8F93"/>
                </a:solidFill>
                <a:latin typeface="Cambria" panose="02040503050406030204"/>
                <a:ea typeface="Cambria" panose="02040503050406030204"/>
                <a:cs typeface="Cambria" panose="02040503050406030204"/>
              </a:rPr>
              <a:t>10</a:t>
            </a:r>
            <a:endParaRPr sz="825" b="0" i="0">
              <a:solidFill>
                <a:srgbClr val="8A8F93"/>
              </a:solidFill>
              <a:latin typeface="Cambria" panose="02040503050406030204"/>
              <a:ea typeface="Cambria" panose="02040503050406030204"/>
              <a:cs typeface="Cambria" panose="0204050305040603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 name="slide-title"/>
          <p:cNvSpPr>
            <a:spLocks noGrp="1"/>
          </p:cNvSpPr>
          <p:nvPr/>
        </p:nvSpPr>
        <p:spPr>
          <a:xfrm>
            <a:off x="2571750" y="142875"/>
            <a:ext cx="9191625" cy="590550"/>
          </a:xfrm>
          <a:prstGeom prst="rect">
            <a:avLst/>
          </a:prstGeom>
          <a:noFill/>
          <a:ln w="0">
            <a:noFill/>
          </a:ln>
        </p:spPr>
        <p:txBody>
          <a:bodyPr wrap="square" lIns="38100" tIns="19050" rIns="38100" bIns="19050" anchor="ctr">
            <a:normAutofit/>
          </a:bodyPr>
          <a:lstStyle/>
          <a:p>
            <a:pPr algn="ctr">
              <a:lnSpc>
                <a:spcPct val="100000"/>
              </a:lnSpc>
              <a:buNone/>
              <a:defRPr sz="2100" b="1" i="0">
                <a:solidFill>
                  <a:srgbClr val="E00000"/>
                </a:solidFill>
                <a:latin typeface="Cambria" panose="02040503050406030204"/>
                <a:ea typeface="Cambria" panose="02040503050406030204"/>
                <a:cs typeface="Cambria" panose="02040503050406030204"/>
              </a:defRPr>
            </a:pPr>
            <a:r>
              <a:rPr sz="2100" b="1" i="0">
                <a:solidFill>
                  <a:srgbClr val="E00000"/>
                </a:solidFill>
                <a:latin typeface="Cambria" panose="02040503050406030204"/>
                <a:ea typeface="Cambria" panose="02040503050406030204"/>
                <a:cs typeface="Cambria" panose="02040503050406030204"/>
              </a:rPr>
              <a:t>LUỒNG NGHIỆP VỤ VẬN HÀNH TỔNG THỂ</a:t>
            </a:r>
            <a:endParaRPr sz="2100" b="1" i="0">
              <a:solidFill>
                <a:srgbClr val="E00000"/>
              </a:solidFill>
              <a:latin typeface="Cambria" panose="02040503050406030204"/>
              <a:ea typeface="Cambria" panose="02040503050406030204"/>
              <a:cs typeface="Cambria" panose="02040503050406030204"/>
            </a:endParaRPr>
          </a:p>
        </p:txBody>
      </p:sp>
      <p:sp>
        <p:nvSpPr>
          <p:cNvPr id="2" name="Rectangle 1"/>
          <p:cNvSpPr>
            <a:spLocks noGrp="1"/>
          </p:cNvSpPr>
          <p:nvPr/>
        </p:nvSpPr>
        <p:spPr>
          <a:xfrm>
            <a:off x="323850" y="895350"/>
            <a:ext cx="3848100" cy="400050"/>
          </a:xfrm>
          <a:prstGeom prst="rect">
            <a:avLst/>
          </a:prstGeom>
          <a:solidFill>
            <a:srgbClr val="F3F8F0"/>
          </a:solidFill>
          <a:ln w="9525">
            <a:solidFill>
              <a:srgbClr val="5FAE3E"/>
            </a:solidFill>
          </a:ln>
        </p:spPr>
        <p:txBody>
          <a:bodyPr wrap="square" lIns="38100" tIns="19050" rIns="38100" bIns="19050" anchor="ctr">
            <a:normAutofit/>
          </a:bodyPr>
          <a:lstStyle/>
          <a:p>
            <a:pPr algn="ctr">
              <a:lnSpc>
                <a:spcPct val="100000"/>
              </a:lnSpc>
              <a:buNone/>
              <a:defRPr sz="1275" b="1" i="0">
                <a:solidFill>
                  <a:srgbClr val="006B35"/>
                </a:solidFill>
                <a:latin typeface="Cambria" panose="02040503050406030204"/>
                <a:ea typeface="Cambria" panose="02040503050406030204"/>
                <a:cs typeface="Cambria" panose="02040503050406030204"/>
              </a:defRPr>
            </a:pPr>
            <a:r>
              <a:rPr sz="1275" b="1" i="0">
                <a:solidFill>
                  <a:srgbClr val="006B35"/>
                </a:solidFill>
                <a:latin typeface="Cambria" panose="02040503050406030204"/>
                <a:ea typeface="Cambria" panose="02040503050406030204"/>
                <a:cs typeface="Cambria" panose="02040503050406030204"/>
              </a:rPr>
              <a:t>KẾ HOẠCH VÀ ĐIỀU PHỐI</a:t>
            </a:r>
            <a:endParaRPr sz="1275" b="1" i="0">
              <a:solidFill>
                <a:srgbClr val="006B35"/>
              </a:solidFill>
              <a:latin typeface="Cambria" panose="02040503050406030204"/>
              <a:ea typeface="Cambria" panose="02040503050406030204"/>
              <a:cs typeface="Cambria" panose="02040503050406030204"/>
            </a:endParaRPr>
          </a:p>
        </p:txBody>
      </p:sp>
      <p:sp>
        <p:nvSpPr>
          <p:cNvPr id="3" name="Rectangle 2"/>
          <p:cNvSpPr>
            <a:spLocks noGrp="1"/>
          </p:cNvSpPr>
          <p:nvPr/>
        </p:nvSpPr>
        <p:spPr>
          <a:xfrm>
            <a:off x="4171950" y="895350"/>
            <a:ext cx="3848100" cy="400050"/>
          </a:xfrm>
          <a:prstGeom prst="rect">
            <a:avLst/>
          </a:prstGeom>
          <a:solidFill>
            <a:srgbClr val="F1F6FB"/>
          </a:solidFill>
          <a:ln w="9525">
            <a:solidFill>
              <a:srgbClr val="5FAE3E"/>
            </a:solidFill>
          </a:ln>
        </p:spPr>
        <p:txBody>
          <a:bodyPr wrap="square" lIns="38100" tIns="19050" rIns="38100" bIns="19050" anchor="ctr">
            <a:normAutofit/>
          </a:bodyPr>
          <a:lstStyle/>
          <a:p>
            <a:pPr algn="ctr">
              <a:lnSpc>
                <a:spcPct val="100000"/>
              </a:lnSpc>
              <a:buNone/>
              <a:defRPr sz="1275" b="1" i="0">
                <a:solidFill>
                  <a:srgbClr val="075AA7"/>
                </a:solidFill>
                <a:latin typeface="Cambria" panose="02040503050406030204"/>
                <a:ea typeface="Cambria" panose="02040503050406030204"/>
                <a:cs typeface="Cambria" panose="02040503050406030204"/>
              </a:defRPr>
            </a:pPr>
            <a:r>
              <a:rPr sz="1275" b="1" i="0">
                <a:solidFill>
                  <a:srgbClr val="075AA7"/>
                </a:solidFill>
                <a:latin typeface="Cambria" panose="02040503050406030204"/>
                <a:ea typeface="Cambria" panose="02040503050406030204"/>
                <a:cs typeface="Cambria" panose="02040503050406030204"/>
              </a:rPr>
              <a:t>HỆ THỐNG VÀ DỮ LIỆU</a:t>
            </a:r>
            <a:endParaRPr sz="1275" b="1" i="0">
              <a:solidFill>
                <a:srgbClr val="075AA7"/>
              </a:solidFill>
              <a:latin typeface="Cambria" panose="02040503050406030204"/>
              <a:ea typeface="Cambria" panose="02040503050406030204"/>
              <a:cs typeface="Cambria" panose="02040503050406030204"/>
            </a:endParaRPr>
          </a:p>
        </p:txBody>
      </p:sp>
      <p:sp>
        <p:nvSpPr>
          <p:cNvPr id="4" name="Rectangle 3"/>
          <p:cNvSpPr>
            <a:spLocks noGrp="1"/>
          </p:cNvSpPr>
          <p:nvPr/>
        </p:nvSpPr>
        <p:spPr>
          <a:xfrm>
            <a:off x="4171950" y="1295400"/>
            <a:ext cx="14288" cy="4762500"/>
          </a:xfrm>
          <a:prstGeom prst="rect">
            <a:avLst/>
          </a:prstGeom>
          <a:solidFill>
            <a:srgbClr val="5FAE3E"/>
          </a:solidFill>
          <a:ln w="0">
            <a:solidFill>
              <a:srgbClr val="5FAE3E"/>
            </a:solidFill>
          </a:ln>
        </p:spPr>
      </p:sp>
      <p:sp>
        <p:nvSpPr>
          <p:cNvPr id="5" name="Rectangle 4"/>
          <p:cNvSpPr>
            <a:spLocks noGrp="1"/>
          </p:cNvSpPr>
          <p:nvPr/>
        </p:nvSpPr>
        <p:spPr>
          <a:xfrm>
            <a:off x="8020050" y="895350"/>
            <a:ext cx="3848100" cy="400050"/>
          </a:xfrm>
          <a:prstGeom prst="rect">
            <a:avLst/>
          </a:prstGeom>
          <a:solidFill>
            <a:srgbClr val="F3F8F0"/>
          </a:solidFill>
          <a:ln w="9525">
            <a:solidFill>
              <a:srgbClr val="5FAE3E"/>
            </a:solidFill>
          </a:ln>
        </p:spPr>
        <p:txBody>
          <a:bodyPr wrap="square" lIns="38100" tIns="19050" rIns="38100" bIns="19050" anchor="ctr">
            <a:normAutofit/>
          </a:bodyPr>
          <a:lstStyle/>
          <a:p>
            <a:pPr algn="ctr">
              <a:lnSpc>
                <a:spcPct val="100000"/>
              </a:lnSpc>
              <a:buNone/>
              <a:defRPr sz="1275" b="1" i="0">
                <a:solidFill>
                  <a:srgbClr val="006B35"/>
                </a:solidFill>
                <a:latin typeface="Cambria" panose="02040503050406030204"/>
                <a:ea typeface="Cambria" panose="02040503050406030204"/>
                <a:cs typeface="Cambria" panose="02040503050406030204"/>
              </a:defRPr>
            </a:pPr>
            <a:r>
              <a:rPr sz="1275" b="1" i="0">
                <a:solidFill>
                  <a:srgbClr val="006B35"/>
                </a:solidFill>
                <a:latin typeface="Cambria" panose="02040503050406030204"/>
                <a:ea typeface="Cambria" panose="02040503050406030204"/>
                <a:cs typeface="Cambria" panose="02040503050406030204"/>
              </a:rPr>
              <a:t>TÀI XẾ VÀ HIỆN TRƯỜNG</a:t>
            </a:r>
            <a:endParaRPr sz="1275" b="1" i="0">
              <a:solidFill>
                <a:srgbClr val="006B35"/>
              </a:solidFill>
              <a:latin typeface="Cambria" panose="02040503050406030204"/>
              <a:ea typeface="Cambria" panose="02040503050406030204"/>
              <a:cs typeface="Cambria" panose="02040503050406030204"/>
            </a:endParaRPr>
          </a:p>
        </p:txBody>
      </p:sp>
      <p:sp>
        <p:nvSpPr>
          <p:cNvPr id="6" name="Rectangle 5"/>
          <p:cNvSpPr>
            <a:spLocks noGrp="1"/>
          </p:cNvSpPr>
          <p:nvPr/>
        </p:nvSpPr>
        <p:spPr>
          <a:xfrm>
            <a:off x="8020050" y="1295400"/>
            <a:ext cx="14288" cy="4762500"/>
          </a:xfrm>
          <a:prstGeom prst="rect">
            <a:avLst/>
          </a:prstGeom>
          <a:solidFill>
            <a:srgbClr val="5FAE3E"/>
          </a:solidFill>
          <a:ln w="0">
            <a:solidFill>
              <a:srgbClr val="5FAE3E"/>
            </a:solidFill>
          </a:ln>
        </p:spPr>
      </p:sp>
      <p:sp>
        <p:nvSpPr>
          <p:cNvPr id="7" name="Rounded Rectangle 6"/>
          <p:cNvSpPr>
            <a:spLocks noGrp="1"/>
          </p:cNvSpPr>
          <p:nvPr/>
        </p:nvSpPr>
        <p:spPr>
          <a:xfrm>
            <a:off x="800100" y="1504950"/>
            <a:ext cx="2895600" cy="685800"/>
          </a:xfrm>
          <a:prstGeom prst="roundRect">
            <a:avLst>
              <a:gd name="adj" fmla="val 11111"/>
            </a:avLst>
          </a:prstGeom>
          <a:solidFill>
            <a:srgbClr val="E8F2E2"/>
          </a:solidFill>
          <a:ln w="13335">
            <a:solidFill>
              <a:srgbClr val="006B35"/>
            </a:solidFill>
            <a:prstDash val="solid"/>
          </a:ln>
        </p:spPr>
        <p:txBody>
          <a:bodyPr wrap="square" lIns="66675" tIns="47625" rIns="66675" bIns="47625" anchor="ctr">
            <a:normAutofit/>
          </a:bodyPr>
          <a:lstStyle/>
          <a:p>
            <a:pPr algn="ctr">
              <a:defRPr sz="1165" b="1">
                <a:solidFill>
                  <a:srgbClr val="17212B"/>
                </a:solidFill>
                <a:latin typeface="Cambria" panose="02040503050406030204"/>
                <a:ea typeface="Cambria" panose="02040503050406030204"/>
                <a:cs typeface="Cambria" panose="02040503050406030204"/>
              </a:defRPr>
            </a:pPr>
            <a:r>
              <a:rPr sz="1165" b="1">
                <a:solidFill>
                  <a:srgbClr val="17212B"/>
                </a:solidFill>
                <a:latin typeface="Cambria" panose="02040503050406030204"/>
                <a:ea typeface="Cambria" panose="02040503050406030204"/>
                <a:cs typeface="Cambria" panose="02040503050406030204"/>
              </a:rPr>
              <a:t>Lập kế hoạch hoặc tạo lệnh trực tiếp</a:t>
            </a:r>
            <a:endParaRPr sz="1165" b="1">
              <a:solidFill>
                <a:srgbClr val="17212B"/>
              </a:solidFill>
              <a:latin typeface="Cambria" panose="02040503050406030204"/>
              <a:ea typeface="Cambria" panose="02040503050406030204"/>
              <a:cs typeface="Cambria" panose="02040503050406030204"/>
            </a:endParaRPr>
          </a:p>
        </p:txBody>
      </p:sp>
      <p:sp>
        <p:nvSpPr>
          <p:cNvPr id="8" name="Rectangle 7"/>
          <p:cNvSpPr>
            <a:spLocks noGrp="1"/>
          </p:cNvSpPr>
          <p:nvPr/>
        </p:nvSpPr>
        <p:spPr>
          <a:xfrm>
            <a:off x="4648200" y="1504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Kiểm tra phạm vi, lịch và nguồn lực</a:t>
            </a:r>
            <a:endParaRPr sz="1165" b="0">
              <a:solidFill>
                <a:srgbClr val="17212B"/>
              </a:solidFill>
              <a:latin typeface="Cambria" panose="02040503050406030204"/>
              <a:ea typeface="Cambria" panose="02040503050406030204"/>
              <a:cs typeface="Cambria" panose="02040503050406030204"/>
            </a:endParaRPr>
          </a:p>
        </p:txBody>
      </p:sp>
      <p:sp>
        <p:nvSpPr>
          <p:cNvPr id="9" name="Rectangle 8"/>
          <p:cNvSpPr>
            <a:spLocks noGrp="1"/>
          </p:cNvSpPr>
          <p:nvPr/>
        </p:nvSpPr>
        <p:spPr>
          <a:xfrm>
            <a:off x="800100" y="2647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Duyệt và phát hành lệnh</a:t>
            </a:r>
            <a:endParaRPr sz="1165" b="0">
              <a:solidFill>
                <a:srgbClr val="17212B"/>
              </a:solidFill>
              <a:latin typeface="Cambria" panose="02040503050406030204"/>
              <a:ea typeface="Cambria" panose="02040503050406030204"/>
              <a:cs typeface="Cambria" panose="02040503050406030204"/>
            </a:endParaRPr>
          </a:p>
        </p:txBody>
      </p:sp>
      <p:sp>
        <p:nvSpPr>
          <p:cNvPr id="10" name="Rectangle 9"/>
          <p:cNvSpPr>
            <a:spLocks noGrp="1"/>
          </p:cNvSpPr>
          <p:nvPr/>
        </p:nvSpPr>
        <p:spPr>
          <a:xfrm>
            <a:off x="4648200" y="2647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Ghi WorkOrder, phân công, sự kiện và audit</a:t>
            </a:r>
            <a:endParaRPr sz="1165" b="0">
              <a:solidFill>
                <a:srgbClr val="17212B"/>
              </a:solidFill>
              <a:latin typeface="Cambria" panose="02040503050406030204"/>
              <a:ea typeface="Cambria" panose="02040503050406030204"/>
              <a:cs typeface="Cambria" panose="02040503050406030204"/>
            </a:endParaRPr>
          </a:p>
        </p:txBody>
      </p:sp>
      <p:sp>
        <p:nvSpPr>
          <p:cNvPr id="11" name="Rectangle 10"/>
          <p:cNvSpPr>
            <a:spLocks noGrp="1"/>
          </p:cNvSpPr>
          <p:nvPr/>
        </p:nvSpPr>
        <p:spPr>
          <a:xfrm>
            <a:off x="8496300" y="2647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Đồng bộ lệnh và xác nhận nhận việc</a:t>
            </a:r>
            <a:endParaRPr sz="1165" b="0">
              <a:solidFill>
                <a:srgbClr val="17212B"/>
              </a:solidFill>
              <a:latin typeface="Cambria" panose="02040503050406030204"/>
              <a:ea typeface="Cambria" panose="02040503050406030204"/>
              <a:cs typeface="Cambria" panose="02040503050406030204"/>
            </a:endParaRPr>
          </a:p>
        </p:txBody>
      </p:sp>
      <p:sp>
        <p:nvSpPr>
          <p:cNvPr id="12" name="Rectangle 11"/>
          <p:cNvSpPr>
            <a:spLocks noGrp="1"/>
          </p:cNvSpPr>
          <p:nvPr/>
        </p:nvSpPr>
        <p:spPr>
          <a:xfrm>
            <a:off x="8496300" y="3790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Thực hiện, cập nhật tiến độ, ODO và minh chứng</a:t>
            </a:r>
            <a:endParaRPr sz="1165" b="0">
              <a:solidFill>
                <a:srgbClr val="17212B"/>
              </a:solidFill>
              <a:latin typeface="Cambria" panose="02040503050406030204"/>
              <a:ea typeface="Cambria" panose="02040503050406030204"/>
              <a:cs typeface="Cambria" panose="02040503050406030204"/>
            </a:endParaRPr>
          </a:p>
        </p:txBody>
      </p:sp>
      <p:sp>
        <p:nvSpPr>
          <p:cNvPr id="13" name="Diamond 12"/>
          <p:cNvSpPr>
            <a:spLocks noGrp="1"/>
          </p:cNvSpPr>
          <p:nvPr/>
        </p:nvSpPr>
        <p:spPr>
          <a:xfrm>
            <a:off x="4648200" y="3790950"/>
            <a:ext cx="2895600" cy="819150"/>
          </a:xfrm>
          <a:prstGeom prst="diamond">
            <a:avLst/>
          </a:prstGeom>
          <a:solidFill>
            <a:srgbClr val="F8D1B0"/>
          </a:solidFill>
          <a:ln w="13335">
            <a:solidFill>
              <a:srgbClr val="006B35"/>
            </a:solidFill>
            <a:prstDash val="solid"/>
          </a:ln>
        </p:spPr>
        <p:txBody>
          <a:bodyPr wrap="square" lIns="66675" tIns="47625" rIns="66675" bIns="47625" anchor="ctr">
            <a:normAutofit/>
          </a:bodyPr>
          <a:lstStyle/>
          <a:p>
            <a:pPr algn="ctr">
              <a:defRPr sz="1165" b="1">
                <a:solidFill>
                  <a:srgbClr val="17212B"/>
                </a:solidFill>
                <a:latin typeface="Cambria" panose="02040503050406030204"/>
                <a:ea typeface="Cambria" panose="02040503050406030204"/>
                <a:cs typeface="Cambria" panose="02040503050406030204"/>
              </a:defRPr>
            </a:pPr>
            <a:r>
              <a:rPr sz="1165" b="1">
                <a:solidFill>
                  <a:srgbClr val="17212B"/>
                </a:solidFill>
                <a:latin typeface="Cambria" panose="02040503050406030204"/>
                <a:ea typeface="Cambria" panose="02040503050406030204"/>
                <a:cs typeface="Cambria" panose="02040503050406030204"/>
              </a:rPr>
              <a:t>NGHIỆM THU ĐẠT?</a:t>
            </a:r>
            <a:endParaRPr sz="1165" b="1">
              <a:solidFill>
                <a:srgbClr val="17212B"/>
              </a:solidFill>
              <a:latin typeface="Cambria" panose="02040503050406030204"/>
              <a:ea typeface="Cambria" panose="02040503050406030204"/>
              <a:cs typeface="Cambria" panose="02040503050406030204"/>
            </a:endParaRPr>
          </a:p>
        </p:txBody>
      </p:sp>
      <p:sp>
        <p:nvSpPr>
          <p:cNvPr id="14" name="Rounded Rectangle 13"/>
          <p:cNvSpPr>
            <a:spLocks noGrp="1"/>
          </p:cNvSpPr>
          <p:nvPr/>
        </p:nvSpPr>
        <p:spPr>
          <a:xfrm>
            <a:off x="800100" y="4933950"/>
            <a:ext cx="2895600" cy="685800"/>
          </a:xfrm>
          <a:prstGeom prst="roundRect">
            <a:avLst>
              <a:gd name="adj" fmla="val 11111"/>
            </a:avLst>
          </a:prstGeom>
          <a:solidFill>
            <a:srgbClr val="E8F2E2"/>
          </a:solidFill>
          <a:ln w="13335">
            <a:solidFill>
              <a:srgbClr val="006B35"/>
            </a:solidFill>
            <a:prstDash val="solid"/>
          </a:ln>
        </p:spPr>
        <p:txBody>
          <a:bodyPr wrap="square" lIns="66675" tIns="47625" rIns="66675" bIns="47625" anchor="ctr">
            <a:normAutofit/>
          </a:bodyPr>
          <a:lstStyle/>
          <a:p>
            <a:pPr algn="ctr">
              <a:defRPr sz="1165" b="1">
                <a:solidFill>
                  <a:srgbClr val="17212B"/>
                </a:solidFill>
                <a:latin typeface="Cambria" panose="02040503050406030204"/>
                <a:ea typeface="Cambria" panose="02040503050406030204"/>
                <a:cs typeface="Cambria" panose="02040503050406030204"/>
              </a:defRPr>
            </a:pPr>
            <a:r>
              <a:rPr sz="1165" b="1">
                <a:solidFill>
                  <a:srgbClr val="17212B"/>
                </a:solidFill>
                <a:latin typeface="Cambria" panose="02040503050406030204"/>
                <a:ea typeface="Cambria" panose="02040503050406030204"/>
                <a:cs typeface="Cambria" panose="02040503050406030204"/>
              </a:rPr>
              <a:t>Dashboard, KPI, cảnh báo và báo cáo</a:t>
            </a:r>
            <a:endParaRPr sz="1165" b="1">
              <a:solidFill>
                <a:srgbClr val="17212B"/>
              </a:solidFill>
              <a:latin typeface="Cambria" panose="02040503050406030204"/>
              <a:ea typeface="Cambria" panose="02040503050406030204"/>
              <a:cs typeface="Cambria" panose="02040503050406030204"/>
            </a:endParaRPr>
          </a:p>
        </p:txBody>
      </p:sp>
      <p:cxnSp>
        <p:nvCxnSpPr>
          <p:cNvPr id="40" name="Straight Arrow Connector 39"/>
          <p:cNvCxnSpPr>
            <a:stCxn id="7" idx="3"/>
            <a:endCxn id="8" idx="1"/>
          </p:cNvCxnSpPr>
          <p:nvPr/>
        </p:nvCxnSpPr>
        <p:spPr>
          <a:xfrm>
            <a:off x="3695700" y="1847850"/>
            <a:ext cx="952500" cy="0"/>
          </a:xfrm>
          <a:prstGeom prst="straightConnector1">
            <a:avLst/>
          </a:prstGeom>
          <a:ln w="19050">
            <a:solidFill>
              <a:srgbClr val="5FAE3E"/>
            </a:solidFill>
            <a:prstDash val="solid"/>
            <a:tailEnd type="arrow" w="med" len="med"/>
          </a:ln>
        </p:spPr>
      </p:cxnSp>
      <p:cxnSp>
        <p:nvCxnSpPr>
          <p:cNvPr id="41" name="Elbow Connector 40"/>
          <p:cNvCxnSpPr>
            <a:stCxn id="8" idx="1"/>
            <a:endCxn id="9" idx="3"/>
          </p:cNvCxnSpPr>
          <p:nvPr/>
        </p:nvCxnSpPr>
        <p:spPr>
          <a:xfrm flipH="1">
            <a:off x="3695700" y="1847850"/>
            <a:ext cx="952500" cy="1143000"/>
          </a:xfrm>
          <a:prstGeom prst="bentConnector3">
            <a:avLst>
              <a:gd name="adj1" fmla="val 50000"/>
            </a:avLst>
          </a:prstGeom>
          <a:ln w="19050">
            <a:solidFill>
              <a:srgbClr val="5FAE3E"/>
            </a:solidFill>
            <a:prstDash val="solid"/>
            <a:tailEnd type="arrow" w="med" len="med"/>
          </a:ln>
        </p:spPr>
      </p:cxnSp>
      <p:cxnSp>
        <p:nvCxnSpPr>
          <p:cNvPr id="42" name="Straight Arrow Connector 41"/>
          <p:cNvCxnSpPr>
            <a:stCxn id="9" idx="3"/>
            <a:endCxn id="10" idx="1"/>
          </p:cNvCxnSpPr>
          <p:nvPr/>
        </p:nvCxnSpPr>
        <p:spPr>
          <a:xfrm>
            <a:off x="3695700" y="2990850"/>
            <a:ext cx="952500" cy="0"/>
          </a:xfrm>
          <a:prstGeom prst="straightConnector1">
            <a:avLst/>
          </a:prstGeom>
          <a:ln w="19050">
            <a:solidFill>
              <a:srgbClr val="5FAE3E"/>
            </a:solidFill>
            <a:prstDash val="solid"/>
            <a:tailEnd type="arrow" w="med" len="med"/>
          </a:ln>
        </p:spPr>
      </p:cxnSp>
      <p:cxnSp>
        <p:nvCxnSpPr>
          <p:cNvPr id="43" name="Elbow Connector 42"/>
          <p:cNvCxnSpPr>
            <a:stCxn id="10" idx="3"/>
            <a:endCxn id="11" idx="1"/>
          </p:cNvCxnSpPr>
          <p:nvPr/>
        </p:nvCxnSpPr>
        <p:spPr>
          <a:xfrm>
            <a:off x="7543800" y="2990850"/>
            <a:ext cx="952500" cy="3181350"/>
          </a:xfrm>
          <a:prstGeom prst="bentConnector4">
            <a:avLst/>
          </a:prstGeom>
          <a:ln w="19050">
            <a:solidFill>
              <a:srgbClr val="5FAE3E"/>
            </a:solidFill>
            <a:prstDash val="solid"/>
            <a:tailEnd type="arrow" w="med" len="med"/>
          </a:ln>
        </p:spPr>
      </p:cxnSp>
      <p:cxnSp>
        <p:nvCxnSpPr>
          <p:cNvPr id="44" name="Straight Arrow Connector 43"/>
          <p:cNvCxnSpPr>
            <a:stCxn id="11" idx="2"/>
            <a:endCxn id="12" idx="0"/>
          </p:cNvCxnSpPr>
          <p:nvPr/>
        </p:nvCxnSpPr>
        <p:spPr>
          <a:xfrm>
            <a:off x="9944100" y="3333750"/>
            <a:ext cx="0" cy="457200"/>
          </a:xfrm>
          <a:prstGeom prst="straightConnector1">
            <a:avLst/>
          </a:prstGeom>
          <a:ln w="19050">
            <a:solidFill>
              <a:srgbClr val="5FAE3E"/>
            </a:solidFill>
            <a:prstDash val="solid"/>
            <a:tailEnd type="arrow" w="med" len="med"/>
          </a:ln>
        </p:spPr>
      </p:cxnSp>
      <p:cxnSp>
        <p:nvCxnSpPr>
          <p:cNvPr id="45" name="Elbow Connector 44"/>
          <p:cNvCxnSpPr>
            <a:stCxn id="12" idx="1"/>
            <a:endCxn id="13" idx="3"/>
          </p:cNvCxnSpPr>
          <p:nvPr/>
        </p:nvCxnSpPr>
        <p:spPr>
          <a:xfrm flipH="1">
            <a:off x="7543800" y="4133850"/>
            <a:ext cx="952500" cy="2038350"/>
          </a:xfrm>
          <a:prstGeom prst="bentConnector4">
            <a:avLst/>
          </a:prstGeom>
          <a:ln w="19050">
            <a:solidFill>
              <a:srgbClr val="5FAE3E"/>
            </a:solidFill>
            <a:prstDash val="solid"/>
            <a:tailEnd type="arrow" w="med" len="med"/>
          </a:ln>
        </p:spPr>
      </p:cxnSp>
      <p:cxnSp>
        <p:nvCxnSpPr>
          <p:cNvPr id="46" name="Elbow Connector 45"/>
          <p:cNvCxnSpPr/>
          <p:nvPr/>
        </p:nvCxnSpPr>
        <p:spPr>
          <a:xfrm flipH="1">
            <a:off x="3695700" y="4200525"/>
            <a:ext cx="952500" cy="1971675"/>
          </a:xfrm>
          <a:prstGeom prst="bentConnector4">
            <a:avLst/>
          </a:prstGeom>
          <a:ln w="19050">
            <a:solidFill>
              <a:srgbClr val="5FAE3E"/>
            </a:solidFill>
            <a:prstDash val="solid"/>
            <a:tailEnd type="arrow" w="med" len="med"/>
          </a:ln>
        </p:spPr>
      </p:cxnSp>
      <p:sp>
        <p:nvSpPr>
          <p:cNvPr id="22" name="Rectangle 21"/>
          <p:cNvSpPr>
            <a:spLocks noGrp="1"/>
          </p:cNvSpPr>
          <p:nvPr/>
        </p:nvSpPr>
        <p:spPr>
          <a:xfrm>
            <a:off x="3695700" y="4953000"/>
            <a:ext cx="666750" cy="209550"/>
          </a:xfrm>
          <a:prstGeom prst="rect">
            <a:avLst/>
          </a:prstGeom>
          <a:solidFill>
            <a:srgbClr val="FFFFFF"/>
          </a:solidFill>
          <a:ln w="0">
            <a:noFill/>
          </a:ln>
        </p:spPr>
        <p:txBody>
          <a:bodyPr wrap="square" lIns="38100" tIns="19050" rIns="38100" bIns="19050" anchor="ctr">
            <a:normAutofit/>
          </a:bodyPr>
          <a:lstStyle/>
          <a:p>
            <a:pPr algn="ctr">
              <a:lnSpc>
                <a:spcPct val="100000"/>
              </a:lnSpc>
              <a:buNone/>
              <a:defRPr sz="940" b="1" i="0">
                <a:solidFill>
                  <a:srgbClr val="59636E"/>
                </a:solidFill>
                <a:latin typeface="Cambria" panose="02040503050406030204"/>
                <a:ea typeface="Cambria" panose="02040503050406030204"/>
                <a:cs typeface="Cambria" panose="02040503050406030204"/>
              </a:defRPr>
            </a:pPr>
            <a:r>
              <a:rPr sz="940" b="1" i="0">
                <a:solidFill>
                  <a:srgbClr val="59636E"/>
                </a:solidFill>
                <a:latin typeface="Cambria" panose="02040503050406030204"/>
                <a:ea typeface="Cambria" panose="02040503050406030204"/>
                <a:cs typeface="Cambria" panose="02040503050406030204"/>
              </a:rPr>
              <a:t>Đạt</a:t>
            </a:r>
            <a:endParaRPr sz="940" b="1" i="0">
              <a:solidFill>
                <a:srgbClr val="59636E"/>
              </a:solidFill>
              <a:latin typeface="Cambria" panose="02040503050406030204"/>
              <a:ea typeface="Cambria" panose="02040503050406030204"/>
              <a:cs typeface="Cambria" panose="02040503050406030204"/>
            </a:endParaRPr>
          </a:p>
        </p:txBody>
      </p:sp>
      <p:sp>
        <p:nvSpPr>
          <p:cNvPr id="23" name="Rectangle 22"/>
          <p:cNvSpPr>
            <a:spLocks noGrp="1"/>
          </p:cNvSpPr>
          <p:nvPr/>
        </p:nvSpPr>
        <p:spPr>
          <a:xfrm>
            <a:off x="704850" y="6115050"/>
            <a:ext cx="10782300" cy="266700"/>
          </a:xfrm>
          <a:prstGeom prst="rect">
            <a:avLst/>
          </a:prstGeom>
          <a:noFill/>
          <a:ln w="0">
            <a:noFill/>
          </a:ln>
        </p:spPr>
        <p:txBody>
          <a:bodyPr wrap="square" lIns="38100" tIns="19050" rIns="38100" bIns="19050" anchor="ctr">
            <a:normAutofit/>
          </a:bodyPr>
          <a:lstStyle/>
          <a:p>
            <a:pPr algn="ctr">
              <a:lnSpc>
                <a:spcPct val="100000"/>
              </a:lnSpc>
              <a:buNone/>
              <a:defRPr sz="1015" b="0" i="1">
                <a:solidFill>
                  <a:srgbClr val="59636E"/>
                </a:solidFill>
                <a:latin typeface="Cambria" panose="02040503050406030204"/>
                <a:ea typeface="Cambria" panose="02040503050406030204"/>
                <a:cs typeface="Cambria" panose="02040503050406030204"/>
              </a:defRPr>
            </a:pPr>
            <a:r>
              <a:rPr sz="1015" b="0" i="1">
                <a:solidFill>
                  <a:srgbClr val="59636E"/>
                </a:solidFill>
                <a:latin typeface="Cambria" panose="02040503050406030204"/>
                <a:ea typeface="Cambria" panose="02040503050406030204"/>
                <a:cs typeface="Cambria" panose="02040503050406030204"/>
              </a:rPr>
              <a:t>Mỗi chuyển trạng thái chính phải để lại người thực hiện, thời điểm, lý do và dữ liệu liên quan.</a:t>
            </a:r>
            <a:endParaRPr sz="1015" b="0" i="1">
              <a:solidFill>
                <a:srgbClr val="59636E"/>
              </a:solidFill>
              <a:latin typeface="Cambria" panose="02040503050406030204"/>
              <a:ea typeface="Cambria" panose="02040503050406030204"/>
              <a:cs typeface="Cambria" panose="02040503050406030204"/>
            </a:endParaRPr>
          </a:p>
        </p:txBody>
      </p:sp>
      <p:sp>
        <p:nvSpPr>
          <p:cNvPr id="24" name="Rectangle 23"/>
          <p:cNvSpPr>
            <a:spLocks noGrp="1"/>
          </p:cNvSpPr>
          <p:nvPr/>
        </p:nvSpPr>
        <p:spPr>
          <a:xfrm>
            <a:off x="266700" y="6534150"/>
            <a:ext cx="7429500" cy="190500"/>
          </a:xfrm>
          <a:prstGeom prst="rect">
            <a:avLst/>
          </a:prstGeom>
          <a:noFill/>
          <a:ln w="0">
            <a:noFill/>
          </a:ln>
        </p:spPr>
        <p:txBody>
          <a:bodyPr wrap="square" lIns="38100" tIns="19050" rIns="38100" bIns="19050" anchor="ctr">
            <a:normAutofit/>
          </a:bodyPr>
          <a:lstStyle/>
          <a:p>
            <a:pPr algn="l">
              <a:lnSpc>
                <a:spcPct val="100000"/>
              </a:lnSpc>
              <a:buNone/>
              <a:defRPr sz="825" b="0" i="1">
                <a:solidFill>
                  <a:srgbClr val="8A8F93"/>
                </a:solidFill>
                <a:latin typeface="Cambria" panose="02040503050406030204"/>
                <a:ea typeface="Cambria" panose="02040503050406030204"/>
                <a:cs typeface="Cambria" panose="02040503050406030204"/>
              </a:defRPr>
            </a:pPr>
            <a:r>
              <a:rPr sz="825" b="0" i="1">
                <a:solidFill>
                  <a:srgbClr val="8A8F93"/>
                </a:solidFill>
                <a:latin typeface="Cambria" panose="02040503050406030204"/>
                <a:ea typeface="Cambria" panose="02040503050406030204"/>
                <a:cs typeface="Cambria" panose="02040503050406030204"/>
              </a:rPr>
              <a:t>Giới thiệu phần mềm và tiến độ phát triển | THACO AGRI Fleet | 21/09/2026</a:t>
            </a:r>
            <a:endParaRPr sz="825" b="0" i="1">
              <a:solidFill>
                <a:srgbClr val="8A8F93"/>
              </a:solidFill>
              <a:latin typeface="Cambria" panose="02040503050406030204"/>
              <a:ea typeface="Cambria" panose="02040503050406030204"/>
              <a:cs typeface="Cambria" panose="02040503050406030204"/>
            </a:endParaRPr>
          </a:p>
        </p:txBody>
      </p:sp>
      <p:sp>
        <p:nvSpPr>
          <p:cNvPr id="25" name="Rectangle 24"/>
          <p:cNvSpPr>
            <a:spLocks noGrp="1"/>
          </p:cNvSpPr>
          <p:nvPr/>
        </p:nvSpPr>
        <p:spPr>
          <a:xfrm>
            <a:off x="11658600" y="6534150"/>
            <a:ext cx="228600" cy="190500"/>
          </a:xfrm>
          <a:prstGeom prst="rect">
            <a:avLst/>
          </a:prstGeom>
          <a:noFill/>
          <a:ln w="0">
            <a:noFill/>
          </a:ln>
        </p:spPr>
        <p:txBody>
          <a:bodyPr wrap="square" lIns="38100" tIns="19050" rIns="38100" bIns="19050" anchor="ctr">
            <a:normAutofit/>
          </a:bodyPr>
          <a:lstStyle/>
          <a:p>
            <a:pPr algn="r">
              <a:lnSpc>
                <a:spcPct val="100000"/>
              </a:lnSpc>
              <a:buNone/>
              <a:defRPr sz="825" b="0" i="0">
                <a:solidFill>
                  <a:srgbClr val="8A8F93"/>
                </a:solidFill>
                <a:latin typeface="Cambria" panose="02040503050406030204"/>
                <a:ea typeface="Cambria" panose="02040503050406030204"/>
                <a:cs typeface="Cambria" panose="02040503050406030204"/>
              </a:defRPr>
            </a:pPr>
            <a:r>
              <a:rPr sz="825" b="0" i="0">
                <a:solidFill>
                  <a:srgbClr val="8A8F93"/>
                </a:solidFill>
                <a:latin typeface="Cambria" panose="02040503050406030204"/>
                <a:ea typeface="Cambria" panose="02040503050406030204"/>
                <a:cs typeface="Cambria" panose="02040503050406030204"/>
              </a:rPr>
              <a:t>11</a:t>
            </a:r>
            <a:endParaRPr sz="825" b="0" i="0">
              <a:solidFill>
                <a:srgbClr val="8A8F93"/>
              </a:solidFill>
              <a:latin typeface="Cambria" panose="02040503050406030204"/>
              <a:ea typeface="Cambria" panose="02040503050406030204"/>
              <a:cs typeface="Cambria" panose="0204050305040603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 name="slide-title"/>
          <p:cNvSpPr>
            <a:spLocks noGrp="1"/>
          </p:cNvSpPr>
          <p:nvPr/>
        </p:nvSpPr>
        <p:spPr>
          <a:xfrm>
            <a:off x="2571750" y="142875"/>
            <a:ext cx="9191625" cy="590550"/>
          </a:xfrm>
          <a:prstGeom prst="rect">
            <a:avLst/>
          </a:prstGeom>
          <a:noFill/>
          <a:ln w="0">
            <a:noFill/>
          </a:ln>
        </p:spPr>
        <p:txBody>
          <a:bodyPr wrap="square" lIns="38100" tIns="19050" rIns="38100" bIns="19050" anchor="ctr">
            <a:normAutofit/>
          </a:bodyPr>
          <a:lstStyle/>
          <a:p>
            <a:pPr algn="ctr">
              <a:lnSpc>
                <a:spcPct val="100000"/>
              </a:lnSpc>
              <a:buNone/>
              <a:defRPr sz="2100" b="1" i="0">
                <a:solidFill>
                  <a:srgbClr val="E00000"/>
                </a:solidFill>
                <a:latin typeface="Cambria" panose="02040503050406030204"/>
                <a:ea typeface="Cambria" panose="02040503050406030204"/>
                <a:cs typeface="Cambria" panose="02040503050406030204"/>
              </a:defRPr>
            </a:pPr>
            <a:r>
              <a:rPr sz="2100" b="1" i="0">
                <a:solidFill>
                  <a:srgbClr val="E00000"/>
                </a:solidFill>
                <a:latin typeface="Cambria" panose="02040503050406030204"/>
                <a:ea typeface="Cambria" panose="02040503050406030204"/>
                <a:cs typeface="Cambria" panose="02040503050406030204"/>
              </a:rPr>
              <a:t>KẾ HOẠCH SẢN XUẤT ĐẾN LỆNH THỰC HIỆN</a:t>
            </a:r>
            <a:endParaRPr sz="2100" b="1" i="0">
              <a:solidFill>
                <a:srgbClr val="E00000"/>
              </a:solidFill>
              <a:latin typeface="Cambria" panose="02040503050406030204"/>
              <a:ea typeface="Cambria" panose="02040503050406030204"/>
              <a:cs typeface="Cambria" panose="02040503050406030204"/>
            </a:endParaRPr>
          </a:p>
        </p:txBody>
      </p:sp>
      <p:sp>
        <p:nvSpPr>
          <p:cNvPr id="2" name="Rectangle 1"/>
          <p:cNvSpPr>
            <a:spLocks noGrp="1"/>
          </p:cNvSpPr>
          <p:nvPr/>
        </p:nvSpPr>
        <p:spPr>
          <a:xfrm>
            <a:off x="323850" y="895350"/>
            <a:ext cx="3848100" cy="400050"/>
          </a:xfrm>
          <a:prstGeom prst="rect">
            <a:avLst/>
          </a:prstGeom>
          <a:solidFill>
            <a:srgbClr val="F3F8F0"/>
          </a:solidFill>
          <a:ln w="9525">
            <a:solidFill>
              <a:srgbClr val="5FAE3E"/>
            </a:solidFill>
          </a:ln>
        </p:spPr>
        <p:txBody>
          <a:bodyPr wrap="square" lIns="38100" tIns="19050" rIns="38100" bIns="19050" anchor="ctr">
            <a:normAutofit/>
          </a:bodyPr>
          <a:lstStyle/>
          <a:p>
            <a:pPr algn="ctr">
              <a:lnSpc>
                <a:spcPct val="100000"/>
              </a:lnSpc>
              <a:buNone/>
              <a:defRPr sz="1275" b="1" i="0">
                <a:solidFill>
                  <a:srgbClr val="006B35"/>
                </a:solidFill>
                <a:latin typeface="Cambria" panose="02040503050406030204"/>
                <a:ea typeface="Cambria" panose="02040503050406030204"/>
                <a:cs typeface="Cambria" panose="02040503050406030204"/>
              </a:defRPr>
            </a:pPr>
            <a:r>
              <a:rPr sz="1275" b="1" i="0">
                <a:solidFill>
                  <a:srgbClr val="006B35"/>
                </a:solidFill>
                <a:latin typeface="Cambria" panose="02040503050406030204"/>
                <a:ea typeface="Cambria" panose="02040503050406030204"/>
                <a:cs typeface="Cambria" panose="02040503050406030204"/>
              </a:rPr>
              <a:t>NÔNG TRƯỜNG</a:t>
            </a:r>
            <a:endParaRPr sz="1275" b="1" i="0">
              <a:solidFill>
                <a:srgbClr val="006B35"/>
              </a:solidFill>
              <a:latin typeface="Cambria" panose="02040503050406030204"/>
              <a:ea typeface="Cambria" panose="02040503050406030204"/>
              <a:cs typeface="Cambria" panose="02040503050406030204"/>
            </a:endParaRPr>
          </a:p>
        </p:txBody>
      </p:sp>
      <p:sp>
        <p:nvSpPr>
          <p:cNvPr id="3" name="Rectangle 2"/>
          <p:cNvSpPr>
            <a:spLocks noGrp="1"/>
          </p:cNvSpPr>
          <p:nvPr/>
        </p:nvSpPr>
        <p:spPr>
          <a:xfrm>
            <a:off x="4171950" y="895350"/>
            <a:ext cx="3848100" cy="400050"/>
          </a:xfrm>
          <a:prstGeom prst="rect">
            <a:avLst/>
          </a:prstGeom>
          <a:solidFill>
            <a:srgbClr val="F1F6FB"/>
          </a:solidFill>
          <a:ln w="9525">
            <a:solidFill>
              <a:srgbClr val="5FAE3E"/>
            </a:solidFill>
          </a:ln>
        </p:spPr>
        <p:txBody>
          <a:bodyPr wrap="square" lIns="38100" tIns="19050" rIns="38100" bIns="19050" anchor="ctr">
            <a:normAutofit/>
          </a:bodyPr>
          <a:lstStyle/>
          <a:p>
            <a:pPr algn="ctr">
              <a:lnSpc>
                <a:spcPct val="100000"/>
              </a:lnSpc>
              <a:buNone/>
              <a:defRPr sz="1275" b="1" i="0">
                <a:solidFill>
                  <a:srgbClr val="075AA7"/>
                </a:solidFill>
                <a:latin typeface="Cambria" panose="02040503050406030204"/>
                <a:ea typeface="Cambria" panose="02040503050406030204"/>
                <a:cs typeface="Cambria" panose="02040503050406030204"/>
              </a:defRPr>
            </a:pPr>
            <a:r>
              <a:rPr sz="1275" b="1" i="0">
                <a:solidFill>
                  <a:srgbClr val="075AA7"/>
                </a:solidFill>
                <a:latin typeface="Cambria" panose="02040503050406030204"/>
                <a:ea typeface="Cambria" panose="02040503050406030204"/>
                <a:cs typeface="Cambria" panose="02040503050406030204"/>
              </a:rPr>
              <a:t>HỆ THỐNG</a:t>
            </a:r>
            <a:endParaRPr sz="1275" b="1" i="0">
              <a:solidFill>
                <a:srgbClr val="075AA7"/>
              </a:solidFill>
              <a:latin typeface="Cambria" panose="02040503050406030204"/>
              <a:ea typeface="Cambria" panose="02040503050406030204"/>
              <a:cs typeface="Cambria" panose="02040503050406030204"/>
            </a:endParaRPr>
          </a:p>
        </p:txBody>
      </p:sp>
      <p:sp>
        <p:nvSpPr>
          <p:cNvPr id="4" name="Rectangle 3"/>
          <p:cNvSpPr>
            <a:spLocks noGrp="1"/>
          </p:cNvSpPr>
          <p:nvPr/>
        </p:nvSpPr>
        <p:spPr>
          <a:xfrm>
            <a:off x="4171950" y="1295400"/>
            <a:ext cx="14288" cy="4762500"/>
          </a:xfrm>
          <a:prstGeom prst="rect">
            <a:avLst/>
          </a:prstGeom>
          <a:solidFill>
            <a:srgbClr val="5FAE3E"/>
          </a:solidFill>
          <a:ln w="0">
            <a:solidFill>
              <a:srgbClr val="5FAE3E"/>
            </a:solidFill>
          </a:ln>
        </p:spPr>
      </p:sp>
      <p:sp>
        <p:nvSpPr>
          <p:cNvPr id="5" name="Rectangle 4"/>
          <p:cNvSpPr>
            <a:spLocks noGrp="1"/>
          </p:cNvSpPr>
          <p:nvPr/>
        </p:nvSpPr>
        <p:spPr>
          <a:xfrm>
            <a:off x="8020050" y="895350"/>
            <a:ext cx="3848100" cy="400050"/>
          </a:xfrm>
          <a:prstGeom prst="rect">
            <a:avLst/>
          </a:prstGeom>
          <a:solidFill>
            <a:srgbClr val="F3F8F0"/>
          </a:solidFill>
          <a:ln w="9525">
            <a:solidFill>
              <a:srgbClr val="5FAE3E"/>
            </a:solidFill>
          </a:ln>
        </p:spPr>
        <p:txBody>
          <a:bodyPr wrap="square" lIns="38100" tIns="19050" rIns="38100" bIns="19050" anchor="ctr">
            <a:normAutofit/>
          </a:bodyPr>
          <a:lstStyle/>
          <a:p>
            <a:pPr algn="ctr">
              <a:lnSpc>
                <a:spcPct val="100000"/>
              </a:lnSpc>
              <a:buNone/>
              <a:defRPr sz="1275" b="1" i="0">
                <a:solidFill>
                  <a:srgbClr val="006B35"/>
                </a:solidFill>
                <a:latin typeface="Cambria" panose="02040503050406030204"/>
                <a:ea typeface="Cambria" panose="02040503050406030204"/>
                <a:cs typeface="Cambria" panose="02040503050406030204"/>
              </a:defRPr>
            </a:pPr>
            <a:r>
              <a:rPr sz="1275" b="1" i="0">
                <a:solidFill>
                  <a:srgbClr val="006B35"/>
                </a:solidFill>
                <a:latin typeface="Cambria" panose="02040503050406030204"/>
                <a:ea typeface="Cambria" panose="02040503050406030204"/>
                <a:cs typeface="Cambria" panose="02040503050406030204"/>
              </a:rPr>
              <a:t>ĐIỀU PHỐI</a:t>
            </a:r>
            <a:endParaRPr sz="1275" b="1" i="0">
              <a:solidFill>
                <a:srgbClr val="006B35"/>
              </a:solidFill>
              <a:latin typeface="Cambria" panose="02040503050406030204"/>
              <a:ea typeface="Cambria" panose="02040503050406030204"/>
              <a:cs typeface="Cambria" panose="02040503050406030204"/>
            </a:endParaRPr>
          </a:p>
        </p:txBody>
      </p:sp>
      <p:sp>
        <p:nvSpPr>
          <p:cNvPr id="6" name="Rectangle 5"/>
          <p:cNvSpPr>
            <a:spLocks noGrp="1"/>
          </p:cNvSpPr>
          <p:nvPr/>
        </p:nvSpPr>
        <p:spPr>
          <a:xfrm>
            <a:off x="8020050" y="1295400"/>
            <a:ext cx="14288" cy="4762500"/>
          </a:xfrm>
          <a:prstGeom prst="rect">
            <a:avLst/>
          </a:prstGeom>
          <a:solidFill>
            <a:srgbClr val="5FAE3E"/>
          </a:solidFill>
          <a:ln w="0">
            <a:solidFill>
              <a:srgbClr val="5FAE3E"/>
            </a:solidFill>
          </a:ln>
        </p:spPr>
      </p:sp>
      <p:sp>
        <p:nvSpPr>
          <p:cNvPr id="7" name="Rounded Rectangle 6"/>
          <p:cNvSpPr>
            <a:spLocks noGrp="1"/>
          </p:cNvSpPr>
          <p:nvPr/>
        </p:nvSpPr>
        <p:spPr>
          <a:xfrm>
            <a:off x="800100" y="1504950"/>
            <a:ext cx="2895600" cy="685800"/>
          </a:xfrm>
          <a:prstGeom prst="roundRect">
            <a:avLst>
              <a:gd name="adj" fmla="val 11111"/>
            </a:avLst>
          </a:prstGeom>
          <a:solidFill>
            <a:srgbClr val="E8F2E2"/>
          </a:solidFill>
          <a:ln w="13335">
            <a:solidFill>
              <a:srgbClr val="006B35"/>
            </a:solidFill>
            <a:prstDash val="solid"/>
          </a:ln>
        </p:spPr>
        <p:txBody>
          <a:bodyPr wrap="square" lIns="66675" tIns="47625" rIns="66675" bIns="47625" anchor="ctr">
            <a:normAutofit/>
          </a:bodyPr>
          <a:lstStyle/>
          <a:p>
            <a:pPr algn="ctr">
              <a:defRPr sz="1165" b="1">
                <a:solidFill>
                  <a:srgbClr val="17212B"/>
                </a:solidFill>
                <a:latin typeface="Cambria" panose="02040503050406030204"/>
                <a:ea typeface="Cambria" panose="02040503050406030204"/>
                <a:cs typeface="Cambria" panose="02040503050406030204"/>
              </a:defRPr>
            </a:pPr>
            <a:r>
              <a:rPr sz="1165" b="1">
                <a:solidFill>
                  <a:srgbClr val="17212B"/>
                </a:solidFill>
                <a:latin typeface="Cambria" panose="02040503050406030204"/>
                <a:ea typeface="Cambria" panose="02040503050406030204"/>
                <a:cs typeface="Cambria" panose="02040503050406030204"/>
              </a:rPr>
              <a:t>Tạo kế hoạch, hạng mục, lô và khối lượng</a:t>
            </a:r>
            <a:endParaRPr sz="1165" b="1">
              <a:solidFill>
                <a:srgbClr val="17212B"/>
              </a:solidFill>
              <a:latin typeface="Cambria" panose="02040503050406030204"/>
              <a:ea typeface="Cambria" panose="02040503050406030204"/>
              <a:cs typeface="Cambria" panose="02040503050406030204"/>
            </a:endParaRPr>
          </a:p>
        </p:txBody>
      </p:sp>
      <p:sp>
        <p:nvSpPr>
          <p:cNvPr id="8" name="Rectangle 7"/>
          <p:cNvSpPr>
            <a:spLocks noGrp="1"/>
          </p:cNvSpPr>
          <p:nvPr/>
        </p:nvSpPr>
        <p:spPr>
          <a:xfrm>
            <a:off x="800100" y="2647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Trình duyệt kế hoạch</a:t>
            </a:r>
            <a:endParaRPr sz="1165" b="0">
              <a:solidFill>
                <a:srgbClr val="17212B"/>
              </a:solidFill>
              <a:latin typeface="Cambria" panose="02040503050406030204"/>
              <a:ea typeface="Cambria" panose="02040503050406030204"/>
              <a:cs typeface="Cambria" panose="02040503050406030204"/>
            </a:endParaRPr>
          </a:p>
        </p:txBody>
      </p:sp>
      <p:sp>
        <p:nvSpPr>
          <p:cNvPr id="9" name="Diamond 8"/>
          <p:cNvSpPr>
            <a:spLocks noGrp="1"/>
          </p:cNvSpPr>
          <p:nvPr/>
        </p:nvSpPr>
        <p:spPr>
          <a:xfrm>
            <a:off x="4648200" y="2647950"/>
            <a:ext cx="2895600" cy="819150"/>
          </a:xfrm>
          <a:prstGeom prst="diamond">
            <a:avLst/>
          </a:prstGeom>
          <a:solidFill>
            <a:srgbClr val="F8D1B0"/>
          </a:solidFill>
          <a:ln w="13335">
            <a:solidFill>
              <a:srgbClr val="006B35"/>
            </a:solidFill>
            <a:prstDash val="solid"/>
          </a:ln>
        </p:spPr>
        <p:txBody>
          <a:bodyPr wrap="square" lIns="66675" tIns="47625" rIns="66675" bIns="47625" anchor="ctr">
            <a:normAutofit/>
          </a:bodyPr>
          <a:lstStyle/>
          <a:p>
            <a:pPr algn="ctr">
              <a:defRPr sz="1165" b="1">
                <a:solidFill>
                  <a:srgbClr val="17212B"/>
                </a:solidFill>
                <a:latin typeface="Cambria" panose="02040503050406030204"/>
                <a:ea typeface="Cambria" panose="02040503050406030204"/>
                <a:cs typeface="Cambria" panose="02040503050406030204"/>
              </a:defRPr>
            </a:pPr>
            <a:r>
              <a:rPr sz="1165" b="1">
                <a:solidFill>
                  <a:srgbClr val="17212B"/>
                </a:solidFill>
                <a:latin typeface="Cambria" panose="02040503050406030204"/>
                <a:ea typeface="Cambria" panose="02040503050406030204"/>
                <a:cs typeface="Cambria" panose="02040503050406030204"/>
              </a:rPr>
              <a:t>DUYỆT KẾ HOẠCH?</a:t>
            </a:r>
            <a:endParaRPr sz="1165" b="1">
              <a:solidFill>
                <a:srgbClr val="17212B"/>
              </a:solidFill>
              <a:latin typeface="Cambria" panose="02040503050406030204"/>
              <a:ea typeface="Cambria" panose="02040503050406030204"/>
              <a:cs typeface="Cambria" panose="02040503050406030204"/>
            </a:endParaRPr>
          </a:p>
        </p:txBody>
      </p:sp>
      <p:sp>
        <p:nvSpPr>
          <p:cNvPr id="10" name="Rectangle 9"/>
          <p:cNvSpPr>
            <a:spLocks noGrp="1"/>
          </p:cNvSpPr>
          <p:nvPr/>
        </p:nvSpPr>
        <p:spPr>
          <a:xfrm>
            <a:off x="4648200" y="3790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Tạo ProductionOrder và generationKey</a:t>
            </a:r>
            <a:endParaRPr sz="1165" b="0">
              <a:solidFill>
                <a:srgbClr val="17212B"/>
              </a:solidFill>
              <a:latin typeface="Cambria" panose="02040503050406030204"/>
              <a:ea typeface="Cambria" panose="02040503050406030204"/>
              <a:cs typeface="Cambria" panose="02040503050406030204"/>
            </a:endParaRPr>
          </a:p>
        </p:txBody>
      </p:sp>
      <p:sp>
        <p:nvSpPr>
          <p:cNvPr id="11" name="Rectangle 10"/>
          <p:cNvSpPr>
            <a:spLocks noGrp="1"/>
          </p:cNvSpPr>
          <p:nvPr/>
        </p:nvSpPr>
        <p:spPr>
          <a:xfrm>
            <a:off x="8496300" y="3790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Sinh lệnh điều xe hoặc vận chuyển</a:t>
            </a:r>
            <a:endParaRPr sz="1165" b="0">
              <a:solidFill>
                <a:srgbClr val="17212B"/>
              </a:solidFill>
              <a:latin typeface="Cambria" panose="02040503050406030204"/>
              <a:ea typeface="Cambria" panose="02040503050406030204"/>
              <a:cs typeface="Cambria" panose="02040503050406030204"/>
            </a:endParaRPr>
          </a:p>
        </p:txBody>
      </p:sp>
      <p:sp>
        <p:nvSpPr>
          <p:cNvPr id="12" name="Rectangle 11"/>
          <p:cNvSpPr>
            <a:spLocks noGrp="1"/>
          </p:cNvSpPr>
          <p:nvPr/>
        </p:nvSpPr>
        <p:spPr>
          <a:xfrm>
            <a:off x="8496300" y="4933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Cập nhật tiến độ lô và sản lượng</a:t>
            </a:r>
            <a:endParaRPr sz="1165" b="0">
              <a:solidFill>
                <a:srgbClr val="17212B"/>
              </a:solidFill>
              <a:latin typeface="Cambria" panose="02040503050406030204"/>
              <a:ea typeface="Cambria" panose="02040503050406030204"/>
              <a:cs typeface="Cambria" panose="02040503050406030204"/>
            </a:endParaRPr>
          </a:p>
        </p:txBody>
      </p:sp>
      <p:sp>
        <p:nvSpPr>
          <p:cNvPr id="13" name="Diamond 12"/>
          <p:cNvSpPr>
            <a:spLocks noGrp="1"/>
          </p:cNvSpPr>
          <p:nvPr/>
        </p:nvSpPr>
        <p:spPr>
          <a:xfrm>
            <a:off x="4648200" y="4933950"/>
            <a:ext cx="2895600" cy="819150"/>
          </a:xfrm>
          <a:prstGeom prst="diamond">
            <a:avLst/>
          </a:prstGeom>
          <a:solidFill>
            <a:srgbClr val="F8D1B0"/>
          </a:solidFill>
          <a:ln w="13335">
            <a:solidFill>
              <a:srgbClr val="006B35"/>
            </a:solidFill>
            <a:prstDash val="solid"/>
          </a:ln>
        </p:spPr>
        <p:txBody>
          <a:bodyPr wrap="square" lIns="66675" tIns="47625" rIns="66675" bIns="47625" anchor="ctr">
            <a:normAutofit/>
          </a:bodyPr>
          <a:lstStyle/>
          <a:p>
            <a:pPr algn="ctr">
              <a:defRPr sz="1015" b="1">
                <a:solidFill>
                  <a:srgbClr val="17212B"/>
                </a:solidFill>
                <a:latin typeface="Cambria" panose="02040503050406030204"/>
                <a:ea typeface="Cambria" panose="02040503050406030204"/>
                <a:cs typeface="Cambria" panose="02040503050406030204"/>
              </a:defRPr>
            </a:pPr>
            <a:r>
              <a:rPr sz="1015" b="1">
                <a:solidFill>
                  <a:srgbClr val="17212B"/>
                </a:solidFill>
                <a:latin typeface="Cambria" panose="02040503050406030204"/>
                <a:ea typeface="Cambria" panose="02040503050406030204"/>
                <a:cs typeface="Cambria" panose="02040503050406030204"/>
              </a:rPr>
              <a:t>CẦN ĐIỀU CHỈNH?</a:t>
            </a:r>
            <a:endParaRPr sz="1015" b="1">
              <a:solidFill>
                <a:srgbClr val="17212B"/>
              </a:solidFill>
              <a:latin typeface="Cambria" panose="02040503050406030204"/>
              <a:ea typeface="Cambria" panose="02040503050406030204"/>
              <a:cs typeface="Cambria" panose="02040503050406030204"/>
            </a:endParaRPr>
          </a:p>
          <a:p>
            <a:pPr algn="ctr">
              <a:defRPr sz="1015" b="1">
                <a:solidFill>
                  <a:srgbClr val="17212B"/>
                </a:solidFill>
                <a:latin typeface="Cambria" panose="02040503050406030204"/>
                <a:ea typeface="Cambria" panose="02040503050406030204"/>
                <a:cs typeface="Cambria" panose="02040503050406030204"/>
              </a:defRPr>
            </a:pPr>
            <a:r>
              <a:rPr sz="1015" b="1">
                <a:solidFill>
                  <a:srgbClr val="17212B"/>
                </a:solidFill>
                <a:latin typeface="Cambria" panose="02040503050406030204"/>
                <a:ea typeface="Cambria" panose="02040503050406030204"/>
                <a:cs typeface="Cambria" panose="02040503050406030204"/>
              </a:rPr>
              <a:t>Có: ghi lý do, trình lại</a:t>
            </a:r>
            <a:endParaRPr sz="1015" b="1">
              <a:solidFill>
                <a:srgbClr val="17212B"/>
              </a:solidFill>
              <a:latin typeface="Cambria" panose="02040503050406030204"/>
              <a:ea typeface="Cambria" panose="02040503050406030204"/>
              <a:cs typeface="Cambria" panose="02040503050406030204"/>
            </a:endParaRPr>
          </a:p>
        </p:txBody>
      </p:sp>
      <p:sp>
        <p:nvSpPr>
          <p:cNvPr id="14" name="Rounded Rectangle 13"/>
          <p:cNvSpPr>
            <a:spLocks noGrp="1"/>
          </p:cNvSpPr>
          <p:nvPr/>
        </p:nvSpPr>
        <p:spPr>
          <a:xfrm>
            <a:off x="800100" y="4933950"/>
            <a:ext cx="2895600" cy="685800"/>
          </a:xfrm>
          <a:prstGeom prst="roundRect">
            <a:avLst>
              <a:gd name="adj" fmla="val 11111"/>
            </a:avLst>
          </a:prstGeom>
          <a:solidFill>
            <a:srgbClr val="E8F2E2"/>
          </a:solidFill>
          <a:ln w="13335">
            <a:solidFill>
              <a:srgbClr val="006B35"/>
            </a:solidFill>
            <a:prstDash val="solid"/>
          </a:ln>
        </p:spPr>
        <p:txBody>
          <a:bodyPr wrap="square" lIns="66675" tIns="47625" rIns="66675" bIns="47625" anchor="ctr">
            <a:normAutofit/>
          </a:bodyPr>
          <a:lstStyle/>
          <a:p>
            <a:pPr algn="ctr">
              <a:defRPr sz="1165" b="1">
                <a:solidFill>
                  <a:srgbClr val="17212B"/>
                </a:solidFill>
                <a:latin typeface="Cambria" panose="02040503050406030204"/>
                <a:ea typeface="Cambria" panose="02040503050406030204"/>
                <a:cs typeface="Cambria" panose="02040503050406030204"/>
              </a:defRPr>
            </a:pPr>
            <a:r>
              <a:rPr sz="1165" b="1">
                <a:solidFill>
                  <a:srgbClr val="17212B"/>
                </a:solidFill>
                <a:latin typeface="Cambria" panose="02040503050406030204"/>
                <a:ea typeface="Cambria" panose="02040503050406030204"/>
                <a:cs typeface="Cambria" panose="02040503050406030204"/>
              </a:rPr>
              <a:t>Hoàn thành hoặc quyết toán kế hoạch</a:t>
            </a:r>
            <a:endParaRPr sz="1165" b="1">
              <a:solidFill>
                <a:srgbClr val="17212B"/>
              </a:solidFill>
              <a:latin typeface="Cambria" panose="02040503050406030204"/>
              <a:ea typeface="Cambria" panose="02040503050406030204"/>
              <a:cs typeface="Cambria" panose="02040503050406030204"/>
            </a:endParaRPr>
          </a:p>
        </p:txBody>
      </p:sp>
      <p:cxnSp>
        <p:nvCxnSpPr>
          <p:cNvPr id="41" name="Straight Arrow Connector 40"/>
          <p:cNvCxnSpPr>
            <a:stCxn id="7" idx="2"/>
            <a:endCxn id="8" idx="0"/>
          </p:cNvCxnSpPr>
          <p:nvPr/>
        </p:nvCxnSpPr>
        <p:spPr>
          <a:xfrm>
            <a:off x="2247900" y="2190750"/>
            <a:ext cx="0" cy="457200"/>
          </a:xfrm>
          <a:prstGeom prst="straightConnector1">
            <a:avLst/>
          </a:prstGeom>
          <a:ln w="19050">
            <a:solidFill>
              <a:srgbClr val="5FAE3E"/>
            </a:solidFill>
            <a:prstDash val="solid"/>
            <a:tailEnd type="arrow" w="med" len="med"/>
          </a:ln>
        </p:spPr>
      </p:cxnSp>
      <p:cxnSp>
        <p:nvCxnSpPr>
          <p:cNvPr id="42" name="Elbow Connector 41"/>
          <p:cNvCxnSpPr>
            <a:stCxn id="8" idx="3"/>
            <a:endCxn id="9" idx="1"/>
          </p:cNvCxnSpPr>
          <p:nvPr/>
        </p:nvCxnSpPr>
        <p:spPr>
          <a:xfrm>
            <a:off x="3695700" y="2990850"/>
            <a:ext cx="952500" cy="3181350"/>
          </a:xfrm>
          <a:prstGeom prst="bentConnector4">
            <a:avLst/>
          </a:prstGeom>
          <a:ln w="19050">
            <a:solidFill>
              <a:srgbClr val="5FAE3E"/>
            </a:solidFill>
            <a:prstDash val="solid"/>
            <a:tailEnd type="arrow" w="med" len="med"/>
          </a:ln>
        </p:spPr>
      </p:cxnSp>
      <p:cxnSp>
        <p:nvCxnSpPr>
          <p:cNvPr id="43" name="Straight Arrow Connector 42"/>
          <p:cNvCxnSpPr>
            <a:stCxn id="9" idx="2"/>
            <a:endCxn id="10" idx="0"/>
          </p:cNvCxnSpPr>
          <p:nvPr/>
        </p:nvCxnSpPr>
        <p:spPr>
          <a:xfrm>
            <a:off x="6096000" y="3467100"/>
            <a:ext cx="0" cy="323850"/>
          </a:xfrm>
          <a:prstGeom prst="straightConnector1">
            <a:avLst/>
          </a:prstGeom>
          <a:ln w="19050">
            <a:solidFill>
              <a:srgbClr val="5FAE3E"/>
            </a:solidFill>
            <a:prstDash val="solid"/>
            <a:tailEnd type="arrow" w="med" len="med"/>
          </a:ln>
        </p:spPr>
      </p:cxnSp>
      <p:sp>
        <p:nvSpPr>
          <p:cNvPr id="18" name="Rectangle 17"/>
          <p:cNvSpPr>
            <a:spLocks noGrp="1"/>
          </p:cNvSpPr>
          <p:nvPr/>
        </p:nvSpPr>
        <p:spPr>
          <a:xfrm>
            <a:off x="6896100" y="3562350"/>
            <a:ext cx="666750" cy="209550"/>
          </a:xfrm>
          <a:prstGeom prst="rect">
            <a:avLst/>
          </a:prstGeom>
          <a:solidFill>
            <a:srgbClr val="FFFFFF"/>
          </a:solidFill>
          <a:ln w="0">
            <a:noFill/>
          </a:ln>
        </p:spPr>
        <p:txBody>
          <a:bodyPr wrap="square" lIns="38100" tIns="19050" rIns="38100" bIns="19050" anchor="ctr">
            <a:normAutofit/>
          </a:bodyPr>
          <a:lstStyle/>
          <a:p>
            <a:pPr algn="ctr">
              <a:lnSpc>
                <a:spcPct val="100000"/>
              </a:lnSpc>
              <a:buNone/>
              <a:defRPr sz="940" b="1" i="0">
                <a:solidFill>
                  <a:srgbClr val="59636E"/>
                </a:solidFill>
                <a:latin typeface="Cambria" panose="02040503050406030204"/>
                <a:ea typeface="Cambria" panose="02040503050406030204"/>
                <a:cs typeface="Cambria" panose="02040503050406030204"/>
              </a:defRPr>
            </a:pPr>
            <a:r>
              <a:rPr sz="940" b="1" i="0">
                <a:solidFill>
                  <a:srgbClr val="59636E"/>
                </a:solidFill>
                <a:latin typeface="Cambria" panose="02040503050406030204"/>
                <a:ea typeface="Cambria" panose="02040503050406030204"/>
                <a:cs typeface="Cambria" panose="02040503050406030204"/>
              </a:rPr>
              <a:t>Có</a:t>
            </a:r>
            <a:endParaRPr sz="940" b="1" i="0">
              <a:solidFill>
                <a:srgbClr val="59636E"/>
              </a:solidFill>
              <a:latin typeface="Cambria" panose="02040503050406030204"/>
              <a:ea typeface="Cambria" panose="02040503050406030204"/>
              <a:cs typeface="Cambria" panose="02040503050406030204"/>
            </a:endParaRPr>
          </a:p>
        </p:txBody>
      </p:sp>
      <p:cxnSp>
        <p:nvCxnSpPr>
          <p:cNvPr id="45" name="Elbow Connector 44"/>
          <p:cNvCxnSpPr>
            <a:stCxn id="10" idx="3"/>
            <a:endCxn id="11" idx="1"/>
          </p:cNvCxnSpPr>
          <p:nvPr/>
        </p:nvCxnSpPr>
        <p:spPr>
          <a:xfrm>
            <a:off x="7543800" y="4133850"/>
            <a:ext cx="952500" cy="2038350"/>
          </a:xfrm>
          <a:prstGeom prst="bentConnector4">
            <a:avLst/>
          </a:prstGeom>
          <a:ln w="19050">
            <a:solidFill>
              <a:srgbClr val="5FAE3E"/>
            </a:solidFill>
            <a:prstDash val="solid"/>
            <a:tailEnd type="arrow" w="med" len="med"/>
          </a:ln>
        </p:spPr>
      </p:cxnSp>
      <p:cxnSp>
        <p:nvCxnSpPr>
          <p:cNvPr id="46" name="Straight Arrow Connector 45"/>
          <p:cNvCxnSpPr>
            <a:stCxn id="11" idx="2"/>
            <a:endCxn id="12" idx="0"/>
          </p:cNvCxnSpPr>
          <p:nvPr/>
        </p:nvCxnSpPr>
        <p:spPr>
          <a:xfrm>
            <a:off x="9944100" y="4476750"/>
            <a:ext cx="0" cy="457200"/>
          </a:xfrm>
          <a:prstGeom prst="straightConnector1">
            <a:avLst/>
          </a:prstGeom>
          <a:ln w="19050">
            <a:solidFill>
              <a:srgbClr val="5FAE3E"/>
            </a:solidFill>
            <a:prstDash val="solid"/>
            <a:tailEnd type="arrow" w="med" len="med"/>
          </a:ln>
        </p:spPr>
      </p:cxnSp>
      <p:cxnSp>
        <p:nvCxnSpPr>
          <p:cNvPr id="47" name="Elbow Connector 46"/>
          <p:cNvCxnSpPr>
            <a:stCxn id="12" idx="1"/>
            <a:endCxn id="13" idx="3"/>
          </p:cNvCxnSpPr>
          <p:nvPr/>
        </p:nvCxnSpPr>
        <p:spPr>
          <a:xfrm flipH="1">
            <a:off x="7543800" y="5276850"/>
            <a:ext cx="952500" cy="895350"/>
          </a:xfrm>
          <a:prstGeom prst="bentConnector4">
            <a:avLst/>
          </a:prstGeom>
          <a:ln w="19050">
            <a:solidFill>
              <a:srgbClr val="5FAE3E"/>
            </a:solidFill>
            <a:prstDash val="solid"/>
            <a:tailEnd type="arrow" w="med" len="med"/>
          </a:ln>
        </p:spPr>
      </p:cxnSp>
      <p:cxnSp>
        <p:nvCxnSpPr>
          <p:cNvPr id="48" name="Elbow Connector 47"/>
          <p:cNvCxnSpPr>
            <a:stCxn id="13" idx="1"/>
            <a:endCxn id="14" idx="3"/>
          </p:cNvCxnSpPr>
          <p:nvPr/>
        </p:nvCxnSpPr>
        <p:spPr>
          <a:xfrm flipH="1" flipV="1">
            <a:off x="3695700" y="5276850"/>
            <a:ext cx="952500" cy="66675"/>
          </a:xfrm>
          <a:prstGeom prst="bentConnector3">
            <a:avLst>
              <a:gd name="adj1" fmla="val 50000"/>
            </a:avLst>
          </a:prstGeom>
          <a:ln w="19050">
            <a:solidFill>
              <a:srgbClr val="5FAE3E"/>
            </a:solidFill>
            <a:prstDash val="solid"/>
            <a:tailEnd type="arrow" w="med" len="med"/>
          </a:ln>
        </p:spPr>
      </p:cxnSp>
      <p:sp>
        <p:nvSpPr>
          <p:cNvPr id="23" name="Rectangle 22"/>
          <p:cNvSpPr>
            <a:spLocks noGrp="1"/>
          </p:cNvSpPr>
          <p:nvPr/>
        </p:nvSpPr>
        <p:spPr>
          <a:xfrm>
            <a:off x="3771900" y="5200650"/>
            <a:ext cx="666750" cy="209550"/>
          </a:xfrm>
          <a:prstGeom prst="rect">
            <a:avLst/>
          </a:prstGeom>
          <a:solidFill>
            <a:srgbClr val="FFFFFF"/>
          </a:solidFill>
          <a:ln w="0">
            <a:noFill/>
          </a:ln>
        </p:spPr>
        <p:txBody>
          <a:bodyPr wrap="square" lIns="38100" tIns="19050" rIns="38100" bIns="19050" anchor="ctr">
            <a:normAutofit/>
          </a:bodyPr>
          <a:lstStyle/>
          <a:p>
            <a:pPr algn="ctr">
              <a:lnSpc>
                <a:spcPct val="100000"/>
              </a:lnSpc>
              <a:buNone/>
              <a:defRPr sz="940" b="1" i="0">
                <a:solidFill>
                  <a:srgbClr val="59636E"/>
                </a:solidFill>
                <a:latin typeface="Cambria" panose="02040503050406030204"/>
                <a:ea typeface="Cambria" panose="02040503050406030204"/>
                <a:cs typeface="Cambria" panose="02040503050406030204"/>
              </a:defRPr>
            </a:pPr>
            <a:r>
              <a:rPr sz="940" b="1" i="0">
                <a:solidFill>
                  <a:srgbClr val="59636E"/>
                </a:solidFill>
                <a:latin typeface="Cambria" panose="02040503050406030204"/>
                <a:ea typeface="Cambria" panose="02040503050406030204"/>
                <a:cs typeface="Cambria" panose="02040503050406030204"/>
              </a:rPr>
              <a:t>Không</a:t>
            </a:r>
            <a:endParaRPr sz="940" b="1" i="0">
              <a:solidFill>
                <a:srgbClr val="59636E"/>
              </a:solidFill>
              <a:latin typeface="Cambria" panose="02040503050406030204"/>
              <a:ea typeface="Cambria" panose="02040503050406030204"/>
              <a:cs typeface="Cambria" panose="02040503050406030204"/>
            </a:endParaRPr>
          </a:p>
        </p:txBody>
      </p:sp>
      <p:sp>
        <p:nvSpPr>
          <p:cNvPr id="24" name="Rectangle 23"/>
          <p:cNvSpPr>
            <a:spLocks noGrp="1"/>
          </p:cNvSpPr>
          <p:nvPr/>
        </p:nvSpPr>
        <p:spPr>
          <a:xfrm>
            <a:off x="704850" y="6115050"/>
            <a:ext cx="10782300" cy="266700"/>
          </a:xfrm>
          <a:prstGeom prst="rect">
            <a:avLst/>
          </a:prstGeom>
          <a:noFill/>
          <a:ln w="0">
            <a:noFill/>
          </a:ln>
        </p:spPr>
        <p:txBody>
          <a:bodyPr wrap="square" lIns="38100" tIns="19050" rIns="38100" bIns="19050" anchor="ctr">
            <a:normAutofit/>
          </a:bodyPr>
          <a:lstStyle/>
          <a:p>
            <a:pPr algn="ctr">
              <a:lnSpc>
                <a:spcPct val="100000"/>
              </a:lnSpc>
              <a:buNone/>
              <a:defRPr sz="1015" b="0" i="1">
                <a:solidFill>
                  <a:srgbClr val="59636E"/>
                </a:solidFill>
                <a:latin typeface="Cambria" panose="02040503050406030204"/>
                <a:ea typeface="Cambria" panose="02040503050406030204"/>
                <a:cs typeface="Cambria" panose="02040503050406030204"/>
              </a:defRPr>
            </a:pPr>
            <a:r>
              <a:rPr sz="1015" b="0" i="1">
                <a:solidFill>
                  <a:srgbClr val="59636E"/>
                </a:solidFill>
                <a:latin typeface="Cambria" panose="02040503050406030204"/>
                <a:ea typeface="Cambria" panose="02040503050406030204"/>
                <a:cs typeface="Cambria" panose="02040503050406030204"/>
              </a:rPr>
              <a:t>Điều chỉnh kế hoạch có thể hủy các lệnh sinh tự động chưa bắt đầu và ghi audit thay đổi.</a:t>
            </a:r>
            <a:endParaRPr sz="1015" b="0" i="1">
              <a:solidFill>
                <a:srgbClr val="59636E"/>
              </a:solidFill>
              <a:latin typeface="Cambria" panose="02040503050406030204"/>
              <a:ea typeface="Cambria" panose="02040503050406030204"/>
              <a:cs typeface="Cambria" panose="02040503050406030204"/>
            </a:endParaRPr>
          </a:p>
        </p:txBody>
      </p:sp>
      <p:sp>
        <p:nvSpPr>
          <p:cNvPr id="25" name="Rectangle 24"/>
          <p:cNvSpPr>
            <a:spLocks noGrp="1"/>
          </p:cNvSpPr>
          <p:nvPr/>
        </p:nvSpPr>
        <p:spPr>
          <a:xfrm>
            <a:off x="266700" y="6534150"/>
            <a:ext cx="7429500" cy="190500"/>
          </a:xfrm>
          <a:prstGeom prst="rect">
            <a:avLst/>
          </a:prstGeom>
          <a:noFill/>
          <a:ln w="0">
            <a:noFill/>
          </a:ln>
        </p:spPr>
        <p:txBody>
          <a:bodyPr wrap="square" lIns="38100" tIns="19050" rIns="38100" bIns="19050" anchor="ctr">
            <a:normAutofit/>
          </a:bodyPr>
          <a:lstStyle/>
          <a:p>
            <a:pPr algn="l">
              <a:lnSpc>
                <a:spcPct val="100000"/>
              </a:lnSpc>
              <a:buNone/>
              <a:defRPr sz="825" b="0" i="1">
                <a:solidFill>
                  <a:srgbClr val="8A8F93"/>
                </a:solidFill>
                <a:latin typeface="Cambria" panose="02040503050406030204"/>
                <a:ea typeface="Cambria" panose="02040503050406030204"/>
                <a:cs typeface="Cambria" panose="02040503050406030204"/>
              </a:defRPr>
            </a:pPr>
            <a:r>
              <a:rPr sz="825" b="0" i="1">
                <a:solidFill>
                  <a:srgbClr val="8A8F93"/>
                </a:solidFill>
                <a:latin typeface="Cambria" panose="02040503050406030204"/>
                <a:ea typeface="Cambria" panose="02040503050406030204"/>
                <a:cs typeface="Cambria" panose="02040503050406030204"/>
              </a:rPr>
              <a:t>Giới thiệu phần mềm và tiến độ phát triển | THACO AGRI Fleet | 21/09/2026</a:t>
            </a:r>
            <a:endParaRPr sz="825" b="0" i="1">
              <a:solidFill>
                <a:srgbClr val="8A8F93"/>
              </a:solidFill>
              <a:latin typeface="Cambria" panose="02040503050406030204"/>
              <a:ea typeface="Cambria" panose="02040503050406030204"/>
              <a:cs typeface="Cambria" panose="02040503050406030204"/>
            </a:endParaRPr>
          </a:p>
        </p:txBody>
      </p:sp>
      <p:sp>
        <p:nvSpPr>
          <p:cNvPr id="26" name="Rectangle 25"/>
          <p:cNvSpPr>
            <a:spLocks noGrp="1"/>
          </p:cNvSpPr>
          <p:nvPr/>
        </p:nvSpPr>
        <p:spPr>
          <a:xfrm>
            <a:off x="11658600" y="6534150"/>
            <a:ext cx="228600" cy="190500"/>
          </a:xfrm>
          <a:prstGeom prst="rect">
            <a:avLst/>
          </a:prstGeom>
          <a:noFill/>
          <a:ln w="0">
            <a:noFill/>
          </a:ln>
        </p:spPr>
        <p:txBody>
          <a:bodyPr wrap="square" lIns="38100" tIns="19050" rIns="38100" bIns="19050" anchor="ctr">
            <a:normAutofit/>
          </a:bodyPr>
          <a:lstStyle/>
          <a:p>
            <a:pPr algn="r">
              <a:lnSpc>
                <a:spcPct val="100000"/>
              </a:lnSpc>
              <a:buNone/>
              <a:defRPr sz="825" b="0" i="0">
                <a:solidFill>
                  <a:srgbClr val="8A8F93"/>
                </a:solidFill>
                <a:latin typeface="Cambria" panose="02040503050406030204"/>
                <a:ea typeface="Cambria" panose="02040503050406030204"/>
                <a:cs typeface="Cambria" panose="02040503050406030204"/>
              </a:defRPr>
            </a:pPr>
            <a:r>
              <a:rPr sz="825" b="0" i="0">
                <a:solidFill>
                  <a:srgbClr val="8A8F93"/>
                </a:solidFill>
                <a:latin typeface="Cambria" panose="02040503050406030204"/>
                <a:ea typeface="Cambria" panose="02040503050406030204"/>
                <a:cs typeface="Cambria" panose="02040503050406030204"/>
              </a:rPr>
              <a:t>12</a:t>
            </a:r>
            <a:endParaRPr sz="825" b="0" i="0">
              <a:solidFill>
                <a:srgbClr val="8A8F93"/>
              </a:solidFill>
              <a:latin typeface="Cambria" panose="02040503050406030204"/>
              <a:ea typeface="Cambria" panose="02040503050406030204"/>
              <a:cs typeface="Cambria" panose="0204050305040603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 name="slide-title"/>
          <p:cNvSpPr>
            <a:spLocks noGrp="1"/>
          </p:cNvSpPr>
          <p:nvPr/>
        </p:nvSpPr>
        <p:spPr>
          <a:xfrm>
            <a:off x="2571750" y="142875"/>
            <a:ext cx="9191625" cy="590550"/>
          </a:xfrm>
          <a:prstGeom prst="rect">
            <a:avLst/>
          </a:prstGeom>
          <a:noFill/>
          <a:ln w="0">
            <a:noFill/>
          </a:ln>
        </p:spPr>
        <p:txBody>
          <a:bodyPr wrap="square" lIns="38100" tIns="19050" rIns="38100" bIns="19050" anchor="ctr">
            <a:normAutofit/>
          </a:bodyPr>
          <a:lstStyle/>
          <a:p>
            <a:pPr algn="ctr">
              <a:lnSpc>
                <a:spcPct val="100000"/>
              </a:lnSpc>
              <a:buNone/>
              <a:defRPr sz="2100" b="1" i="0">
                <a:solidFill>
                  <a:srgbClr val="E00000"/>
                </a:solidFill>
                <a:latin typeface="Cambria" panose="02040503050406030204"/>
                <a:ea typeface="Cambria" panose="02040503050406030204"/>
                <a:cs typeface="Cambria" panose="02040503050406030204"/>
              </a:defRPr>
            </a:pPr>
            <a:r>
              <a:rPr sz="2100" b="1" i="0">
                <a:solidFill>
                  <a:srgbClr val="E00000"/>
                </a:solidFill>
                <a:latin typeface="Cambria" panose="02040503050406030204"/>
                <a:ea typeface="Cambria" panose="02040503050406030204"/>
                <a:cs typeface="Cambria" panose="02040503050406030204"/>
              </a:rPr>
              <a:t>TẠO LỆNH VÀ CHUYỂN LỆNH ĐẾN TÀI XẾ</a:t>
            </a:r>
            <a:endParaRPr sz="2100" b="1" i="0">
              <a:solidFill>
                <a:srgbClr val="E00000"/>
              </a:solidFill>
              <a:latin typeface="Cambria" panose="02040503050406030204"/>
              <a:ea typeface="Cambria" panose="02040503050406030204"/>
              <a:cs typeface="Cambria" panose="02040503050406030204"/>
            </a:endParaRPr>
          </a:p>
        </p:txBody>
      </p:sp>
      <p:sp>
        <p:nvSpPr>
          <p:cNvPr id="2" name="Rectangle 1"/>
          <p:cNvSpPr>
            <a:spLocks noGrp="1"/>
          </p:cNvSpPr>
          <p:nvPr/>
        </p:nvSpPr>
        <p:spPr>
          <a:xfrm>
            <a:off x="323850" y="895350"/>
            <a:ext cx="3848100" cy="400050"/>
          </a:xfrm>
          <a:prstGeom prst="rect">
            <a:avLst/>
          </a:prstGeom>
          <a:solidFill>
            <a:srgbClr val="F3F8F0"/>
          </a:solidFill>
          <a:ln w="9525">
            <a:solidFill>
              <a:srgbClr val="5FAE3E"/>
            </a:solidFill>
          </a:ln>
        </p:spPr>
        <p:txBody>
          <a:bodyPr wrap="square" lIns="38100" tIns="19050" rIns="38100" bIns="19050" anchor="ctr">
            <a:normAutofit/>
          </a:bodyPr>
          <a:lstStyle/>
          <a:p>
            <a:pPr algn="ctr">
              <a:lnSpc>
                <a:spcPct val="100000"/>
              </a:lnSpc>
              <a:buNone/>
              <a:defRPr sz="1275" b="1" i="0">
                <a:solidFill>
                  <a:srgbClr val="006B35"/>
                </a:solidFill>
                <a:latin typeface="Cambria" panose="02040503050406030204"/>
                <a:ea typeface="Cambria" panose="02040503050406030204"/>
                <a:cs typeface="Cambria" panose="02040503050406030204"/>
              </a:defRPr>
            </a:pPr>
            <a:r>
              <a:rPr sz="1275" b="1" i="0">
                <a:solidFill>
                  <a:srgbClr val="006B35"/>
                </a:solidFill>
                <a:latin typeface="Cambria" panose="02040503050406030204"/>
                <a:ea typeface="Cambria" panose="02040503050406030204"/>
                <a:cs typeface="Cambria" panose="02040503050406030204"/>
              </a:rPr>
              <a:t>ĐIỀU PHỐI</a:t>
            </a:r>
            <a:endParaRPr sz="1275" b="1" i="0">
              <a:solidFill>
                <a:srgbClr val="006B35"/>
              </a:solidFill>
              <a:latin typeface="Cambria" panose="02040503050406030204"/>
              <a:ea typeface="Cambria" panose="02040503050406030204"/>
              <a:cs typeface="Cambria" panose="02040503050406030204"/>
            </a:endParaRPr>
          </a:p>
        </p:txBody>
      </p:sp>
      <p:sp>
        <p:nvSpPr>
          <p:cNvPr id="3" name="Rectangle 2"/>
          <p:cNvSpPr>
            <a:spLocks noGrp="1"/>
          </p:cNvSpPr>
          <p:nvPr/>
        </p:nvSpPr>
        <p:spPr>
          <a:xfrm>
            <a:off x="4171950" y="895350"/>
            <a:ext cx="3848100" cy="400050"/>
          </a:xfrm>
          <a:prstGeom prst="rect">
            <a:avLst/>
          </a:prstGeom>
          <a:solidFill>
            <a:srgbClr val="F1F6FB"/>
          </a:solidFill>
          <a:ln w="9525">
            <a:solidFill>
              <a:srgbClr val="5FAE3E"/>
            </a:solidFill>
          </a:ln>
        </p:spPr>
        <p:txBody>
          <a:bodyPr wrap="square" lIns="38100" tIns="19050" rIns="38100" bIns="19050" anchor="ctr">
            <a:normAutofit/>
          </a:bodyPr>
          <a:lstStyle/>
          <a:p>
            <a:pPr algn="ctr">
              <a:lnSpc>
                <a:spcPct val="100000"/>
              </a:lnSpc>
              <a:buNone/>
              <a:defRPr sz="1275" b="1" i="0">
                <a:solidFill>
                  <a:srgbClr val="075AA7"/>
                </a:solidFill>
                <a:latin typeface="Cambria" panose="02040503050406030204"/>
                <a:ea typeface="Cambria" panose="02040503050406030204"/>
                <a:cs typeface="Cambria" panose="02040503050406030204"/>
              </a:defRPr>
            </a:pPr>
            <a:r>
              <a:rPr sz="1275" b="1" i="0">
                <a:solidFill>
                  <a:srgbClr val="075AA7"/>
                </a:solidFill>
                <a:latin typeface="Cambria" panose="02040503050406030204"/>
                <a:ea typeface="Cambria" panose="02040503050406030204"/>
                <a:cs typeface="Cambria" panose="02040503050406030204"/>
              </a:rPr>
              <a:t>BACKEND</a:t>
            </a:r>
            <a:endParaRPr sz="1275" b="1" i="0">
              <a:solidFill>
                <a:srgbClr val="075AA7"/>
              </a:solidFill>
              <a:latin typeface="Cambria" panose="02040503050406030204"/>
              <a:ea typeface="Cambria" panose="02040503050406030204"/>
              <a:cs typeface="Cambria" panose="02040503050406030204"/>
            </a:endParaRPr>
          </a:p>
        </p:txBody>
      </p:sp>
      <p:sp>
        <p:nvSpPr>
          <p:cNvPr id="4" name="Rectangle 3"/>
          <p:cNvSpPr>
            <a:spLocks noGrp="1"/>
          </p:cNvSpPr>
          <p:nvPr/>
        </p:nvSpPr>
        <p:spPr>
          <a:xfrm>
            <a:off x="4171950" y="1295400"/>
            <a:ext cx="14288" cy="4762500"/>
          </a:xfrm>
          <a:prstGeom prst="rect">
            <a:avLst/>
          </a:prstGeom>
          <a:solidFill>
            <a:srgbClr val="5FAE3E"/>
          </a:solidFill>
          <a:ln w="0">
            <a:solidFill>
              <a:srgbClr val="5FAE3E"/>
            </a:solidFill>
          </a:ln>
        </p:spPr>
      </p:sp>
      <p:sp>
        <p:nvSpPr>
          <p:cNvPr id="5" name="Rectangle 4"/>
          <p:cNvSpPr>
            <a:spLocks noGrp="1"/>
          </p:cNvSpPr>
          <p:nvPr/>
        </p:nvSpPr>
        <p:spPr>
          <a:xfrm>
            <a:off x="8020050" y="895350"/>
            <a:ext cx="3848100" cy="400050"/>
          </a:xfrm>
          <a:prstGeom prst="rect">
            <a:avLst/>
          </a:prstGeom>
          <a:solidFill>
            <a:srgbClr val="F3F8F0"/>
          </a:solidFill>
          <a:ln w="9525">
            <a:solidFill>
              <a:srgbClr val="5FAE3E"/>
            </a:solidFill>
          </a:ln>
        </p:spPr>
        <p:txBody>
          <a:bodyPr wrap="square" lIns="38100" tIns="19050" rIns="38100" bIns="19050" anchor="ctr">
            <a:normAutofit/>
          </a:bodyPr>
          <a:lstStyle/>
          <a:p>
            <a:pPr algn="ctr">
              <a:lnSpc>
                <a:spcPct val="100000"/>
              </a:lnSpc>
              <a:buNone/>
              <a:defRPr sz="1275" b="1" i="0">
                <a:solidFill>
                  <a:srgbClr val="006B35"/>
                </a:solidFill>
                <a:latin typeface="Cambria" panose="02040503050406030204"/>
                <a:ea typeface="Cambria" panose="02040503050406030204"/>
                <a:cs typeface="Cambria" panose="02040503050406030204"/>
              </a:defRPr>
            </a:pPr>
            <a:r>
              <a:rPr sz="1275" b="1" i="0">
                <a:solidFill>
                  <a:srgbClr val="006B35"/>
                </a:solidFill>
                <a:latin typeface="Cambria" panose="02040503050406030204"/>
                <a:ea typeface="Cambria" panose="02040503050406030204"/>
                <a:cs typeface="Cambria" panose="02040503050406030204"/>
              </a:rPr>
              <a:t>ỨNG DỤNG TÀI XẾ</a:t>
            </a:r>
            <a:endParaRPr sz="1275" b="1" i="0">
              <a:solidFill>
                <a:srgbClr val="006B35"/>
              </a:solidFill>
              <a:latin typeface="Cambria" panose="02040503050406030204"/>
              <a:ea typeface="Cambria" panose="02040503050406030204"/>
              <a:cs typeface="Cambria" panose="02040503050406030204"/>
            </a:endParaRPr>
          </a:p>
        </p:txBody>
      </p:sp>
      <p:sp>
        <p:nvSpPr>
          <p:cNvPr id="6" name="Rectangle 5"/>
          <p:cNvSpPr>
            <a:spLocks noGrp="1"/>
          </p:cNvSpPr>
          <p:nvPr/>
        </p:nvSpPr>
        <p:spPr>
          <a:xfrm>
            <a:off x="8020050" y="1295400"/>
            <a:ext cx="14288" cy="4762500"/>
          </a:xfrm>
          <a:prstGeom prst="rect">
            <a:avLst/>
          </a:prstGeom>
          <a:solidFill>
            <a:srgbClr val="5FAE3E"/>
          </a:solidFill>
          <a:ln w="0">
            <a:solidFill>
              <a:srgbClr val="5FAE3E"/>
            </a:solidFill>
          </a:ln>
        </p:spPr>
      </p:sp>
      <p:sp>
        <p:nvSpPr>
          <p:cNvPr id="7" name="Rounded Rectangle 6"/>
          <p:cNvSpPr>
            <a:spLocks noGrp="1"/>
          </p:cNvSpPr>
          <p:nvPr/>
        </p:nvSpPr>
        <p:spPr>
          <a:xfrm>
            <a:off x="800100" y="1504950"/>
            <a:ext cx="2895600" cy="685800"/>
          </a:xfrm>
          <a:prstGeom prst="roundRect">
            <a:avLst>
              <a:gd name="adj" fmla="val 11111"/>
            </a:avLst>
          </a:prstGeom>
          <a:solidFill>
            <a:srgbClr val="E8F2E2"/>
          </a:solidFill>
          <a:ln w="13335">
            <a:solidFill>
              <a:srgbClr val="006B35"/>
            </a:solidFill>
            <a:prstDash val="solid"/>
          </a:ln>
        </p:spPr>
        <p:txBody>
          <a:bodyPr wrap="square" lIns="66675" tIns="47625" rIns="66675" bIns="47625" anchor="ctr">
            <a:normAutofit/>
          </a:bodyPr>
          <a:lstStyle/>
          <a:p>
            <a:pPr algn="ctr">
              <a:defRPr sz="1165" b="1">
                <a:solidFill>
                  <a:srgbClr val="17212B"/>
                </a:solidFill>
                <a:latin typeface="Cambria" panose="02040503050406030204"/>
                <a:ea typeface="Cambria" panose="02040503050406030204"/>
                <a:cs typeface="Cambria" panose="02040503050406030204"/>
              </a:defRPr>
            </a:pPr>
            <a:r>
              <a:rPr sz="1165" b="1">
                <a:solidFill>
                  <a:srgbClr val="17212B"/>
                </a:solidFill>
                <a:latin typeface="Cambria" panose="02040503050406030204"/>
                <a:ea typeface="Cambria" panose="02040503050406030204"/>
                <a:cs typeface="Cambria" panose="02040503050406030204"/>
              </a:rPr>
              <a:t>Chọn đội, công việc, vị trí, ca và thời gian</a:t>
            </a:r>
            <a:endParaRPr sz="1165" b="1">
              <a:solidFill>
                <a:srgbClr val="17212B"/>
              </a:solidFill>
              <a:latin typeface="Cambria" panose="02040503050406030204"/>
              <a:ea typeface="Cambria" panose="02040503050406030204"/>
              <a:cs typeface="Cambria" panose="02040503050406030204"/>
            </a:endParaRPr>
          </a:p>
        </p:txBody>
      </p:sp>
      <p:sp>
        <p:nvSpPr>
          <p:cNvPr id="8" name="Rectangle 7"/>
          <p:cNvSpPr>
            <a:spLocks noGrp="1"/>
          </p:cNvSpPr>
          <p:nvPr/>
        </p:nvSpPr>
        <p:spPr>
          <a:xfrm>
            <a:off x="4648200" y="1504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GET preparation-context trả xe, tài xế, nông cụ và lý do khóa</a:t>
            </a:r>
            <a:endParaRPr sz="1165" b="0">
              <a:solidFill>
                <a:srgbClr val="17212B"/>
              </a:solidFill>
              <a:latin typeface="Cambria" panose="02040503050406030204"/>
              <a:ea typeface="Cambria" panose="02040503050406030204"/>
              <a:cs typeface="Cambria" panose="02040503050406030204"/>
            </a:endParaRPr>
          </a:p>
        </p:txBody>
      </p:sp>
      <p:sp>
        <p:nvSpPr>
          <p:cNvPr id="9" name="Rectangle 8"/>
          <p:cNvSpPr>
            <a:spLocks noGrp="1"/>
          </p:cNvSpPr>
          <p:nvPr/>
        </p:nvSpPr>
        <p:spPr>
          <a:xfrm>
            <a:off x="800100" y="2647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Chọn một xe, tài xế cố định hoặc lệnh mở</a:t>
            </a:r>
            <a:endParaRPr sz="1165" b="0">
              <a:solidFill>
                <a:srgbClr val="17212B"/>
              </a:solidFill>
              <a:latin typeface="Cambria" panose="02040503050406030204"/>
              <a:ea typeface="Cambria" panose="02040503050406030204"/>
              <a:cs typeface="Cambria" panose="02040503050406030204"/>
            </a:endParaRPr>
          </a:p>
        </p:txBody>
      </p:sp>
      <p:sp>
        <p:nvSpPr>
          <p:cNvPr id="10" name="Diamond 9"/>
          <p:cNvSpPr>
            <a:spLocks noGrp="1"/>
          </p:cNvSpPr>
          <p:nvPr/>
        </p:nvSpPr>
        <p:spPr>
          <a:xfrm>
            <a:off x="4648200" y="2647950"/>
            <a:ext cx="2895600" cy="819150"/>
          </a:xfrm>
          <a:prstGeom prst="diamond">
            <a:avLst/>
          </a:prstGeom>
          <a:solidFill>
            <a:srgbClr val="F8D1B0"/>
          </a:solidFill>
          <a:ln w="13335">
            <a:solidFill>
              <a:srgbClr val="006B35"/>
            </a:solidFill>
            <a:prstDash val="solid"/>
          </a:ln>
        </p:spPr>
        <p:txBody>
          <a:bodyPr wrap="square" lIns="66675" tIns="47625" rIns="66675" bIns="47625" anchor="ctr">
            <a:normAutofit fontScale="92499"/>
          </a:bodyPr>
          <a:lstStyle/>
          <a:p>
            <a:pPr algn="ctr">
              <a:defRPr sz="1165" b="1">
                <a:solidFill>
                  <a:srgbClr val="17212B"/>
                </a:solidFill>
                <a:latin typeface="Cambria" panose="02040503050406030204"/>
                <a:ea typeface="Cambria" panose="02040503050406030204"/>
                <a:cs typeface="Cambria" panose="02040503050406030204"/>
              </a:defRPr>
            </a:pPr>
            <a:r>
              <a:rPr sz="1165" b="1">
                <a:solidFill>
                  <a:srgbClr val="17212B"/>
                </a:solidFill>
                <a:latin typeface="Cambria" panose="02040503050406030204"/>
                <a:ea typeface="Cambria" panose="02040503050406030204"/>
                <a:cs typeface="Cambria" panose="02040503050406030204"/>
              </a:rPr>
              <a:t>NGUỒN LỰC HỢP LỆ?</a:t>
            </a:r>
            <a:endParaRPr sz="1165" b="1">
              <a:solidFill>
                <a:srgbClr val="17212B"/>
              </a:solidFill>
              <a:latin typeface="Cambria" panose="02040503050406030204"/>
              <a:ea typeface="Cambria" panose="02040503050406030204"/>
              <a:cs typeface="Cambria" panose="02040503050406030204"/>
            </a:endParaRPr>
          </a:p>
        </p:txBody>
      </p:sp>
      <p:sp>
        <p:nvSpPr>
          <p:cNvPr id="11" name="Rectangle 10"/>
          <p:cNvSpPr>
            <a:spLocks noGrp="1"/>
          </p:cNvSpPr>
          <p:nvPr/>
        </p:nvSpPr>
        <p:spPr>
          <a:xfrm>
            <a:off x="4648200" y="3790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ISSUE ghi DispatchOrder, WorkOrder, assignment, event và audit</a:t>
            </a:r>
            <a:endParaRPr sz="1165" b="0">
              <a:solidFill>
                <a:srgbClr val="17212B"/>
              </a:solidFill>
              <a:latin typeface="Cambria" panose="02040503050406030204"/>
              <a:ea typeface="Cambria" panose="02040503050406030204"/>
              <a:cs typeface="Cambria" panose="02040503050406030204"/>
            </a:endParaRPr>
          </a:p>
        </p:txBody>
      </p:sp>
      <p:sp>
        <p:nvSpPr>
          <p:cNvPr id="12" name="Rectangle 11"/>
          <p:cNvSpPr>
            <a:spLocks noGrp="1"/>
          </p:cNvSpPr>
          <p:nvPr/>
        </p:nvSpPr>
        <p:spPr>
          <a:xfrm>
            <a:off x="8496300" y="3790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GET /mobile/sync/pull, lưu SQLite, hiển thị Hôm nay và Tuần</a:t>
            </a:r>
            <a:endParaRPr sz="1165" b="0">
              <a:solidFill>
                <a:srgbClr val="17212B"/>
              </a:solidFill>
              <a:latin typeface="Cambria" panose="02040503050406030204"/>
              <a:ea typeface="Cambria" panose="02040503050406030204"/>
              <a:cs typeface="Cambria" panose="02040503050406030204"/>
            </a:endParaRPr>
          </a:p>
        </p:txBody>
      </p:sp>
      <p:sp>
        <p:nvSpPr>
          <p:cNvPr id="13" name="Rounded Rectangle 12"/>
          <p:cNvSpPr>
            <a:spLocks noGrp="1"/>
          </p:cNvSpPr>
          <p:nvPr/>
        </p:nvSpPr>
        <p:spPr>
          <a:xfrm>
            <a:off x="8496300" y="4933950"/>
            <a:ext cx="2895600" cy="685800"/>
          </a:xfrm>
          <a:prstGeom prst="roundRect">
            <a:avLst>
              <a:gd name="adj" fmla="val 11111"/>
            </a:avLst>
          </a:prstGeom>
          <a:solidFill>
            <a:srgbClr val="E8F2E2"/>
          </a:solidFill>
          <a:ln w="13335">
            <a:solidFill>
              <a:srgbClr val="006B35"/>
            </a:solidFill>
            <a:prstDash val="solid"/>
          </a:ln>
        </p:spPr>
        <p:txBody>
          <a:bodyPr wrap="square" lIns="66675" tIns="47625" rIns="66675" bIns="47625" anchor="ctr">
            <a:normAutofit/>
          </a:bodyPr>
          <a:lstStyle/>
          <a:p>
            <a:pPr algn="ctr">
              <a:defRPr sz="1165" b="1">
                <a:solidFill>
                  <a:srgbClr val="17212B"/>
                </a:solidFill>
                <a:latin typeface="Cambria" panose="02040503050406030204"/>
                <a:ea typeface="Cambria" panose="02040503050406030204"/>
                <a:cs typeface="Cambria" panose="02040503050406030204"/>
              </a:defRPr>
            </a:pPr>
            <a:r>
              <a:rPr sz="1165" b="1">
                <a:solidFill>
                  <a:srgbClr val="17212B"/>
                </a:solidFill>
                <a:latin typeface="Cambria" panose="02040503050406030204"/>
                <a:ea typeface="Cambria" panose="02040503050406030204"/>
                <a:cs typeface="Cambria" panose="02040503050406030204"/>
              </a:rPr>
              <a:t>Nhận nhiệm vụ, gửi ORDER_ACCEPTED khi có mạng</a:t>
            </a:r>
            <a:endParaRPr sz="1165" b="1">
              <a:solidFill>
                <a:srgbClr val="17212B"/>
              </a:solidFill>
              <a:latin typeface="Cambria" panose="02040503050406030204"/>
              <a:ea typeface="Cambria" panose="02040503050406030204"/>
              <a:cs typeface="Cambria" panose="02040503050406030204"/>
            </a:endParaRPr>
          </a:p>
        </p:txBody>
      </p:sp>
      <p:sp>
        <p:nvSpPr>
          <p:cNvPr id="14" name="Rectangle 13"/>
          <p:cNvSpPr>
            <a:spLocks noGrp="1"/>
          </p:cNvSpPr>
          <p:nvPr/>
        </p:nvSpPr>
        <p:spPr>
          <a:xfrm>
            <a:off x="800100" y="4933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Phân lại khi tài xế không thể nhận</a:t>
            </a:r>
            <a:endParaRPr sz="1165" b="0">
              <a:solidFill>
                <a:srgbClr val="17212B"/>
              </a:solidFill>
              <a:latin typeface="Cambria" panose="02040503050406030204"/>
              <a:ea typeface="Cambria" panose="02040503050406030204"/>
              <a:cs typeface="Cambria" panose="02040503050406030204"/>
            </a:endParaRPr>
          </a:p>
        </p:txBody>
      </p:sp>
      <p:cxnSp>
        <p:nvCxnSpPr>
          <p:cNvPr id="42" name="Elbow Connector 41"/>
          <p:cNvCxnSpPr>
            <a:stCxn id="7" idx="3"/>
            <a:endCxn id="8" idx="1"/>
          </p:cNvCxnSpPr>
          <p:nvPr/>
        </p:nvCxnSpPr>
        <p:spPr>
          <a:xfrm>
            <a:off x="3695700" y="1847850"/>
            <a:ext cx="952500" cy="4324350"/>
          </a:xfrm>
          <a:prstGeom prst="bentConnector4">
            <a:avLst/>
          </a:prstGeom>
          <a:ln w="19050">
            <a:solidFill>
              <a:srgbClr val="5FAE3E"/>
            </a:solidFill>
            <a:prstDash val="solid"/>
            <a:tailEnd type="arrow" w="med" len="med"/>
          </a:ln>
        </p:spPr>
      </p:cxnSp>
      <p:cxnSp>
        <p:nvCxnSpPr>
          <p:cNvPr id="43" name="Elbow Connector 42"/>
          <p:cNvCxnSpPr>
            <a:stCxn id="8" idx="1"/>
            <a:endCxn id="9" idx="3"/>
          </p:cNvCxnSpPr>
          <p:nvPr/>
        </p:nvCxnSpPr>
        <p:spPr>
          <a:xfrm flipH="1">
            <a:off x="3695700" y="1847850"/>
            <a:ext cx="952500" cy="4324350"/>
          </a:xfrm>
          <a:prstGeom prst="bentConnector4">
            <a:avLst/>
          </a:prstGeom>
          <a:ln w="19050">
            <a:solidFill>
              <a:srgbClr val="5FAE3E"/>
            </a:solidFill>
            <a:prstDash val="solid"/>
            <a:tailEnd type="arrow" w="med" len="med"/>
          </a:ln>
        </p:spPr>
      </p:cxnSp>
      <p:cxnSp>
        <p:nvCxnSpPr>
          <p:cNvPr id="44" name="Elbow Connector 43"/>
          <p:cNvCxnSpPr>
            <a:stCxn id="9" idx="3"/>
            <a:endCxn id="10" idx="1"/>
          </p:cNvCxnSpPr>
          <p:nvPr/>
        </p:nvCxnSpPr>
        <p:spPr>
          <a:xfrm>
            <a:off x="3695700" y="2990850"/>
            <a:ext cx="952500" cy="3181350"/>
          </a:xfrm>
          <a:prstGeom prst="bentConnector4">
            <a:avLst/>
          </a:prstGeom>
          <a:ln w="19050">
            <a:solidFill>
              <a:srgbClr val="5FAE3E"/>
            </a:solidFill>
            <a:prstDash val="solid"/>
            <a:tailEnd type="arrow" w="med" len="med"/>
          </a:ln>
        </p:spPr>
      </p:cxnSp>
      <p:cxnSp>
        <p:nvCxnSpPr>
          <p:cNvPr id="45" name="Straight Arrow Connector 44"/>
          <p:cNvCxnSpPr>
            <a:stCxn id="10" idx="2"/>
            <a:endCxn id="11" idx="0"/>
          </p:cNvCxnSpPr>
          <p:nvPr/>
        </p:nvCxnSpPr>
        <p:spPr>
          <a:xfrm>
            <a:off x="6096000" y="3467100"/>
            <a:ext cx="0" cy="323850"/>
          </a:xfrm>
          <a:prstGeom prst="straightConnector1">
            <a:avLst/>
          </a:prstGeom>
          <a:ln w="19050">
            <a:solidFill>
              <a:srgbClr val="5FAE3E"/>
            </a:solidFill>
            <a:prstDash val="solid"/>
            <a:tailEnd type="arrow" w="med" len="med"/>
          </a:ln>
        </p:spPr>
      </p:cxnSp>
      <p:sp>
        <p:nvSpPr>
          <p:cNvPr id="19" name="Rectangle 18"/>
          <p:cNvSpPr>
            <a:spLocks noGrp="1"/>
          </p:cNvSpPr>
          <p:nvPr/>
        </p:nvSpPr>
        <p:spPr>
          <a:xfrm>
            <a:off x="6858000" y="3619500"/>
            <a:ext cx="666750" cy="209550"/>
          </a:xfrm>
          <a:prstGeom prst="rect">
            <a:avLst/>
          </a:prstGeom>
          <a:solidFill>
            <a:srgbClr val="FFFFFF"/>
          </a:solidFill>
          <a:ln w="0">
            <a:noFill/>
          </a:ln>
        </p:spPr>
        <p:txBody>
          <a:bodyPr wrap="square" lIns="38100" tIns="19050" rIns="38100" bIns="19050" anchor="ctr">
            <a:normAutofit/>
          </a:bodyPr>
          <a:lstStyle/>
          <a:p>
            <a:pPr algn="ctr">
              <a:lnSpc>
                <a:spcPct val="100000"/>
              </a:lnSpc>
              <a:buNone/>
              <a:defRPr sz="940" b="1" i="0">
                <a:solidFill>
                  <a:srgbClr val="59636E"/>
                </a:solidFill>
                <a:latin typeface="Cambria" panose="02040503050406030204"/>
                <a:ea typeface="Cambria" panose="02040503050406030204"/>
                <a:cs typeface="Cambria" panose="02040503050406030204"/>
              </a:defRPr>
            </a:pPr>
            <a:r>
              <a:rPr sz="940" b="1" i="0">
                <a:solidFill>
                  <a:srgbClr val="59636E"/>
                </a:solidFill>
                <a:latin typeface="Cambria" panose="02040503050406030204"/>
                <a:ea typeface="Cambria" panose="02040503050406030204"/>
                <a:cs typeface="Cambria" panose="02040503050406030204"/>
              </a:rPr>
              <a:t>Có</a:t>
            </a:r>
            <a:endParaRPr sz="940" b="1" i="0">
              <a:solidFill>
                <a:srgbClr val="59636E"/>
              </a:solidFill>
              <a:latin typeface="Cambria" panose="02040503050406030204"/>
              <a:ea typeface="Cambria" panose="02040503050406030204"/>
              <a:cs typeface="Cambria" panose="02040503050406030204"/>
            </a:endParaRPr>
          </a:p>
        </p:txBody>
      </p:sp>
      <p:cxnSp>
        <p:nvCxnSpPr>
          <p:cNvPr id="47" name="Elbow Connector 46"/>
          <p:cNvCxnSpPr>
            <a:stCxn id="10" idx="1"/>
            <a:endCxn id="9" idx="3"/>
          </p:cNvCxnSpPr>
          <p:nvPr/>
        </p:nvCxnSpPr>
        <p:spPr>
          <a:xfrm flipH="1" flipV="1">
            <a:off x="3695700" y="2990850"/>
            <a:ext cx="952500" cy="66675"/>
          </a:xfrm>
          <a:prstGeom prst="bentConnector3">
            <a:avLst>
              <a:gd name="adj1" fmla="val 50000"/>
            </a:avLst>
          </a:prstGeom>
          <a:ln w="19050">
            <a:solidFill>
              <a:srgbClr val="5FAE3E"/>
            </a:solidFill>
            <a:prstDash val="dash"/>
            <a:tailEnd type="arrow" w="med" len="med"/>
          </a:ln>
        </p:spPr>
      </p:cxnSp>
      <p:sp>
        <p:nvSpPr>
          <p:cNvPr id="21" name="Rectangle 20"/>
          <p:cNvSpPr>
            <a:spLocks noGrp="1"/>
          </p:cNvSpPr>
          <p:nvPr/>
        </p:nvSpPr>
        <p:spPr>
          <a:xfrm>
            <a:off x="3800475" y="2990850"/>
            <a:ext cx="666750" cy="209550"/>
          </a:xfrm>
          <a:prstGeom prst="rect">
            <a:avLst/>
          </a:prstGeom>
          <a:solidFill>
            <a:srgbClr val="FFFFFF"/>
          </a:solidFill>
          <a:ln w="0">
            <a:noFill/>
          </a:ln>
        </p:spPr>
        <p:txBody>
          <a:bodyPr wrap="square" lIns="38100" tIns="19050" rIns="38100" bIns="19050" anchor="ctr">
            <a:normAutofit/>
          </a:bodyPr>
          <a:lstStyle/>
          <a:p>
            <a:pPr algn="ctr">
              <a:lnSpc>
                <a:spcPct val="100000"/>
              </a:lnSpc>
              <a:buNone/>
              <a:defRPr sz="940" b="1" i="0">
                <a:solidFill>
                  <a:srgbClr val="59636E"/>
                </a:solidFill>
                <a:latin typeface="Cambria" panose="02040503050406030204"/>
                <a:ea typeface="Cambria" panose="02040503050406030204"/>
                <a:cs typeface="Cambria" panose="02040503050406030204"/>
              </a:defRPr>
            </a:pPr>
            <a:r>
              <a:rPr sz="940" b="1" i="0">
                <a:solidFill>
                  <a:srgbClr val="59636E"/>
                </a:solidFill>
                <a:latin typeface="Cambria" panose="02040503050406030204"/>
                <a:ea typeface="Cambria" panose="02040503050406030204"/>
                <a:cs typeface="Cambria" panose="02040503050406030204"/>
              </a:rPr>
              <a:t>Không</a:t>
            </a:r>
            <a:endParaRPr sz="940" b="1" i="0">
              <a:solidFill>
                <a:srgbClr val="59636E"/>
              </a:solidFill>
              <a:latin typeface="Cambria" panose="02040503050406030204"/>
              <a:ea typeface="Cambria" panose="02040503050406030204"/>
              <a:cs typeface="Cambria" panose="02040503050406030204"/>
            </a:endParaRPr>
          </a:p>
        </p:txBody>
      </p:sp>
      <p:cxnSp>
        <p:nvCxnSpPr>
          <p:cNvPr id="49" name="Straight Arrow Connector 48"/>
          <p:cNvCxnSpPr>
            <a:stCxn id="11" idx="3"/>
            <a:endCxn id="12" idx="1"/>
          </p:cNvCxnSpPr>
          <p:nvPr/>
        </p:nvCxnSpPr>
        <p:spPr>
          <a:xfrm>
            <a:off x="7543800" y="4133850"/>
            <a:ext cx="952500" cy="0"/>
          </a:xfrm>
          <a:prstGeom prst="straightConnector1">
            <a:avLst/>
          </a:prstGeom>
          <a:ln w="19050">
            <a:solidFill>
              <a:srgbClr val="5FAE3E"/>
            </a:solidFill>
            <a:prstDash val="solid"/>
            <a:tailEnd type="arrow" w="med" len="med"/>
          </a:ln>
        </p:spPr>
      </p:cxnSp>
      <p:cxnSp>
        <p:nvCxnSpPr>
          <p:cNvPr id="50" name="Straight Arrow Connector 49"/>
          <p:cNvCxnSpPr>
            <a:stCxn id="12" idx="2"/>
            <a:endCxn id="13" idx="0"/>
          </p:cNvCxnSpPr>
          <p:nvPr/>
        </p:nvCxnSpPr>
        <p:spPr>
          <a:xfrm>
            <a:off x="9944100" y="4476750"/>
            <a:ext cx="0" cy="457200"/>
          </a:xfrm>
          <a:prstGeom prst="straightConnector1">
            <a:avLst/>
          </a:prstGeom>
          <a:ln w="19050">
            <a:solidFill>
              <a:srgbClr val="5FAE3E"/>
            </a:solidFill>
            <a:prstDash val="solid"/>
            <a:tailEnd type="arrow" w="med" len="med"/>
          </a:ln>
        </p:spPr>
      </p:cxnSp>
      <p:cxnSp>
        <p:nvCxnSpPr>
          <p:cNvPr id="51" name="Straight Arrow Connector 50"/>
          <p:cNvCxnSpPr>
            <a:stCxn id="13" idx="1"/>
            <a:endCxn id="14" idx="3"/>
          </p:cNvCxnSpPr>
          <p:nvPr/>
        </p:nvCxnSpPr>
        <p:spPr>
          <a:xfrm flipH="1">
            <a:off x="3695700" y="5276850"/>
            <a:ext cx="4800600" cy="0"/>
          </a:xfrm>
          <a:prstGeom prst="straightConnector1">
            <a:avLst/>
          </a:prstGeom>
          <a:ln w="19050">
            <a:solidFill>
              <a:srgbClr val="5FAE3E"/>
            </a:solidFill>
            <a:prstDash val="dash"/>
            <a:tailEnd type="arrow" w="med" len="med"/>
          </a:ln>
        </p:spPr>
      </p:cxnSp>
      <p:sp>
        <p:nvSpPr>
          <p:cNvPr id="25" name="Rectangle 24"/>
          <p:cNvSpPr>
            <a:spLocks noGrp="1"/>
          </p:cNvSpPr>
          <p:nvPr/>
        </p:nvSpPr>
        <p:spPr>
          <a:xfrm>
            <a:off x="704850" y="6115050"/>
            <a:ext cx="10782300" cy="266700"/>
          </a:xfrm>
          <a:prstGeom prst="rect">
            <a:avLst/>
          </a:prstGeom>
          <a:noFill/>
          <a:ln w="0">
            <a:noFill/>
          </a:ln>
        </p:spPr>
        <p:txBody>
          <a:bodyPr wrap="square" lIns="38100" tIns="19050" rIns="38100" bIns="19050" anchor="ctr">
            <a:normAutofit/>
          </a:bodyPr>
          <a:lstStyle/>
          <a:p>
            <a:pPr algn="ctr">
              <a:lnSpc>
                <a:spcPct val="100000"/>
              </a:lnSpc>
              <a:buNone/>
              <a:defRPr sz="1015" b="0" i="1">
                <a:solidFill>
                  <a:srgbClr val="E00000"/>
                </a:solidFill>
                <a:latin typeface="Cambria" panose="02040503050406030204"/>
                <a:ea typeface="Cambria" panose="02040503050406030204"/>
                <a:cs typeface="Cambria" panose="02040503050406030204"/>
              </a:defRPr>
            </a:pPr>
            <a:r>
              <a:rPr sz="1015" b="0" i="1">
                <a:solidFill>
                  <a:srgbClr val="E00000"/>
                </a:solidFill>
                <a:latin typeface="Cambria" panose="02040503050406030204"/>
                <a:ea typeface="Cambria" panose="02040503050406030204"/>
                <a:cs typeface="Cambria" panose="02040503050406030204"/>
              </a:rPr>
              <a:t>Hiện trạng code: lệnh đến ứng dụng qua đồng bộ pull. Chưa thấy cơ chế push notification của hệ điều hành.</a:t>
            </a:r>
            <a:endParaRPr sz="1015" b="0" i="1">
              <a:solidFill>
                <a:srgbClr val="E00000"/>
              </a:solidFill>
              <a:latin typeface="Cambria" panose="02040503050406030204"/>
              <a:ea typeface="Cambria" panose="02040503050406030204"/>
              <a:cs typeface="Cambria" panose="02040503050406030204"/>
            </a:endParaRPr>
          </a:p>
        </p:txBody>
      </p:sp>
      <p:sp>
        <p:nvSpPr>
          <p:cNvPr id="26" name="Rectangle 25"/>
          <p:cNvSpPr>
            <a:spLocks noGrp="1"/>
          </p:cNvSpPr>
          <p:nvPr/>
        </p:nvSpPr>
        <p:spPr>
          <a:xfrm>
            <a:off x="266700" y="6534150"/>
            <a:ext cx="7429500" cy="190500"/>
          </a:xfrm>
          <a:prstGeom prst="rect">
            <a:avLst/>
          </a:prstGeom>
          <a:noFill/>
          <a:ln w="0">
            <a:noFill/>
          </a:ln>
        </p:spPr>
        <p:txBody>
          <a:bodyPr wrap="square" lIns="38100" tIns="19050" rIns="38100" bIns="19050" anchor="ctr">
            <a:normAutofit/>
          </a:bodyPr>
          <a:lstStyle/>
          <a:p>
            <a:pPr algn="l">
              <a:lnSpc>
                <a:spcPct val="100000"/>
              </a:lnSpc>
              <a:buNone/>
              <a:defRPr sz="825" b="0" i="1">
                <a:solidFill>
                  <a:srgbClr val="8A8F93"/>
                </a:solidFill>
                <a:latin typeface="Cambria" panose="02040503050406030204"/>
                <a:ea typeface="Cambria" panose="02040503050406030204"/>
                <a:cs typeface="Cambria" panose="02040503050406030204"/>
              </a:defRPr>
            </a:pPr>
            <a:r>
              <a:rPr sz="825" b="0" i="1">
                <a:solidFill>
                  <a:srgbClr val="8A8F93"/>
                </a:solidFill>
                <a:latin typeface="Cambria" panose="02040503050406030204"/>
                <a:ea typeface="Cambria" panose="02040503050406030204"/>
                <a:cs typeface="Cambria" panose="02040503050406030204"/>
              </a:rPr>
              <a:t>Giới thiệu phần mềm và tiến độ phát triển | THACO AGRI Fleet | 21/09/2026</a:t>
            </a:r>
            <a:endParaRPr sz="825" b="0" i="1">
              <a:solidFill>
                <a:srgbClr val="8A8F93"/>
              </a:solidFill>
              <a:latin typeface="Cambria" panose="02040503050406030204"/>
              <a:ea typeface="Cambria" panose="02040503050406030204"/>
              <a:cs typeface="Cambria" panose="02040503050406030204"/>
            </a:endParaRPr>
          </a:p>
        </p:txBody>
      </p:sp>
      <p:sp>
        <p:nvSpPr>
          <p:cNvPr id="27" name="Rectangle 26"/>
          <p:cNvSpPr>
            <a:spLocks noGrp="1"/>
          </p:cNvSpPr>
          <p:nvPr/>
        </p:nvSpPr>
        <p:spPr>
          <a:xfrm>
            <a:off x="11658600" y="6534150"/>
            <a:ext cx="228600" cy="190500"/>
          </a:xfrm>
          <a:prstGeom prst="rect">
            <a:avLst/>
          </a:prstGeom>
          <a:noFill/>
          <a:ln w="0">
            <a:noFill/>
          </a:ln>
        </p:spPr>
        <p:txBody>
          <a:bodyPr wrap="square" lIns="38100" tIns="19050" rIns="38100" bIns="19050" anchor="ctr">
            <a:normAutofit/>
          </a:bodyPr>
          <a:lstStyle/>
          <a:p>
            <a:pPr algn="r">
              <a:lnSpc>
                <a:spcPct val="100000"/>
              </a:lnSpc>
              <a:buNone/>
              <a:defRPr sz="825" b="0" i="0">
                <a:solidFill>
                  <a:srgbClr val="8A8F93"/>
                </a:solidFill>
                <a:latin typeface="Cambria" panose="02040503050406030204"/>
                <a:ea typeface="Cambria" panose="02040503050406030204"/>
                <a:cs typeface="Cambria" panose="02040503050406030204"/>
              </a:defRPr>
            </a:pPr>
            <a:r>
              <a:rPr sz="825" b="0" i="0">
                <a:solidFill>
                  <a:srgbClr val="8A8F93"/>
                </a:solidFill>
                <a:latin typeface="Cambria" panose="02040503050406030204"/>
                <a:ea typeface="Cambria" panose="02040503050406030204"/>
                <a:cs typeface="Cambria" panose="02040503050406030204"/>
              </a:rPr>
              <a:t>13</a:t>
            </a:r>
            <a:endParaRPr sz="825" b="0" i="0">
              <a:solidFill>
                <a:srgbClr val="8A8F93"/>
              </a:solidFill>
              <a:latin typeface="Cambria" panose="02040503050406030204"/>
              <a:ea typeface="Cambria" panose="02040503050406030204"/>
              <a:cs typeface="Cambria" panose="0204050305040603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 name="slide-title"/>
          <p:cNvSpPr>
            <a:spLocks noGrp="1"/>
          </p:cNvSpPr>
          <p:nvPr/>
        </p:nvSpPr>
        <p:spPr>
          <a:xfrm>
            <a:off x="2571750" y="142875"/>
            <a:ext cx="9191625" cy="590550"/>
          </a:xfrm>
          <a:prstGeom prst="rect">
            <a:avLst/>
          </a:prstGeom>
          <a:noFill/>
          <a:ln w="0">
            <a:noFill/>
          </a:ln>
        </p:spPr>
        <p:txBody>
          <a:bodyPr wrap="square" lIns="38100" tIns="19050" rIns="38100" bIns="19050" anchor="ctr">
            <a:normAutofit/>
          </a:bodyPr>
          <a:lstStyle/>
          <a:p>
            <a:pPr algn="ctr">
              <a:lnSpc>
                <a:spcPct val="100000"/>
              </a:lnSpc>
              <a:buNone/>
              <a:defRPr sz="2100" b="1" i="0">
                <a:solidFill>
                  <a:srgbClr val="E00000"/>
                </a:solidFill>
                <a:latin typeface="Cambria" panose="02040503050406030204"/>
                <a:ea typeface="Cambria" panose="02040503050406030204"/>
                <a:cs typeface="Cambria" panose="02040503050406030204"/>
              </a:defRPr>
            </a:pPr>
            <a:r>
              <a:rPr sz="2100" b="1" i="0">
                <a:solidFill>
                  <a:srgbClr val="E00000"/>
                </a:solidFill>
                <a:latin typeface="Cambria" panose="02040503050406030204"/>
                <a:ea typeface="Cambria" panose="02040503050406030204"/>
                <a:cs typeface="Cambria" panose="02040503050406030204"/>
              </a:rPr>
              <a:t>TÀI XẾ THỰC HIỆN VÀ NGHIỆM THU CÔNG VIỆC</a:t>
            </a:r>
            <a:endParaRPr sz="2100" b="1" i="0">
              <a:solidFill>
                <a:srgbClr val="E00000"/>
              </a:solidFill>
              <a:latin typeface="Cambria" panose="02040503050406030204"/>
              <a:ea typeface="Cambria" panose="02040503050406030204"/>
              <a:cs typeface="Cambria" panose="02040503050406030204"/>
            </a:endParaRPr>
          </a:p>
        </p:txBody>
      </p:sp>
      <p:sp>
        <p:nvSpPr>
          <p:cNvPr id="2" name="Rectangle 1"/>
          <p:cNvSpPr>
            <a:spLocks noGrp="1"/>
          </p:cNvSpPr>
          <p:nvPr/>
        </p:nvSpPr>
        <p:spPr>
          <a:xfrm>
            <a:off x="323850" y="895350"/>
            <a:ext cx="3848100" cy="400050"/>
          </a:xfrm>
          <a:prstGeom prst="rect">
            <a:avLst/>
          </a:prstGeom>
          <a:solidFill>
            <a:srgbClr val="F3F8F0"/>
          </a:solidFill>
          <a:ln w="9525">
            <a:solidFill>
              <a:srgbClr val="5FAE3E"/>
            </a:solidFill>
          </a:ln>
        </p:spPr>
        <p:txBody>
          <a:bodyPr wrap="square" lIns="38100" tIns="19050" rIns="38100" bIns="19050" anchor="ctr">
            <a:normAutofit/>
          </a:bodyPr>
          <a:lstStyle/>
          <a:p>
            <a:pPr algn="ctr">
              <a:lnSpc>
                <a:spcPct val="100000"/>
              </a:lnSpc>
              <a:buNone/>
              <a:defRPr sz="1275" b="1" i="0">
                <a:solidFill>
                  <a:srgbClr val="006B35"/>
                </a:solidFill>
                <a:latin typeface="Cambria" panose="02040503050406030204"/>
                <a:ea typeface="Cambria" panose="02040503050406030204"/>
                <a:cs typeface="Cambria" panose="02040503050406030204"/>
              </a:defRPr>
            </a:pPr>
            <a:r>
              <a:rPr sz="1275" b="1" i="0">
                <a:solidFill>
                  <a:srgbClr val="006B35"/>
                </a:solidFill>
                <a:latin typeface="Cambria" panose="02040503050406030204"/>
                <a:ea typeface="Cambria" panose="02040503050406030204"/>
                <a:cs typeface="Cambria" panose="02040503050406030204"/>
              </a:rPr>
              <a:t>TÀI XẾ</a:t>
            </a:r>
            <a:endParaRPr sz="1275" b="1" i="0">
              <a:solidFill>
                <a:srgbClr val="006B35"/>
              </a:solidFill>
              <a:latin typeface="Cambria" panose="02040503050406030204"/>
              <a:ea typeface="Cambria" panose="02040503050406030204"/>
              <a:cs typeface="Cambria" panose="02040503050406030204"/>
            </a:endParaRPr>
          </a:p>
        </p:txBody>
      </p:sp>
      <p:sp>
        <p:nvSpPr>
          <p:cNvPr id="3" name="Rectangle 2"/>
          <p:cNvSpPr>
            <a:spLocks noGrp="1"/>
          </p:cNvSpPr>
          <p:nvPr/>
        </p:nvSpPr>
        <p:spPr>
          <a:xfrm>
            <a:off x="4171950" y="895350"/>
            <a:ext cx="3848100" cy="400050"/>
          </a:xfrm>
          <a:prstGeom prst="rect">
            <a:avLst/>
          </a:prstGeom>
          <a:solidFill>
            <a:srgbClr val="F1F6FB"/>
          </a:solidFill>
          <a:ln w="9525">
            <a:solidFill>
              <a:srgbClr val="5FAE3E"/>
            </a:solidFill>
          </a:ln>
        </p:spPr>
        <p:txBody>
          <a:bodyPr wrap="square" lIns="38100" tIns="19050" rIns="38100" bIns="19050" anchor="ctr">
            <a:normAutofit/>
          </a:bodyPr>
          <a:lstStyle/>
          <a:p>
            <a:pPr algn="ctr">
              <a:lnSpc>
                <a:spcPct val="100000"/>
              </a:lnSpc>
              <a:buNone/>
              <a:defRPr sz="1275" b="1" i="0">
                <a:solidFill>
                  <a:srgbClr val="075AA7"/>
                </a:solidFill>
                <a:latin typeface="Cambria" panose="02040503050406030204"/>
                <a:ea typeface="Cambria" panose="02040503050406030204"/>
                <a:cs typeface="Cambria" panose="02040503050406030204"/>
              </a:defRPr>
            </a:pPr>
            <a:r>
              <a:rPr sz="1275" b="1" i="0">
                <a:solidFill>
                  <a:srgbClr val="075AA7"/>
                </a:solidFill>
                <a:latin typeface="Cambria" panose="02040503050406030204"/>
                <a:ea typeface="Cambria" panose="02040503050406030204"/>
                <a:cs typeface="Cambria" panose="02040503050406030204"/>
              </a:rPr>
              <a:t>HỆ THỐNG</a:t>
            </a:r>
            <a:endParaRPr sz="1275" b="1" i="0">
              <a:solidFill>
                <a:srgbClr val="075AA7"/>
              </a:solidFill>
              <a:latin typeface="Cambria" panose="02040503050406030204"/>
              <a:ea typeface="Cambria" panose="02040503050406030204"/>
              <a:cs typeface="Cambria" panose="02040503050406030204"/>
            </a:endParaRPr>
          </a:p>
        </p:txBody>
      </p:sp>
      <p:sp>
        <p:nvSpPr>
          <p:cNvPr id="4" name="Rectangle 3"/>
          <p:cNvSpPr>
            <a:spLocks noGrp="1"/>
          </p:cNvSpPr>
          <p:nvPr/>
        </p:nvSpPr>
        <p:spPr>
          <a:xfrm>
            <a:off x="4171950" y="1295400"/>
            <a:ext cx="14288" cy="4762500"/>
          </a:xfrm>
          <a:prstGeom prst="rect">
            <a:avLst/>
          </a:prstGeom>
          <a:solidFill>
            <a:srgbClr val="5FAE3E"/>
          </a:solidFill>
          <a:ln w="0">
            <a:solidFill>
              <a:srgbClr val="5FAE3E"/>
            </a:solidFill>
          </a:ln>
        </p:spPr>
      </p:sp>
      <p:sp>
        <p:nvSpPr>
          <p:cNvPr id="5" name="Rectangle 4"/>
          <p:cNvSpPr>
            <a:spLocks noGrp="1"/>
          </p:cNvSpPr>
          <p:nvPr/>
        </p:nvSpPr>
        <p:spPr>
          <a:xfrm>
            <a:off x="8020050" y="895350"/>
            <a:ext cx="3848100" cy="400050"/>
          </a:xfrm>
          <a:prstGeom prst="rect">
            <a:avLst/>
          </a:prstGeom>
          <a:solidFill>
            <a:srgbClr val="F3F8F0"/>
          </a:solidFill>
          <a:ln w="9525">
            <a:solidFill>
              <a:srgbClr val="5FAE3E"/>
            </a:solidFill>
          </a:ln>
        </p:spPr>
        <p:txBody>
          <a:bodyPr wrap="square" lIns="38100" tIns="19050" rIns="38100" bIns="19050" anchor="ctr">
            <a:normAutofit/>
          </a:bodyPr>
          <a:lstStyle/>
          <a:p>
            <a:pPr algn="ctr">
              <a:lnSpc>
                <a:spcPct val="100000"/>
              </a:lnSpc>
              <a:buNone/>
              <a:defRPr sz="1275" b="1" i="0">
                <a:solidFill>
                  <a:srgbClr val="006B35"/>
                </a:solidFill>
                <a:latin typeface="Cambria" panose="02040503050406030204"/>
                <a:ea typeface="Cambria" panose="02040503050406030204"/>
                <a:cs typeface="Cambria" panose="02040503050406030204"/>
              </a:defRPr>
            </a:pPr>
            <a:r>
              <a:rPr sz="1275" b="1" i="0">
                <a:solidFill>
                  <a:srgbClr val="006B35"/>
                </a:solidFill>
                <a:latin typeface="Cambria" panose="02040503050406030204"/>
                <a:ea typeface="Cambria" panose="02040503050406030204"/>
                <a:cs typeface="Cambria" panose="02040503050406030204"/>
              </a:rPr>
              <a:t>NGƯỜI NGHIỆM THU</a:t>
            </a:r>
            <a:endParaRPr sz="1275" b="1" i="0">
              <a:solidFill>
                <a:srgbClr val="006B35"/>
              </a:solidFill>
              <a:latin typeface="Cambria" panose="02040503050406030204"/>
              <a:ea typeface="Cambria" panose="02040503050406030204"/>
              <a:cs typeface="Cambria" panose="02040503050406030204"/>
            </a:endParaRPr>
          </a:p>
        </p:txBody>
      </p:sp>
      <p:sp>
        <p:nvSpPr>
          <p:cNvPr id="6" name="Rectangle 5"/>
          <p:cNvSpPr>
            <a:spLocks noGrp="1"/>
          </p:cNvSpPr>
          <p:nvPr/>
        </p:nvSpPr>
        <p:spPr>
          <a:xfrm>
            <a:off x="8020050" y="1295400"/>
            <a:ext cx="14288" cy="4762500"/>
          </a:xfrm>
          <a:prstGeom prst="rect">
            <a:avLst/>
          </a:prstGeom>
          <a:solidFill>
            <a:srgbClr val="5FAE3E"/>
          </a:solidFill>
          <a:ln w="0">
            <a:solidFill>
              <a:srgbClr val="5FAE3E"/>
            </a:solidFill>
          </a:ln>
        </p:spPr>
      </p:sp>
      <p:sp>
        <p:nvSpPr>
          <p:cNvPr id="7" name="Rounded Rectangle 6"/>
          <p:cNvSpPr>
            <a:spLocks noGrp="1"/>
          </p:cNvSpPr>
          <p:nvPr/>
        </p:nvSpPr>
        <p:spPr>
          <a:xfrm>
            <a:off x="800100" y="1504950"/>
            <a:ext cx="2895600" cy="685800"/>
          </a:xfrm>
          <a:prstGeom prst="roundRect">
            <a:avLst>
              <a:gd name="adj" fmla="val 11111"/>
            </a:avLst>
          </a:prstGeom>
          <a:solidFill>
            <a:srgbClr val="E8F2E2"/>
          </a:solidFill>
          <a:ln w="13335">
            <a:solidFill>
              <a:srgbClr val="006B35"/>
            </a:solidFill>
            <a:prstDash val="solid"/>
          </a:ln>
        </p:spPr>
        <p:txBody>
          <a:bodyPr wrap="square" lIns="66675" tIns="47625" rIns="66675" bIns="47625" anchor="ctr">
            <a:normAutofit/>
          </a:bodyPr>
          <a:lstStyle/>
          <a:p>
            <a:pPr algn="ctr">
              <a:defRPr sz="1165" b="1">
                <a:solidFill>
                  <a:srgbClr val="17212B"/>
                </a:solidFill>
                <a:latin typeface="Cambria" panose="02040503050406030204"/>
                <a:ea typeface="Cambria" panose="02040503050406030204"/>
                <a:cs typeface="Cambria" panose="02040503050406030204"/>
              </a:defRPr>
            </a:pPr>
            <a:r>
              <a:rPr sz="1165" b="1">
                <a:solidFill>
                  <a:srgbClr val="17212B"/>
                </a:solidFill>
                <a:latin typeface="Cambria" panose="02040503050406030204"/>
                <a:ea typeface="Cambria" panose="02040503050406030204"/>
                <a:cs typeface="Cambria" panose="02040503050406030204"/>
              </a:rPr>
              <a:t>Nhận lệnh và bắt đầu phiên làm việc</a:t>
            </a:r>
            <a:endParaRPr sz="1165" b="1">
              <a:solidFill>
                <a:srgbClr val="17212B"/>
              </a:solidFill>
              <a:latin typeface="Cambria" panose="02040503050406030204"/>
              <a:ea typeface="Cambria" panose="02040503050406030204"/>
              <a:cs typeface="Cambria" panose="02040503050406030204"/>
            </a:endParaRPr>
          </a:p>
        </p:txBody>
      </p:sp>
      <p:sp>
        <p:nvSpPr>
          <p:cNvPr id="8" name="Rectangle 7"/>
          <p:cNvSpPr>
            <a:spLocks noGrp="1"/>
          </p:cNvSpPr>
          <p:nvPr/>
        </p:nvSpPr>
        <p:spPr>
          <a:xfrm>
            <a:off x="800100" y="2647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Nhập ODO hoặc giờ máy, cập nhật tiến độ và ảnh</a:t>
            </a:r>
            <a:endParaRPr sz="1165" b="0">
              <a:solidFill>
                <a:srgbClr val="17212B"/>
              </a:solidFill>
              <a:latin typeface="Cambria" panose="02040503050406030204"/>
              <a:ea typeface="Cambria" panose="02040503050406030204"/>
              <a:cs typeface="Cambria" panose="02040503050406030204"/>
            </a:endParaRPr>
          </a:p>
        </p:txBody>
      </p:sp>
      <p:sp>
        <p:nvSpPr>
          <p:cNvPr id="9" name="Rectangle 8"/>
          <p:cNvSpPr>
            <a:spLocks noGrp="1"/>
          </p:cNvSpPr>
          <p:nvPr/>
        </p:nvSpPr>
        <p:spPr>
          <a:xfrm>
            <a:off x="4648200" y="2647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Lưu WorkSession, progress, break và event</a:t>
            </a:r>
            <a:endParaRPr sz="1165" b="0">
              <a:solidFill>
                <a:srgbClr val="17212B"/>
              </a:solidFill>
              <a:latin typeface="Cambria" panose="02040503050406030204"/>
              <a:ea typeface="Cambria" panose="02040503050406030204"/>
              <a:cs typeface="Cambria" panose="02040503050406030204"/>
            </a:endParaRPr>
          </a:p>
        </p:txBody>
      </p:sp>
      <p:sp>
        <p:nvSpPr>
          <p:cNvPr id="10" name="Rectangle 9"/>
          <p:cNvSpPr>
            <a:spLocks noGrp="1"/>
          </p:cNvSpPr>
          <p:nvPr/>
        </p:nvSpPr>
        <p:spPr>
          <a:xfrm>
            <a:off x="800100" y="3790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Kết thúc và gửi đề nghị nghiệm thu</a:t>
            </a:r>
            <a:endParaRPr sz="1165" b="0">
              <a:solidFill>
                <a:srgbClr val="17212B"/>
              </a:solidFill>
              <a:latin typeface="Cambria" panose="02040503050406030204"/>
              <a:ea typeface="Cambria" panose="02040503050406030204"/>
              <a:cs typeface="Cambria" panose="02040503050406030204"/>
            </a:endParaRPr>
          </a:p>
        </p:txBody>
      </p:sp>
      <p:sp>
        <p:nvSpPr>
          <p:cNvPr id="11" name="Rectangle 10"/>
          <p:cNvSpPr>
            <a:spLocks noGrp="1"/>
          </p:cNvSpPr>
          <p:nvPr/>
        </p:nvSpPr>
        <p:spPr>
          <a:xfrm>
            <a:off x="4648200" y="3790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Tạo WorkAcceptance PENDING</a:t>
            </a:r>
            <a:endParaRPr sz="1165" b="0">
              <a:solidFill>
                <a:srgbClr val="17212B"/>
              </a:solidFill>
              <a:latin typeface="Cambria" panose="02040503050406030204"/>
              <a:ea typeface="Cambria" panose="02040503050406030204"/>
              <a:cs typeface="Cambria" panose="02040503050406030204"/>
            </a:endParaRPr>
          </a:p>
        </p:txBody>
      </p:sp>
      <p:sp>
        <p:nvSpPr>
          <p:cNvPr id="12" name="Diamond 11"/>
          <p:cNvSpPr>
            <a:spLocks noGrp="1"/>
          </p:cNvSpPr>
          <p:nvPr/>
        </p:nvSpPr>
        <p:spPr>
          <a:xfrm>
            <a:off x="8496300" y="3790950"/>
            <a:ext cx="2895600" cy="819150"/>
          </a:xfrm>
          <a:prstGeom prst="diamond">
            <a:avLst/>
          </a:prstGeom>
          <a:solidFill>
            <a:srgbClr val="F8D1B0"/>
          </a:solidFill>
          <a:ln w="13335">
            <a:solidFill>
              <a:srgbClr val="006B35"/>
            </a:solidFill>
            <a:prstDash val="solid"/>
          </a:ln>
        </p:spPr>
        <p:txBody>
          <a:bodyPr wrap="square" lIns="66675" tIns="47625" rIns="66675" bIns="47625" anchor="ctr">
            <a:normAutofit/>
          </a:bodyPr>
          <a:lstStyle/>
          <a:p>
            <a:pPr algn="ctr">
              <a:defRPr sz="1165" b="1">
                <a:solidFill>
                  <a:srgbClr val="17212B"/>
                </a:solidFill>
                <a:latin typeface="Cambria" panose="02040503050406030204"/>
                <a:ea typeface="Cambria" panose="02040503050406030204"/>
                <a:cs typeface="Cambria" panose="02040503050406030204"/>
              </a:defRPr>
            </a:pPr>
            <a:r>
              <a:rPr sz="1165" b="1">
                <a:solidFill>
                  <a:srgbClr val="17212B"/>
                </a:solidFill>
                <a:latin typeface="Cambria" panose="02040503050406030204"/>
                <a:ea typeface="Cambria" panose="02040503050406030204"/>
                <a:cs typeface="Cambria" panose="02040503050406030204"/>
              </a:rPr>
              <a:t>KẾT QUẢ ĐẠT?</a:t>
            </a:r>
            <a:endParaRPr sz="1165" b="1">
              <a:solidFill>
                <a:srgbClr val="17212B"/>
              </a:solidFill>
              <a:latin typeface="Cambria" panose="02040503050406030204"/>
              <a:ea typeface="Cambria" panose="02040503050406030204"/>
              <a:cs typeface="Cambria" panose="02040503050406030204"/>
            </a:endParaRPr>
          </a:p>
        </p:txBody>
      </p:sp>
      <p:sp>
        <p:nvSpPr>
          <p:cNvPr id="13" name="Rounded Rectangle 12"/>
          <p:cNvSpPr>
            <a:spLocks noGrp="1"/>
          </p:cNvSpPr>
          <p:nvPr/>
        </p:nvSpPr>
        <p:spPr>
          <a:xfrm>
            <a:off x="8496300" y="4933950"/>
            <a:ext cx="2895600" cy="685800"/>
          </a:xfrm>
          <a:prstGeom prst="roundRect">
            <a:avLst>
              <a:gd name="adj" fmla="val 11111"/>
            </a:avLst>
          </a:prstGeom>
          <a:solidFill>
            <a:srgbClr val="E8F2E2"/>
          </a:solidFill>
          <a:ln w="13335">
            <a:solidFill>
              <a:srgbClr val="006B35"/>
            </a:solidFill>
            <a:prstDash val="solid"/>
          </a:ln>
        </p:spPr>
        <p:txBody>
          <a:bodyPr wrap="square" lIns="66675" tIns="47625" rIns="66675" bIns="47625" anchor="ctr">
            <a:normAutofit/>
          </a:bodyPr>
          <a:lstStyle/>
          <a:p>
            <a:pPr algn="ctr">
              <a:defRPr sz="1165" b="1">
                <a:solidFill>
                  <a:srgbClr val="17212B"/>
                </a:solidFill>
                <a:latin typeface="Cambria" panose="02040503050406030204"/>
                <a:ea typeface="Cambria" panose="02040503050406030204"/>
                <a:cs typeface="Cambria" panose="02040503050406030204"/>
              </a:defRPr>
            </a:pPr>
            <a:r>
              <a:rPr sz="1165" b="1">
                <a:solidFill>
                  <a:srgbClr val="17212B"/>
                </a:solidFill>
                <a:latin typeface="Cambria" panose="02040503050406030204"/>
                <a:ea typeface="Cambria" panose="02040503050406030204"/>
                <a:cs typeface="Cambria" panose="02040503050406030204"/>
              </a:rPr>
              <a:t>APPROVED, ACCEPTED, sau đó CLOSED</a:t>
            </a:r>
            <a:endParaRPr sz="1165" b="1">
              <a:solidFill>
                <a:srgbClr val="17212B"/>
              </a:solidFill>
              <a:latin typeface="Cambria" panose="02040503050406030204"/>
              <a:ea typeface="Cambria" panose="02040503050406030204"/>
              <a:cs typeface="Cambria" panose="02040503050406030204"/>
            </a:endParaRPr>
          </a:p>
        </p:txBody>
      </p:sp>
      <p:sp>
        <p:nvSpPr>
          <p:cNvPr id="14" name="Rectangle 13"/>
          <p:cNvSpPr>
            <a:spLocks noGrp="1"/>
          </p:cNvSpPr>
          <p:nvPr/>
        </p:nvSpPr>
        <p:spPr>
          <a:xfrm>
            <a:off x="4648200" y="4933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REWORK_REQUIRED, trả lại IN_PROGRESS</a:t>
            </a:r>
            <a:endParaRPr sz="1165" b="0">
              <a:solidFill>
                <a:srgbClr val="17212B"/>
              </a:solidFill>
              <a:latin typeface="Cambria" panose="02040503050406030204"/>
              <a:ea typeface="Cambria" panose="02040503050406030204"/>
              <a:cs typeface="Cambria" panose="02040503050406030204"/>
            </a:endParaRPr>
          </a:p>
        </p:txBody>
      </p:sp>
      <p:cxnSp>
        <p:nvCxnSpPr>
          <p:cNvPr id="42" name="Straight Arrow Connector 41"/>
          <p:cNvCxnSpPr>
            <a:stCxn id="7" idx="2"/>
            <a:endCxn id="8" idx="0"/>
          </p:cNvCxnSpPr>
          <p:nvPr/>
        </p:nvCxnSpPr>
        <p:spPr>
          <a:xfrm>
            <a:off x="2247900" y="2190750"/>
            <a:ext cx="0" cy="457200"/>
          </a:xfrm>
          <a:prstGeom prst="straightConnector1">
            <a:avLst/>
          </a:prstGeom>
          <a:ln w="19050">
            <a:solidFill>
              <a:srgbClr val="5FAE3E"/>
            </a:solidFill>
            <a:prstDash val="solid"/>
            <a:tailEnd type="arrow" w="med" len="med"/>
          </a:ln>
        </p:spPr>
      </p:cxnSp>
      <p:cxnSp>
        <p:nvCxnSpPr>
          <p:cNvPr id="43" name="Elbow Connector 42"/>
          <p:cNvCxnSpPr>
            <a:stCxn id="8" idx="3"/>
            <a:endCxn id="9" idx="1"/>
          </p:cNvCxnSpPr>
          <p:nvPr/>
        </p:nvCxnSpPr>
        <p:spPr>
          <a:xfrm>
            <a:off x="3695700" y="2990850"/>
            <a:ext cx="952500" cy="3181350"/>
          </a:xfrm>
          <a:prstGeom prst="bentConnector4">
            <a:avLst/>
          </a:prstGeom>
          <a:ln w="19050">
            <a:solidFill>
              <a:srgbClr val="5FAE3E"/>
            </a:solidFill>
            <a:prstDash val="solid"/>
            <a:tailEnd type="arrow" w="med" len="med"/>
          </a:ln>
        </p:spPr>
      </p:cxnSp>
      <p:cxnSp>
        <p:nvCxnSpPr>
          <p:cNvPr id="44" name="Elbow Connector 43"/>
          <p:cNvCxnSpPr>
            <a:stCxn id="9" idx="1"/>
            <a:endCxn id="10" idx="3"/>
          </p:cNvCxnSpPr>
          <p:nvPr/>
        </p:nvCxnSpPr>
        <p:spPr>
          <a:xfrm flipH="1">
            <a:off x="3695700" y="2990850"/>
            <a:ext cx="952500" cy="3181350"/>
          </a:xfrm>
          <a:prstGeom prst="bentConnector4">
            <a:avLst/>
          </a:prstGeom>
          <a:ln w="19050">
            <a:solidFill>
              <a:srgbClr val="5FAE3E"/>
            </a:solidFill>
            <a:prstDash val="solid"/>
            <a:tailEnd type="arrow" w="med" len="med"/>
          </a:ln>
        </p:spPr>
      </p:cxnSp>
      <p:cxnSp>
        <p:nvCxnSpPr>
          <p:cNvPr id="45" name="Elbow Connector 44"/>
          <p:cNvCxnSpPr>
            <a:stCxn id="10" idx="3"/>
            <a:endCxn id="11" idx="1"/>
          </p:cNvCxnSpPr>
          <p:nvPr/>
        </p:nvCxnSpPr>
        <p:spPr>
          <a:xfrm>
            <a:off x="3695700" y="4133850"/>
            <a:ext cx="952500" cy="2038350"/>
          </a:xfrm>
          <a:prstGeom prst="bentConnector4">
            <a:avLst/>
          </a:prstGeom>
          <a:ln w="19050">
            <a:solidFill>
              <a:srgbClr val="5FAE3E"/>
            </a:solidFill>
            <a:prstDash val="solid"/>
            <a:tailEnd type="arrow" w="med" len="med"/>
          </a:ln>
        </p:spPr>
      </p:cxnSp>
      <p:cxnSp>
        <p:nvCxnSpPr>
          <p:cNvPr id="46" name="Elbow Connector 45"/>
          <p:cNvCxnSpPr>
            <a:stCxn id="11" idx="3"/>
            <a:endCxn id="12" idx="1"/>
          </p:cNvCxnSpPr>
          <p:nvPr/>
        </p:nvCxnSpPr>
        <p:spPr>
          <a:xfrm>
            <a:off x="7543800" y="4133850"/>
            <a:ext cx="952500" cy="2038350"/>
          </a:xfrm>
          <a:prstGeom prst="bentConnector4">
            <a:avLst/>
          </a:prstGeom>
          <a:ln w="19050">
            <a:solidFill>
              <a:srgbClr val="5FAE3E"/>
            </a:solidFill>
            <a:prstDash val="solid"/>
            <a:tailEnd type="arrow" w="med" len="med"/>
          </a:ln>
        </p:spPr>
      </p:cxnSp>
      <p:cxnSp>
        <p:nvCxnSpPr>
          <p:cNvPr id="47" name="Straight Arrow Connector 46"/>
          <p:cNvCxnSpPr>
            <a:stCxn id="12" idx="2"/>
            <a:endCxn id="13" idx="0"/>
          </p:cNvCxnSpPr>
          <p:nvPr/>
        </p:nvCxnSpPr>
        <p:spPr>
          <a:xfrm>
            <a:off x="9944100" y="4610100"/>
            <a:ext cx="0" cy="323850"/>
          </a:xfrm>
          <a:prstGeom prst="straightConnector1">
            <a:avLst/>
          </a:prstGeom>
          <a:ln w="19050">
            <a:solidFill>
              <a:srgbClr val="5FAE3E"/>
            </a:solidFill>
            <a:prstDash val="solid"/>
            <a:tailEnd type="arrow" w="med" len="med"/>
          </a:ln>
        </p:spPr>
      </p:cxnSp>
      <p:sp>
        <p:nvSpPr>
          <p:cNvPr id="21" name="Rectangle 20"/>
          <p:cNvSpPr>
            <a:spLocks noGrp="1"/>
          </p:cNvSpPr>
          <p:nvPr/>
        </p:nvSpPr>
        <p:spPr>
          <a:xfrm>
            <a:off x="10572750" y="4762500"/>
            <a:ext cx="666750" cy="209550"/>
          </a:xfrm>
          <a:prstGeom prst="rect">
            <a:avLst/>
          </a:prstGeom>
          <a:solidFill>
            <a:srgbClr val="FFFFFF"/>
          </a:solidFill>
          <a:ln w="0">
            <a:noFill/>
          </a:ln>
        </p:spPr>
        <p:txBody>
          <a:bodyPr wrap="square" lIns="38100" tIns="19050" rIns="38100" bIns="19050" anchor="ctr">
            <a:normAutofit/>
          </a:bodyPr>
          <a:lstStyle/>
          <a:p>
            <a:pPr algn="ctr">
              <a:lnSpc>
                <a:spcPct val="100000"/>
              </a:lnSpc>
              <a:buNone/>
              <a:defRPr sz="940" b="1" i="0">
                <a:solidFill>
                  <a:srgbClr val="59636E"/>
                </a:solidFill>
                <a:latin typeface="Cambria" panose="02040503050406030204"/>
                <a:ea typeface="Cambria" panose="02040503050406030204"/>
                <a:cs typeface="Cambria" panose="02040503050406030204"/>
              </a:defRPr>
            </a:pPr>
            <a:r>
              <a:rPr sz="940" b="1" i="0">
                <a:solidFill>
                  <a:srgbClr val="59636E"/>
                </a:solidFill>
                <a:latin typeface="Cambria" panose="02040503050406030204"/>
                <a:ea typeface="Cambria" panose="02040503050406030204"/>
                <a:cs typeface="Cambria" panose="02040503050406030204"/>
              </a:rPr>
              <a:t>Đạt</a:t>
            </a:r>
            <a:endParaRPr sz="940" b="1" i="0">
              <a:solidFill>
                <a:srgbClr val="59636E"/>
              </a:solidFill>
              <a:latin typeface="Cambria" panose="02040503050406030204"/>
              <a:ea typeface="Cambria" panose="02040503050406030204"/>
              <a:cs typeface="Cambria" panose="02040503050406030204"/>
            </a:endParaRPr>
          </a:p>
        </p:txBody>
      </p:sp>
      <p:cxnSp>
        <p:nvCxnSpPr>
          <p:cNvPr id="49" name="Elbow Connector 48"/>
          <p:cNvCxnSpPr>
            <a:stCxn id="12" idx="1"/>
            <a:endCxn id="14" idx="3"/>
          </p:cNvCxnSpPr>
          <p:nvPr/>
        </p:nvCxnSpPr>
        <p:spPr>
          <a:xfrm flipH="1">
            <a:off x="7543800" y="4200525"/>
            <a:ext cx="952500" cy="1076325"/>
          </a:xfrm>
          <a:prstGeom prst="bentConnector3">
            <a:avLst>
              <a:gd name="adj1" fmla="val 50000"/>
            </a:avLst>
          </a:prstGeom>
          <a:ln w="19050">
            <a:solidFill>
              <a:srgbClr val="5FAE3E"/>
            </a:solidFill>
            <a:prstDash val="solid"/>
            <a:tailEnd type="arrow" w="med" len="med"/>
          </a:ln>
        </p:spPr>
      </p:cxnSp>
      <p:sp>
        <p:nvSpPr>
          <p:cNvPr id="23" name="Rectangle 22"/>
          <p:cNvSpPr>
            <a:spLocks noGrp="1"/>
          </p:cNvSpPr>
          <p:nvPr/>
        </p:nvSpPr>
        <p:spPr>
          <a:xfrm>
            <a:off x="7696200" y="4543425"/>
            <a:ext cx="666750" cy="209550"/>
          </a:xfrm>
          <a:prstGeom prst="rect">
            <a:avLst/>
          </a:prstGeom>
          <a:solidFill>
            <a:srgbClr val="FFFFFF"/>
          </a:solidFill>
          <a:ln w="0">
            <a:noFill/>
          </a:ln>
        </p:spPr>
        <p:txBody>
          <a:bodyPr wrap="square" lIns="38100" tIns="19050" rIns="38100" bIns="19050" anchor="ctr">
            <a:normAutofit/>
          </a:bodyPr>
          <a:lstStyle/>
          <a:p>
            <a:pPr algn="ctr">
              <a:lnSpc>
                <a:spcPct val="100000"/>
              </a:lnSpc>
              <a:buNone/>
              <a:defRPr sz="940" b="1" i="0">
                <a:solidFill>
                  <a:srgbClr val="59636E"/>
                </a:solidFill>
                <a:latin typeface="Cambria" panose="02040503050406030204"/>
                <a:ea typeface="Cambria" panose="02040503050406030204"/>
                <a:cs typeface="Cambria" panose="02040503050406030204"/>
              </a:defRPr>
            </a:pPr>
            <a:r>
              <a:rPr sz="940" b="1" i="0">
                <a:solidFill>
                  <a:srgbClr val="59636E"/>
                </a:solidFill>
                <a:latin typeface="Cambria" panose="02040503050406030204"/>
                <a:ea typeface="Cambria" panose="02040503050406030204"/>
                <a:cs typeface="Cambria" panose="02040503050406030204"/>
              </a:rPr>
              <a:t>Làm lại</a:t>
            </a:r>
            <a:endParaRPr sz="940" b="1" i="0">
              <a:solidFill>
                <a:srgbClr val="59636E"/>
              </a:solidFill>
              <a:latin typeface="Cambria" panose="02040503050406030204"/>
              <a:ea typeface="Cambria" panose="02040503050406030204"/>
              <a:cs typeface="Cambria" panose="02040503050406030204"/>
            </a:endParaRPr>
          </a:p>
        </p:txBody>
      </p:sp>
      <p:cxnSp>
        <p:nvCxnSpPr>
          <p:cNvPr id="51" name="Elbow Connector 50"/>
          <p:cNvCxnSpPr>
            <a:stCxn id="14" idx="1"/>
            <a:endCxn id="8" idx="3"/>
          </p:cNvCxnSpPr>
          <p:nvPr/>
        </p:nvCxnSpPr>
        <p:spPr>
          <a:xfrm flipH="1" flipV="1">
            <a:off x="3695700" y="2990850"/>
            <a:ext cx="952500" cy="2286000"/>
          </a:xfrm>
          <a:prstGeom prst="bentConnector3">
            <a:avLst>
              <a:gd name="adj1" fmla="val 50000"/>
            </a:avLst>
          </a:prstGeom>
          <a:ln w="19050">
            <a:solidFill>
              <a:srgbClr val="5FAE3E"/>
            </a:solidFill>
            <a:prstDash val="dash"/>
            <a:tailEnd type="arrow" w="med" len="med"/>
          </a:ln>
        </p:spPr>
      </p:cxnSp>
      <p:sp>
        <p:nvSpPr>
          <p:cNvPr id="25" name="Rectangle 24"/>
          <p:cNvSpPr>
            <a:spLocks noGrp="1"/>
          </p:cNvSpPr>
          <p:nvPr/>
        </p:nvSpPr>
        <p:spPr>
          <a:xfrm>
            <a:off x="704850" y="6115050"/>
            <a:ext cx="10782300" cy="266700"/>
          </a:xfrm>
          <a:prstGeom prst="rect">
            <a:avLst/>
          </a:prstGeom>
          <a:noFill/>
          <a:ln w="0">
            <a:noFill/>
          </a:ln>
        </p:spPr>
        <p:txBody>
          <a:bodyPr wrap="square" lIns="38100" tIns="19050" rIns="38100" bIns="19050" anchor="ctr">
            <a:normAutofit/>
          </a:bodyPr>
          <a:lstStyle/>
          <a:p>
            <a:pPr algn="ctr">
              <a:lnSpc>
                <a:spcPct val="100000"/>
              </a:lnSpc>
              <a:buNone/>
              <a:defRPr sz="1015" b="0" i="1">
                <a:solidFill>
                  <a:srgbClr val="59636E"/>
                </a:solidFill>
                <a:latin typeface="Cambria" panose="02040503050406030204"/>
                <a:ea typeface="Cambria" panose="02040503050406030204"/>
                <a:cs typeface="Cambria" panose="02040503050406030204"/>
              </a:defRPr>
            </a:pPr>
            <a:r>
              <a:rPr sz="1015" b="0" i="1">
                <a:solidFill>
                  <a:srgbClr val="59636E"/>
                </a:solidFill>
                <a:latin typeface="Cambria" panose="02040503050406030204"/>
                <a:ea typeface="Cambria" panose="02040503050406030204"/>
                <a:cs typeface="Cambria" panose="02040503050406030204"/>
              </a:rPr>
              <a:t>Nghiệm thu phải giữ người duyệt, thời điểm, minh chứng và lý do yêu cầu làm lại.</a:t>
            </a:r>
            <a:endParaRPr sz="1015" b="0" i="1">
              <a:solidFill>
                <a:srgbClr val="59636E"/>
              </a:solidFill>
              <a:latin typeface="Cambria" panose="02040503050406030204"/>
              <a:ea typeface="Cambria" panose="02040503050406030204"/>
              <a:cs typeface="Cambria" panose="02040503050406030204"/>
            </a:endParaRPr>
          </a:p>
        </p:txBody>
      </p:sp>
      <p:sp>
        <p:nvSpPr>
          <p:cNvPr id="26" name="Rectangle 25"/>
          <p:cNvSpPr>
            <a:spLocks noGrp="1"/>
          </p:cNvSpPr>
          <p:nvPr/>
        </p:nvSpPr>
        <p:spPr>
          <a:xfrm>
            <a:off x="266700" y="6534150"/>
            <a:ext cx="7429500" cy="190500"/>
          </a:xfrm>
          <a:prstGeom prst="rect">
            <a:avLst/>
          </a:prstGeom>
          <a:noFill/>
          <a:ln w="0">
            <a:noFill/>
          </a:ln>
        </p:spPr>
        <p:txBody>
          <a:bodyPr wrap="square" lIns="38100" tIns="19050" rIns="38100" bIns="19050" anchor="ctr">
            <a:normAutofit/>
          </a:bodyPr>
          <a:lstStyle/>
          <a:p>
            <a:pPr algn="l">
              <a:lnSpc>
                <a:spcPct val="100000"/>
              </a:lnSpc>
              <a:buNone/>
              <a:defRPr sz="825" b="0" i="1">
                <a:solidFill>
                  <a:srgbClr val="8A8F93"/>
                </a:solidFill>
                <a:latin typeface="Cambria" panose="02040503050406030204"/>
                <a:ea typeface="Cambria" panose="02040503050406030204"/>
                <a:cs typeface="Cambria" panose="02040503050406030204"/>
              </a:defRPr>
            </a:pPr>
            <a:r>
              <a:rPr sz="825" b="0" i="1">
                <a:solidFill>
                  <a:srgbClr val="8A8F93"/>
                </a:solidFill>
                <a:latin typeface="Cambria" panose="02040503050406030204"/>
                <a:ea typeface="Cambria" panose="02040503050406030204"/>
                <a:cs typeface="Cambria" panose="02040503050406030204"/>
              </a:rPr>
              <a:t>Giới thiệu phần mềm và tiến độ phát triển | THACO AGRI Fleet | 21/09/2026</a:t>
            </a:r>
            <a:endParaRPr sz="825" b="0" i="1">
              <a:solidFill>
                <a:srgbClr val="8A8F93"/>
              </a:solidFill>
              <a:latin typeface="Cambria" panose="02040503050406030204"/>
              <a:ea typeface="Cambria" panose="02040503050406030204"/>
              <a:cs typeface="Cambria" panose="02040503050406030204"/>
            </a:endParaRPr>
          </a:p>
        </p:txBody>
      </p:sp>
      <p:sp>
        <p:nvSpPr>
          <p:cNvPr id="27" name="Rectangle 26"/>
          <p:cNvSpPr>
            <a:spLocks noGrp="1"/>
          </p:cNvSpPr>
          <p:nvPr/>
        </p:nvSpPr>
        <p:spPr>
          <a:xfrm>
            <a:off x="11658600" y="6534150"/>
            <a:ext cx="228600" cy="190500"/>
          </a:xfrm>
          <a:prstGeom prst="rect">
            <a:avLst/>
          </a:prstGeom>
          <a:noFill/>
          <a:ln w="0">
            <a:noFill/>
          </a:ln>
        </p:spPr>
        <p:txBody>
          <a:bodyPr wrap="square" lIns="38100" tIns="19050" rIns="38100" bIns="19050" anchor="ctr">
            <a:normAutofit/>
          </a:bodyPr>
          <a:lstStyle/>
          <a:p>
            <a:pPr algn="r">
              <a:lnSpc>
                <a:spcPct val="100000"/>
              </a:lnSpc>
              <a:buNone/>
              <a:defRPr sz="825" b="0" i="0">
                <a:solidFill>
                  <a:srgbClr val="8A8F93"/>
                </a:solidFill>
                <a:latin typeface="Cambria" panose="02040503050406030204"/>
                <a:ea typeface="Cambria" panose="02040503050406030204"/>
                <a:cs typeface="Cambria" panose="02040503050406030204"/>
              </a:defRPr>
            </a:pPr>
            <a:r>
              <a:rPr sz="825" b="0" i="0">
                <a:solidFill>
                  <a:srgbClr val="8A8F93"/>
                </a:solidFill>
                <a:latin typeface="Cambria" panose="02040503050406030204"/>
                <a:ea typeface="Cambria" panose="02040503050406030204"/>
                <a:cs typeface="Cambria" panose="02040503050406030204"/>
              </a:rPr>
              <a:t>14</a:t>
            </a:r>
            <a:endParaRPr sz="825" b="0" i="0">
              <a:solidFill>
                <a:srgbClr val="8A8F93"/>
              </a:solidFill>
              <a:latin typeface="Cambria" panose="02040503050406030204"/>
              <a:ea typeface="Cambria" panose="02040503050406030204"/>
              <a:cs typeface="Cambria" panose="0204050305040603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 name="slide-title"/>
          <p:cNvSpPr>
            <a:spLocks noGrp="1"/>
          </p:cNvSpPr>
          <p:nvPr/>
        </p:nvSpPr>
        <p:spPr>
          <a:xfrm>
            <a:off x="2571750" y="142875"/>
            <a:ext cx="9191625" cy="590550"/>
          </a:xfrm>
          <a:prstGeom prst="rect">
            <a:avLst/>
          </a:prstGeom>
          <a:noFill/>
          <a:ln w="0">
            <a:noFill/>
          </a:ln>
        </p:spPr>
        <p:txBody>
          <a:bodyPr wrap="square" lIns="38100" tIns="19050" rIns="38100" bIns="19050" anchor="ctr">
            <a:normAutofit/>
          </a:bodyPr>
          <a:lstStyle/>
          <a:p>
            <a:pPr algn="ctr">
              <a:lnSpc>
                <a:spcPct val="100000"/>
              </a:lnSpc>
              <a:buNone/>
              <a:defRPr sz="2100" b="1" i="0">
                <a:solidFill>
                  <a:srgbClr val="E00000"/>
                </a:solidFill>
                <a:latin typeface="Cambria" panose="02040503050406030204"/>
                <a:ea typeface="Cambria" panose="02040503050406030204"/>
                <a:cs typeface="Cambria" panose="02040503050406030204"/>
              </a:defRPr>
            </a:pPr>
            <a:r>
              <a:rPr sz="2100" b="1" i="0">
                <a:solidFill>
                  <a:srgbClr val="E00000"/>
                </a:solidFill>
                <a:latin typeface="Cambria" panose="02040503050406030204"/>
                <a:ea typeface="Cambria" panose="02040503050406030204"/>
                <a:cs typeface="Cambria" panose="02040503050406030204"/>
              </a:rPr>
              <a:t>VẬN CHUYỂN HÀNG HÓA VÀ GIAO NHẬN</a:t>
            </a:r>
            <a:endParaRPr sz="2100" b="1" i="0">
              <a:solidFill>
                <a:srgbClr val="E00000"/>
              </a:solidFill>
              <a:latin typeface="Cambria" panose="02040503050406030204"/>
              <a:ea typeface="Cambria" panose="02040503050406030204"/>
              <a:cs typeface="Cambria" panose="02040503050406030204"/>
            </a:endParaRPr>
          </a:p>
        </p:txBody>
      </p:sp>
      <p:sp>
        <p:nvSpPr>
          <p:cNvPr id="2" name="Rectangle 1"/>
          <p:cNvSpPr>
            <a:spLocks noGrp="1"/>
          </p:cNvSpPr>
          <p:nvPr/>
        </p:nvSpPr>
        <p:spPr>
          <a:xfrm>
            <a:off x="323850" y="895350"/>
            <a:ext cx="3848100" cy="400050"/>
          </a:xfrm>
          <a:prstGeom prst="rect">
            <a:avLst/>
          </a:prstGeom>
          <a:solidFill>
            <a:srgbClr val="F3F8F0"/>
          </a:solidFill>
          <a:ln w="9525">
            <a:solidFill>
              <a:srgbClr val="5FAE3E"/>
            </a:solidFill>
          </a:ln>
        </p:spPr>
        <p:txBody>
          <a:bodyPr wrap="square" lIns="38100" tIns="19050" rIns="38100" bIns="19050" anchor="ctr">
            <a:normAutofit/>
          </a:bodyPr>
          <a:lstStyle/>
          <a:p>
            <a:pPr algn="ctr">
              <a:lnSpc>
                <a:spcPct val="100000"/>
              </a:lnSpc>
              <a:buNone/>
              <a:defRPr sz="1275" b="1" i="0">
                <a:solidFill>
                  <a:srgbClr val="006B35"/>
                </a:solidFill>
                <a:latin typeface="Cambria" panose="02040503050406030204"/>
                <a:ea typeface="Cambria" panose="02040503050406030204"/>
                <a:cs typeface="Cambria" panose="02040503050406030204"/>
              </a:defRPr>
            </a:pPr>
            <a:r>
              <a:rPr sz="1275" b="1" i="0">
                <a:solidFill>
                  <a:srgbClr val="006B35"/>
                </a:solidFill>
                <a:latin typeface="Cambria" panose="02040503050406030204"/>
                <a:ea typeface="Cambria" panose="02040503050406030204"/>
                <a:cs typeface="Cambria" panose="02040503050406030204"/>
              </a:rPr>
              <a:t>ĐIỀU PHỐI</a:t>
            </a:r>
            <a:endParaRPr sz="1275" b="1" i="0">
              <a:solidFill>
                <a:srgbClr val="006B35"/>
              </a:solidFill>
              <a:latin typeface="Cambria" panose="02040503050406030204"/>
              <a:ea typeface="Cambria" panose="02040503050406030204"/>
              <a:cs typeface="Cambria" panose="02040503050406030204"/>
            </a:endParaRPr>
          </a:p>
        </p:txBody>
      </p:sp>
      <p:sp>
        <p:nvSpPr>
          <p:cNvPr id="3" name="Rectangle 2"/>
          <p:cNvSpPr>
            <a:spLocks noGrp="1"/>
          </p:cNvSpPr>
          <p:nvPr/>
        </p:nvSpPr>
        <p:spPr>
          <a:xfrm>
            <a:off x="4171950" y="895350"/>
            <a:ext cx="3848100" cy="400050"/>
          </a:xfrm>
          <a:prstGeom prst="rect">
            <a:avLst/>
          </a:prstGeom>
          <a:solidFill>
            <a:srgbClr val="F1F6FB"/>
          </a:solidFill>
          <a:ln w="9525">
            <a:solidFill>
              <a:srgbClr val="5FAE3E"/>
            </a:solidFill>
          </a:ln>
        </p:spPr>
        <p:txBody>
          <a:bodyPr wrap="square" lIns="38100" tIns="19050" rIns="38100" bIns="19050" anchor="ctr">
            <a:normAutofit/>
          </a:bodyPr>
          <a:lstStyle/>
          <a:p>
            <a:pPr algn="ctr">
              <a:lnSpc>
                <a:spcPct val="100000"/>
              </a:lnSpc>
              <a:buNone/>
              <a:defRPr sz="1275" b="1" i="0">
                <a:solidFill>
                  <a:srgbClr val="075AA7"/>
                </a:solidFill>
                <a:latin typeface="Cambria" panose="02040503050406030204"/>
                <a:ea typeface="Cambria" panose="02040503050406030204"/>
                <a:cs typeface="Cambria" panose="02040503050406030204"/>
              </a:defRPr>
            </a:pPr>
            <a:r>
              <a:rPr sz="1275" b="1" i="0">
                <a:solidFill>
                  <a:srgbClr val="075AA7"/>
                </a:solidFill>
                <a:latin typeface="Cambria" panose="02040503050406030204"/>
                <a:ea typeface="Cambria" panose="02040503050406030204"/>
                <a:cs typeface="Cambria" panose="02040503050406030204"/>
              </a:rPr>
              <a:t>TÀI XẾ</a:t>
            </a:r>
            <a:endParaRPr sz="1275" b="1" i="0">
              <a:solidFill>
                <a:srgbClr val="075AA7"/>
              </a:solidFill>
              <a:latin typeface="Cambria" panose="02040503050406030204"/>
              <a:ea typeface="Cambria" panose="02040503050406030204"/>
              <a:cs typeface="Cambria" panose="02040503050406030204"/>
            </a:endParaRPr>
          </a:p>
        </p:txBody>
      </p:sp>
      <p:sp>
        <p:nvSpPr>
          <p:cNvPr id="4" name="Rectangle 3"/>
          <p:cNvSpPr>
            <a:spLocks noGrp="1"/>
          </p:cNvSpPr>
          <p:nvPr/>
        </p:nvSpPr>
        <p:spPr>
          <a:xfrm>
            <a:off x="4171950" y="1295400"/>
            <a:ext cx="14288" cy="4762500"/>
          </a:xfrm>
          <a:prstGeom prst="rect">
            <a:avLst/>
          </a:prstGeom>
          <a:solidFill>
            <a:srgbClr val="5FAE3E"/>
          </a:solidFill>
          <a:ln w="0">
            <a:solidFill>
              <a:srgbClr val="5FAE3E"/>
            </a:solidFill>
          </a:ln>
        </p:spPr>
      </p:sp>
      <p:sp>
        <p:nvSpPr>
          <p:cNvPr id="5" name="Rectangle 4"/>
          <p:cNvSpPr>
            <a:spLocks noGrp="1"/>
          </p:cNvSpPr>
          <p:nvPr/>
        </p:nvSpPr>
        <p:spPr>
          <a:xfrm>
            <a:off x="8020050" y="895350"/>
            <a:ext cx="3848100" cy="400050"/>
          </a:xfrm>
          <a:prstGeom prst="rect">
            <a:avLst/>
          </a:prstGeom>
          <a:solidFill>
            <a:srgbClr val="F3F8F0"/>
          </a:solidFill>
          <a:ln w="9525">
            <a:solidFill>
              <a:srgbClr val="5FAE3E"/>
            </a:solidFill>
          </a:ln>
        </p:spPr>
        <p:txBody>
          <a:bodyPr wrap="square" lIns="38100" tIns="19050" rIns="38100" bIns="19050" anchor="ctr">
            <a:normAutofit/>
          </a:bodyPr>
          <a:lstStyle/>
          <a:p>
            <a:pPr algn="ctr">
              <a:lnSpc>
                <a:spcPct val="100000"/>
              </a:lnSpc>
              <a:buNone/>
              <a:defRPr sz="1275" b="1" i="0">
                <a:solidFill>
                  <a:srgbClr val="006B35"/>
                </a:solidFill>
                <a:latin typeface="Cambria" panose="02040503050406030204"/>
                <a:ea typeface="Cambria" panose="02040503050406030204"/>
                <a:cs typeface="Cambria" panose="02040503050406030204"/>
              </a:defRPr>
            </a:pPr>
            <a:r>
              <a:rPr sz="1275" b="1" i="0">
                <a:solidFill>
                  <a:srgbClr val="006B35"/>
                </a:solidFill>
                <a:latin typeface="Cambria" panose="02040503050406030204"/>
                <a:ea typeface="Cambria" panose="02040503050406030204"/>
                <a:cs typeface="Cambria" panose="02040503050406030204"/>
              </a:rPr>
              <a:t>HỆ THỐNG VÀ NƠI NHẬN</a:t>
            </a:r>
            <a:endParaRPr sz="1275" b="1" i="0">
              <a:solidFill>
                <a:srgbClr val="006B35"/>
              </a:solidFill>
              <a:latin typeface="Cambria" panose="02040503050406030204"/>
              <a:ea typeface="Cambria" panose="02040503050406030204"/>
              <a:cs typeface="Cambria" panose="02040503050406030204"/>
            </a:endParaRPr>
          </a:p>
        </p:txBody>
      </p:sp>
      <p:sp>
        <p:nvSpPr>
          <p:cNvPr id="6" name="Rectangle 5"/>
          <p:cNvSpPr>
            <a:spLocks noGrp="1"/>
          </p:cNvSpPr>
          <p:nvPr/>
        </p:nvSpPr>
        <p:spPr>
          <a:xfrm>
            <a:off x="8020050" y="1295400"/>
            <a:ext cx="14288" cy="4762500"/>
          </a:xfrm>
          <a:prstGeom prst="rect">
            <a:avLst/>
          </a:prstGeom>
          <a:solidFill>
            <a:srgbClr val="5FAE3E"/>
          </a:solidFill>
          <a:ln w="0">
            <a:solidFill>
              <a:srgbClr val="5FAE3E"/>
            </a:solidFill>
          </a:ln>
        </p:spPr>
      </p:sp>
      <p:sp>
        <p:nvSpPr>
          <p:cNvPr id="7" name="Rounded Rectangle 6"/>
          <p:cNvSpPr>
            <a:spLocks noGrp="1"/>
          </p:cNvSpPr>
          <p:nvPr/>
        </p:nvSpPr>
        <p:spPr>
          <a:xfrm>
            <a:off x="800100" y="1504950"/>
            <a:ext cx="2895600" cy="685800"/>
          </a:xfrm>
          <a:prstGeom prst="roundRect">
            <a:avLst>
              <a:gd name="adj" fmla="val 11111"/>
            </a:avLst>
          </a:prstGeom>
          <a:solidFill>
            <a:srgbClr val="E8F2E2"/>
          </a:solidFill>
          <a:ln w="13335">
            <a:solidFill>
              <a:srgbClr val="006B35"/>
            </a:solidFill>
            <a:prstDash val="solid"/>
          </a:ln>
        </p:spPr>
        <p:txBody>
          <a:bodyPr wrap="square" lIns="66675" tIns="47625" rIns="66675" bIns="47625" anchor="ctr">
            <a:normAutofit/>
          </a:bodyPr>
          <a:lstStyle/>
          <a:p>
            <a:pPr algn="ctr">
              <a:defRPr sz="1165" b="1">
                <a:solidFill>
                  <a:srgbClr val="17212B"/>
                </a:solidFill>
                <a:latin typeface="Cambria" panose="02040503050406030204"/>
                <a:ea typeface="Cambria" panose="02040503050406030204"/>
                <a:cs typeface="Cambria" panose="02040503050406030204"/>
              </a:defRPr>
            </a:pPr>
            <a:r>
              <a:rPr sz="1165" b="1">
                <a:solidFill>
                  <a:srgbClr val="17212B"/>
                </a:solidFill>
                <a:latin typeface="Cambria" panose="02040503050406030204"/>
                <a:ea typeface="Cambria" panose="02040503050406030204"/>
                <a:cs typeface="Cambria" panose="02040503050406030204"/>
              </a:rPr>
              <a:t>Tạo vận đơn và ít nhất một dòng hàng</a:t>
            </a:r>
            <a:endParaRPr sz="1165" b="1">
              <a:solidFill>
                <a:srgbClr val="17212B"/>
              </a:solidFill>
              <a:latin typeface="Cambria" panose="02040503050406030204"/>
              <a:ea typeface="Cambria" panose="02040503050406030204"/>
              <a:cs typeface="Cambria" panose="02040503050406030204"/>
            </a:endParaRPr>
          </a:p>
        </p:txBody>
      </p:sp>
      <p:sp>
        <p:nvSpPr>
          <p:cNvPr id="8" name="Rectangle 7"/>
          <p:cNvSpPr>
            <a:spLocks noGrp="1"/>
          </p:cNvSpPr>
          <p:nvPr/>
        </p:nvSpPr>
        <p:spPr>
          <a:xfrm>
            <a:off x="800100" y="2647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Trình duyệt, phê duyệt và phân xe, tài xế</a:t>
            </a:r>
            <a:endParaRPr sz="1165" b="0">
              <a:solidFill>
                <a:srgbClr val="17212B"/>
              </a:solidFill>
              <a:latin typeface="Cambria" panose="02040503050406030204"/>
              <a:ea typeface="Cambria" panose="02040503050406030204"/>
              <a:cs typeface="Cambria" panose="02040503050406030204"/>
            </a:endParaRPr>
          </a:p>
        </p:txBody>
      </p:sp>
      <p:sp>
        <p:nvSpPr>
          <p:cNvPr id="9" name="Rectangle 8"/>
          <p:cNvSpPr>
            <a:spLocks noGrp="1"/>
          </p:cNvSpPr>
          <p:nvPr/>
        </p:nvSpPr>
        <p:spPr>
          <a:xfrm>
            <a:off x="4648200" y="2647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Nhận lệnh, đến điểm lấy và bốc hàng</a:t>
            </a:r>
            <a:endParaRPr sz="1165" b="0">
              <a:solidFill>
                <a:srgbClr val="17212B"/>
              </a:solidFill>
              <a:latin typeface="Cambria" panose="02040503050406030204"/>
              <a:ea typeface="Cambria" panose="02040503050406030204"/>
              <a:cs typeface="Cambria" panose="02040503050406030204"/>
            </a:endParaRPr>
          </a:p>
        </p:txBody>
      </p:sp>
      <p:sp>
        <p:nvSpPr>
          <p:cNvPr id="10" name="Rectangle 9"/>
          <p:cNvSpPr>
            <a:spLocks noGrp="1"/>
          </p:cNvSpPr>
          <p:nvPr/>
        </p:nvSpPr>
        <p:spPr>
          <a:xfrm>
            <a:off x="4648200" y="3790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Rời điểm lấy, đang vận chuyển, gửi telemetry</a:t>
            </a:r>
            <a:endParaRPr sz="1165" b="0">
              <a:solidFill>
                <a:srgbClr val="17212B"/>
              </a:solidFill>
              <a:latin typeface="Cambria" panose="02040503050406030204"/>
              <a:ea typeface="Cambria" panose="02040503050406030204"/>
              <a:cs typeface="Cambria" panose="02040503050406030204"/>
            </a:endParaRPr>
          </a:p>
        </p:txBody>
      </p:sp>
      <p:sp>
        <p:nvSpPr>
          <p:cNvPr id="11" name="Diamond 10"/>
          <p:cNvSpPr>
            <a:spLocks noGrp="1"/>
          </p:cNvSpPr>
          <p:nvPr/>
        </p:nvSpPr>
        <p:spPr>
          <a:xfrm>
            <a:off x="8496300" y="3790950"/>
            <a:ext cx="2895600" cy="819150"/>
          </a:xfrm>
          <a:prstGeom prst="diamond">
            <a:avLst/>
          </a:prstGeom>
          <a:solidFill>
            <a:srgbClr val="F8D1B0"/>
          </a:solidFill>
          <a:ln w="13335">
            <a:solidFill>
              <a:srgbClr val="006B35"/>
            </a:solidFill>
            <a:prstDash val="solid"/>
          </a:ln>
        </p:spPr>
        <p:txBody>
          <a:bodyPr wrap="square" lIns="66675" tIns="47625" rIns="66675" bIns="47625" anchor="ctr">
            <a:normAutofit fontScale="88671"/>
          </a:bodyPr>
          <a:lstStyle/>
          <a:p>
            <a:pPr algn="ctr">
              <a:defRPr sz="1165" b="1">
                <a:solidFill>
                  <a:srgbClr val="17212B"/>
                </a:solidFill>
                <a:latin typeface="Cambria" panose="02040503050406030204"/>
                <a:ea typeface="Cambria" panose="02040503050406030204"/>
                <a:cs typeface="Cambria" panose="02040503050406030204"/>
              </a:defRPr>
            </a:pPr>
            <a:r>
              <a:rPr sz="1165" b="1">
                <a:solidFill>
                  <a:srgbClr val="17212B"/>
                </a:solidFill>
                <a:latin typeface="Cambria" panose="02040503050406030204"/>
                <a:ea typeface="Cambria" panose="02040503050406030204"/>
                <a:cs typeface="Cambria" panose="02040503050406030204"/>
              </a:rPr>
              <a:t>LỆCH TUYẾN HOẶC QUÁ TỐC?</a:t>
            </a:r>
            <a:endParaRPr sz="1165" b="1">
              <a:solidFill>
                <a:srgbClr val="17212B"/>
              </a:solidFill>
              <a:latin typeface="Cambria" panose="02040503050406030204"/>
              <a:ea typeface="Cambria" panose="02040503050406030204"/>
              <a:cs typeface="Cambria" panose="02040503050406030204"/>
            </a:endParaRPr>
          </a:p>
        </p:txBody>
      </p:sp>
      <p:sp>
        <p:nvSpPr>
          <p:cNvPr id="12" name="Rectangle 11"/>
          <p:cNvSpPr>
            <a:spLocks noGrp="1"/>
          </p:cNvSpPr>
          <p:nvPr/>
        </p:nvSpPr>
        <p:spPr>
          <a:xfrm>
            <a:off x="4648200" y="4933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Đến điểm giao, dỡ hàng và xác nhận đã giao</a:t>
            </a:r>
            <a:endParaRPr sz="1165" b="0">
              <a:solidFill>
                <a:srgbClr val="17212B"/>
              </a:solidFill>
              <a:latin typeface="Cambria" panose="02040503050406030204"/>
              <a:ea typeface="Cambria" panose="02040503050406030204"/>
              <a:cs typeface="Cambria" panose="02040503050406030204"/>
            </a:endParaRPr>
          </a:p>
        </p:txBody>
      </p:sp>
      <p:sp>
        <p:nvSpPr>
          <p:cNvPr id="13" name="Rectangle 12"/>
          <p:cNvSpPr>
            <a:spLocks noGrp="1"/>
          </p:cNvSpPr>
          <p:nvPr/>
        </p:nvSpPr>
        <p:spPr>
          <a:xfrm>
            <a:off x="8496300" y="4933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Nơi nhận xác nhận, điều phối hoàn tất</a:t>
            </a:r>
            <a:endParaRPr sz="1165" b="0">
              <a:solidFill>
                <a:srgbClr val="17212B"/>
              </a:solidFill>
              <a:latin typeface="Cambria" panose="02040503050406030204"/>
              <a:ea typeface="Cambria" panose="02040503050406030204"/>
              <a:cs typeface="Cambria" panose="02040503050406030204"/>
            </a:endParaRPr>
          </a:p>
        </p:txBody>
      </p:sp>
      <p:sp>
        <p:nvSpPr>
          <p:cNvPr id="14" name="Rounded Rectangle 13"/>
          <p:cNvSpPr>
            <a:spLocks noGrp="1"/>
          </p:cNvSpPr>
          <p:nvPr/>
        </p:nvSpPr>
        <p:spPr>
          <a:xfrm>
            <a:off x="800100" y="4933950"/>
            <a:ext cx="2895600" cy="685800"/>
          </a:xfrm>
          <a:prstGeom prst="roundRect">
            <a:avLst>
              <a:gd name="adj" fmla="val 11111"/>
            </a:avLst>
          </a:prstGeom>
          <a:solidFill>
            <a:srgbClr val="E8F2E2"/>
          </a:solidFill>
          <a:ln w="13335">
            <a:solidFill>
              <a:srgbClr val="006B35"/>
            </a:solidFill>
            <a:prstDash val="solid"/>
          </a:ln>
        </p:spPr>
        <p:txBody>
          <a:bodyPr wrap="square" lIns="66675" tIns="47625" rIns="66675" bIns="47625" anchor="ctr">
            <a:normAutofit/>
          </a:bodyPr>
          <a:lstStyle/>
          <a:p>
            <a:pPr algn="ctr">
              <a:defRPr sz="1165" b="1">
                <a:solidFill>
                  <a:srgbClr val="17212B"/>
                </a:solidFill>
                <a:latin typeface="Cambria" panose="02040503050406030204"/>
                <a:ea typeface="Cambria" panose="02040503050406030204"/>
                <a:cs typeface="Cambria" panose="02040503050406030204"/>
              </a:defRPr>
            </a:pPr>
            <a:r>
              <a:rPr sz="1165" b="1">
                <a:solidFill>
                  <a:srgbClr val="17212B"/>
                </a:solidFill>
                <a:latin typeface="Cambria" panose="02040503050406030204"/>
                <a:ea typeface="Cambria" panose="02040503050406030204"/>
                <a:cs typeface="Cambria" panose="02040503050406030204"/>
              </a:rPr>
              <a:t>Giải phóng xe, tài xế và tổng hợp SLA</a:t>
            </a:r>
            <a:endParaRPr sz="1165" b="1">
              <a:solidFill>
                <a:srgbClr val="17212B"/>
              </a:solidFill>
              <a:latin typeface="Cambria" panose="02040503050406030204"/>
              <a:ea typeface="Cambria" panose="02040503050406030204"/>
              <a:cs typeface="Cambria" panose="02040503050406030204"/>
            </a:endParaRPr>
          </a:p>
        </p:txBody>
      </p:sp>
      <p:cxnSp>
        <p:nvCxnSpPr>
          <p:cNvPr id="42" name="Straight Arrow Connector 41"/>
          <p:cNvCxnSpPr>
            <a:stCxn id="7" idx="2"/>
            <a:endCxn id="8" idx="0"/>
          </p:cNvCxnSpPr>
          <p:nvPr/>
        </p:nvCxnSpPr>
        <p:spPr>
          <a:xfrm>
            <a:off x="2247900" y="2190750"/>
            <a:ext cx="0" cy="457200"/>
          </a:xfrm>
          <a:prstGeom prst="straightConnector1">
            <a:avLst/>
          </a:prstGeom>
          <a:ln w="19050">
            <a:solidFill>
              <a:srgbClr val="5FAE3E"/>
            </a:solidFill>
            <a:prstDash val="solid"/>
            <a:tailEnd type="arrow" w="med" len="med"/>
          </a:ln>
        </p:spPr>
      </p:cxnSp>
      <p:cxnSp>
        <p:nvCxnSpPr>
          <p:cNvPr id="43" name="Elbow Connector 42"/>
          <p:cNvCxnSpPr>
            <a:stCxn id="8" idx="3"/>
            <a:endCxn id="9" idx="1"/>
          </p:cNvCxnSpPr>
          <p:nvPr/>
        </p:nvCxnSpPr>
        <p:spPr>
          <a:xfrm>
            <a:off x="3695700" y="2990850"/>
            <a:ext cx="952500" cy="3181350"/>
          </a:xfrm>
          <a:prstGeom prst="bentConnector4">
            <a:avLst/>
          </a:prstGeom>
          <a:ln w="19050">
            <a:solidFill>
              <a:srgbClr val="5FAE3E"/>
            </a:solidFill>
            <a:prstDash val="solid"/>
            <a:tailEnd type="arrow" w="med" len="med"/>
          </a:ln>
        </p:spPr>
      </p:cxnSp>
      <p:cxnSp>
        <p:nvCxnSpPr>
          <p:cNvPr id="44" name="Straight Arrow Connector 43"/>
          <p:cNvCxnSpPr>
            <a:stCxn id="9" idx="2"/>
            <a:endCxn id="10" idx="0"/>
          </p:cNvCxnSpPr>
          <p:nvPr/>
        </p:nvCxnSpPr>
        <p:spPr>
          <a:xfrm>
            <a:off x="6096000" y="3333750"/>
            <a:ext cx="0" cy="457200"/>
          </a:xfrm>
          <a:prstGeom prst="straightConnector1">
            <a:avLst/>
          </a:prstGeom>
          <a:ln w="19050">
            <a:solidFill>
              <a:srgbClr val="5FAE3E"/>
            </a:solidFill>
            <a:prstDash val="solid"/>
            <a:tailEnd type="arrow" w="med" len="med"/>
          </a:ln>
        </p:spPr>
      </p:cxnSp>
      <p:cxnSp>
        <p:nvCxnSpPr>
          <p:cNvPr id="45" name="Elbow Connector 44"/>
          <p:cNvCxnSpPr>
            <a:stCxn id="10" idx="3"/>
            <a:endCxn id="11" idx="1"/>
          </p:cNvCxnSpPr>
          <p:nvPr/>
        </p:nvCxnSpPr>
        <p:spPr>
          <a:xfrm>
            <a:off x="7543800" y="4133850"/>
            <a:ext cx="952500" cy="66675"/>
          </a:xfrm>
          <a:prstGeom prst="bentConnector3">
            <a:avLst>
              <a:gd name="adj1" fmla="val 50000"/>
            </a:avLst>
          </a:prstGeom>
          <a:ln w="19050">
            <a:solidFill>
              <a:srgbClr val="5FAE3E"/>
            </a:solidFill>
            <a:prstDash val="solid"/>
            <a:tailEnd type="arrow" w="med" len="med"/>
          </a:ln>
        </p:spPr>
      </p:cxnSp>
      <p:cxnSp>
        <p:nvCxnSpPr>
          <p:cNvPr id="46" name="Elbow Connector 45"/>
          <p:cNvCxnSpPr>
            <a:stCxn id="11" idx="1"/>
            <a:endCxn id="12" idx="3"/>
          </p:cNvCxnSpPr>
          <p:nvPr/>
        </p:nvCxnSpPr>
        <p:spPr>
          <a:xfrm flipH="1">
            <a:off x="7543800" y="4200525"/>
            <a:ext cx="952500" cy="1076325"/>
          </a:xfrm>
          <a:prstGeom prst="bentConnector3">
            <a:avLst>
              <a:gd name="adj1" fmla="val 50000"/>
            </a:avLst>
          </a:prstGeom>
          <a:ln w="19050">
            <a:solidFill>
              <a:srgbClr val="5FAE3E"/>
            </a:solidFill>
            <a:prstDash val="solid"/>
            <a:tailEnd type="arrow" w="med" len="med"/>
          </a:ln>
        </p:spPr>
      </p:cxnSp>
      <p:sp>
        <p:nvSpPr>
          <p:cNvPr id="20" name="Rectangle 19"/>
          <p:cNvSpPr>
            <a:spLocks noGrp="1"/>
          </p:cNvSpPr>
          <p:nvPr/>
        </p:nvSpPr>
        <p:spPr>
          <a:xfrm>
            <a:off x="7724775" y="4886325"/>
            <a:ext cx="666750" cy="209550"/>
          </a:xfrm>
          <a:prstGeom prst="rect">
            <a:avLst/>
          </a:prstGeom>
          <a:solidFill>
            <a:srgbClr val="FFFFFF"/>
          </a:solidFill>
          <a:ln w="0">
            <a:noFill/>
          </a:ln>
        </p:spPr>
        <p:txBody>
          <a:bodyPr wrap="square" lIns="38100" tIns="19050" rIns="38100" bIns="19050" anchor="ctr">
            <a:normAutofit/>
          </a:bodyPr>
          <a:lstStyle/>
          <a:p>
            <a:pPr algn="ctr">
              <a:lnSpc>
                <a:spcPct val="100000"/>
              </a:lnSpc>
              <a:buNone/>
              <a:defRPr sz="940" b="1" i="0">
                <a:solidFill>
                  <a:srgbClr val="59636E"/>
                </a:solidFill>
                <a:latin typeface="Cambria" panose="02040503050406030204"/>
                <a:ea typeface="Cambria" panose="02040503050406030204"/>
                <a:cs typeface="Cambria" panose="02040503050406030204"/>
              </a:defRPr>
            </a:pPr>
            <a:r>
              <a:rPr sz="940" b="1" i="0">
                <a:solidFill>
                  <a:srgbClr val="59636E"/>
                </a:solidFill>
                <a:latin typeface="Cambria" panose="02040503050406030204"/>
                <a:ea typeface="Cambria" panose="02040503050406030204"/>
                <a:cs typeface="Cambria" panose="02040503050406030204"/>
              </a:rPr>
              <a:t>Không</a:t>
            </a:r>
            <a:endParaRPr sz="940" b="1" i="0">
              <a:solidFill>
                <a:srgbClr val="59636E"/>
              </a:solidFill>
              <a:latin typeface="Cambria" panose="02040503050406030204"/>
              <a:ea typeface="Cambria" panose="02040503050406030204"/>
              <a:cs typeface="Cambria" panose="02040503050406030204"/>
            </a:endParaRPr>
          </a:p>
        </p:txBody>
      </p:sp>
      <p:cxnSp>
        <p:nvCxnSpPr>
          <p:cNvPr id="48" name="Straight Arrow Connector 47"/>
          <p:cNvCxnSpPr>
            <a:stCxn id="11" idx="2"/>
            <a:endCxn id="13" idx="0"/>
          </p:cNvCxnSpPr>
          <p:nvPr/>
        </p:nvCxnSpPr>
        <p:spPr>
          <a:xfrm>
            <a:off x="9944100" y="4610100"/>
            <a:ext cx="0" cy="323850"/>
          </a:xfrm>
          <a:prstGeom prst="straightConnector1">
            <a:avLst/>
          </a:prstGeom>
          <a:ln w="19050">
            <a:solidFill>
              <a:srgbClr val="5FAE3E"/>
            </a:solidFill>
            <a:prstDash val="dash"/>
            <a:tailEnd type="arrow" w="med" len="med"/>
          </a:ln>
        </p:spPr>
      </p:cxnSp>
      <p:sp>
        <p:nvSpPr>
          <p:cNvPr id="22" name="Rectangle 21"/>
          <p:cNvSpPr>
            <a:spLocks noGrp="1"/>
          </p:cNvSpPr>
          <p:nvPr/>
        </p:nvSpPr>
        <p:spPr>
          <a:xfrm>
            <a:off x="9953625" y="4772025"/>
            <a:ext cx="1190625" cy="209550"/>
          </a:xfrm>
          <a:prstGeom prst="rect">
            <a:avLst/>
          </a:prstGeom>
          <a:solidFill>
            <a:srgbClr val="FFFFFF"/>
          </a:solidFill>
          <a:ln w="0">
            <a:noFill/>
          </a:ln>
        </p:spPr>
        <p:txBody>
          <a:bodyPr wrap="square" lIns="38100" tIns="19050" rIns="38100" bIns="19050" anchor="ctr">
            <a:normAutofit/>
          </a:bodyPr>
          <a:lstStyle/>
          <a:p>
            <a:pPr algn="ctr">
              <a:lnSpc>
                <a:spcPct val="100000"/>
              </a:lnSpc>
              <a:buNone/>
              <a:defRPr sz="940" b="1" i="0">
                <a:solidFill>
                  <a:srgbClr val="59636E"/>
                </a:solidFill>
                <a:latin typeface="Cambria" panose="02040503050406030204"/>
                <a:ea typeface="Cambria" panose="02040503050406030204"/>
                <a:cs typeface="Cambria" panose="02040503050406030204"/>
              </a:defRPr>
            </a:pPr>
            <a:r>
              <a:rPr sz="940" b="1" i="0">
                <a:solidFill>
                  <a:srgbClr val="59636E"/>
                </a:solidFill>
                <a:latin typeface="Cambria" panose="02040503050406030204"/>
                <a:ea typeface="Cambria" panose="02040503050406030204"/>
                <a:cs typeface="Cambria" panose="02040503050406030204"/>
              </a:rPr>
              <a:t>Có, tạo cảnh báo</a:t>
            </a:r>
            <a:endParaRPr sz="940" b="1" i="0">
              <a:solidFill>
                <a:srgbClr val="59636E"/>
              </a:solidFill>
              <a:latin typeface="Cambria" panose="02040503050406030204"/>
              <a:ea typeface="Cambria" panose="02040503050406030204"/>
              <a:cs typeface="Cambria" panose="02040503050406030204"/>
            </a:endParaRPr>
          </a:p>
        </p:txBody>
      </p:sp>
      <p:cxnSp>
        <p:nvCxnSpPr>
          <p:cNvPr id="50" name="Straight Arrow Connector 49"/>
          <p:cNvCxnSpPr>
            <a:stCxn id="12" idx="3"/>
            <a:endCxn id="13" idx="1"/>
          </p:cNvCxnSpPr>
          <p:nvPr/>
        </p:nvCxnSpPr>
        <p:spPr>
          <a:xfrm>
            <a:off x="7543800" y="5276850"/>
            <a:ext cx="952500" cy="0"/>
          </a:xfrm>
          <a:prstGeom prst="straightConnector1">
            <a:avLst/>
          </a:prstGeom>
          <a:ln w="19050">
            <a:solidFill>
              <a:srgbClr val="5FAE3E"/>
            </a:solidFill>
            <a:prstDash val="solid"/>
            <a:tailEnd type="arrow" w="med" len="med"/>
          </a:ln>
        </p:spPr>
      </p:cxnSp>
      <p:cxnSp>
        <p:nvCxnSpPr>
          <p:cNvPr id="51" name="Straight Arrow Connector 50"/>
          <p:cNvCxnSpPr>
            <a:stCxn id="13" idx="2"/>
            <a:endCxn id="14" idx="2"/>
          </p:cNvCxnSpPr>
          <p:nvPr/>
        </p:nvCxnSpPr>
        <p:spPr>
          <a:xfrm flipH="1">
            <a:off x="2247900" y="5619750"/>
            <a:ext cx="7696200" cy="0"/>
          </a:xfrm>
          <a:prstGeom prst="straightConnector1">
            <a:avLst/>
          </a:prstGeom>
          <a:ln w="19050">
            <a:solidFill>
              <a:srgbClr val="5FAE3E"/>
            </a:solidFill>
            <a:prstDash val="solid"/>
            <a:tailEnd type="arrow" w="med" len="med"/>
          </a:ln>
        </p:spPr>
      </p:cxnSp>
      <p:sp>
        <p:nvSpPr>
          <p:cNvPr id="25" name="Rectangle 24"/>
          <p:cNvSpPr>
            <a:spLocks noGrp="1"/>
          </p:cNvSpPr>
          <p:nvPr/>
        </p:nvSpPr>
        <p:spPr>
          <a:xfrm>
            <a:off x="704850" y="6115050"/>
            <a:ext cx="10782300" cy="266700"/>
          </a:xfrm>
          <a:prstGeom prst="rect">
            <a:avLst/>
          </a:prstGeom>
          <a:noFill/>
          <a:ln w="0">
            <a:noFill/>
          </a:ln>
        </p:spPr>
        <p:txBody>
          <a:bodyPr wrap="square" lIns="38100" tIns="19050" rIns="38100" bIns="19050" anchor="ctr">
            <a:normAutofit/>
          </a:bodyPr>
          <a:lstStyle/>
          <a:p>
            <a:pPr algn="ctr">
              <a:lnSpc>
                <a:spcPct val="100000"/>
              </a:lnSpc>
              <a:buNone/>
              <a:defRPr sz="1015" b="0" i="1">
                <a:solidFill>
                  <a:srgbClr val="59636E"/>
                </a:solidFill>
                <a:latin typeface="Cambria" panose="02040503050406030204"/>
                <a:ea typeface="Cambria" panose="02040503050406030204"/>
                <a:cs typeface="Cambria" panose="02040503050406030204"/>
              </a:defRPr>
            </a:pPr>
            <a:r>
              <a:rPr sz="1015" b="0" i="1">
                <a:solidFill>
                  <a:srgbClr val="59636E"/>
                </a:solidFill>
                <a:latin typeface="Cambria" panose="02040503050406030204"/>
                <a:ea typeface="Cambria" panose="02040503050406030204"/>
                <a:cs typeface="Cambria" panose="02040503050406030204"/>
              </a:rPr>
              <a:t>Trạng thái chính: DRAFT, APPROVED, ASSIGNED, DRIVER_ACCEPTED, AT_PICKUP, IN_TRANSIT, DELIVERED, ACCEPTED, COMPLETED.</a:t>
            </a:r>
            <a:endParaRPr sz="1015" b="0" i="1">
              <a:solidFill>
                <a:srgbClr val="59636E"/>
              </a:solidFill>
              <a:latin typeface="Cambria" panose="02040503050406030204"/>
              <a:ea typeface="Cambria" panose="02040503050406030204"/>
              <a:cs typeface="Cambria" panose="02040503050406030204"/>
            </a:endParaRPr>
          </a:p>
        </p:txBody>
      </p:sp>
      <p:sp>
        <p:nvSpPr>
          <p:cNvPr id="26" name="Rectangle 25"/>
          <p:cNvSpPr>
            <a:spLocks noGrp="1"/>
          </p:cNvSpPr>
          <p:nvPr/>
        </p:nvSpPr>
        <p:spPr>
          <a:xfrm>
            <a:off x="266700" y="6534150"/>
            <a:ext cx="7429500" cy="190500"/>
          </a:xfrm>
          <a:prstGeom prst="rect">
            <a:avLst/>
          </a:prstGeom>
          <a:noFill/>
          <a:ln w="0">
            <a:noFill/>
          </a:ln>
        </p:spPr>
        <p:txBody>
          <a:bodyPr wrap="square" lIns="38100" tIns="19050" rIns="38100" bIns="19050" anchor="ctr">
            <a:normAutofit/>
          </a:bodyPr>
          <a:lstStyle/>
          <a:p>
            <a:pPr algn="l">
              <a:lnSpc>
                <a:spcPct val="100000"/>
              </a:lnSpc>
              <a:buNone/>
              <a:defRPr sz="825" b="0" i="1">
                <a:solidFill>
                  <a:srgbClr val="8A8F93"/>
                </a:solidFill>
                <a:latin typeface="Cambria" panose="02040503050406030204"/>
                <a:ea typeface="Cambria" panose="02040503050406030204"/>
                <a:cs typeface="Cambria" panose="02040503050406030204"/>
              </a:defRPr>
            </a:pPr>
            <a:r>
              <a:rPr sz="825" b="0" i="1">
                <a:solidFill>
                  <a:srgbClr val="8A8F93"/>
                </a:solidFill>
                <a:latin typeface="Cambria" panose="02040503050406030204"/>
                <a:ea typeface="Cambria" panose="02040503050406030204"/>
                <a:cs typeface="Cambria" panose="02040503050406030204"/>
              </a:rPr>
              <a:t>Giới thiệu phần mềm và tiến độ phát triển | THACO AGRI Fleet | 21/09/2026</a:t>
            </a:r>
            <a:endParaRPr sz="825" b="0" i="1">
              <a:solidFill>
                <a:srgbClr val="8A8F93"/>
              </a:solidFill>
              <a:latin typeface="Cambria" panose="02040503050406030204"/>
              <a:ea typeface="Cambria" panose="02040503050406030204"/>
              <a:cs typeface="Cambria" panose="02040503050406030204"/>
            </a:endParaRPr>
          </a:p>
        </p:txBody>
      </p:sp>
      <p:sp>
        <p:nvSpPr>
          <p:cNvPr id="27" name="Rectangle 26"/>
          <p:cNvSpPr>
            <a:spLocks noGrp="1"/>
          </p:cNvSpPr>
          <p:nvPr/>
        </p:nvSpPr>
        <p:spPr>
          <a:xfrm>
            <a:off x="11658600" y="6534150"/>
            <a:ext cx="228600" cy="190500"/>
          </a:xfrm>
          <a:prstGeom prst="rect">
            <a:avLst/>
          </a:prstGeom>
          <a:noFill/>
          <a:ln w="0">
            <a:noFill/>
          </a:ln>
        </p:spPr>
        <p:txBody>
          <a:bodyPr wrap="square" lIns="38100" tIns="19050" rIns="38100" bIns="19050" anchor="ctr">
            <a:normAutofit/>
          </a:bodyPr>
          <a:lstStyle/>
          <a:p>
            <a:pPr algn="r">
              <a:lnSpc>
                <a:spcPct val="100000"/>
              </a:lnSpc>
              <a:buNone/>
              <a:defRPr sz="825" b="0" i="0">
                <a:solidFill>
                  <a:srgbClr val="8A8F93"/>
                </a:solidFill>
                <a:latin typeface="Cambria" panose="02040503050406030204"/>
                <a:ea typeface="Cambria" panose="02040503050406030204"/>
                <a:cs typeface="Cambria" panose="02040503050406030204"/>
              </a:defRPr>
            </a:pPr>
            <a:r>
              <a:rPr sz="825" b="0" i="0">
                <a:solidFill>
                  <a:srgbClr val="8A8F93"/>
                </a:solidFill>
                <a:latin typeface="Cambria" panose="02040503050406030204"/>
                <a:ea typeface="Cambria" panose="02040503050406030204"/>
                <a:cs typeface="Cambria" panose="02040503050406030204"/>
              </a:rPr>
              <a:t>15</a:t>
            </a:r>
            <a:endParaRPr sz="825" b="0" i="0">
              <a:solidFill>
                <a:srgbClr val="8A8F93"/>
              </a:solidFill>
              <a:latin typeface="Cambria" panose="02040503050406030204"/>
              <a:ea typeface="Cambria" panose="02040503050406030204"/>
              <a:cs typeface="Cambria" panose="0204050305040603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 name="slide-title"/>
          <p:cNvSpPr>
            <a:spLocks noGrp="1"/>
          </p:cNvSpPr>
          <p:nvPr/>
        </p:nvSpPr>
        <p:spPr>
          <a:xfrm>
            <a:off x="2571750" y="142875"/>
            <a:ext cx="9191625" cy="590550"/>
          </a:xfrm>
          <a:prstGeom prst="rect">
            <a:avLst/>
          </a:prstGeom>
          <a:noFill/>
          <a:ln w="0">
            <a:noFill/>
          </a:ln>
        </p:spPr>
        <p:txBody>
          <a:bodyPr wrap="square" lIns="38100" tIns="19050" rIns="38100" bIns="19050" anchor="ctr">
            <a:normAutofit/>
          </a:bodyPr>
          <a:lstStyle/>
          <a:p>
            <a:pPr algn="ctr">
              <a:lnSpc>
                <a:spcPct val="100000"/>
              </a:lnSpc>
              <a:buNone/>
              <a:defRPr sz="2100" b="1" i="0">
                <a:solidFill>
                  <a:srgbClr val="E00000"/>
                </a:solidFill>
                <a:latin typeface="Cambria" panose="02040503050406030204"/>
                <a:ea typeface="Cambria" panose="02040503050406030204"/>
                <a:cs typeface="Cambria" panose="02040503050406030204"/>
              </a:defRPr>
            </a:pPr>
            <a:r>
              <a:rPr sz="2100" b="1" i="0">
                <a:solidFill>
                  <a:srgbClr val="E00000"/>
                </a:solidFill>
                <a:latin typeface="Cambria" panose="02040503050406030204"/>
                <a:ea typeface="Cambria" panose="02040503050406030204"/>
                <a:cs typeface="Cambria" panose="02040503050406030204"/>
              </a:rPr>
              <a:t>QUẢN LÝ ĐỘI XE, TÀI XẾ VÀ NÔNG CỤ</a:t>
            </a:r>
            <a:endParaRPr sz="2100" b="1" i="0">
              <a:solidFill>
                <a:srgbClr val="E00000"/>
              </a:solidFill>
              <a:latin typeface="Cambria" panose="02040503050406030204"/>
              <a:ea typeface="Cambria" panose="02040503050406030204"/>
              <a:cs typeface="Cambria" panose="02040503050406030204"/>
            </a:endParaRPr>
          </a:p>
        </p:txBody>
      </p:sp>
      <p:sp>
        <p:nvSpPr>
          <p:cNvPr id="2" name="Rectangle 1"/>
          <p:cNvSpPr>
            <a:spLocks noGrp="1"/>
          </p:cNvSpPr>
          <p:nvPr/>
        </p:nvSpPr>
        <p:spPr>
          <a:xfrm>
            <a:off x="323850" y="895350"/>
            <a:ext cx="3848100" cy="400050"/>
          </a:xfrm>
          <a:prstGeom prst="rect">
            <a:avLst/>
          </a:prstGeom>
          <a:solidFill>
            <a:srgbClr val="F3F8F0"/>
          </a:solidFill>
          <a:ln w="9525">
            <a:solidFill>
              <a:srgbClr val="5FAE3E"/>
            </a:solidFill>
          </a:ln>
        </p:spPr>
        <p:txBody>
          <a:bodyPr wrap="square" lIns="38100" tIns="19050" rIns="38100" bIns="19050" anchor="ctr">
            <a:normAutofit/>
          </a:bodyPr>
          <a:lstStyle/>
          <a:p>
            <a:pPr algn="ctr">
              <a:lnSpc>
                <a:spcPct val="100000"/>
              </a:lnSpc>
              <a:buNone/>
              <a:defRPr sz="1275" b="1" i="0">
                <a:solidFill>
                  <a:srgbClr val="006B35"/>
                </a:solidFill>
                <a:latin typeface="Cambria" panose="02040503050406030204"/>
                <a:ea typeface="Cambria" panose="02040503050406030204"/>
                <a:cs typeface="Cambria" panose="02040503050406030204"/>
              </a:defRPr>
            </a:pPr>
            <a:r>
              <a:rPr sz="1275" b="1" i="0">
                <a:solidFill>
                  <a:srgbClr val="006B35"/>
                </a:solidFill>
                <a:latin typeface="Cambria" panose="02040503050406030204"/>
                <a:ea typeface="Cambria" panose="02040503050406030204"/>
                <a:cs typeface="Cambria" panose="02040503050406030204"/>
              </a:rPr>
              <a:t>QUẢN TRỊ DANH MỤC</a:t>
            </a:r>
            <a:endParaRPr sz="1275" b="1" i="0">
              <a:solidFill>
                <a:srgbClr val="006B35"/>
              </a:solidFill>
              <a:latin typeface="Cambria" panose="02040503050406030204"/>
              <a:ea typeface="Cambria" panose="02040503050406030204"/>
              <a:cs typeface="Cambria" panose="02040503050406030204"/>
            </a:endParaRPr>
          </a:p>
        </p:txBody>
      </p:sp>
      <p:sp>
        <p:nvSpPr>
          <p:cNvPr id="3" name="Rectangle 2"/>
          <p:cNvSpPr>
            <a:spLocks noGrp="1"/>
          </p:cNvSpPr>
          <p:nvPr/>
        </p:nvSpPr>
        <p:spPr>
          <a:xfrm>
            <a:off x="4171950" y="895350"/>
            <a:ext cx="3848100" cy="400050"/>
          </a:xfrm>
          <a:prstGeom prst="rect">
            <a:avLst/>
          </a:prstGeom>
          <a:solidFill>
            <a:srgbClr val="F1F6FB"/>
          </a:solidFill>
          <a:ln w="9525">
            <a:solidFill>
              <a:srgbClr val="5FAE3E"/>
            </a:solidFill>
          </a:ln>
        </p:spPr>
        <p:txBody>
          <a:bodyPr wrap="square" lIns="38100" tIns="19050" rIns="38100" bIns="19050" anchor="ctr">
            <a:normAutofit/>
          </a:bodyPr>
          <a:lstStyle/>
          <a:p>
            <a:pPr algn="ctr">
              <a:lnSpc>
                <a:spcPct val="100000"/>
              </a:lnSpc>
              <a:buNone/>
              <a:defRPr sz="1275" b="1" i="0">
                <a:solidFill>
                  <a:srgbClr val="075AA7"/>
                </a:solidFill>
                <a:latin typeface="Cambria" panose="02040503050406030204"/>
                <a:ea typeface="Cambria" panose="02040503050406030204"/>
                <a:cs typeface="Cambria" panose="02040503050406030204"/>
              </a:defRPr>
            </a:pPr>
            <a:r>
              <a:rPr sz="1275" b="1" i="0">
                <a:solidFill>
                  <a:srgbClr val="075AA7"/>
                </a:solidFill>
                <a:latin typeface="Cambria" panose="02040503050406030204"/>
                <a:ea typeface="Cambria" panose="02040503050406030204"/>
                <a:cs typeface="Cambria" panose="02040503050406030204"/>
              </a:rPr>
              <a:t>QUẢN LÝ ĐỘI XE</a:t>
            </a:r>
            <a:endParaRPr sz="1275" b="1" i="0">
              <a:solidFill>
                <a:srgbClr val="075AA7"/>
              </a:solidFill>
              <a:latin typeface="Cambria" panose="02040503050406030204"/>
              <a:ea typeface="Cambria" panose="02040503050406030204"/>
              <a:cs typeface="Cambria" panose="02040503050406030204"/>
            </a:endParaRPr>
          </a:p>
        </p:txBody>
      </p:sp>
      <p:sp>
        <p:nvSpPr>
          <p:cNvPr id="4" name="Rectangle 3"/>
          <p:cNvSpPr>
            <a:spLocks noGrp="1"/>
          </p:cNvSpPr>
          <p:nvPr/>
        </p:nvSpPr>
        <p:spPr>
          <a:xfrm>
            <a:off x="4171950" y="1295400"/>
            <a:ext cx="14288" cy="4762500"/>
          </a:xfrm>
          <a:prstGeom prst="rect">
            <a:avLst/>
          </a:prstGeom>
          <a:solidFill>
            <a:srgbClr val="5FAE3E"/>
          </a:solidFill>
          <a:ln w="0">
            <a:solidFill>
              <a:srgbClr val="5FAE3E"/>
            </a:solidFill>
          </a:ln>
        </p:spPr>
      </p:sp>
      <p:sp>
        <p:nvSpPr>
          <p:cNvPr id="5" name="Rectangle 4"/>
          <p:cNvSpPr>
            <a:spLocks noGrp="1"/>
          </p:cNvSpPr>
          <p:nvPr/>
        </p:nvSpPr>
        <p:spPr>
          <a:xfrm>
            <a:off x="8020050" y="895350"/>
            <a:ext cx="3848100" cy="400050"/>
          </a:xfrm>
          <a:prstGeom prst="rect">
            <a:avLst/>
          </a:prstGeom>
          <a:solidFill>
            <a:srgbClr val="F3F8F0"/>
          </a:solidFill>
          <a:ln w="9525">
            <a:solidFill>
              <a:srgbClr val="5FAE3E"/>
            </a:solidFill>
          </a:ln>
        </p:spPr>
        <p:txBody>
          <a:bodyPr wrap="square" lIns="38100" tIns="19050" rIns="38100" bIns="19050" anchor="ctr">
            <a:normAutofit/>
          </a:bodyPr>
          <a:lstStyle/>
          <a:p>
            <a:pPr algn="ctr">
              <a:lnSpc>
                <a:spcPct val="100000"/>
              </a:lnSpc>
              <a:buNone/>
              <a:defRPr sz="1275" b="1" i="0">
                <a:solidFill>
                  <a:srgbClr val="006B35"/>
                </a:solidFill>
                <a:latin typeface="Cambria" panose="02040503050406030204"/>
                <a:ea typeface="Cambria" panose="02040503050406030204"/>
                <a:cs typeface="Cambria" panose="02040503050406030204"/>
              </a:defRPr>
            </a:pPr>
            <a:r>
              <a:rPr sz="1275" b="1" i="0">
                <a:solidFill>
                  <a:srgbClr val="006B35"/>
                </a:solidFill>
                <a:latin typeface="Cambria" panose="02040503050406030204"/>
                <a:ea typeface="Cambria" panose="02040503050406030204"/>
                <a:cs typeface="Cambria" panose="02040503050406030204"/>
              </a:rPr>
              <a:t>ĐIỀU PHỐI VẬN HÀNH</a:t>
            </a:r>
            <a:endParaRPr sz="1275" b="1" i="0">
              <a:solidFill>
                <a:srgbClr val="006B35"/>
              </a:solidFill>
              <a:latin typeface="Cambria" panose="02040503050406030204"/>
              <a:ea typeface="Cambria" panose="02040503050406030204"/>
              <a:cs typeface="Cambria" panose="02040503050406030204"/>
            </a:endParaRPr>
          </a:p>
        </p:txBody>
      </p:sp>
      <p:sp>
        <p:nvSpPr>
          <p:cNvPr id="6" name="Rectangle 5"/>
          <p:cNvSpPr>
            <a:spLocks noGrp="1"/>
          </p:cNvSpPr>
          <p:nvPr/>
        </p:nvSpPr>
        <p:spPr>
          <a:xfrm>
            <a:off x="8020050" y="1295400"/>
            <a:ext cx="14288" cy="4762500"/>
          </a:xfrm>
          <a:prstGeom prst="rect">
            <a:avLst/>
          </a:prstGeom>
          <a:solidFill>
            <a:srgbClr val="5FAE3E"/>
          </a:solidFill>
          <a:ln w="0">
            <a:solidFill>
              <a:srgbClr val="5FAE3E"/>
            </a:solidFill>
          </a:ln>
        </p:spPr>
      </p:sp>
      <p:sp>
        <p:nvSpPr>
          <p:cNvPr id="7" name="Rounded Rectangle 6"/>
          <p:cNvSpPr>
            <a:spLocks noGrp="1"/>
          </p:cNvSpPr>
          <p:nvPr/>
        </p:nvSpPr>
        <p:spPr>
          <a:xfrm>
            <a:off x="800100" y="1504950"/>
            <a:ext cx="2895600" cy="685800"/>
          </a:xfrm>
          <a:prstGeom prst="roundRect">
            <a:avLst>
              <a:gd name="adj" fmla="val 11111"/>
            </a:avLst>
          </a:prstGeom>
          <a:solidFill>
            <a:srgbClr val="E8F2E2"/>
          </a:solidFill>
          <a:ln w="13335">
            <a:solidFill>
              <a:srgbClr val="006B35"/>
            </a:solidFill>
            <a:prstDash val="solid"/>
          </a:ln>
        </p:spPr>
        <p:txBody>
          <a:bodyPr wrap="square" lIns="66675" tIns="47625" rIns="66675" bIns="47625" anchor="ctr">
            <a:normAutofit/>
          </a:bodyPr>
          <a:lstStyle/>
          <a:p>
            <a:pPr algn="ctr">
              <a:defRPr sz="1165" b="1">
                <a:solidFill>
                  <a:srgbClr val="17212B"/>
                </a:solidFill>
                <a:latin typeface="Cambria" panose="02040503050406030204"/>
                <a:ea typeface="Cambria" panose="02040503050406030204"/>
                <a:cs typeface="Cambria" panose="02040503050406030204"/>
              </a:defRPr>
            </a:pPr>
            <a:r>
              <a:rPr sz="1165" b="1">
                <a:solidFill>
                  <a:srgbClr val="17212B"/>
                </a:solidFill>
                <a:latin typeface="Cambria" panose="02040503050406030204"/>
                <a:ea typeface="Cambria" panose="02040503050406030204"/>
                <a:cs typeface="Cambria" panose="02040503050406030204"/>
              </a:rPr>
              <a:t>Khai báo loại xe, xe, nông cụ và thông số kỹ thuật</a:t>
            </a:r>
            <a:endParaRPr sz="1165" b="1">
              <a:solidFill>
                <a:srgbClr val="17212B"/>
              </a:solidFill>
              <a:latin typeface="Cambria" panose="02040503050406030204"/>
              <a:ea typeface="Cambria" panose="02040503050406030204"/>
              <a:cs typeface="Cambria" panose="02040503050406030204"/>
            </a:endParaRPr>
          </a:p>
        </p:txBody>
      </p:sp>
      <p:sp>
        <p:nvSpPr>
          <p:cNvPr id="8" name="Rectangle 7"/>
          <p:cNvSpPr>
            <a:spLocks noGrp="1"/>
          </p:cNvSpPr>
          <p:nvPr/>
        </p:nvSpPr>
        <p:spPr>
          <a:xfrm>
            <a:off x="4648200" y="1504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Gán xe và nông cụ vào đơn vị quản lý cơ giới</a:t>
            </a:r>
            <a:endParaRPr sz="1165" b="0">
              <a:solidFill>
                <a:srgbClr val="17212B"/>
              </a:solidFill>
              <a:latin typeface="Cambria" panose="02040503050406030204"/>
              <a:ea typeface="Cambria" panose="02040503050406030204"/>
              <a:cs typeface="Cambria" panose="02040503050406030204"/>
            </a:endParaRPr>
          </a:p>
        </p:txBody>
      </p:sp>
      <p:sp>
        <p:nvSpPr>
          <p:cNvPr id="9" name="Rectangle 8"/>
          <p:cNvSpPr>
            <a:spLocks noGrp="1"/>
          </p:cNvSpPr>
          <p:nvPr/>
        </p:nvSpPr>
        <p:spPr>
          <a:xfrm>
            <a:off x="4648200" y="2647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Phân tài xế chính hoặc phụ, lưu thời gian hiệu lực</a:t>
            </a:r>
            <a:endParaRPr sz="1165" b="0">
              <a:solidFill>
                <a:srgbClr val="17212B"/>
              </a:solidFill>
              <a:latin typeface="Cambria" panose="02040503050406030204"/>
              <a:ea typeface="Cambria" panose="02040503050406030204"/>
              <a:cs typeface="Cambria" panose="02040503050406030204"/>
            </a:endParaRPr>
          </a:p>
        </p:txBody>
      </p:sp>
      <p:sp>
        <p:nvSpPr>
          <p:cNvPr id="10" name="Diamond 9"/>
          <p:cNvSpPr>
            <a:spLocks noGrp="1"/>
          </p:cNvSpPr>
          <p:nvPr/>
        </p:nvSpPr>
        <p:spPr>
          <a:xfrm>
            <a:off x="4648200" y="3790950"/>
            <a:ext cx="2895600" cy="819150"/>
          </a:xfrm>
          <a:prstGeom prst="diamond">
            <a:avLst/>
          </a:prstGeom>
          <a:solidFill>
            <a:srgbClr val="F8D1B0"/>
          </a:solidFill>
          <a:ln w="13335">
            <a:solidFill>
              <a:srgbClr val="006B35"/>
            </a:solidFill>
            <a:prstDash val="solid"/>
          </a:ln>
        </p:spPr>
        <p:txBody>
          <a:bodyPr wrap="square" lIns="66675" tIns="47625" rIns="66675" bIns="47625" anchor="ctr">
            <a:normAutofit fontScale="88671"/>
          </a:bodyPr>
          <a:lstStyle/>
          <a:p>
            <a:pPr algn="ctr">
              <a:defRPr sz="1165" b="1">
                <a:solidFill>
                  <a:srgbClr val="17212B"/>
                </a:solidFill>
                <a:latin typeface="Cambria" panose="02040503050406030204"/>
                <a:ea typeface="Cambria" panose="02040503050406030204"/>
                <a:cs typeface="Cambria" panose="02040503050406030204"/>
              </a:defRPr>
            </a:pPr>
            <a:r>
              <a:rPr sz="1165" b="1">
                <a:solidFill>
                  <a:srgbClr val="17212B"/>
                </a:solidFill>
                <a:latin typeface="Cambria" panose="02040503050406030204"/>
                <a:ea typeface="Cambria" panose="02040503050406030204"/>
                <a:cs typeface="Cambria" panose="02040503050406030204"/>
              </a:rPr>
              <a:t>NÔNG CỤ TƯƠNG THÍCH VÀ TỐT?</a:t>
            </a:r>
            <a:endParaRPr sz="1165" b="1">
              <a:solidFill>
                <a:srgbClr val="17212B"/>
              </a:solidFill>
              <a:latin typeface="Cambria" panose="02040503050406030204"/>
              <a:ea typeface="Cambria" panose="02040503050406030204"/>
              <a:cs typeface="Cambria" panose="02040503050406030204"/>
            </a:endParaRPr>
          </a:p>
        </p:txBody>
      </p:sp>
      <p:sp>
        <p:nvSpPr>
          <p:cNvPr id="11" name="Rectangle 10"/>
          <p:cNvSpPr>
            <a:spLocks noGrp="1"/>
          </p:cNvSpPr>
          <p:nvPr/>
        </p:nvSpPr>
        <p:spPr>
          <a:xfrm>
            <a:off x="4648200" y="4933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Gắn nông cụ vào xe, tạo attachment log</a:t>
            </a:r>
            <a:endParaRPr sz="1165" b="0">
              <a:solidFill>
                <a:srgbClr val="17212B"/>
              </a:solidFill>
              <a:latin typeface="Cambria" panose="02040503050406030204"/>
              <a:ea typeface="Cambria" panose="02040503050406030204"/>
              <a:cs typeface="Cambria" panose="02040503050406030204"/>
            </a:endParaRPr>
          </a:p>
        </p:txBody>
      </p:sp>
      <p:sp>
        <p:nvSpPr>
          <p:cNvPr id="12" name="Rectangle 11"/>
          <p:cNvSpPr>
            <a:spLocks noGrp="1"/>
          </p:cNvSpPr>
          <p:nvPr/>
        </p:nvSpPr>
        <p:spPr>
          <a:xfrm>
            <a:off x="8496300" y="2647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Đưa nguồn lực vào preparation-context</a:t>
            </a:r>
            <a:endParaRPr sz="1165" b="0">
              <a:solidFill>
                <a:srgbClr val="17212B"/>
              </a:solidFill>
              <a:latin typeface="Cambria" panose="02040503050406030204"/>
              <a:ea typeface="Cambria" panose="02040503050406030204"/>
              <a:cs typeface="Cambria" panose="02040503050406030204"/>
            </a:endParaRPr>
          </a:p>
        </p:txBody>
      </p:sp>
      <p:sp>
        <p:nvSpPr>
          <p:cNvPr id="13" name="Rectangle 12"/>
          <p:cNvSpPr>
            <a:spLocks noGrp="1"/>
          </p:cNvSpPr>
          <p:nvPr/>
        </p:nvSpPr>
        <p:spPr>
          <a:xfrm>
            <a:off x="8496300" y="3790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Điều xe theo trạng thái và lịch rảnh</a:t>
            </a:r>
            <a:endParaRPr sz="1165" b="0">
              <a:solidFill>
                <a:srgbClr val="17212B"/>
              </a:solidFill>
              <a:latin typeface="Cambria" panose="02040503050406030204"/>
              <a:ea typeface="Cambria" panose="02040503050406030204"/>
              <a:cs typeface="Cambria" panose="02040503050406030204"/>
            </a:endParaRPr>
          </a:p>
        </p:txBody>
      </p:sp>
      <p:sp>
        <p:nvSpPr>
          <p:cNvPr id="14" name="Rounded Rectangle 13"/>
          <p:cNvSpPr>
            <a:spLocks noGrp="1"/>
          </p:cNvSpPr>
          <p:nvPr/>
        </p:nvSpPr>
        <p:spPr>
          <a:xfrm>
            <a:off x="8496300" y="4933950"/>
            <a:ext cx="2895600" cy="685800"/>
          </a:xfrm>
          <a:prstGeom prst="roundRect">
            <a:avLst>
              <a:gd name="adj" fmla="val 11111"/>
            </a:avLst>
          </a:prstGeom>
          <a:solidFill>
            <a:srgbClr val="E8F2E2"/>
          </a:solidFill>
          <a:ln w="13335">
            <a:solidFill>
              <a:srgbClr val="006B35"/>
            </a:solidFill>
            <a:prstDash val="solid"/>
          </a:ln>
        </p:spPr>
        <p:txBody>
          <a:bodyPr wrap="square" lIns="66675" tIns="47625" rIns="66675" bIns="47625" anchor="ctr">
            <a:normAutofit/>
          </a:bodyPr>
          <a:lstStyle/>
          <a:p>
            <a:pPr algn="ctr">
              <a:defRPr sz="1165" b="1">
                <a:solidFill>
                  <a:srgbClr val="17212B"/>
                </a:solidFill>
                <a:latin typeface="Cambria" panose="02040503050406030204"/>
                <a:ea typeface="Cambria" panose="02040503050406030204"/>
                <a:cs typeface="Cambria" panose="02040503050406030204"/>
              </a:defRPr>
            </a:pPr>
            <a:r>
              <a:rPr sz="1165" b="1">
                <a:solidFill>
                  <a:srgbClr val="17212B"/>
                </a:solidFill>
                <a:latin typeface="Cambria" panose="02040503050406030204"/>
                <a:ea typeface="Cambria" panose="02040503050406030204"/>
                <a:cs typeface="Cambria" panose="02040503050406030204"/>
              </a:rPr>
              <a:t>Tháo nông cụ hoặc kết thúc phân công, giữ lịch sử</a:t>
            </a:r>
            <a:endParaRPr sz="1165" b="1">
              <a:solidFill>
                <a:srgbClr val="17212B"/>
              </a:solidFill>
              <a:latin typeface="Cambria" panose="02040503050406030204"/>
              <a:ea typeface="Cambria" panose="02040503050406030204"/>
              <a:cs typeface="Cambria" panose="02040503050406030204"/>
            </a:endParaRPr>
          </a:p>
        </p:txBody>
      </p:sp>
      <p:cxnSp>
        <p:nvCxnSpPr>
          <p:cNvPr id="41" name="Elbow Connector 40"/>
          <p:cNvCxnSpPr>
            <a:stCxn id="7" idx="3"/>
            <a:endCxn id="8" idx="1"/>
          </p:cNvCxnSpPr>
          <p:nvPr/>
        </p:nvCxnSpPr>
        <p:spPr>
          <a:xfrm>
            <a:off x="3695700" y="1847850"/>
            <a:ext cx="952500" cy="4324350"/>
          </a:xfrm>
          <a:prstGeom prst="bentConnector4">
            <a:avLst/>
          </a:prstGeom>
          <a:ln w="19050">
            <a:solidFill>
              <a:srgbClr val="5FAE3E"/>
            </a:solidFill>
            <a:prstDash val="solid"/>
            <a:tailEnd type="arrow" w="med" len="med"/>
          </a:ln>
        </p:spPr>
      </p:cxnSp>
      <p:cxnSp>
        <p:nvCxnSpPr>
          <p:cNvPr id="42" name="Straight Arrow Connector 41"/>
          <p:cNvCxnSpPr>
            <a:stCxn id="8" idx="2"/>
            <a:endCxn id="9" idx="0"/>
          </p:cNvCxnSpPr>
          <p:nvPr/>
        </p:nvCxnSpPr>
        <p:spPr>
          <a:xfrm>
            <a:off x="6096000" y="2190750"/>
            <a:ext cx="0" cy="457200"/>
          </a:xfrm>
          <a:prstGeom prst="straightConnector1">
            <a:avLst/>
          </a:prstGeom>
          <a:ln w="19050">
            <a:solidFill>
              <a:srgbClr val="5FAE3E"/>
            </a:solidFill>
            <a:prstDash val="solid"/>
            <a:tailEnd type="arrow" w="med" len="med"/>
          </a:ln>
        </p:spPr>
      </p:cxnSp>
      <p:cxnSp>
        <p:nvCxnSpPr>
          <p:cNvPr id="43" name="Straight Arrow Connector 42"/>
          <p:cNvCxnSpPr>
            <a:stCxn id="9" idx="2"/>
            <a:endCxn id="10" idx="0"/>
          </p:cNvCxnSpPr>
          <p:nvPr/>
        </p:nvCxnSpPr>
        <p:spPr>
          <a:xfrm>
            <a:off x="6096000" y="3333750"/>
            <a:ext cx="0" cy="457200"/>
          </a:xfrm>
          <a:prstGeom prst="straightConnector1">
            <a:avLst/>
          </a:prstGeom>
          <a:ln w="19050">
            <a:solidFill>
              <a:srgbClr val="5FAE3E"/>
            </a:solidFill>
            <a:prstDash val="solid"/>
            <a:tailEnd type="arrow" w="med" len="med"/>
          </a:ln>
        </p:spPr>
      </p:cxnSp>
      <p:cxnSp>
        <p:nvCxnSpPr>
          <p:cNvPr id="44" name="Straight Arrow Connector 43"/>
          <p:cNvCxnSpPr>
            <a:stCxn id="10" idx="2"/>
            <a:endCxn id="11" idx="0"/>
          </p:cNvCxnSpPr>
          <p:nvPr/>
        </p:nvCxnSpPr>
        <p:spPr>
          <a:xfrm>
            <a:off x="6096000" y="4610100"/>
            <a:ext cx="0" cy="323850"/>
          </a:xfrm>
          <a:prstGeom prst="straightConnector1">
            <a:avLst/>
          </a:prstGeom>
          <a:ln w="19050">
            <a:solidFill>
              <a:srgbClr val="5FAE3E"/>
            </a:solidFill>
            <a:prstDash val="solid"/>
            <a:tailEnd type="arrow" w="med" len="med"/>
          </a:ln>
        </p:spPr>
      </p:cxnSp>
      <p:sp>
        <p:nvSpPr>
          <p:cNvPr id="19" name="Rectangle 18"/>
          <p:cNvSpPr>
            <a:spLocks noGrp="1"/>
          </p:cNvSpPr>
          <p:nvPr/>
        </p:nvSpPr>
        <p:spPr>
          <a:xfrm>
            <a:off x="6858000" y="4772025"/>
            <a:ext cx="666750" cy="209550"/>
          </a:xfrm>
          <a:prstGeom prst="rect">
            <a:avLst/>
          </a:prstGeom>
          <a:solidFill>
            <a:srgbClr val="FFFFFF"/>
          </a:solidFill>
          <a:ln w="0">
            <a:noFill/>
          </a:ln>
        </p:spPr>
        <p:txBody>
          <a:bodyPr wrap="square" lIns="38100" tIns="19050" rIns="38100" bIns="19050" anchor="ctr">
            <a:normAutofit/>
          </a:bodyPr>
          <a:lstStyle/>
          <a:p>
            <a:pPr algn="ctr">
              <a:lnSpc>
                <a:spcPct val="100000"/>
              </a:lnSpc>
              <a:buNone/>
              <a:defRPr sz="940" b="1" i="0">
                <a:solidFill>
                  <a:srgbClr val="59636E"/>
                </a:solidFill>
                <a:latin typeface="Cambria" panose="02040503050406030204"/>
                <a:ea typeface="Cambria" panose="02040503050406030204"/>
                <a:cs typeface="Cambria" panose="02040503050406030204"/>
              </a:defRPr>
            </a:pPr>
            <a:r>
              <a:rPr sz="940" b="1" i="0">
                <a:solidFill>
                  <a:srgbClr val="59636E"/>
                </a:solidFill>
                <a:latin typeface="Cambria" panose="02040503050406030204"/>
                <a:ea typeface="Cambria" panose="02040503050406030204"/>
                <a:cs typeface="Cambria" panose="02040503050406030204"/>
              </a:rPr>
              <a:t>Có</a:t>
            </a:r>
            <a:endParaRPr sz="940" b="1" i="0">
              <a:solidFill>
                <a:srgbClr val="59636E"/>
              </a:solidFill>
              <a:latin typeface="Cambria" panose="02040503050406030204"/>
              <a:ea typeface="Cambria" panose="02040503050406030204"/>
              <a:cs typeface="Cambria" panose="02040503050406030204"/>
            </a:endParaRPr>
          </a:p>
        </p:txBody>
      </p:sp>
      <p:cxnSp>
        <p:nvCxnSpPr>
          <p:cNvPr id="46" name="Straight Arrow Connector 45"/>
          <p:cNvCxnSpPr>
            <a:stCxn id="9" idx="3"/>
            <a:endCxn id="12" idx="1"/>
          </p:cNvCxnSpPr>
          <p:nvPr/>
        </p:nvCxnSpPr>
        <p:spPr>
          <a:xfrm>
            <a:off x="7543800" y="2990850"/>
            <a:ext cx="952500" cy="0"/>
          </a:xfrm>
          <a:prstGeom prst="straightConnector1">
            <a:avLst/>
          </a:prstGeom>
          <a:ln w="19050">
            <a:solidFill>
              <a:srgbClr val="5FAE3E"/>
            </a:solidFill>
            <a:prstDash val="solid"/>
            <a:tailEnd type="arrow" w="med" len="med"/>
          </a:ln>
        </p:spPr>
      </p:cxnSp>
      <p:cxnSp>
        <p:nvCxnSpPr>
          <p:cNvPr id="47" name="Straight Arrow Connector 46"/>
          <p:cNvCxnSpPr>
            <a:stCxn id="12" idx="2"/>
            <a:endCxn id="13" idx="0"/>
          </p:cNvCxnSpPr>
          <p:nvPr/>
        </p:nvCxnSpPr>
        <p:spPr>
          <a:xfrm>
            <a:off x="9944100" y="3333750"/>
            <a:ext cx="0" cy="457200"/>
          </a:xfrm>
          <a:prstGeom prst="straightConnector1">
            <a:avLst/>
          </a:prstGeom>
          <a:ln w="19050">
            <a:solidFill>
              <a:srgbClr val="5FAE3E"/>
            </a:solidFill>
            <a:prstDash val="solid"/>
            <a:tailEnd type="arrow" w="med" len="med"/>
          </a:ln>
        </p:spPr>
      </p:cxnSp>
      <p:cxnSp>
        <p:nvCxnSpPr>
          <p:cNvPr id="48" name="Straight Arrow Connector 47"/>
          <p:cNvCxnSpPr>
            <a:stCxn id="13" idx="2"/>
            <a:endCxn id="14" idx="0"/>
          </p:cNvCxnSpPr>
          <p:nvPr/>
        </p:nvCxnSpPr>
        <p:spPr>
          <a:xfrm>
            <a:off x="9944100" y="4476750"/>
            <a:ext cx="0" cy="457200"/>
          </a:xfrm>
          <a:prstGeom prst="straightConnector1">
            <a:avLst/>
          </a:prstGeom>
          <a:ln w="19050">
            <a:solidFill>
              <a:srgbClr val="5FAE3E"/>
            </a:solidFill>
            <a:prstDash val="solid"/>
            <a:tailEnd type="arrow" w="med" len="med"/>
          </a:ln>
        </p:spPr>
      </p:cxnSp>
      <p:cxnSp>
        <p:nvCxnSpPr>
          <p:cNvPr id="49" name="Straight Arrow Connector 48"/>
          <p:cNvCxnSpPr>
            <a:stCxn id="11" idx="3"/>
            <a:endCxn id="14" idx="1"/>
          </p:cNvCxnSpPr>
          <p:nvPr/>
        </p:nvCxnSpPr>
        <p:spPr>
          <a:xfrm>
            <a:off x="7543800" y="5276850"/>
            <a:ext cx="952500" cy="0"/>
          </a:xfrm>
          <a:prstGeom prst="straightConnector1">
            <a:avLst/>
          </a:prstGeom>
          <a:ln w="19050">
            <a:solidFill>
              <a:srgbClr val="5FAE3E"/>
            </a:solidFill>
            <a:prstDash val="solid"/>
            <a:tailEnd type="arrow" w="med" len="med"/>
          </a:ln>
        </p:spPr>
      </p:cxnSp>
      <p:sp>
        <p:nvSpPr>
          <p:cNvPr id="24" name="Rectangle 23"/>
          <p:cNvSpPr>
            <a:spLocks noGrp="1"/>
          </p:cNvSpPr>
          <p:nvPr/>
        </p:nvSpPr>
        <p:spPr>
          <a:xfrm>
            <a:off x="704850" y="6115050"/>
            <a:ext cx="10782300" cy="266700"/>
          </a:xfrm>
          <a:prstGeom prst="rect">
            <a:avLst/>
          </a:prstGeom>
          <a:noFill/>
          <a:ln w="0">
            <a:noFill/>
          </a:ln>
        </p:spPr>
        <p:txBody>
          <a:bodyPr wrap="square" lIns="38100" tIns="19050" rIns="38100" bIns="19050" anchor="ctr">
            <a:normAutofit/>
          </a:bodyPr>
          <a:lstStyle/>
          <a:p>
            <a:pPr algn="ctr">
              <a:lnSpc>
                <a:spcPct val="100000"/>
              </a:lnSpc>
              <a:buNone/>
              <a:defRPr sz="1015" b="0" i="1">
                <a:solidFill>
                  <a:srgbClr val="59636E"/>
                </a:solidFill>
                <a:latin typeface="Cambria" panose="02040503050406030204"/>
                <a:ea typeface="Cambria" panose="02040503050406030204"/>
                <a:cs typeface="Cambria" panose="02040503050406030204"/>
              </a:defRPr>
            </a:pPr>
            <a:r>
              <a:rPr sz="1015" b="0" i="1">
                <a:solidFill>
                  <a:srgbClr val="59636E"/>
                </a:solidFill>
                <a:latin typeface="Cambria" panose="02040503050406030204"/>
                <a:ea typeface="Cambria" panose="02040503050406030204"/>
                <a:cs typeface="Cambria" panose="02040503050406030204"/>
              </a:rPr>
              <a:t>Xe thanh lý lưu TAM_DUNG, không có đơn vị quản lý và không xuất hiện như nguồn lực điều xe.</a:t>
            </a:r>
            <a:endParaRPr sz="1015" b="0" i="1">
              <a:solidFill>
                <a:srgbClr val="59636E"/>
              </a:solidFill>
              <a:latin typeface="Cambria" panose="02040503050406030204"/>
              <a:ea typeface="Cambria" panose="02040503050406030204"/>
              <a:cs typeface="Cambria" panose="02040503050406030204"/>
            </a:endParaRPr>
          </a:p>
        </p:txBody>
      </p:sp>
      <p:sp>
        <p:nvSpPr>
          <p:cNvPr id="25" name="Rectangle 24"/>
          <p:cNvSpPr>
            <a:spLocks noGrp="1"/>
          </p:cNvSpPr>
          <p:nvPr/>
        </p:nvSpPr>
        <p:spPr>
          <a:xfrm>
            <a:off x="266700" y="6534150"/>
            <a:ext cx="7429500" cy="190500"/>
          </a:xfrm>
          <a:prstGeom prst="rect">
            <a:avLst/>
          </a:prstGeom>
          <a:noFill/>
          <a:ln w="0">
            <a:noFill/>
          </a:ln>
        </p:spPr>
        <p:txBody>
          <a:bodyPr wrap="square" lIns="38100" tIns="19050" rIns="38100" bIns="19050" anchor="ctr">
            <a:normAutofit/>
          </a:bodyPr>
          <a:lstStyle/>
          <a:p>
            <a:pPr algn="l">
              <a:lnSpc>
                <a:spcPct val="100000"/>
              </a:lnSpc>
              <a:buNone/>
              <a:defRPr sz="825" b="0" i="1">
                <a:solidFill>
                  <a:srgbClr val="8A8F93"/>
                </a:solidFill>
                <a:latin typeface="Cambria" panose="02040503050406030204"/>
                <a:ea typeface="Cambria" panose="02040503050406030204"/>
                <a:cs typeface="Cambria" panose="02040503050406030204"/>
              </a:defRPr>
            </a:pPr>
            <a:r>
              <a:rPr sz="825" b="0" i="1">
                <a:solidFill>
                  <a:srgbClr val="8A8F93"/>
                </a:solidFill>
                <a:latin typeface="Cambria" panose="02040503050406030204"/>
                <a:ea typeface="Cambria" panose="02040503050406030204"/>
                <a:cs typeface="Cambria" panose="02040503050406030204"/>
              </a:rPr>
              <a:t>Giới thiệu phần mềm và tiến độ phát triển | THACO AGRI Fleet | 21/09/2026</a:t>
            </a:r>
            <a:endParaRPr sz="825" b="0" i="1">
              <a:solidFill>
                <a:srgbClr val="8A8F93"/>
              </a:solidFill>
              <a:latin typeface="Cambria" panose="02040503050406030204"/>
              <a:ea typeface="Cambria" panose="02040503050406030204"/>
              <a:cs typeface="Cambria" panose="02040503050406030204"/>
            </a:endParaRPr>
          </a:p>
        </p:txBody>
      </p:sp>
      <p:sp>
        <p:nvSpPr>
          <p:cNvPr id="26" name="Rectangle 25"/>
          <p:cNvSpPr>
            <a:spLocks noGrp="1"/>
          </p:cNvSpPr>
          <p:nvPr/>
        </p:nvSpPr>
        <p:spPr>
          <a:xfrm>
            <a:off x="11658600" y="6534150"/>
            <a:ext cx="228600" cy="190500"/>
          </a:xfrm>
          <a:prstGeom prst="rect">
            <a:avLst/>
          </a:prstGeom>
          <a:noFill/>
          <a:ln w="0">
            <a:noFill/>
          </a:ln>
        </p:spPr>
        <p:txBody>
          <a:bodyPr wrap="square" lIns="38100" tIns="19050" rIns="38100" bIns="19050" anchor="ctr">
            <a:normAutofit/>
          </a:bodyPr>
          <a:lstStyle/>
          <a:p>
            <a:pPr algn="r">
              <a:lnSpc>
                <a:spcPct val="100000"/>
              </a:lnSpc>
              <a:buNone/>
              <a:defRPr sz="825" b="0" i="0">
                <a:solidFill>
                  <a:srgbClr val="8A8F93"/>
                </a:solidFill>
                <a:latin typeface="Cambria" panose="02040503050406030204"/>
                <a:ea typeface="Cambria" panose="02040503050406030204"/>
                <a:cs typeface="Cambria" panose="02040503050406030204"/>
              </a:defRPr>
            </a:pPr>
            <a:r>
              <a:rPr sz="825" b="0" i="0">
                <a:solidFill>
                  <a:srgbClr val="8A8F93"/>
                </a:solidFill>
                <a:latin typeface="Cambria" panose="02040503050406030204"/>
                <a:ea typeface="Cambria" panose="02040503050406030204"/>
                <a:cs typeface="Cambria" panose="02040503050406030204"/>
              </a:rPr>
              <a:t>16</a:t>
            </a:r>
            <a:endParaRPr sz="825" b="0" i="0">
              <a:solidFill>
                <a:srgbClr val="8A8F93"/>
              </a:solidFill>
              <a:latin typeface="Cambria" panose="02040503050406030204"/>
              <a:ea typeface="Cambria" panose="02040503050406030204"/>
              <a:cs typeface="Cambria" panose="0204050305040603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 name="slide-title"/>
          <p:cNvSpPr>
            <a:spLocks noGrp="1"/>
          </p:cNvSpPr>
          <p:nvPr/>
        </p:nvSpPr>
        <p:spPr>
          <a:xfrm>
            <a:off x="2571750" y="142875"/>
            <a:ext cx="9191625" cy="590550"/>
          </a:xfrm>
          <a:prstGeom prst="rect">
            <a:avLst/>
          </a:prstGeom>
          <a:noFill/>
          <a:ln w="0">
            <a:noFill/>
          </a:ln>
        </p:spPr>
        <p:txBody>
          <a:bodyPr wrap="square" lIns="38100" tIns="19050" rIns="38100" bIns="19050" anchor="ctr">
            <a:normAutofit/>
          </a:bodyPr>
          <a:lstStyle/>
          <a:p>
            <a:pPr algn="ctr">
              <a:lnSpc>
                <a:spcPct val="100000"/>
              </a:lnSpc>
              <a:buNone/>
              <a:defRPr sz="2100" b="1" i="0">
                <a:solidFill>
                  <a:srgbClr val="E00000"/>
                </a:solidFill>
                <a:latin typeface="Cambria" panose="02040503050406030204"/>
                <a:ea typeface="Cambria" panose="02040503050406030204"/>
                <a:cs typeface="Cambria" panose="02040503050406030204"/>
              </a:defRPr>
            </a:pPr>
            <a:r>
              <a:rPr sz="2100" b="1" i="0">
                <a:solidFill>
                  <a:srgbClr val="E00000"/>
                </a:solidFill>
                <a:latin typeface="Cambria" panose="02040503050406030204"/>
                <a:ea typeface="Cambria" panose="02040503050406030204"/>
                <a:cs typeface="Cambria" panose="02040503050406030204"/>
              </a:rPr>
              <a:t>BẢO DƯỠNG ĐỊNH KỲ VÀ SỬA CHỮA</a:t>
            </a:r>
            <a:endParaRPr sz="2100" b="1" i="0">
              <a:solidFill>
                <a:srgbClr val="E00000"/>
              </a:solidFill>
              <a:latin typeface="Cambria" panose="02040503050406030204"/>
              <a:ea typeface="Cambria" panose="02040503050406030204"/>
              <a:cs typeface="Cambria" panose="02040503050406030204"/>
            </a:endParaRPr>
          </a:p>
        </p:txBody>
      </p:sp>
      <p:sp>
        <p:nvSpPr>
          <p:cNvPr id="2" name="Rectangle 1"/>
          <p:cNvSpPr>
            <a:spLocks noGrp="1"/>
          </p:cNvSpPr>
          <p:nvPr/>
        </p:nvSpPr>
        <p:spPr>
          <a:xfrm>
            <a:off x="323850" y="895350"/>
            <a:ext cx="3848100" cy="400050"/>
          </a:xfrm>
          <a:prstGeom prst="rect">
            <a:avLst/>
          </a:prstGeom>
          <a:solidFill>
            <a:srgbClr val="F3F8F0"/>
          </a:solidFill>
          <a:ln w="9525">
            <a:solidFill>
              <a:srgbClr val="5FAE3E"/>
            </a:solidFill>
          </a:ln>
        </p:spPr>
        <p:txBody>
          <a:bodyPr wrap="square" lIns="38100" tIns="19050" rIns="38100" bIns="19050" anchor="ctr">
            <a:normAutofit/>
          </a:bodyPr>
          <a:lstStyle/>
          <a:p>
            <a:pPr algn="ctr">
              <a:lnSpc>
                <a:spcPct val="100000"/>
              </a:lnSpc>
              <a:buNone/>
              <a:defRPr sz="1275" b="1" i="0">
                <a:solidFill>
                  <a:srgbClr val="006B35"/>
                </a:solidFill>
                <a:latin typeface="Cambria" panose="02040503050406030204"/>
                <a:ea typeface="Cambria" panose="02040503050406030204"/>
                <a:cs typeface="Cambria" panose="02040503050406030204"/>
              </a:defRPr>
            </a:pPr>
            <a:r>
              <a:rPr sz="1275" b="1" i="0">
                <a:solidFill>
                  <a:srgbClr val="006B35"/>
                </a:solidFill>
                <a:latin typeface="Cambria" panose="02040503050406030204"/>
                <a:ea typeface="Cambria" panose="02040503050406030204"/>
                <a:cs typeface="Cambria" panose="02040503050406030204"/>
              </a:rPr>
              <a:t>TÀI XẾ VÀ TELEMETRY</a:t>
            </a:r>
            <a:endParaRPr sz="1275" b="1" i="0">
              <a:solidFill>
                <a:srgbClr val="006B35"/>
              </a:solidFill>
              <a:latin typeface="Cambria" panose="02040503050406030204"/>
              <a:ea typeface="Cambria" panose="02040503050406030204"/>
              <a:cs typeface="Cambria" panose="02040503050406030204"/>
            </a:endParaRPr>
          </a:p>
        </p:txBody>
      </p:sp>
      <p:sp>
        <p:nvSpPr>
          <p:cNvPr id="3" name="Rectangle 2"/>
          <p:cNvSpPr>
            <a:spLocks noGrp="1"/>
          </p:cNvSpPr>
          <p:nvPr/>
        </p:nvSpPr>
        <p:spPr>
          <a:xfrm>
            <a:off x="4171950" y="895350"/>
            <a:ext cx="3848100" cy="400050"/>
          </a:xfrm>
          <a:prstGeom prst="rect">
            <a:avLst/>
          </a:prstGeom>
          <a:solidFill>
            <a:srgbClr val="F1F6FB"/>
          </a:solidFill>
          <a:ln w="9525">
            <a:solidFill>
              <a:srgbClr val="5FAE3E"/>
            </a:solidFill>
          </a:ln>
        </p:spPr>
        <p:txBody>
          <a:bodyPr wrap="square" lIns="38100" tIns="19050" rIns="38100" bIns="19050" anchor="ctr">
            <a:normAutofit/>
          </a:bodyPr>
          <a:lstStyle/>
          <a:p>
            <a:pPr algn="ctr">
              <a:lnSpc>
                <a:spcPct val="100000"/>
              </a:lnSpc>
              <a:buNone/>
              <a:defRPr sz="1275" b="1" i="0">
                <a:solidFill>
                  <a:srgbClr val="075AA7"/>
                </a:solidFill>
                <a:latin typeface="Cambria" panose="02040503050406030204"/>
                <a:ea typeface="Cambria" panose="02040503050406030204"/>
                <a:cs typeface="Cambria" panose="02040503050406030204"/>
              </a:defRPr>
            </a:pPr>
            <a:r>
              <a:rPr sz="1275" b="1" i="0">
                <a:solidFill>
                  <a:srgbClr val="075AA7"/>
                </a:solidFill>
                <a:latin typeface="Cambria" panose="02040503050406030204"/>
                <a:ea typeface="Cambria" panose="02040503050406030204"/>
                <a:cs typeface="Cambria" panose="02040503050406030204"/>
              </a:rPr>
              <a:t>XƯỞNG BTSC</a:t>
            </a:r>
            <a:endParaRPr sz="1275" b="1" i="0">
              <a:solidFill>
                <a:srgbClr val="075AA7"/>
              </a:solidFill>
              <a:latin typeface="Cambria" panose="02040503050406030204"/>
              <a:ea typeface="Cambria" panose="02040503050406030204"/>
              <a:cs typeface="Cambria" panose="02040503050406030204"/>
            </a:endParaRPr>
          </a:p>
        </p:txBody>
      </p:sp>
      <p:sp>
        <p:nvSpPr>
          <p:cNvPr id="4" name="Rectangle 3"/>
          <p:cNvSpPr>
            <a:spLocks noGrp="1"/>
          </p:cNvSpPr>
          <p:nvPr/>
        </p:nvSpPr>
        <p:spPr>
          <a:xfrm>
            <a:off x="4171950" y="1295400"/>
            <a:ext cx="14288" cy="4762500"/>
          </a:xfrm>
          <a:prstGeom prst="rect">
            <a:avLst/>
          </a:prstGeom>
          <a:solidFill>
            <a:srgbClr val="5FAE3E"/>
          </a:solidFill>
          <a:ln w="0">
            <a:solidFill>
              <a:srgbClr val="5FAE3E"/>
            </a:solidFill>
          </a:ln>
        </p:spPr>
      </p:sp>
      <p:sp>
        <p:nvSpPr>
          <p:cNvPr id="5" name="Rectangle 4"/>
          <p:cNvSpPr>
            <a:spLocks noGrp="1"/>
          </p:cNvSpPr>
          <p:nvPr/>
        </p:nvSpPr>
        <p:spPr>
          <a:xfrm>
            <a:off x="8020050" y="895350"/>
            <a:ext cx="3848100" cy="400050"/>
          </a:xfrm>
          <a:prstGeom prst="rect">
            <a:avLst/>
          </a:prstGeom>
          <a:solidFill>
            <a:srgbClr val="F3F8F0"/>
          </a:solidFill>
          <a:ln w="9525">
            <a:solidFill>
              <a:srgbClr val="5FAE3E"/>
            </a:solidFill>
          </a:ln>
        </p:spPr>
        <p:txBody>
          <a:bodyPr wrap="square" lIns="38100" tIns="19050" rIns="38100" bIns="19050" anchor="ctr">
            <a:normAutofit/>
          </a:bodyPr>
          <a:lstStyle/>
          <a:p>
            <a:pPr algn="ctr">
              <a:lnSpc>
                <a:spcPct val="100000"/>
              </a:lnSpc>
              <a:buNone/>
              <a:defRPr sz="1275" b="1" i="0">
                <a:solidFill>
                  <a:srgbClr val="006B35"/>
                </a:solidFill>
                <a:latin typeface="Cambria" panose="02040503050406030204"/>
                <a:ea typeface="Cambria" panose="02040503050406030204"/>
                <a:cs typeface="Cambria" panose="02040503050406030204"/>
              </a:defRPr>
            </a:pPr>
            <a:r>
              <a:rPr sz="1275" b="1" i="0">
                <a:solidFill>
                  <a:srgbClr val="006B35"/>
                </a:solidFill>
                <a:latin typeface="Cambria" panose="02040503050406030204"/>
                <a:ea typeface="Cambria" panose="02040503050406030204"/>
                <a:cs typeface="Cambria" panose="02040503050406030204"/>
              </a:rPr>
              <a:t>HỆ THỐNG</a:t>
            </a:r>
            <a:endParaRPr sz="1275" b="1" i="0">
              <a:solidFill>
                <a:srgbClr val="006B35"/>
              </a:solidFill>
              <a:latin typeface="Cambria" panose="02040503050406030204"/>
              <a:ea typeface="Cambria" panose="02040503050406030204"/>
              <a:cs typeface="Cambria" panose="02040503050406030204"/>
            </a:endParaRPr>
          </a:p>
        </p:txBody>
      </p:sp>
      <p:sp>
        <p:nvSpPr>
          <p:cNvPr id="6" name="Rectangle 5"/>
          <p:cNvSpPr>
            <a:spLocks noGrp="1"/>
          </p:cNvSpPr>
          <p:nvPr/>
        </p:nvSpPr>
        <p:spPr>
          <a:xfrm>
            <a:off x="8020050" y="1295400"/>
            <a:ext cx="14288" cy="4762500"/>
          </a:xfrm>
          <a:prstGeom prst="rect">
            <a:avLst/>
          </a:prstGeom>
          <a:solidFill>
            <a:srgbClr val="5FAE3E"/>
          </a:solidFill>
          <a:ln w="0">
            <a:solidFill>
              <a:srgbClr val="5FAE3E"/>
            </a:solidFill>
          </a:ln>
        </p:spPr>
      </p:sp>
      <p:sp>
        <p:nvSpPr>
          <p:cNvPr id="7" name="Rounded Rectangle 6"/>
          <p:cNvSpPr>
            <a:spLocks noGrp="1"/>
          </p:cNvSpPr>
          <p:nvPr/>
        </p:nvSpPr>
        <p:spPr>
          <a:xfrm>
            <a:off x="800100" y="1504950"/>
            <a:ext cx="2895600" cy="685800"/>
          </a:xfrm>
          <a:prstGeom prst="roundRect">
            <a:avLst>
              <a:gd name="adj" fmla="val 11111"/>
            </a:avLst>
          </a:prstGeom>
          <a:solidFill>
            <a:srgbClr val="E8F2E2"/>
          </a:solidFill>
          <a:ln w="13335">
            <a:solidFill>
              <a:srgbClr val="006B35"/>
            </a:solidFill>
            <a:prstDash val="solid"/>
          </a:ln>
        </p:spPr>
        <p:txBody>
          <a:bodyPr wrap="square" lIns="66675" tIns="47625" rIns="66675" bIns="47625" anchor="ctr">
            <a:normAutofit/>
          </a:bodyPr>
          <a:lstStyle/>
          <a:p>
            <a:pPr algn="ctr">
              <a:defRPr sz="1165" b="1">
                <a:solidFill>
                  <a:srgbClr val="17212B"/>
                </a:solidFill>
                <a:latin typeface="Cambria" panose="02040503050406030204"/>
                <a:ea typeface="Cambria" panose="02040503050406030204"/>
                <a:cs typeface="Cambria" panose="02040503050406030204"/>
              </a:defRPr>
            </a:pPr>
            <a:r>
              <a:rPr sz="1165" b="1">
                <a:solidFill>
                  <a:srgbClr val="17212B"/>
                </a:solidFill>
                <a:latin typeface="Cambria" panose="02040503050406030204"/>
                <a:ea typeface="Cambria" panose="02040503050406030204"/>
                <a:cs typeface="Cambria" panose="02040503050406030204"/>
              </a:rPr>
              <a:t>Nộp checklist BDC1 và cập nhật ODO hoặc giờ máy</a:t>
            </a:r>
            <a:endParaRPr sz="1165" b="1">
              <a:solidFill>
                <a:srgbClr val="17212B"/>
              </a:solidFill>
              <a:latin typeface="Cambria" panose="02040503050406030204"/>
              <a:ea typeface="Cambria" panose="02040503050406030204"/>
              <a:cs typeface="Cambria" panose="02040503050406030204"/>
            </a:endParaRPr>
          </a:p>
        </p:txBody>
      </p:sp>
      <p:sp>
        <p:nvSpPr>
          <p:cNvPr id="8" name="Rectangle 7"/>
          <p:cNvSpPr>
            <a:spLocks noGrp="1"/>
          </p:cNvSpPr>
          <p:nvPr/>
        </p:nvSpPr>
        <p:spPr>
          <a:xfrm>
            <a:off x="8496300" y="1504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Tính mốc bảo dưỡng, phân tầng Xanh, Vàng, Đỏ</a:t>
            </a:r>
            <a:endParaRPr sz="1165" b="0">
              <a:solidFill>
                <a:srgbClr val="17212B"/>
              </a:solidFill>
              <a:latin typeface="Cambria" panose="02040503050406030204"/>
              <a:ea typeface="Cambria" panose="02040503050406030204"/>
              <a:cs typeface="Cambria" panose="02040503050406030204"/>
            </a:endParaRPr>
          </a:p>
        </p:txBody>
      </p:sp>
      <p:sp>
        <p:nvSpPr>
          <p:cNvPr id="9" name="Rectangle 8"/>
          <p:cNvSpPr>
            <a:spLocks noGrp="1"/>
          </p:cNvSpPr>
          <p:nvPr/>
        </p:nvSpPr>
        <p:spPr>
          <a:xfrm>
            <a:off x="4648200" y="2647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Tạo phiếu BDC2 hoặc tiếp nhận phiếu sửa chữa</a:t>
            </a:r>
            <a:endParaRPr sz="1165" b="0">
              <a:solidFill>
                <a:srgbClr val="17212B"/>
              </a:solidFill>
              <a:latin typeface="Cambria" panose="02040503050406030204"/>
              <a:ea typeface="Cambria" panose="02040503050406030204"/>
              <a:cs typeface="Cambria" panose="02040503050406030204"/>
            </a:endParaRPr>
          </a:p>
        </p:txBody>
      </p:sp>
      <p:sp>
        <p:nvSpPr>
          <p:cNvPr id="10" name="Rectangle 9"/>
          <p:cNvSpPr>
            <a:spLocks noGrp="1"/>
          </p:cNvSpPr>
          <p:nvPr/>
        </p:nvSpPr>
        <p:spPr>
          <a:xfrm>
            <a:off x="4648200" y="3790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Đánh giá, lập kế hoạch, thực hiện và cập nhật chi phí</a:t>
            </a:r>
            <a:endParaRPr sz="1165" b="0">
              <a:solidFill>
                <a:srgbClr val="17212B"/>
              </a:solidFill>
              <a:latin typeface="Cambria" panose="02040503050406030204"/>
              <a:ea typeface="Cambria" panose="02040503050406030204"/>
              <a:cs typeface="Cambria" panose="02040503050406030204"/>
            </a:endParaRPr>
          </a:p>
        </p:txBody>
      </p:sp>
      <p:sp>
        <p:nvSpPr>
          <p:cNvPr id="11" name="Diamond 10"/>
          <p:cNvSpPr>
            <a:spLocks noGrp="1"/>
          </p:cNvSpPr>
          <p:nvPr/>
        </p:nvSpPr>
        <p:spPr>
          <a:xfrm>
            <a:off x="8496300" y="3790950"/>
            <a:ext cx="2895600" cy="819150"/>
          </a:xfrm>
          <a:prstGeom prst="diamond">
            <a:avLst/>
          </a:prstGeom>
          <a:solidFill>
            <a:srgbClr val="F8D1B0"/>
          </a:solidFill>
          <a:ln w="13335">
            <a:solidFill>
              <a:srgbClr val="006B35"/>
            </a:solidFill>
            <a:prstDash val="solid"/>
          </a:ln>
        </p:spPr>
        <p:txBody>
          <a:bodyPr wrap="square" lIns="66675" tIns="47625" rIns="66675" bIns="47625" anchor="ctr">
            <a:normAutofit/>
          </a:bodyPr>
          <a:lstStyle/>
          <a:p>
            <a:pPr algn="ctr">
              <a:defRPr sz="1165" b="1">
                <a:solidFill>
                  <a:srgbClr val="17212B"/>
                </a:solidFill>
                <a:latin typeface="Cambria" panose="02040503050406030204"/>
                <a:ea typeface="Cambria" panose="02040503050406030204"/>
                <a:cs typeface="Cambria" panose="02040503050406030204"/>
              </a:defRPr>
            </a:pPr>
            <a:r>
              <a:rPr sz="1165" b="1">
                <a:solidFill>
                  <a:srgbClr val="17212B"/>
                </a:solidFill>
                <a:latin typeface="Cambria" panose="02040503050406030204"/>
                <a:ea typeface="Cambria" panose="02040503050406030204"/>
                <a:cs typeface="Cambria" panose="02040503050406030204"/>
              </a:rPr>
              <a:t>THIẾU PHỤ TÙNG?</a:t>
            </a:r>
            <a:endParaRPr sz="1165" b="1">
              <a:solidFill>
                <a:srgbClr val="17212B"/>
              </a:solidFill>
              <a:latin typeface="Cambria" panose="02040503050406030204"/>
              <a:ea typeface="Cambria" panose="02040503050406030204"/>
              <a:cs typeface="Cambria" panose="02040503050406030204"/>
            </a:endParaRPr>
          </a:p>
        </p:txBody>
      </p:sp>
      <p:sp>
        <p:nvSpPr>
          <p:cNvPr id="12" name="Rectangle 11"/>
          <p:cNvSpPr>
            <a:spLocks noGrp="1"/>
          </p:cNvSpPr>
          <p:nvPr/>
        </p:nvSpPr>
        <p:spPr>
          <a:xfrm>
            <a:off x="4648200" y="4933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Sẵn sàng nghiệm thu, bàn giao và hoàn tất</a:t>
            </a:r>
            <a:endParaRPr sz="1165" b="0">
              <a:solidFill>
                <a:srgbClr val="17212B"/>
              </a:solidFill>
              <a:latin typeface="Cambria" panose="02040503050406030204"/>
              <a:ea typeface="Cambria" panose="02040503050406030204"/>
              <a:cs typeface="Cambria" panose="02040503050406030204"/>
            </a:endParaRPr>
          </a:p>
        </p:txBody>
      </p:sp>
      <p:sp>
        <p:nvSpPr>
          <p:cNvPr id="13" name="Rectangle 12"/>
          <p:cNvSpPr>
            <a:spLocks noGrp="1"/>
          </p:cNvSpPr>
          <p:nvPr/>
        </p:nvSpPr>
        <p:spPr>
          <a:xfrm>
            <a:off x="8496300" y="4933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Đóng mốc bảo dưỡng, cập nhật trạng thái xe</a:t>
            </a:r>
            <a:endParaRPr sz="1165" b="0">
              <a:solidFill>
                <a:srgbClr val="17212B"/>
              </a:solidFill>
              <a:latin typeface="Cambria" panose="02040503050406030204"/>
              <a:ea typeface="Cambria" panose="02040503050406030204"/>
              <a:cs typeface="Cambria" panose="02040503050406030204"/>
            </a:endParaRPr>
          </a:p>
        </p:txBody>
      </p:sp>
      <p:sp>
        <p:nvSpPr>
          <p:cNvPr id="14" name="Rounded Rectangle 13"/>
          <p:cNvSpPr>
            <a:spLocks noGrp="1"/>
          </p:cNvSpPr>
          <p:nvPr/>
        </p:nvSpPr>
        <p:spPr>
          <a:xfrm>
            <a:off x="800100" y="4933950"/>
            <a:ext cx="2895600" cy="685800"/>
          </a:xfrm>
          <a:prstGeom prst="roundRect">
            <a:avLst>
              <a:gd name="adj" fmla="val 11111"/>
            </a:avLst>
          </a:prstGeom>
          <a:solidFill>
            <a:srgbClr val="E8F2E2"/>
          </a:solidFill>
          <a:ln w="13335">
            <a:solidFill>
              <a:srgbClr val="006B35"/>
            </a:solidFill>
            <a:prstDash val="solid"/>
          </a:ln>
        </p:spPr>
        <p:txBody>
          <a:bodyPr wrap="square" lIns="66675" tIns="47625" rIns="66675" bIns="47625" anchor="ctr">
            <a:normAutofit/>
          </a:bodyPr>
          <a:lstStyle/>
          <a:p>
            <a:pPr algn="ctr">
              <a:defRPr sz="1165" b="1">
                <a:solidFill>
                  <a:srgbClr val="17212B"/>
                </a:solidFill>
                <a:latin typeface="Cambria" panose="02040503050406030204"/>
                <a:ea typeface="Cambria" panose="02040503050406030204"/>
                <a:cs typeface="Cambria" panose="02040503050406030204"/>
              </a:defRPr>
            </a:pPr>
            <a:r>
              <a:rPr sz="1165" b="1">
                <a:solidFill>
                  <a:srgbClr val="17212B"/>
                </a:solidFill>
                <a:latin typeface="Cambria" panose="02040503050406030204"/>
                <a:ea typeface="Cambria" panose="02040503050406030204"/>
                <a:cs typeface="Cambria" panose="02040503050406030204"/>
              </a:rPr>
              <a:t>Xe trở lại CHO_PHAN_CONG khi đủ điều kiện</a:t>
            </a:r>
            <a:endParaRPr sz="1165" b="1">
              <a:solidFill>
                <a:srgbClr val="17212B"/>
              </a:solidFill>
              <a:latin typeface="Cambria" panose="02040503050406030204"/>
              <a:ea typeface="Cambria" panose="02040503050406030204"/>
              <a:cs typeface="Cambria" panose="02040503050406030204"/>
            </a:endParaRPr>
          </a:p>
        </p:txBody>
      </p:sp>
      <p:cxnSp>
        <p:nvCxnSpPr>
          <p:cNvPr id="42" name="Straight Arrow Connector 41"/>
          <p:cNvCxnSpPr>
            <a:stCxn id="7" idx="3"/>
            <a:endCxn id="8" idx="1"/>
          </p:cNvCxnSpPr>
          <p:nvPr/>
        </p:nvCxnSpPr>
        <p:spPr>
          <a:xfrm>
            <a:off x="3695700" y="1847850"/>
            <a:ext cx="4800600" cy="0"/>
          </a:xfrm>
          <a:prstGeom prst="straightConnector1">
            <a:avLst/>
          </a:prstGeom>
          <a:ln w="19050">
            <a:solidFill>
              <a:srgbClr val="5FAE3E"/>
            </a:solidFill>
            <a:prstDash val="solid"/>
            <a:tailEnd type="arrow" w="med" len="med"/>
          </a:ln>
        </p:spPr>
      </p:cxnSp>
      <p:cxnSp>
        <p:nvCxnSpPr>
          <p:cNvPr id="43" name="Elbow Connector 42"/>
          <p:cNvCxnSpPr>
            <a:stCxn id="8" idx="1"/>
            <a:endCxn id="9" idx="3"/>
          </p:cNvCxnSpPr>
          <p:nvPr/>
        </p:nvCxnSpPr>
        <p:spPr>
          <a:xfrm flipH="1">
            <a:off x="7543800" y="1847850"/>
            <a:ext cx="952500" cy="1143000"/>
          </a:xfrm>
          <a:prstGeom prst="bentConnector3">
            <a:avLst>
              <a:gd name="adj1" fmla="val 50000"/>
            </a:avLst>
          </a:prstGeom>
          <a:ln w="19050">
            <a:solidFill>
              <a:srgbClr val="5FAE3E"/>
            </a:solidFill>
            <a:prstDash val="solid"/>
            <a:tailEnd type="arrow" w="med" len="med"/>
          </a:ln>
        </p:spPr>
      </p:cxnSp>
      <p:cxnSp>
        <p:nvCxnSpPr>
          <p:cNvPr id="44" name="Straight Arrow Connector 43"/>
          <p:cNvCxnSpPr>
            <a:stCxn id="9" idx="2"/>
            <a:endCxn id="10" idx="0"/>
          </p:cNvCxnSpPr>
          <p:nvPr/>
        </p:nvCxnSpPr>
        <p:spPr>
          <a:xfrm>
            <a:off x="6096000" y="3333750"/>
            <a:ext cx="0" cy="457200"/>
          </a:xfrm>
          <a:prstGeom prst="straightConnector1">
            <a:avLst/>
          </a:prstGeom>
          <a:ln w="19050">
            <a:solidFill>
              <a:srgbClr val="5FAE3E"/>
            </a:solidFill>
            <a:prstDash val="solid"/>
            <a:tailEnd type="arrow" w="med" len="med"/>
          </a:ln>
        </p:spPr>
      </p:cxnSp>
      <p:cxnSp>
        <p:nvCxnSpPr>
          <p:cNvPr id="45" name="Elbow Connector 44"/>
          <p:cNvCxnSpPr>
            <a:stCxn id="10" idx="3"/>
            <a:endCxn id="11" idx="1"/>
          </p:cNvCxnSpPr>
          <p:nvPr/>
        </p:nvCxnSpPr>
        <p:spPr>
          <a:xfrm>
            <a:off x="7543800" y="4133850"/>
            <a:ext cx="952500" cy="66675"/>
          </a:xfrm>
          <a:prstGeom prst="bentConnector3">
            <a:avLst>
              <a:gd name="adj1" fmla="val 50000"/>
            </a:avLst>
          </a:prstGeom>
          <a:ln w="19050">
            <a:solidFill>
              <a:srgbClr val="5FAE3E"/>
            </a:solidFill>
            <a:prstDash val="solid"/>
            <a:tailEnd type="arrow" w="med" len="med"/>
          </a:ln>
        </p:spPr>
      </p:cxnSp>
      <p:cxnSp>
        <p:nvCxnSpPr>
          <p:cNvPr id="46" name="Elbow Connector 45"/>
          <p:cNvCxnSpPr>
            <a:stCxn id="11" idx="1"/>
            <a:endCxn id="12" idx="3"/>
          </p:cNvCxnSpPr>
          <p:nvPr/>
        </p:nvCxnSpPr>
        <p:spPr>
          <a:xfrm flipH="1">
            <a:off x="7543800" y="4200525"/>
            <a:ext cx="952500" cy="1076325"/>
          </a:xfrm>
          <a:prstGeom prst="bentConnector3">
            <a:avLst>
              <a:gd name="adj1" fmla="val 50000"/>
            </a:avLst>
          </a:prstGeom>
          <a:ln w="19050">
            <a:solidFill>
              <a:srgbClr val="5FAE3E"/>
            </a:solidFill>
            <a:prstDash val="solid"/>
            <a:tailEnd type="arrow" w="med" len="med"/>
          </a:ln>
        </p:spPr>
      </p:cxnSp>
      <p:sp>
        <p:nvSpPr>
          <p:cNvPr id="20" name="Rectangle 19"/>
          <p:cNvSpPr>
            <a:spLocks noGrp="1"/>
          </p:cNvSpPr>
          <p:nvPr/>
        </p:nvSpPr>
        <p:spPr>
          <a:xfrm>
            <a:off x="7696200" y="4914900"/>
            <a:ext cx="666750" cy="209550"/>
          </a:xfrm>
          <a:prstGeom prst="rect">
            <a:avLst/>
          </a:prstGeom>
          <a:solidFill>
            <a:srgbClr val="FFFFFF"/>
          </a:solidFill>
          <a:ln w="0">
            <a:noFill/>
          </a:ln>
        </p:spPr>
        <p:txBody>
          <a:bodyPr wrap="square" lIns="38100" tIns="19050" rIns="38100" bIns="19050" anchor="ctr">
            <a:normAutofit/>
          </a:bodyPr>
          <a:lstStyle/>
          <a:p>
            <a:pPr algn="ctr">
              <a:lnSpc>
                <a:spcPct val="100000"/>
              </a:lnSpc>
              <a:buNone/>
              <a:defRPr sz="940" b="1" i="0">
                <a:solidFill>
                  <a:srgbClr val="59636E"/>
                </a:solidFill>
                <a:latin typeface="Cambria" panose="02040503050406030204"/>
                <a:ea typeface="Cambria" panose="02040503050406030204"/>
                <a:cs typeface="Cambria" panose="02040503050406030204"/>
              </a:defRPr>
            </a:pPr>
            <a:r>
              <a:rPr sz="940" b="1" i="0">
                <a:solidFill>
                  <a:srgbClr val="59636E"/>
                </a:solidFill>
                <a:latin typeface="Cambria" panose="02040503050406030204"/>
                <a:ea typeface="Cambria" panose="02040503050406030204"/>
                <a:cs typeface="Cambria" panose="02040503050406030204"/>
              </a:rPr>
              <a:t>Không</a:t>
            </a:r>
            <a:endParaRPr sz="940" b="1" i="0">
              <a:solidFill>
                <a:srgbClr val="59636E"/>
              </a:solidFill>
              <a:latin typeface="Cambria" panose="02040503050406030204"/>
              <a:ea typeface="Cambria" panose="02040503050406030204"/>
              <a:cs typeface="Cambria" panose="02040503050406030204"/>
            </a:endParaRPr>
          </a:p>
        </p:txBody>
      </p:sp>
      <p:cxnSp>
        <p:nvCxnSpPr>
          <p:cNvPr id="48" name="Elbow Connector 47"/>
          <p:cNvCxnSpPr>
            <a:stCxn id="11" idx="1"/>
            <a:endCxn id="10" idx="3"/>
          </p:cNvCxnSpPr>
          <p:nvPr/>
        </p:nvCxnSpPr>
        <p:spPr>
          <a:xfrm flipH="1" flipV="1">
            <a:off x="7543800" y="4133850"/>
            <a:ext cx="952500" cy="66675"/>
          </a:xfrm>
          <a:prstGeom prst="bentConnector3">
            <a:avLst>
              <a:gd name="adj1" fmla="val 50000"/>
            </a:avLst>
          </a:prstGeom>
          <a:ln w="19050">
            <a:solidFill>
              <a:srgbClr val="5FAE3E"/>
            </a:solidFill>
            <a:prstDash val="dash"/>
            <a:tailEnd type="arrow" w="med" len="med"/>
          </a:ln>
        </p:spPr>
      </p:cxnSp>
      <p:sp>
        <p:nvSpPr>
          <p:cNvPr id="22" name="Rectangle 21"/>
          <p:cNvSpPr>
            <a:spLocks noGrp="1"/>
          </p:cNvSpPr>
          <p:nvPr/>
        </p:nvSpPr>
        <p:spPr>
          <a:xfrm>
            <a:off x="7439025" y="4000500"/>
            <a:ext cx="1285875" cy="209550"/>
          </a:xfrm>
          <a:prstGeom prst="rect">
            <a:avLst/>
          </a:prstGeom>
          <a:solidFill>
            <a:srgbClr val="FFFFFF"/>
          </a:solidFill>
          <a:ln w="0">
            <a:noFill/>
          </a:ln>
        </p:spPr>
        <p:txBody>
          <a:bodyPr wrap="square" lIns="38100" tIns="19050" rIns="38100" bIns="19050" anchor="ctr">
            <a:normAutofit/>
          </a:bodyPr>
          <a:lstStyle/>
          <a:p>
            <a:pPr algn="ctr">
              <a:lnSpc>
                <a:spcPct val="100000"/>
              </a:lnSpc>
              <a:buNone/>
              <a:defRPr sz="940" b="1" i="0">
                <a:solidFill>
                  <a:srgbClr val="59636E"/>
                </a:solidFill>
                <a:latin typeface="Cambria" panose="02040503050406030204"/>
                <a:ea typeface="Cambria" panose="02040503050406030204"/>
                <a:cs typeface="Cambria" panose="02040503050406030204"/>
              </a:defRPr>
            </a:pPr>
            <a:r>
              <a:rPr sz="940" b="1" i="0">
                <a:solidFill>
                  <a:srgbClr val="59636E"/>
                </a:solidFill>
                <a:latin typeface="Cambria" panose="02040503050406030204"/>
                <a:ea typeface="Cambria" panose="02040503050406030204"/>
                <a:cs typeface="Cambria" panose="02040503050406030204"/>
              </a:rPr>
              <a:t>Có, WAITING_PARTS</a:t>
            </a:r>
            <a:endParaRPr sz="940" b="1" i="0">
              <a:solidFill>
                <a:srgbClr val="59636E"/>
              </a:solidFill>
              <a:latin typeface="Cambria" panose="02040503050406030204"/>
              <a:ea typeface="Cambria" panose="02040503050406030204"/>
              <a:cs typeface="Cambria" panose="02040503050406030204"/>
            </a:endParaRPr>
          </a:p>
        </p:txBody>
      </p:sp>
      <p:cxnSp>
        <p:nvCxnSpPr>
          <p:cNvPr id="50" name="Straight Arrow Connector 49"/>
          <p:cNvCxnSpPr>
            <a:stCxn id="12" idx="3"/>
            <a:endCxn id="13" idx="1"/>
          </p:cNvCxnSpPr>
          <p:nvPr/>
        </p:nvCxnSpPr>
        <p:spPr>
          <a:xfrm>
            <a:off x="7543800" y="5276850"/>
            <a:ext cx="952500" cy="0"/>
          </a:xfrm>
          <a:prstGeom prst="straightConnector1">
            <a:avLst/>
          </a:prstGeom>
          <a:ln w="19050">
            <a:solidFill>
              <a:srgbClr val="5FAE3E"/>
            </a:solidFill>
            <a:prstDash val="solid"/>
            <a:tailEnd type="arrow" w="med" len="med"/>
          </a:ln>
        </p:spPr>
      </p:cxnSp>
      <p:cxnSp>
        <p:nvCxnSpPr>
          <p:cNvPr id="51" name="Straight Arrow Connector 50"/>
          <p:cNvCxnSpPr>
            <a:stCxn id="13" idx="2"/>
            <a:endCxn id="14" idx="2"/>
          </p:cNvCxnSpPr>
          <p:nvPr/>
        </p:nvCxnSpPr>
        <p:spPr>
          <a:xfrm flipH="1">
            <a:off x="2247900" y="5619750"/>
            <a:ext cx="7696200" cy="0"/>
          </a:xfrm>
          <a:prstGeom prst="straightConnector1">
            <a:avLst/>
          </a:prstGeom>
          <a:ln w="19050">
            <a:solidFill>
              <a:srgbClr val="5FAE3E"/>
            </a:solidFill>
            <a:prstDash val="solid"/>
            <a:tailEnd type="arrow" w="med" len="med"/>
          </a:ln>
        </p:spPr>
      </p:cxnSp>
      <p:sp>
        <p:nvSpPr>
          <p:cNvPr id="25" name="Rectangle 24"/>
          <p:cNvSpPr>
            <a:spLocks noGrp="1"/>
          </p:cNvSpPr>
          <p:nvPr/>
        </p:nvSpPr>
        <p:spPr>
          <a:xfrm>
            <a:off x="704850" y="6115050"/>
            <a:ext cx="10782300" cy="266700"/>
          </a:xfrm>
          <a:prstGeom prst="rect">
            <a:avLst/>
          </a:prstGeom>
          <a:noFill/>
          <a:ln w="0">
            <a:noFill/>
          </a:ln>
        </p:spPr>
        <p:txBody>
          <a:bodyPr wrap="square" lIns="38100" tIns="19050" rIns="38100" bIns="19050" anchor="ctr">
            <a:normAutofit/>
          </a:bodyPr>
          <a:lstStyle/>
          <a:p>
            <a:pPr algn="ctr">
              <a:lnSpc>
                <a:spcPct val="100000"/>
              </a:lnSpc>
              <a:buNone/>
              <a:defRPr sz="1015" b="0" i="1">
                <a:solidFill>
                  <a:srgbClr val="59636E"/>
                </a:solidFill>
                <a:latin typeface="Cambria" panose="02040503050406030204"/>
                <a:ea typeface="Cambria" panose="02040503050406030204"/>
                <a:cs typeface="Cambria" panose="02040503050406030204"/>
              </a:defRPr>
            </a:pPr>
            <a:r>
              <a:rPr sz="1015" b="0" i="1">
                <a:solidFill>
                  <a:srgbClr val="59636E"/>
                </a:solidFill>
                <a:latin typeface="Cambria" panose="02040503050406030204"/>
                <a:ea typeface="Cambria" panose="02040503050406030204"/>
                <a:cs typeface="Cambria" panose="02040503050406030204"/>
              </a:rPr>
              <a:t>Khi bảo dưỡng phát hiện hư hỏng, hệ thống có thể tạo tiếp phiếu sửa chữa và giữ xe ở trạng thái không sẵn sàng.</a:t>
            </a:r>
            <a:endParaRPr sz="1015" b="0" i="1">
              <a:solidFill>
                <a:srgbClr val="59636E"/>
              </a:solidFill>
              <a:latin typeface="Cambria" panose="02040503050406030204"/>
              <a:ea typeface="Cambria" panose="02040503050406030204"/>
              <a:cs typeface="Cambria" panose="02040503050406030204"/>
            </a:endParaRPr>
          </a:p>
        </p:txBody>
      </p:sp>
      <p:sp>
        <p:nvSpPr>
          <p:cNvPr id="26" name="Rectangle 25"/>
          <p:cNvSpPr>
            <a:spLocks noGrp="1"/>
          </p:cNvSpPr>
          <p:nvPr/>
        </p:nvSpPr>
        <p:spPr>
          <a:xfrm>
            <a:off x="266700" y="6534150"/>
            <a:ext cx="7429500" cy="190500"/>
          </a:xfrm>
          <a:prstGeom prst="rect">
            <a:avLst/>
          </a:prstGeom>
          <a:noFill/>
          <a:ln w="0">
            <a:noFill/>
          </a:ln>
        </p:spPr>
        <p:txBody>
          <a:bodyPr wrap="square" lIns="38100" tIns="19050" rIns="38100" bIns="19050" anchor="ctr">
            <a:normAutofit/>
          </a:bodyPr>
          <a:lstStyle/>
          <a:p>
            <a:pPr algn="l">
              <a:lnSpc>
                <a:spcPct val="100000"/>
              </a:lnSpc>
              <a:buNone/>
              <a:defRPr sz="825" b="0" i="1">
                <a:solidFill>
                  <a:srgbClr val="8A8F93"/>
                </a:solidFill>
                <a:latin typeface="Cambria" panose="02040503050406030204"/>
                <a:ea typeface="Cambria" panose="02040503050406030204"/>
                <a:cs typeface="Cambria" panose="02040503050406030204"/>
              </a:defRPr>
            </a:pPr>
            <a:r>
              <a:rPr sz="825" b="0" i="1">
                <a:solidFill>
                  <a:srgbClr val="8A8F93"/>
                </a:solidFill>
                <a:latin typeface="Cambria" panose="02040503050406030204"/>
                <a:ea typeface="Cambria" panose="02040503050406030204"/>
                <a:cs typeface="Cambria" panose="02040503050406030204"/>
              </a:rPr>
              <a:t>Giới thiệu phần mềm và tiến độ phát triển | THACO AGRI Fleet | 21/09/2026</a:t>
            </a:r>
            <a:endParaRPr sz="825" b="0" i="1">
              <a:solidFill>
                <a:srgbClr val="8A8F93"/>
              </a:solidFill>
              <a:latin typeface="Cambria" panose="02040503050406030204"/>
              <a:ea typeface="Cambria" panose="02040503050406030204"/>
              <a:cs typeface="Cambria" panose="02040503050406030204"/>
            </a:endParaRPr>
          </a:p>
        </p:txBody>
      </p:sp>
      <p:sp>
        <p:nvSpPr>
          <p:cNvPr id="27" name="Rectangle 26"/>
          <p:cNvSpPr>
            <a:spLocks noGrp="1"/>
          </p:cNvSpPr>
          <p:nvPr/>
        </p:nvSpPr>
        <p:spPr>
          <a:xfrm>
            <a:off x="11658600" y="6534150"/>
            <a:ext cx="228600" cy="190500"/>
          </a:xfrm>
          <a:prstGeom prst="rect">
            <a:avLst/>
          </a:prstGeom>
          <a:noFill/>
          <a:ln w="0">
            <a:noFill/>
          </a:ln>
        </p:spPr>
        <p:txBody>
          <a:bodyPr wrap="square" lIns="38100" tIns="19050" rIns="38100" bIns="19050" anchor="ctr">
            <a:normAutofit/>
          </a:bodyPr>
          <a:lstStyle/>
          <a:p>
            <a:pPr algn="r">
              <a:lnSpc>
                <a:spcPct val="100000"/>
              </a:lnSpc>
              <a:buNone/>
              <a:defRPr sz="825" b="0" i="0">
                <a:solidFill>
                  <a:srgbClr val="8A8F93"/>
                </a:solidFill>
                <a:latin typeface="Cambria" panose="02040503050406030204"/>
                <a:ea typeface="Cambria" panose="02040503050406030204"/>
                <a:cs typeface="Cambria" panose="02040503050406030204"/>
              </a:defRPr>
            </a:pPr>
            <a:r>
              <a:rPr sz="825" b="0" i="0">
                <a:solidFill>
                  <a:srgbClr val="8A8F93"/>
                </a:solidFill>
                <a:latin typeface="Cambria" panose="02040503050406030204"/>
                <a:ea typeface="Cambria" panose="02040503050406030204"/>
                <a:cs typeface="Cambria" panose="02040503050406030204"/>
              </a:rPr>
              <a:t>17</a:t>
            </a:r>
            <a:endParaRPr sz="825" b="0" i="0">
              <a:solidFill>
                <a:srgbClr val="8A8F93"/>
              </a:solidFill>
              <a:latin typeface="Cambria" panose="02040503050406030204"/>
              <a:ea typeface="Cambria" panose="02040503050406030204"/>
              <a:cs typeface="Cambria" panose="0204050305040603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 name="slide-title"/>
          <p:cNvSpPr>
            <a:spLocks noGrp="1"/>
          </p:cNvSpPr>
          <p:nvPr/>
        </p:nvSpPr>
        <p:spPr>
          <a:xfrm>
            <a:off x="2571750" y="142875"/>
            <a:ext cx="9191625" cy="590550"/>
          </a:xfrm>
          <a:prstGeom prst="rect">
            <a:avLst/>
          </a:prstGeom>
          <a:noFill/>
          <a:ln w="0">
            <a:noFill/>
          </a:ln>
        </p:spPr>
        <p:txBody>
          <a:bodyPr wrap="square" lIns="38100" tIns="19050" rIns="38100" bIns="19050" anchor="ctr">
            <a:normAutofit/>
          </a:bodyPr>
          <a:lstStyle/>
          <a:p>
            <a:pPr algn="ctr">
              <a:lnSpc>
                <a:spcPct val="100000"/>
              </a:lnSpc>
              <a:buNone/>
              <a:defRPr sz="2100" b="1" i="0">
                <a:solidFill>
                  <a:srgbClr val="E00000"/>
                </a:solidFill>
                <a:latin typeface="Cambria" panose="02040503050406030204"/>
                <a:ea typeface="Cambria" panose="02040503050406030204"/>
                <a:cs typeface="Cambria" panose="02040503050406030204"/>
              </a:defRPr>
            </a:pPr>
            <a:r>
              <a:rPr sz="2100" b="1" i="0">
                <a:solidFill>
                  <a:srgbClr val="E00000"/>
                </a:solidFill>
                <a:latin typeface="Cambria" panose="02040503050406030204"/>
                <a:ea typeface="Cambria" panose="02040503050406030204"/>
                <a:cs typeface="Cambria" panose="02040503050406030204"/>
              </a:rPr>
              <a:t>CẤP PHÁT VÀ ĐỐI SOÁT NHIÊN LIỆU</a:t>
            </a:r>
            <a:endParaRPr sz="2100" b="1" i="0">
              <a:solidFill>
                <a:srgbClr val="E00000"/>
              </a:solidFill>
              <a:latin typeface="Cambria" panose="02040503050406030204"/>
              <a:ea typeface="Cambria" panose="02040503050406030204"/>
              <a:cs typeface="Cambria" panose="02040503050406030204"/>
            </a:endParaRPr>
          </a:p>
        </p:txBody>
      </p:sp>
      <p:sp>
        <p:nvSpPr>
          <p:cNvPr id="2" name="Rectangle 1"/>
          <p:cNvSpPr>
            <a:spLocks noGrp="1"/>
          </p:cNvSpPr>
          <p:nvPr/>
        </p:nvSpPr>
        <p:spPr>
          <a:xfrm>
            <a:off x="323850" y="895350"/>
            <a:ext cx="3848100" cy="400050"/>
          </a:xfrm>
          <a:prstGeom prst="rect">
            <a:avLst/>
          </a:prstGeom>
          <a:solidFill>
            <a:srgbClr val="F3F8F0"/>
          </a:solidFill>
          <a:ln w="9525">
            <a:solidFill>
              <a:srgbClr val="5FAE3E"/>
            </a:solidFill>
          </a:ln>
        </p:spPr>
        <p:txBody>
          <a:bodyPr wrap="square" lIns="38100" tIns="19050" rIns="38100" bIns="19050" anchor="ctr">
            <a:normAutofit/>
          </a:bodyPr>
          <a:lstStyle/>
          <a:p>
            <a:pPr algn="ctr">
              <a:lnSpc>
                <a:spcPct val="100000"/>
              </a:lnSpc>
              <a:buNone/>
              <a:defRPr sz="1275" b="1" i="0">
                <a:solidFill>
                  <a:srgbClr val="006B35"/>
                </a:solidFill>
                <a:latin typeface="Cambria" panose="02040503050406030204"/>
                <a:ea typeface="Cambria" panose="02040503050406030204"/>
                <a:cs typeface="Cambria" panose="02040503050406030204"/>
              </a:defRPr>
            </a:pPr>
            <a:r>
              <a:rPr sz="1275" b="1" i="0">
                <a:solidFill>
                  <a:srgbClr val="006B35"/>
                </a:solidFill>
                <a:latin typeface="Cambria" panose="02040503050406030204"/>
                <a:ea typeface="Cambria" panose="02040503050406030204"/>
                <a:cs typeface="Cambria" panose="02040503050406030204"/>
              </a:rPr>
              <a:t>XE VÀ LỆNH</a:t>
            </a:r>
            <a:endParaRPr sz="1275" b="1" i="0">
              <a:solidFill>
                <a:srgbClr val="006B35"/>
              </a:solidFill>
              <a:latin typeface="Cambria" panose="02040503050406030204"/>
              <a:ea typeface="Cambria" panose="02040503050406030204"/>
              <a:cs typeface="Cambria" panose="02040503050406030204"/>
            </a:endParaRPr>
          </a:p>
        </p:txBody>
      </p:sp>
      <p:sp>
        <p:nvSpPr>
          <p:cNvPr id="3" name="Rectangle 2"/>
          <p:cNvSpPr>
            <a:spLocks noGrp="1"/>
          </p:cNvSpPr>
          <p:nvPr/>
        </p:nvSpPr>
        <p:spPr>
          <a:xfrm>
            <a:off x="4171950" y="895350"/>
            <a:ext cx="3848100" cy="400050"/>
          </a:xfrm>
          <a:prstGeom prst="rect">
            <a:avLst/>
          </a:prstGeom>
          <a:solidFill>
            <a:srgbClr val="F1F6FB"/>
          </a:solidFill>
          <a:ln w="9525">
            <a:solidFill>
              <a:srgbClr val="5FAE3E"/>
            </a:solidFill>
          </a:ln>
        </p:spPr>
        <p:txBody>
          <a:bodyPr wrap="square" lIns="38100" tIns="19050" rIns="38100" bIns="19050" anchor="ctr">
            <a:normAutofit/>
          </a:bodyPr>
          <a:lstStyle/>
          <a:p>
            <a:pPr algn="ctr">
              <a:lnSpc>
                <a:spcPct val="100000"/>
              </a:lnSpc>
              <a:buNone/>
              <a:defRPr sz="1275" b="1" i="0">
                <a:solidFill>
                  <a:srgbClr val="075AA7"/>
                </a:solidFill>
                <a:latin typeface="Cambria" panose="02040503050406030204"/>
                <a:ea typeface="Cambria" panose="02040503050406030204"/>
                <a:cs typeface="Cambria" panose="02040503050406030204"/>
              </a:defRPr>
            </a:pPr>
            <a:r>
              <a:rPr sz="1275" b="1" i="0">
                <a:solidFill>
                  <a:srgbClr val="075AA7"/>
                </a:solidFill>
                <a:latin typeface="Cambria" panose="02040503050406030204"/>
                <a:ea typeface="Cambria" panose="02040503050406030204"/>
                <a:cs typeface="Cambria" panose="02040503050406030204"/>
              </a:rPr>
              <a:t>THỦ KHO NHIÊN LIỆU</a:t>
            </a:r>
            <a:endParaRPr sz="1275" b="1" i="0">
              <a:solidFill>
                <a:srgbClr val="075AA7"/>
              </a:solidFill>
              <a:latin typeface="Cambria" panose="02040503050406030204"/>
              <a:ea typeface="Cambria" panose="02040503050406030204"/>
              <a:cs typeface="Cambria" panose="02040503050406030204"/>
            </a:endParaRPr>
          </a:p>
        </p:txBody>
      </p:sp>
      <p:sp>
        <p:nvSpPr>
          <p:cNvPr id="4" name="Rectangle 3"/>
          <p:cNvSpPr>
            <a:spLocks noGrp="1"/>
          </p:cNvSpPr>
          <p:nvPr/>
        </p:nvSpPr>
        <p:spPr>
          <a:xfrm>
            <a:off x="4171950" y="1295400"/>
            <a:ext cx="14288" cy="4762500"/>
          </a:xfrm>
          <a:prstGeom prst="rect">
            <a:avLst/>
          </a:prstGeom>
          <a:solidFill>
            <a:srgbClr val="5FAE3E"/>
          </a:solidFill>
          <a:ln w="0">
            <a:solidFill>
              <a:srgbClr val="5FAE3E"/>
            </a:solidFill>
          </a:ln>
        </p:spPr>
      </p:sp>
      <p:sp>
        <p:nvSpPr>
          <p:cNvPr id="5" name="Rectangle 4"/>
          <p:cNvSpPr>
            <a:spLocks noGrp="1"/>
          </p:cNvSpPr>
          <p:nvPr/>
        </p:nvSpPr>
        <p:spPr>
          <a:xfrm>
            <a:off x="8020050" y="895350"/>
            <a:ext cx="3848100" cy="400050"/>
          </a:xfrm>
          <a:prstGeom prst="rect">
            <a:avLst/>
          </a:prstGeom>
          <a:solidFill>
            <a:srgbClr val="F3F8F0"/>
          </a:solidFill>
          <a:ln w="9525">
            <a:solidFill>
              <a:srgbClr val="5FAE3E"/>
            </a:solidFill>
          </a:ln>
        </p:spPr>
        <p:txBody>
          <a:bodyPr wrap="square" lIns="38100" tIns="19050" rIns="38100" bIns="19050" anchor="ctr">
            <a:normAutofit/>
          </a:bodyPr>
          <a:lstStyle/>
          <a:p>
            <a:pPr algn="ctr">
              <a:lnSpc>
                <a:spcPct val="100000"/>
              </a:lnSpc>
              <a:buNone/>
              <a:defRPr sz="1275" b="1" i="0">
                <a:solidFill>
                  <a:srgbClr val="006B35"/>
                </a:solidFill>
                <a:latin typeface="Cambria" panose="02040503050406030204"/>
                <a:ea typeface="Cambria" panose="02040503050406030204"/>
                <a:cs typeface="Cambria" panose="02040503050406030204"/>
              </a:defRPr>
            </a:pPr>
            <a:r>
              <a:rPr sz="1275" b="1" i="0">
                <a:solidFill>
                  <a:srgbClr val="006B35"/>
                </a:solidFill>
                <a:latin typeface="Cambria" panose="02040503050406030204"/>
                <a:ea typeface="Cambria" panose="02040503050406030204"/>
                <a:cs typeface="Cambria" panose="02040503050406030204"/>
              </a:rPr>
              <a:t>HỆ THỐNG VÀ BÁO CÁO</a:t>
            </a:r>
            <a:endParaRPr sz="1275" b="1" i="0">
              <a:solidFill>
                <a:srgbClr val="006B35"/>
              </a:solidFill>
              <a:latin typeface="Cambria" panose="02040503050406030204"/>
              <a:ea typeface="Cambria" panose="02040503050406030204"/>
              <a:cs typeface="Cambria" panose="02040503050406030204"/>
            </a:endParaRPr>
          </a:p>
        </p:txBody>
      </p:sp>
      <p:sp>
        <p:nvSpPr>
          <p:cNvPr id="6" name="Rectangle 5"/>
          <p:cNvSpPr>
            <a:spLocks noGrp="1"/>
          </p:cNvSpPr>
          <p:nvPr/>
        </p:nvSpPr>
        <p:spPr>
          <a:xfrm>
            <a:off x="8020050" y="1295400"/>
            <a:ext cx="14288" cy="4762500"/>
          </a:xfrm>
          <a:prstGeom prst="rect">
            <a:avLst/>
          </a:prstGeom>
          <a:solidFill>
            <a:srgbClr val="5FAE3E"/>
          </a:solidFill>
          <a:ln w="0">
            <a:solidFill>
              <a:srgbClr val="5FAE3E"/>
            </a:solidFill>
          </a:ln>
        </p:spPr>
      </p:sp>
      <p:sp>
        <p:nvSpPr>
          <p:cNvPr id="7" name="Rounded Rectangle 6"/>
          <p:cNvSpPr>
            <a:spLocks noGrp="1"/>
          </p:cNvSpPr>
          <p:nvPr/>
        </p:nvSpPr>
        <p:spPr>
          <a:xfrm>
            <a:off x="800100" y="1504950"/>
            <a:ext cx="2895600" cy="685800"/>
          </a:xfrm>
          <a:prstGeom prst="roundRect">
            <a:avLst>
              <a:gd name="adj" fmla="val 11111"/>
            </a:avLst>
          </a:prstGeom>
          <a:solidFill>
            <a:srgbClr val="E8F2E2"/>
          </a:solidFill>
          <a:ln w="13335">
            <a:solidFill>
              <a:srgbClr val="006B35"/>
            </a:solidFill>
            <a:prstDash val="solid"/>
          </a:ln>
        </p:spPr>
        <p:txBody>
          <a:bodyPr wrap="square" lIns="66675" tIns="47625" rIns="66675" bIns="47625" anchor="ctr">
            <a:normAutofit/>
          </a:bodyPr>
          <a:lstStyle/>
          <a:p>
            <a:pPr algn="ctr">
              <a:defRPr sz="1165" b="1">
                <a:solidFill>
                  <a:srgbClr val="17212B"/>
                </a:solidFill>
                <a:latin typeface="Cambria" panose="02040503050406030204"/>
                <a:ea typeface="Cambria" panose="02040503050406030204"/>
                <a:cs typeface="Cambria" panose="02040503050406030204"/>
              </a:defRPr>
            </a:pPr>
            <a:r>
              <a:rPr sz="1165" b="1">
                <a:solidFill>
                  <a:srgbClr val="17212B"/>
                </a:solidFill>
                <a:latin typeface="Cambria" panose="02040503050406030204"/>
                <a:ea typeface="Cambria" panose="02040503050406030204"/>
                <a:cs typeface="Cambria" panose="02040503050406030204"/>
              </a:rPr>
              <a:t>Xác định xe, công việc và định mức áp dụng</a:t>
            </a:r>
            <a:endParaRPr sz="1165" b="1">
              <a:solidFill>
                <a:srgbClr val="17212B"/>
              </a:solidFill>
              <a:latin typeface="Cambria" panose="02040503050406030204"/>
              <a:ea typeface="Cambria" panose="02040503050406030204"/>
              <a:cs typeface="Cambria" panose="02040503050406030204"/>
            </a:endParaRPr>
          </a:p>
        </p:txBody>
      </p:sp>
      <p:sp>
        <p:nvSpPr>
          <p:cNvPr id="8" name="Rectangle 7"/>
          <p:cNvSpPr>
            <a:spLocks noGrp="1"/>
          </p:cNvSpPr>
          <p:nvPr/>
        </p:nvSpPr>
        <p:spPr>
          <a:xfrm>
            <a:off x="4648200" y="1504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Chọn kho hoặc bồn, quét mã và nhập số lít thực cấp</a:t>
            </a:r>
            <a:endParaRPr sz="1165" b="0">
              <a:solidFill>
                <a:srgbClr val="17212B"/>
              </a:solidFill>
              <a:latin typeface="Cambria" panose="02040503050406030204"/>
              <a:ea typeface="Cambria" panose="02040503050406030204"/>
              <a:cs typeface="Cambria" panose="02040503050406030204"/>
            </a:endParaRPr>
          </a:p>
        </p:txBody>
      </p:sp>
      <p:sp>
        <p:nvSpPr>
          <p:cNvPr id="9" name="Diamond 8"/>
          <p:cNvSpPr>
            <a:spLocks noGrp="1"/>
          </p:cNvSpPr>
          <p:nvPr/>
        </p:nvSpPr>
        <p:spPr>
          <a:xfrm>
            <a:off x="8496300" y="2647950"/>
            <a:ext cx="2895600" cy="819150"/>
          </a:xfrm>
          <a:prstGeom prst="diamond">
            <a:avLst/>
          </a:prstGeom>
          <a:solidFill>
            <a:srgbClr val="F8D1B0"/>
          </a:solidFill>
          <a:ln w="13335">
            <a:solidFill>
              <a:srgbClr val="006B35"/>
            </a:solidFill>
            <a:prstDash val="solid"/>
          </a:ln>
        </p:spPr>
        <p:txBody>
          <a:bodyPr wrap="square" lIns="66675" tIns="47625" rIns="66675" bIns="47625" anchor="ctr">
            <a:normAutofit/>
          </a:bodyPr>
          <a:lstStyle/>
          <a:p>
            <a:pPr algn="ctr">
              <a:defRPr sz="1165" b="1">
                <a:solidFill>
                  <a:srgbClr val="17212B"/>
                </a:solidFill>
                <a:latin typeface="Cambria" panose="02040503050406030204"/>
                <a:ea typeface="Cambria" panose="02040503050406030204"/>
                <a:cs typeface="Cambria" panose="02040503050406030204"/>
              </a:defRPr>
            </a:pPr>
            <a:r>
              <a:rPr sz="1165" b="1">
                <a:solidFill>
                  <a:srgbClr val="17212B"/>
                </a:solidFill>
                <a:latin typeface="Cambria" panose="02040503050406030204"/>
                <a:ea typeface="Cambria" panose="02040503050406030204"/>
                <a:cs typeface="Cambria" panose="02040503050406030204"/>
              </a:rPr>
              <a:t>TỒN KHO ĐỦ?</a:t>
            </a:r>
            <a:endParaRPr sz="1165" b="1">
              <a:solidFill>
                <a:srgbClr val="17212B"/>
              </a:solidFill>
              <a:latin typeface="Cambria" panose="02040503050406030204"/>
              <a:ea typeface="Cambria" panose="02040503050406030204"/>
              <a:cs typeface="Cambria" panose="02040503050406030204"/>
            </a:endParaRPr>
          </a:p>
        </p:txBody>
      </p:sp>
      <p:sp>
        <p:nvSpPr>
          <p:cNvPr id="10" name="Rectangle 9"/>
          <p:cNvSpPr>
            <a:spLocks noGrp="1"/>
          </p:cNvSpPr>
          <p:nvPr/>
        </p:nvSpPr>
        <p:spPr>
          <a:xfrm>
            <a:off x="8496300" y="3790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Ghi phiếu cấp phát và trừ tồn kho trong transaction</a:t>
            </a:r>
            <a:endParaRPr sz="1165" b="0">
              <a:solidFill>
                <a:srgbClr val="17212B"/>
              </a:solidFill>
              <a:latin typeface="Cambria" panose="02040503050406030204"/>
              <a:ea typeface="Cambria" panose="02040503050406030204"/>
              <a:cs typeface="Cambria" panose="02040503050406030204"/>
            </a:endParaRPr>
          </a:p>
        </p:txBody>
      </p:sp>
      <p:sp>
        <p:nvSpPr>
          <p:cNvPr id="11" name="Diamond 10"/>
          <p:cNvSpPr>
            <a:spLocks noGrp="1"/>
          </p:cNvSpPr>
          <p:nvPr/>
        </p:nvSpPr>
        <p:spPr>
          <a:xfrm>
            <a:off x="8496300" y="4933950"/>
            <a:ext cx="2895600" cy="819150"/>
          </a:xfrm>
          <a:prstGeom prst="diamond">
            <a:avLst/>
          </a:prstGeom>
          <a:solidFill>
            <a:srgbClr val="F8D1B0"/>
          </a:solidFill>
          <a:ln w="13335">
            <a:solidFill>
              <a:srgbClr val="006B35"/>
            </a:solidFill>
            <a:prstDash val="solid"/>
          </a:ln>
        </p:spPr>
        <p:txBody>
          <a:bodyPr wrap="square" lIns="66675" tIns="47625" rIns="66675" bIns="47625" anchor="ctr">
            <a:normAutofit fontScale="88671"/>
          </a:bodyPr>
          <a:lstStyle/>
          <a:p>
            <a:pPr algn="ctr">
              <a:defRPr sz="1165" b="1">
                <a:solidFill>
                  <a:srgbClr val="17212B"/>
                </a:solidFill>
                <a:latin typeface="Cambria" panose="02040503050406030204"/>
                <a:ea typeface="Cambria" panose="02040503050406030204"/>
                <a:cs typeface="Cambria" panose="02040503050406030204"/>
              </a:defRPr>
            </a:pPr>
            <a:r>
              <a:rPr sz="1165" b="1">
                <a:solidFill>
                  <a:srgbClr val="17212B"/>
                </a:solidFill>
                <a:latin typeface="Cambria" panose="02040503050406030204"/>
                <a:ea typeface="Cambria" panose="02040503050406030204"/>
                <a:cs typeface="Cambria" panose="02040503050406030204"/>
              </a:rPr>
              <a:t>VƯỢT ĐỊNH MỨC TRÊN 5%?</a:t>
            </a:r>
            <a:endParaRPr sz="1165" b="1">
              <a:solidFill>
                <a:srgbClr val="17212B"/>
              </a:solidFill>
              <a:latin typeface="Cambria" panose="02040503050406030204"/>
              <a:ea typeface="Cambria" panose="02040503050406030204"/>
              <a:cs typeface="Cambria" panose="02040503050406030204"/>
            </a:endParaRPr>
          </a:p>
        </p:txBody>
      </p:sp>
      <p:sp>
        <p:nvSpPr>
          <p:cNvPr id="12" name="Rectangle 11"/>
          <p:cNvSpPr>
            <a:spLocks noGrp="1"/>
          </p:cNvSpPr>
          <p:nvPr/>
        </p:nvSpPr>
        <p:spPr>
          <a:xfrm>
            <a:off x="4648200" y="4933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Đối soát actual, quota, variance và người cấp</a:t>
            </a:r>
            <a:endParaRPr sz="1165" b="0">
              <a:solidFill>
                <a:srgbClr val="17212B"/>
              </a:solidFill>
              <a:latin typeface="Cambria" panose="02040503050406030204"/>
              <a:ea typeface="Cambria" panose="02040503050406030204"/>
              <a:cs typeface="Cambria" panose="02040503050406030204"/>
            </a:endParaRPr>
          </a:p>
        </p:txBody>
      </p:sp>
      <p:sp>
        <p:nvSpPr>
          <p:cNvPr id="13" name="Rounded Rectangle 12"/>
          <p:cNvSpPr>
            <a:spLocks noGrp="1"/>
          </p:cNvSpPr>
          <p:nvPr/>
        </p:nvSpPr>
        <p:spPr>
          <a:xfrm>
            <a:off x="800100" y="4933950"/>
            <a:ext cx="2895600" cy="685800"/>
          </a:xfrm>
          <a:prstGeom prst="roundRect">
            <a:avLst>
              <a:gd name="adj" fmla="val 11111"/>
            </a:avLst>
          </a:prstGeom>
          <a:solidFill>
            <a:srgbClr val="E8F2E2"/>
          </a:solidFill>
          <a:ln w="13335">
            <a:solidFill>
              <a:srgbClr val="006B35"/>
            </a:solidFill>
            <a:prstDash val="solid"/>
          </a:ln>
        </p:spPr>
        <p:txBody>
          <a:bodyPr wrap="square" lIns="66675" tIns="47625" rIns="66675" bIns="47625" anchor="ctr">
            <a:normAutofit/>
          </a:bodyPr>
          <a:lstStyle/>
          <a:p>
            <a:pPr algn="ctr">
              <a:defRPr sz="1165" b="1">
                <a:solidFill>
                  <a:srgbClr val="17212B"/>
                </a:solidFill>
                <a:latin typeface="Cambria" panose="02040503050406030204"/>
                <a:ea typeface="Cambria" panose="02040503050406030204"/>
                <a:cs typeface="Cambria" panose="02040503050406030204"/>
              </a:defRPr>
            </a:pPr>
            <a:r>
              <a:rPr sz="1165" b="1">
                <a:solidFill>
                  <a:srgbClr val="17212B"/>
                </a:solidFill>
                <a:latin typeface="Cambria" panose="02040503050406030204"/>
                <a:ea typeface="Cambria" panose="02040503050406030204"/>
                <a:cs typeface="Cambria" panose="02040503050406030204"/>
              </a:rPr>
              <a:t>Báo cáo tiêu hao, tồn kho và cảnh báo vượt mức</a:t>
            </a:r>
            <a:endParaRPr sz="1165" b="1">
              <a:solidFill>
                <a:srgbClr val="17212B"/>
              </a:solidFill>
              <a:latin typeface="Cambria" panose="02040503050406030204"/>
              <a:ea typeface="Cambria" panose="02040503050406030204"/>
              <a:cs typeface="Cambria" panose="02040503050406030204"/>
            </a:endParaRPr>
          </a:p>
        </p:txBody>
      </p:sp>
      <p:cxnSp>
        <p:nvCxnSpPr>
          <p:cNvPr id="39" name="Elbow Connector 38"/>
          <p:cNvCxnSpPr>
            <a:stCxn id="7" idx="3"/>
            <a:endCxn id="8" idx="1"/>
          </p:cNvCxnSpPr>
          <p:nvPr/>
        </p:nvCxnSpPr>
        <p:spPr>
          <a:xfrm>
            <a:off x="3695700" y="1847850"/>
            <a:ext cx="952500" cy="4324350"/>
          </a:xfrm>
          <a:prstGeom prst="bentConnector4">
            <a:avLst/>
          </a:prstGeom>
          <a:ln w="19050">
            <a:solidFill>
              <a:srgbClr val="5FAE3E"/>
            </a:solidFill>
            <a:prstDash val="solid"/>
            <a:tailEnd type="arrow" w="med" len="med"/>
          </a:ln>
        </p:spPr>
      </p:cxnSp>
      <p:cxnSp>
        <p:nvCxnSpPr>
          <p:cNvPr id="40" name="Elbow Connector 39"/>
          <p:cNvCxnSpPr>
            <a:stCxn id="8" idx="3"/>
            <a:endCxn id="9" idx="1"/>
          </p:cNvCxnSpPr>
          <p:nvPr/>
        </p:nvCxnSpPr>
        <p:spPr>
          <a:xfrm>
            <a:off x="7543800" y="1847850"/>
            <a:ext cx="952500" cy="4324350"/>
          </a:xfrm>
          <a:prstGeom prst="bentConnector4">
            <a:avLst/>
          </a:prstGeom>
          <a:ln w="19050">
            <a:solidFill>
              <a:srgbClr val="5FAE3E"/>
            </a:solidFill>
            <a:prstDash val="solid"/>
            <a:tailEnd type="arrow" w="med" len="med"/>
          </a:ln>
        </p:spPr>
      </p:cxnSp>
      <p:cxnSp>
        <p:nvCxnSpPr>
          <p:cNvPr id="41" name="Straight Arrow Connector 40"/>
          <p:cNvCxnSpPr>
            <a:stCxn id="9" idx="2"/>
            <a:endCxn id="10" idx="0"/>
          </p:cNvCxnSpPr>
          <p:nvPr/>
        </p:nvCxnSpPr>
        <p:spPr>
          <a:xfrm>
            <a:off x="9944100" y="3467100"/>
            <a:ext cx="0" cy="323850"/>
          </a:xfrm>
          <a:prstGeom prst="straightConnector1">
            <a:avLst/>
          </a:prstGeom>
          <a:ln w="19050">
            <a:solidFill>
              <a:srgbClr val="5FAE3E"/>
            </a:solidFill>
            <a:prstDash val="solid"/>
            <a:tailEnd type="arrow" w="med" len="med"/>
          </a:ln>
        </p:spPr>
      </p:cxnSp>
      <p:sp>
        <p:nvSpPr>
          <p:cNvPr id="17" name="Rectangle 16"/>
          <p:cNvSpPr>
            <a:spLocks noGrp="1"/>
          </p:cNvSpPr>
          <p:nvPr/>
        </p:nvSpPr>
        <p:spPr>
          <a:xfrm>
            <a:off x="10572750" y="3609975"/>
            <a:ext cx="666750" cy="209550"/>
          </a:xfrm>
          <a:prstGeom prst="rect">
            <a:avLst/>
          </a:prstGeom>
          <a:solidFill>
            <a:srgbClr val="FFFFFF"/>
          </a:solidFill>
          <a:ln w="0">
            <a:noFill/>
          </a:ln>
        </p:spPr>
        <p:txBody>
          <a:bodyPr wrap="square" lIns="38100" tIns="19050" rIns="38100" bIns="19050" anchor="ctr">
            <a:normAutofit/>
          </a:bodyPr>
          <a:lstStyle/>
          <a:p>
            <a:pPr algn="ctr">
              <a:lnSpc>
                <a:spcPct val="100000"/>
              </a:lnSpc>
              <a:buNone/>
              <a:defRPr sz="940" b="1" i="0">
                <a:solidFill>
                  <a:srgbClr val="59636E"/>
                </a:solidFill>
                <a:latin typeface="Cambria" panose="02040503050406030204"/>
                <a:ea typeface="Cambria" panose="02040503050406030204"/>
                <a:cs typeface="Cambria" panose="02040503050406030204"/>
              </a:defRPr>
            </a:pPr>
            <a:r>
              <a:rPr sz="940" b="1" i="0">
                <a:solidFill>
                  <a:srgbClr val="59636E"/>
                </a:solidFill>
                <a:latin typeface="Cambria" panose="02040503050406030204"/>
                <a:ea typeface="Cambria" panose="02040503050406030204"/>
                <a:cs typeface="Cambria" panose="02040503050406030204"/>
              </a:rPr>
              <a:t>Có</a:t>
            </a:r>
            <a:endParaRPr sz="940" b="1" i="0">
              <a:solidFill>
                <a:srgbClr val="59636E"/>
              </a:solidFill>
              <a:latin typeface="Cambria" panose="02040503050406030204"/>
              <a:ea typeface="Cambria" panose="02040503050406030204"/>
              <a:cs typeface="Cambria" panose="02040503050406030204"/>
            </a:endParaRPr>
          </a:p>
        </p:txBody>
      </p:sp>
      <p:cxnSp>
        <p:nvCxnSpPr>
          <p:cNvPr id="43" name="Elbow Connector 42"/>
          <p:cNvCxnSpPr>
            <a:stCxn id="9" idx="1"/>
            <a:endCxn id="8" idx="3"/>
          </p:cNvCxnSpPr>
          <p:nvPr/>
        </p:nvCxnSpPr>
        <p:spPr>
          <a:xfrm flipH="1" flipV="1">
            <a:off x="7543800" y="1847850"/>
            <a:ext cx="952500" cy="1209675"/>
          </a:xfrm>
          <a:prstGeom prst="bentConnector3">
            <a:avLst>
              <a:gd name="adj1" fmla="val 50000"/>
            </a:avLst>
          </a:prstGeom>
          <a:ln w="19050">
            <a:solidFill>
              <a:srgbClr val="5FAE3E"/>
            </a:solidFill>
            <a:prstDash val="dash"/>
            <a:tailEnd type="arrow" w="med" len="med"/>
          </a:ln>
        </p:spPr>
      </p:cxnSp>
      <p:sp>
        <p:nvSpPr>
          <p:cNvPr id="19" name="Rectangle 18"/>
          <p:cNvSpPr>
            <a:spLocks noGrp="1"/>
          </p:cNvSpPr>
          <p:nvPr/>
        </p:nvSpPr>
        <p:spPr>
          <a:xfrm>
            <a:off x="7696200" y="3000375"/>
            <a:ext cx="666750" cy="209550"/>
          </a:xfrm>
          <a:prstGeom prst="rect">
            <a:avLst/>
          </a:prstGeom>
          <a:solidFill>
            <a:srgbClr val="FFFFFF"/>
          </a:solidFill>
          <a:ln w="0">
            <a:noFill/>
          </a:ln>
        </p:spPr>
        <p:txBody>
          <a:bodyPr wrap="square" lIns="38100" tIns="19050" rIns="38100" bIns="19050" anchor="ctr">
            <a:normAutofit/>
          </a:bodyPr>
          <a:lstStyle/>
          <a:p>
            <a:pPr algn="ctr">
              <a:lnSpc>
                <a:spcPct val="100000"/>
              </a:lnSpc>
              <a:buNone/>
              <a:defRPr sz="940" b="1" i="0">
                <a:solidFill>
                  <a:srgbClr val="59636E"/>
                </a:solidFill>
                <a:latin typeface="Cambria" panose="02040503050406030204"/>
                <a:ea typeface="Cambria" panose="02040503050406030204"/>
                <a:cs typeface="Cambria" panose="02040503050406030204"/>
              </a:defRPr>
            </a:pPr>
            <a:r>
              <a:rPr sz="940" b="1" i="0">
                <a:solidFill>
                  <a:srgbClr val="59636E"/>
                </a:solidFill>
                <a:latin typeface="Cambria" panose="02040503050406030204"/>
                <a:ea typeface="Cambria" panose="02040503050406030204"/>
                <a:cs typeface="Cambria" panose="02040503050406030204"/>
              </a:rPr>
              <a:t>Không</a:t>
            </a:r>
            <a:endParaRPr sz="940" b="1" i="0">
              <a:solidFill>
                <a:srgbClr val="59636E"/>
              </a:solidFill>
              <a:latin typeface="Cambria" panose="02040503050406030204"/>
              <a:ea typeface="Cambria" panose="02040503050406030204"/>
              <a:cs typeface="Cambria" panose="02040503050406030204"/>
            </a:endParaRPr>
          </a:p>
        </p:txBody>
      </p:sp>
      <p:cxnSp>
        <p:nvCxnSpPr>
          <p:cNvPr id="45" name="Straight Arrow Connector 44"/>
          <p:cNvCxnSpPr>
            <a:stCxn id="10" idx="2"/>
            <a:endCxn id="11" idx="0"/>
          </p:cNvCxnSpPr>
          <p:nvPr/>
        </p:nvCxnSpPr>
        <p:spPr>
          <a:xfrm>
            <a:off x="9944100" y="4476750"/>
            <a:ext cx="0" cy="457200"/>
          </a:xfrm>
          <a:prstGeom prst="straightConnector1">
            <a:avLst/>
          </a:prstGeom>
          <a:ln w="19050">
            <a:solidFill>
              <a:srgbClr val="5FAE3E"/>
            </a:solidFill>
            <a:prstDash val="solid"/>
            <a:tailEnd type="arrow" w="med" len="med"/>
          </a:ln>
        </p:spPr>
      </p:cxnSp>
      <p:cxnSp>
        <p:nvCxnSpPr>
          <p:cNvPr id="46" name="Elbow Connector 45"/>
          <p:cNvCxnSpPr>
            <a:stCxn id="11" idx="1"/>
            <a:endCxn id="12" idx="3"/>
          </p:cNvCxnSpPr>
          <p:nvPr/>
        </p:nvCxnSpPr>
        <p:spPr>
          <a:xfrm flipH="1" flipV="1">
            <a:off x="7543800" y="5276850"/>
            <a:ext cx="952500" cy="66675"/>
          </a:xfrm>
          <a:prstGeom prst="bentConnector3">
            <a:avLst>
              <a:gd name="adj1" fmla="val 50000"/>
            </a:avLst>
          </a:prstGeom>
          <a:ln w="19050">
            <a:solidFill>
              <a:srgbClr val="5FAE3E"/>
            </a:solidFill>
            <a:prstDash val="solid"/>
            <a:tailEnd type="arrow" w="med" len="med"/>
          </a:ln>
        </p:spPr>
      </p:cxnSp>
      <p:cxnSp>
        <p:nvCxnSpPr>
          <p:cNvPr id="47" name="Straight Arrow Connector 46"/>
          <p:cNvCxnSpPr>
            <a:stCxn id="12" idx="1"/>
            <a:endCxn id="13" idx="3"/>
          </p:cNvCxnSpPr>
          <p:nvPr/>
        </p:nvCxnSpPr>
        <p:spPr>
          <a:xfrm flipH="1">
            <a:off x="3695700" y="5276850"/>
            <a:ext cx="952500" cy="0"/>
          </a:xfrm>
          <a:prstGeom prst="straightConnector1">
            <a:avLst/>
          </a:prstGeom>
          <a:ln w="19050">
            <a:solidFill>
              <a:srgbClr val="5FAE3E"/>
            </a:solidFill>
            <a:prstDash val="solid"/>
            <a:tailEnd type="arrow" w="med" len="med"/>
          </a:ln>
        </p:spPr>
      </p:cxnSp>
      <p:sp>
        <p:nvSpPr>
          <p:cNvPr id="23" name="Rectangle 22"/>
          <p:cNvSpPr>
            <a:spLocks noGrp="1"/>
          </p:cNvSpPr>
          <p:nvPr/>
        </p:nvSpPr>
        <p:spPr>
          <a:xfrm>
            <a:off x="704850" y="6115050"/>
            <a:ext cx="10782300" cy="266700"/>
          </a:xfrm>
          <a:prstGeom prst="rect">
            <a:avLst/>
          </a:prstGeom>
          <a:noFill/>
          <a:ln w="0">
            <a:noFill/>
          </a:ln>
        </p:spPr>
        <p:txBody>
          <a:bodyPr wrap="square" lIns="38100" tIns="19050" rIns="38100" bIns="19050" anchor="ctr">
            <a:normAutofit/>
          </a:bodyPr>
          <a:lstStyle/>
          <a:p>
            <a:pPr algn="ctr">
              <a:lnSpc>
                <a:spcPct val="100000"/>
              </a:lnSpc>
              <a:buNone/>
              <a:defRPr sz="1015" b="0" i="1">
                <a:solidFill>
                  <a:srgbClr val="E00000"/>
                </a:solidFill>
                <a:latin typeface="Cambria" panose="02040503050406030204"/>
                <a:ea typeface="Cambria" panose="02040503050406030204"/>
                <a:cs typeface="Cambria" panose="02040503050406030204"/>
              </a:defRPr>
            </a:pPr>
            <a:r>
              <a:rPr sz="1015" b="0" i="1">
                <a:solidFill>
                  <a:srgbClr val="E00000"/>
                </a:solidFill>
                <a:latin typeface="Cambria" panose="02040503050406030204"/>
                <a:ea typeface="Cambria" panose="02040503050406030204"/>
                <a:cs typeface="Cambria" panose="02040503050406030204"/>
              </a:rPr>
              <a:t>Ngưỡng vượt 5% là hành vi đang được cài trong FuelService, cần xác nhận lại trước khi áp dụng chính thức.</a:t>
            </a:r>
            <a:endParaRPr sz="1015" b="0" i="1">
              <a:solidFill>
                <a:srgbClr val="E00000"/>
              </a:solidFill>
              <a:latin typeface="Cambria" panose="02040503050406030204"/>
              <a:ea typeface="Cambria" panose="02040503050406030204"/>
              <a:cs typeface="Cambria" panose="02040503050406030204"/>
            </a:endParaRPr>
          </a:p>
        </p:txBody>
      </p:sp>
      <p:sp>
        <p:nvSpPr>
          <p:cNvPr id="24" name="Rectangle 23"/>
          <p:cNvSpPr>
            <a:spLocks noGrp="1"/>
          </p:cNvSpPr>
          <p:nvPr/>
        </p:nvSpPr>
        <p:spPr>
          <a:xfrm>
            <a:off x="266700" y="6534150"/>
            <a:ext cx="7429500" cy="190500"/>
          </a:xfrm>
          <a:prstGeom prst="rect">
            <a:avLst/>
          </a:prstGeom>
          <a:noFill/>
          <a:ln w="0">
            <a:noFill/>
          </a:ln>
        </p:spPr>
        <p:txBody>
          <a:bodyPr wrap="square" lIns="38100" tIns="19050" rIns="38100" bIns="19050" anchor="ctr">
            <a:normAutofit/>
          </a:bodyPr>
          <a:lstStyle/>
          <a:p>
            <a:pPr algn="l">
              <a:lnSpc>
                <a:spcPct val="100000"/>
              </a:lnSpc>
              <a:buNone/>
              <a:defRPr sz="825" b="0" i="1">
                <a:solidFill>
                  <a:srgbClr val="8A8F93"/>
                </a:solidFill>
                <a:latin typeface="Cambria" panose="02040503050406030204"/>
                <a:ea typeface="Cambria" panose="02040503050406030204"/>
                <a:cs typeface="Cambria" panose="02040503050406030204"/>
              </a:defRPr>
            </a:pPr>
            <a:r>
              <a:rPr sz="825" b="0" i="1">
                <a:solidFill>
                  <a:srgbClr val="8A8F93"/>
                </a:solidFill>
                <a:latin typeface="Cambria" panose="02040503050406030204"/>
                <a:ea typeface="Cambria" panose="02040503050406030204"/>
                <a:cs typeface="Cambria" panose="02040503050406030204"/>
              </a:rPr>
              <a:t>Giới thiệu phần mềm và tiến độ phát triển | THACO AGRI Fleet | 21/09/2026</a:t>
            </a:r>
            <a:endParaRPr sz="825" b="0" i="1">
              <a:solidFill>
                <a:srgbClr val="8A8F93"/>
              </a:solidFill>
              <a:latin typeface="Cambria" panose="02040503050406030204"/>
              <a:ea typeface="Cambria" panose="02040503050406030204"/>
              <a:cs typeface="Cambria" panose="02040503050406030204"/>
            </a:endParaRPr>
          </a:p>
        </p:txBody>
      </p:sp>
      <p:sp>
        <p:nvSpPr>
          <p:cNvPr id="25" name="Rectangle 24"/>
          <p:cNvSpPr>
            <a:spLocks noGrp="1"/>
          </p:cNvSpPr>
          <p:nvPr/>
        </p:nvSpPr>
        <p:spPr>
          <a:xfrm>
            <a:off x="11658600" y="6534150"/>
            <a:ext cx="228600" cy="190500"/>
          </a:xfrm>
          <a:prstGeom prst="rect">
            <a:avLst/>
          </a:prstGeom>
          <a:noFill/>
          <a:ln w="0">
            <a:noFill/>
          </a:ln>
        </p:spPr>
        <p:txBody>
          <a:bodyPr wrap="square" lIns="38100" tIns="19050" rIns="38100" bIns="19050" anchor="ctr">
            <a:normAutofit/>
          </a:bodyPr>
          <a:lstStyle/>
          <a:p>
            <a:pPr algn="r">
              <a:lnSpc>
                <a:spcPct val="100000"/>
              </a:lnSpc>
              <a:buNone/>
              <a:defRPr sz="825" b="0" i="0">
                <a:solidFill>
                  <a:srgbClr val="8A8F93"/>
                </a:solidFill>
                <a:latin typeface="Cambria" panose="02040503050406030204"/>
                <a:ea typeface="Cambria" panose="02040503050406030204"/>
                <a:cs typeface="Cambria" panose="02040503050406030204"/>
              </a:defRPr>
            </a:pPr>
            <a:r>
              <a:rPr sz="825" b="0" i="0">
                <a:solidFill>
                  <a:srgbClr val="8A8F93"/>
                </a:solidFill>
                <a:latin typeface="Cambria" panose="02040503050406030204"/>
                <a:ea typeface="Cambria" panose="02040503050406030204"/>
                <a:cs typeface="Cambria" panose="02040503050406030204"/>
              </a:rPr>
              <a:t>18</a:t>
            </a:r>
            <a:endParaRPr sz="825" b="0" i="0">
              <a:solidFill>
                <a:srgbClr val="8A8F93"/>
              </a:solidFill>
              <a:latin typeface="Cambria" panose="02040503050406030204"/>
              <a:ea typeface="Cambria" panose="02040503050406030204"/>
              <a:cs typeface="Cambria" panose="0204050305040603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 name="slide-title"/>
          <p:cNvSpPr>
            <a:spLocks noGrp="1"/>
          </p:cNvSpPr>
          <p:nvPr/>
        </p:nvSpPr>
        <p:spPr>
          <a:xfrm>
            <a:off x="2571750" y="142875"/>
            <a:ext cx="9191625" cy="590550"/>
          </a:xfrm>
          <a:prstGeom prst="rect">
            <a:avLst/>
          </a:prstGeom>
          <a:noFill/>
          <a:ln w="0">
            <a:noFill/>
          </a:ln>
        </p:spPr>
        <p:txBody>
          <a:bodyPr wrap="square" lIns="38100" tIns="19050" rIns="38100" bIns="19050" anchor="ctr">
            <a:normAutofit/>
          </a:bodyPr>
          <a:lstStyle/>
          <a:p>
            <a:pPr algn="ctr">
              <a:lnSpc>
                <a:spcPct val="100000"/>
              </a:lnSpc>
              <a:buNone/>
              <a:defRPr sz="2100" b="1" i="0">
                <a:solidFill>
                  <a:srgbClr val="E00000"/>
                </a:solidFill>
                <a:latin typeface="Cambria" panose="02040503050406030204"/>
                <a:ea typeface="Cambria" panose="02040503050406030204"/>
                <a:cs typeface="Cambria" panose="02040503050406030204"/>
              </a:defRPr>
            </a:pPr>
            <a:r>
              <a:rPr sz="2100" b="1" i="0">
                <a:solidFill>
                  <a:srgbClr val="E00000"/>
                </a:solidFill>
                <a:latin typeface="Cambria" panose="02040503050406030204"/>
                <a:ea typeface="Cambria" panose="02040503050406030204"/>
                <a:cs typeface="Cambria" panose="02040503050406030204"/>
              </a:rPr>
              <a:t>GPS, CẢNH BÁO VẬN HÀNH VÀ SOS</a:t>
            </a:r>
            <a:endParaRPr sz="2100" b="1" i="0">
              <a:solidFill>
                <a:srgbClr val="E00000"/>
              </a:solidFill>
              <a:latin typeface="Cambria" panose="02040503050406030204"/>
              <a:ea typeface="Cambria" panose="02040503050406030204"/>
              <a:cs typeface="Cambria" panose="02040503050406030204"/>
            </a:endParaRPr>
          </a:p>
        </p:txBody>
      </p:sp>
      <p:sp>
        <p:nvSpPr>
          <p:cNvPr id="2" name="Rectangle 1"/>
          <p:cNvSpPr>
            <a:spLocks noGrp="1"/>
          </p:cNvSpPr>
          <p:nvPr/>
        </p:nvSpPr>
        <p:spPr>
          <a:xfrm>
            <a:off x="323850" y="895350"/>
            <a:ext cx="3848100" cy="400050"/>
          </a:xfrm>
          <a:prstGeom prst="rect">
            <a:avLst/>
          </a:prstGeom>
          <a:solidFill>
            <a:srgbClr val="F3F8F0"/>
          </a:solidFill>
          <a:ln w="9525">
            <a:solidFill>
              <a:srgbClr val="5FAE3E"/>
            </a:solidFill>
          </a:ln>
        </p:spPr>
        <p:txBody>
          <a:bodyPr wrap="square" lIns="38100" tIns="19050" rIns="38100" bIns="19050" anchor="ctr">
            <a:normAutofit/>
          </a:bodyPr>
          <a:lstStyle/>
          <a:p>
            <a:pPr algn="ctr">
              <a:lnSpc>
                <a:spcPct val="100000"/>
              </a:lnSpc>
              <a:buNone/>
              <a:defRPr sz="1275" b="1" i="0">
                <a:solidFill>
                  <a:srgbClr val="006B35"/>
                </a:solidFill>
                <a:latin typeface="Cambria" panose="02040503050406030204"/>
                <a:ea typeface="Cambria" panose="02040503050406030204"/>
                <a:cs typeface="Cambria" panose="02040503050406030204"/>
              </a:defRPr>
            </a:pPr>
            <a:r>
              <a:rPr sz="1275" b="1" i="0">
                <a:solidFill>
                  <a:srgbClr val="006B35"/>
                </a:solidFill>
                <a:latin typeface="Cambria" panose="02040503050406030204"/>
                <a:ea typeface="Cambria" panose="02040503050406030204"/>
                <a:cs typeface="Cambria" panose="02040503050406030204"/>
              </a:rPr>
              <a:t>XE VÀ TÀI XẾ</a:t>
            </a:r>
            <a:endParaRPr sz="1275" b="1" i="0">
              <a:solidFill>
                <a:srgbClr val="006B35"/>
              </a:solidFill>
              <a:latin typeface="Cambria" panose="02040503050406030204"/>
              <a:ea typeface="Cambria" panose="02040503050406030204"/>
              <a:cs typeface="Cambria" panose="02040503050406030204"/>
            </a:endParaRPr>
          </a:p>
        </p:txBody>
      </p:sp>
      <p:sp>
        <p:nvSpPr>
          <p:cNvPr id="3" name="Rectangle 2"/>
          <p:cNvSpPr>
            <a:spLocks noGrp="1"/>
          </p:cNvSpPr>
          <p:nvPr/>
        </p:nvSpPr>
        <p:spPr>
          <a:xfrm>
            <a:off x="4171950" y="895350"/>
            <a:ext cx="3848100" cy="400050"/>
          </a:xfrm>
          <a:prstGeom prst="rect">
            <a:avLst/>
          </a:prstGeom>
          <a:solidFill>
            <a:srgbClr val="F1F6FB"/>
          </a:solidFill>
          <a:ln w="9525">
            <a:solidFill>
              <a:srgbClr val="5FAE3E"/>
            </a:solidFill>
          </a:ln>
        </p:spPr>
        <p:txBody>
          <a:bodyPr wrap="square" lIns="38100" tIns="19050" rIns="38100" bIns="19050" anchor="ctr">
            <a:normAutofit/>
          </a:bodyPr>
          <a:lstStyle/>
          <a:p>
            <a:pPr algn="ctr">
              <a:lnSpc>
                <a:spcPct val="100000"/>
              </a:lnSpc>
              <a:buNone/>
              <a:defRPr sz="1275" b="1" i="0">
                <a:solidFill>
                  <a:srgbClr val="075AA7"/>
                </a:solidFill>
                <a:latin typeface="Cambria" panose="02040503050406030204"/>
                <a:ea typeface="Cambria" panose="02040503050406030204"/>
                <a:cs typeface="Cambria" panose="02040503050406030204"/>
              </a:defRPr>
            </a:pPr>
            <a:r>
              <a:rPr sz="1275" b="1" i="0">
                <a:solidFill>
                  <a:srgbClr val="075AA7"/>
                </a:solidFill>
                <a:latin typeface="Cambria" panose="02040503050406030204"/>
                <a:ea typeface="Cambria" panose="02040503050406030204"/>
                <a:cs typeface="Cambria" panose="02040503050406030204"/>
              </a:rPr>
              <a:t>BỘ MÁY CẢNH BÁO</a:t>
            </a:r>
            <a:endParaRPr sz="1275" b="1" i="0">
              <a:solidFill>
                <a:srgbClr val="075AA7"/>
              </a:solidFill>
              <a:latin typeface="Cambria" panose="02040503050406030204"/>
              <a:ea typeface="Cambria" panose="02040503050406030204"/>
              <a:cs typeface="Cambria" panose="02040503050406030204"/>
            </a:endParaRPr>
          </a:p>
        </p:txBody>
      </p:sp>
      <p:sp>
        <p:nvSpPr>
          <p:cNvPr id="4" name="Rectangle 3"/>
          <p:cNvSpPr>
            <a:spLocks noGrp="1"/>
          </p:cNvSpPr>
          <p:nvPr/>
        </p:nvSpPr>
        <p:spPr>
          <a:xfrm>
            <a:off x="4171950" y="1295400"/>
            <a:ext cx="14288" cy="4762500"/>
          </a:xfrm>
          <a:prstGeom prst="rect">
            <a:avLst/>
          </a:prstGeom>
          <a:solidFill>
            <a:srgbClr val="5FAE3E"/>
          </a:solidFill>
          <a:ln w="0">
            <a:solidFill>
              <a:srgbClr val="5FAE3E"/>
            </a:solidFill>
          </a:ln>
        </p:spPr>
      </p:sp>
      <p:sp>
        <p:nvSpPr>
          <p:cNvPr id="5" name="Rectangle 4"/>
          <p:cNvSpPr>
            <a:spLocks noGrp="1"/>
          </p:cNvSpPr>
          <p:nvPr/>
        </p:nvSpPr>
        <p:spPr>
          <a:xfrm>
            <a:off x="8020050" y="895350"/>
            <a:ext cx="3848100" cy="400050"/>
          </a:xfrm>
          <a:prstGeom prst="rect">
            <a:avLst/>
          </a:prstGeom>
          <a:solidFill>
            <a:srgbClr val="F3F8F0"/>
          </a:solidFill>
          <a:ln w="9525">
            <a:solidFill>
              <a:srgbClr val="5FAE3E"/>
            </a:solidFill>
          </a:ln>
        </p:spPr>
        <p:txBody>
          <a:bodyPr wrap="square" lIns="38100" tIns="19050" rIns="38100" bIns="19050" anchor="ctr">
            <a:normAutofit/>
          </a:bodyPr>
          <a:lstStyle/>
          <a:p>
            <a:pPr algn="ctr">
              <a:lnSpc>
                <a:spcPct val="100000"/>
              </a:lnSpc>
              <a:buNone/>
              <a:defRPr sz="1275" b="1" i="0">
                <a:solidFill>
                  <a:srgbClr val="006B35"/>
                </a:solidFill>
                <a:latin typeface="Cambria" panose="02040503050406030204"/>
                <a:ea typeface="Cambria" panose="02040503050406030204"/>
                <a:cs typeface="Cambria" panose="02040503050406030204"/>
              </a:defRPr>
            </a:pPr>
            <a:r>
              <a:rPr sz="1275" b="1" i="0">
                <a:solidFill>
                  <a:srgbClr val="006B35"/>
                </a:solidFill>
                <a:latin typeface="Cambria" panose="02040503050406030204"/>
                <a:ea typeface="Cambria" panose="02040503050406030204"/>
                <a:cs typeface="Cambria" panose="02040503050406030204"/>
              </a:rPr>
              <a:t>QUẢN LÝ VÀ XƯỞNG</a:t>
            </a:r>
            <a:endParaRPr sz="1275" b="1" i="0">
              <a:solidFill>
                <a:srgbClr val="006B35"/>
              </a:solidFill>
              <a:latin typeface="Cambria" panose="02040503050406030204"/>
              <a:ea typeface="Cambria" panose="02040503050406030204"/>
              <a:cs typeface="Cambria" panose="02040503050406030204"/>
            </a:endParaRPr>
          </a:p>
        </p:txBody>
      </p:sp>
      <p:sp>
        <p:nvSpPr>
          <p:cNvPr id="6" name="Rectangle 5"/>
          <p:cNvSpPr>
            <a:spLocks noGrp="1"/>
          </p:cNvSpPr>
          <p:nvPr/>
        </p:nvSpPr>
        <p:spPr>
          <a:xfrm>
            <a:off x="8020050" y="1295400"/>
            <a:ext cx="14288" cy="4762500"/>
          </a:xfrm>
          <a:prstGeom prst="rect">
            <a:avLst/>
          </a:prstGeom>
          <a:solidFill>
            <a:srgbClr val="5FAE3E"/>
          </a:solidFill>
          <a:ln w="0">
            <a:solidFill>
              <a:srgbClr val="5FAE3E"/>
            </a:solidFill>
          </a:ln>
        </p:spPr>
      </p:sp>
      <p:sp>
        <p:nvSpPr>
          <p:cNvPr id="7" name="Rounded Rectangle 6"/>
          <p:cNvSpPr>
            <a:spLocks noGrp="1"/>
          </p:cNvSpPr>
          <p:nvPr/>
        </p:nvSpPr>
        <p:spPr>
          <a:xfrm>
            <a:off x="800100" y="1504950"/>
            <a:ext cx="2895600" cy="685800"/>
          </a:xfrm>
          <a:prstGeom prst="roundRect">
            <a:avLst>
              <a:gd name="adj" fmla="val 11111"/>
            </a:avLst>
          </a:prstGeom>
          <a:solidFill>
            <a:srgbClr val="E8F2E2"/>
          </a:solidFill>
          <a:ln w="13335">
            <a:solidFill>
              <a:srgbClr val="006B35"/>
            </a:solidFill>
            <a:prstDash val="solid"/>
          </a:ln>
        </p:spPr>
        <p:txBody>
          <a:bodyPr wrap="square" lIns="66675" tIns="47625" rIns="66675" bIns="47625" anchor="ctr">
            <a:normAutofit/>
          </a:bodyPr>
          <a:lstStyle/>
          <a:p>
            <a:pPr algn="ctr">
              <a:defRPr sz="1165" b="1">
                <a:solidFill>
                  <a:srgbClr val="17212B"/>
                </a:solidFill>
                <a:latin typeface="Cambria" panose="02040503050406030204"/>
                <a:ea typeface="Cambria" panose="02040503050406030204"/>
                <a:cs typeface="Cambria" panose="02040503050406030204"/>
              </a:defRPr>
            </a:pPr>
            <a:r>
              <a:rPr sz="1165" b="1">
                <a:solidFill>
                  <a:srgbClr val="17212B"/>
                </a:solidFill>
                <a:latin typeface="Cambria" panose="02040503050406030204"/>
                <a:ea typeface="Cambria" panose="02040503050406030204"/>
                <a:cs typeface="Cambria" panose="02040503050406030204"/>
              </a:rPr>
              <a:t>Gửi vị trí, tốc độ, tuyến và thời điểm GPS</a:t>
            </a:r>
            <a:endParaRPr sz="1165" b="1">
              <a:solidFill>
                <a:srgbClr val="17212B"/>
              </a:solidFill>
              <a:latin typeface="Cambria" panose="02040503050406030204"/>
              <a:ea typeface="Cambria" panose="02040503050406030204"/>
              <a:cs typeface="Cambria" panose="02040503050406030204"/>
            </a:endParaRPr>
          </a:p>
        </p:txBody>
      </p:sp>
      <p:sp>
        <p:nvSpPr>
          <p:cNvPr id="8" name="Diamond 7"/>
          <p:cNvSpPr>
            <a:spLocks noGrp="1"/>
          </p:cNvSpPr>
          <p:nvPr/>
        </p:nvSpPr>
        <p:spPr>
          <a:xfrm>
            <a:off x="4648200" y="1504950"/>
            <a:ext cx="2895600" cy="819150"/>
          </a:xfrm>
          <a:prstGeom prst="diamond">
            <a:avLst/>
          </a:prstGeom>
          <a:solidFill>
            <a:srgbClr val="F8D1B0"/>
          </a:solidFill>
          <a:ln w="13335">
            <a:solidFill>
              <a:srgbClr val="006B35"/>
            </a:solidFill>
            <a:prstDash val="solid"/>
          </a:ln>
        </p:spPr>
        <p:txBody>
          <a:bodyPr wrap="square" lIns="66675" tIns="47625" rIns="66675" bIns="47625" anchor="ctr">
            <a:normAutofit fontScale="88671"/>
          </a:bodyPr>
          <a:lstStyle/>
          <a:p>
            <a:pPr algn="ctr">
              <a:defRPr sz="1165" b="1">
                <a:solidFill>
                  <a:srgbClr val="17212B"/>
                </a:solidFill>
                <a:latin typeface="Cambria" panose="02040503050406030204"/>
                <a:ea typeface="Cambria" panose="02040503050406030204"/>
                <a:cs typeface="Cambria" panose="02040503050406030204"/>
              </a:defRPr>
            </a:pPr>
            <a:r>
              <a:rPr sz="1165" b="1">
                <a:solidFill>
                  <a:srgbClr val="17212B"/>
                </a:solidFill>
                <a:latin typeface="Cambria" panose="02040503050406030204"/>
                <a:ea typeface="Cambria" panose="02040503050406030204"/>
                <a:cs typeface="Cambria" panose="02040503050406030204"/>
              </a:rPr>
              <a:t>CÓ VI PHẠM HOẶC MẤT DỮ LIỆU?</a:t>
            </a:r>
            <a:endParaRPr sz="1165" b="1">
              <a:solidFill>
                <a:srgbClr val="17212B"/>
              </a:solidFill>
              <a:latin typeface="Cambria" panose="02040503050406030204"/>
              <a:ea typeface="Cambria" panose="02040503050406030204"/>
              <a:cs typeface="Cambria" panose="02040503050406030204"/>
            </a:endParaRPr>
          </a:p>
        </p:txBody>
      </p:sp>
      <p:sp>
        <p:nvSpPr>
          <p:cNvPr id="9" name="Rectangle 8"/>
          <p:cNvSpPr>
            <a:spLocks noGrp="1"/>
          </p:cNvSpPr>
          <p:nvPr/>
        </p:nvSpPr>
        <p:spPr>
          <a:xfrm>
            <a:off x="4648200" y="2647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Tạo cảnh báo quá tốc độ, lệch tuyến hoặc xe chạy không lệnh</a:t>
            </a:r>
            <a:endParaRPr sz="1165" b="0">
              <a:solidFill>
                <a:srgbClr val="17212B"/>
              </a:solidFill>
              <a:latin typeface="Cambria" panose="02040503050406030204"/>
              <a:ea typeface="Cambria" panose="02040503050406030204"/>
              <a:cs typeface="Cambria" panose="02040503050406030204"/>
            </a:endParaRPr>
          </a:p>
        </p:txBody>
      </p:sp>
      <p:sp>
        <p:nvSpPr>
          <p:cNvPr id="10" name="Rectangle 9"/>
          <p:cNvSpPr>
            <a:spLocks noGrp="1"/>
          </p:cNvSpPr>
          <p:nvPr/>
        </p:nvSpPr>
        <p:spPr>
          <a:xfrm>
            <a:off x="800100" y="3790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Tài xế bấm SOS, gửi GPS, mô tả và ảnh</a:t>
            </a:r>
            <a:endParaRPr sz="1165" b="0">
              <a:solidFill>
                <a:srgbClr val="17212B"/>
              </a:solidFill>
              <a:latin typeface="Cambria" panose="02040503050406030204"/>
              <a:ea typeface="Cambria" panose="02040503050406030204"/>
              <a:cs typeface="Cambria" panose="02040503050406030204"/>
            </a:endParaRPr>
          </a:p>
        </p:txBody>
      </p:sp>
      <p:sp>
        <p:nvSpPr>
          <p:cNvPr id="11" name="Rectangle 10"/>
          <p:cNvSpPr>
            <a:spLocks noGrp="1"/>
          </p:cNvSpPr>
          <p:nvPr/>
        </p:nvSpPr>
        <p:spPr>
          <a:xfrm>
            <a:off x="4648200" y="3790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Transaction tạo SOS alert và yêu cầu sửa chữa</a:t>
            </a:r>
            <a:endParaRPr sz="1165" b="0">
              <a:solidFill>
                <a:srgbClr val="17212B"/>
              </a:solidFill>
              <a:latin typeface="Cambria" panose="02040503050406030204"/>
              <a:ea typeface="Cambria" panose="02040503050406030204"/>
              <a:cs typeface="Cambria" panose="02040503050406030204"/>
            </a:endParaRPr>
          </a:p>
        </p:txBody>
      </p:sp>
      <p:sp>
        <p:nvSpPr>
          <p:cNvPr id="12" name="Rectangle 11"/>
          <p:cNvSpPr>
            <a:spLocks noGrp="1"/>
          </p:cNvSpPr>
          <p:nvPr/>
        </p:nvSpPr>
        <p:spPr>
          <a:xfrm>
            <a:off x="8496300" y="3790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Tiếp nhận, chuyển IN_PROGRESS và điều phối xử lý</a:t>
            </a:r>
            <a:endParaRPr sz="1165" b="0">
              <a:solidFill>
                <a:srgbClr val="17212B"/>
              </a:solidFill>
              <a:latin typeface="Cambria" panose="02040503050406030204"/>
              <a:ea typeface="Cambria" panose="02040503050406030204"/>
              <a:cs typeface="Cambria" panose="02040503050406030204"/>
            </a:endParaRPr>
          </a:p>
        </p:txBody>
      </p:sp>
      <p:sp>
        <p:nvSpPr>
          <p:cNvPr id="13" name="Diamond 12"/>
          <p:cNvSpPr>
            <a:spLocks noGrp="1"/>
          </p:cNvSpPr>
          <p:nvPr/>
        </p:nvSpPr>
        <p:spPr>
          <a:xfrm>
            <a:off x="8496300" y="4933950"/>
            <a:ext cx="2895600" cy="819150"/>
          </a:xfrm>
          <a:prstGeom prst="diamond">
            <a:avLst/>
          </a:prstGeom>
          <a:solidFill>
            <a:srgbClr val="F8D1B0"/>
          </a:solidFill>
          <a:ln w="13335">
            <a:solidFill>
              <a:srgbClr val="006B35"/>
            </a:solidFill>
            <a:prstDash val="solid"/>
          </a:ln>
        </p:spPr>
        <p:txBody>
          <a:bodyPr wrap="square" lIns="66675" tIns="47625" rIns="66675" bIns="47625" anchor="ctr">
            <a:normAutofit/>
          </a:bodyPr>
          <a:lstStyle/>
          <a:p>
            <a:pPr algn="ctr">
              <a:defRPr sz="1165" b="1">
                <a:solidFill>
                  <a:srgbClr val="17212B"/>
                </a:solidFill>
                <a:latin typeface="Cambria" panose="02040503050406030204"/>
                <a:ea typeface="Cambria" panose="02040503050406030204"/>
                <a:cs typeface="Cambria" panose="02040503050406030204"/>
              </a:defRPr>
            </a:pPr>
            <a:r>
              <a:rPr sz="1165" b="1">
                <a:solidFill>
                  <a:srgbClr val="17212B"/>
                </a:solidFill>
                <a:latin typeface="Cambria" panose="02040503050406030204"/>
                <a:ea typeface="Cambria" panose="02040503050406030204"/>
                <a:cs typeface="Cambria" panose="02040503050406030204"/>
              </a:rPr>
              <a:t>SỰ CỐ ĐÃ XỬ LÝ?</a:t>
            </a:r>
            <a:endParaRPr sz="1165" b="1">
              <a:solidFill>
                <a:srgbClr val="17212B"/>
              </a:solidFill>
              <a:latin typeface="Cambria" panose="02040503050406030204"/>
              <a:ea typeface="Cambria" panose="02040503050406030204"/>
              <a:cs typeface="Cambria" panose="02040503050406030204"/>
            </a:endParaRPr>
          </a:p>
        </p:txBody>
      </p:sp>
      <p:sp>
        <p:nvSpPr>
          <p:cNvPr id="14" name="Rounded Rectangle 13"/>
          <p:cNvSpPr>
            <a:spLocks noGrp="1"/>
          </p:cNvSpPr>
          <p:nvPr/>
        </p:nvSpPr>
        <p:spPr>
          <a:xfrm>
            <a:off x="4648200" y="4933950"/>
            <a:ext cx="2895600" cy="685800"/>
          </a:xfrm>
          <a:prstGeom prst="roundRect">
            <a:avLst>
              <a:gd name="adj" fmla="val 11111"/>
            </a:avLst>
          </a:prstGeom>
          <a:solidFill>
            <a:srgbClr val="E8F2E2"/>
          </a:solidFill>
          <a:ln w="13335">
            <a:solidFill>
              <a:srgbClr val="006B35"/>
            </a:solidFill>
            <a:prstDash val="solid"/>
          </a:ln>
        </p:spPr>
        <p:txBody>
          <a:bodyPr wrap="square" lIns="66675" tIns="47625" rIns="66675" bIns="47625" anchor="ctr">
            <a:normAutofit/>
          </a:bodyPr>
          <a:lstStyle/>
          <a:p>
            <a:pPr algn="ctr">
              <a:defRPr sz="1165" b="1">
                <a:solidFill>
                  <a:srgbClr val="17212B"/>
                </a:solidFill>
                <a:latin typeface="Cambria" panose="02040503050406030204"/>
                <a:ea typeface="Cambria" panose="02040503050406030204"/>
                <a:cs typeface="Cambria" panose="02040503050406030204"/>
              </a:defRPr>
            </a:pPr>
            <a:r>
              <a:rPr sz="1165" b="1">
                <a:solidFill>
                  <a:srgbClr val="17212B"/>
                </a:solidFill>
                <a:latin typeface="Cambria" panose="02040503050406030204"/>
                <a:ea typeface="Cambria" panose="02040503050406030204"/>
                <a:cs typeface="Cambria" panose="02040503050406030204"/>
              </a:rPr>
              <a:t>RESOLVED, bỏ dedupe key và lưu lịch sử</a:t>
            </a:r>
            <a:endParaRPr sz="1165" b="1">
              <a:solidFill>
                <a:srgbClr val="17212B"/>
              </a:solidFill>
              <a:latin typeface="Cambria" panose="02040503050406030204"/>
              <a:ea typeface="Cambria" panose="02040503050406030204"/>
              <a:cs typeface="Cambria" panose="02040503050406030204"/>
            </a:endParaRPr>
          </a:p>
        </p:txBody>
      </p:sp>
      <p:cxnSp>
        <p:nvCxnSpPr>
          <p:cNvPr id="41" name="Elbow Connector 40"/>
          <p:cNvCxnSpPr>
            <a:stCxn id="7" idx="3"/>
            <a:endCxn id="8" idx="1"/>
          </p:cNvCxnSpPr>
          <p:nvPr/>
        </p:nvCxnSpPr>
        <p:spPr>
          <a:xfrm>
            <a:off x="3695700" y="1847850"/>
            <a:ext cx="952500" cy="4324350"/>
          </a:xfrm>
          <a:prstGeom prst="bentConnector4">
            <a:avLst/>
          </a:prstGeom>
          <a:ln w="19050">
            <a:solidFill>
              <a:srgbClr val="5FAE3E"/>
            </a:solidFill>
            <a:prstDash val="solid"/>
            <a:tailEnd type="arrow" w="med" len="med"/>
          </a:ln>
        </p:spPr>
      </p:cxnSp>
      <p:cxnSp>
        <p:nvCxnSpPr>
          <p:cNvPr id="42" name="Straight Arrow Connector 41"/>
          <p:cNvCxnSpPr>
            <a:stCxn id="8" idx="2"/>
            <a:endCxn id="9" idx="0"/>
          </p:cNvCxnSpPr>
          <p:nvPr/>
        </p:nvCxnSpPr>
        <p:spPr>
          <a:xfrm>
            <a:off x="6096000" y="2324100"/>
            <a:ext cx="0" cy="323850"/>
          </a:xfrm>
          <a:prstGeom prst="straightConnector1">
            <a:avLst/>
          </a:prstGeom>
          <a:ln w="19050">
            <a:solidFill>
              <a:srgbClr val="5FAE3E"/>
            </a:solidFill>
            <a:prstDash val="solid"/>
            <a:tailEnd type="arrow" w="med" len="med"/>
          </a:ln>
        </p:spPr>
      </p:cxnSp>
      <p:sp>
        <p:nvSpPr>
          <p:cNvPr id="17" name="Rectangle 16"/>
          <p:cNvSpPr>
            <a:spLocks noGrp="1"/>
          </p:cNvSpPr>
          <p:nvPr/>
        </p:nvSpPr>
        <p:spPr>
          <a:xfrm>
            <a:off x="6858000" y="2428875"/>
            <a:ext cx="666750" cy="209550"/>
          </a:xfrm>
          <a:prstGeom prst="rect">
            <a:avLst/>
          </a:prstGeom>
          <a:solidFill>
            <a:srgbClr val="FFFFFF"/>
          </a:solidFill>
          <a:ln w="0">
            <a:noFill/>
          </a:ln>
        </p:spPr>
        <p:txBody>
          <a:bodyPr wrap="square" lIns="38100" tIns="19050" rIns="38100" bIns="19050" anchor="ctr">
            <a:normAutofit/>
          </a:bodyPr>
          <a:lstStyle/>
          <a:p>
            <a:pPr algn="ctr">
              <a:lnSpc>
                <a:spcPct val="100000"/>
              </a:lnSpc>
              <a:buNone/>
              <a:defRPr sz="940" b="1" i="0">
                <a:solidFill>
                  <a:srgbClr val="59636E"/>
                </a:solidFill>
                <a:latin typeface="Cambria" panose="02040503050406030204"/>
                <a:ea typeface="Cambria" panose="02040503050406030204"/>
                <a:cs typeface="Cambria" panose="02040503050406030204"/>
              </a:defRPr>
            </a:pPr>
            <a:r>
              <a:rPr sz="940" b="1" i="0">
                <a:solidFill>
                  <a:srgbClr val="59636E"/>
                </a:solidFill>
                <a:latin typeface="Cambria" panose="02040503050406030204"/>
                <a:ea typeface="Cambria" panose="02040503050406030204"/>
                <a:cs typeface="Cambria" panose="02040503050406030204"/>
              </a:rPr>
              <a:t>Có</a:t>
            </a:r>
            <a:endParaRPr sz="940" b="1" i="0">
              <a:solidFill>
                <a:srgbClr val="59636E"/>
              </a:solidFill>
              <a:latin typeface="Cambria" panose="02040503050406030204"/>
              <a:ea typeface="Cambria" panose="02040503050406030204"/>
              <a:cs typeface="Cambria" panose="02040503050406030204"/>
            </a:endParaRPr>
          </a:p>
        </p:txBody>
      </p:sp>
      <p:cxnSp>
        <p:nvCxnSpPr>
          <p:cNvPr id="44" name="Elbow Connector 43"/>
          <p:cNvCxnSpPr>
            <a:stCxn id="10" idx="3"/>
            <a:endCxn id="11" idx="1"/>
          </p:cNvCxnSpPr>
          <p:nvPr/>
        </p:nvCxnSpPr>
        <p:spPr>
          <a:xfrm>
            <a:off x="3695700" y="4133850"/>
            <a:ext cx="952500" cy="2038350"/>
          </a:xfrm>
          <a:prstGeom prst="bentConnector4">
            <a:avLst/>
          </a:prstGeom>
          <a:ln w="19050">
            <a:solidFill>
              <a:srgbClr val="5FAE3E"/>
            </a:solidFill>
            <a:prstDash val="solid"/>
            <a:tailEnd type="arrow" w="med" len="med"/>
          </a:ln>
        </p:spPr>
      </p:cxnSp>
      <p:cxnSp>
        <p:nvCxnSpPr>
          <p:cNvPr id="45" name="Elbow Connector 44"/>
          <p:cNvCxnSpPr>
            <a:stCxn id="9" idx="3"/>
            <a:endCxn id="12" idx="1"/>
          </p:cNvCxnSpPr>
          <p:nvPr/>
        </p:nvCxnSpPr>
        <p:spPr>
          <a:xfrm>
            <a:off x="7543800" y="2990850"/>
            <a:ext cx="952500" cy="1143000"/>
          </a:xfrm>
          <a:prstGeom prst="bentConnector3">
            <a:avLst>
              <a:gd name="adj1" fmla="val 50000"/>
            </a:avLst>
          </a:prstGeom>
          <a:ln w="19050">
            <a:solidFill>
              <a:srgbClr val="5FAE3E"/>
            </a:solidFill>
            <a:prstDash val="solid"/>
            <a:tailEnd type="arrow" w="med" len="med"/>
          </a:ln>
        </p:spPr>
      </p:cxnSp>
      <p:cxnSp>
        <p:nvCxnSpPr>
          <p:cNvPr id="46" name="Straight Arrow Connector 45"/>
          <p:cNvCxnSpPr>
            <a:stCxn id="11" idx="3"/>
            <a:endCxn id="12" idx="1"/>
          </p:cNvCxnSpPr>
          <p:nvPr/>
        </p:nvCxnSpPr>
        <p:spPr>
          <a:xfrm>
            <a:off x="7543800" y="4133850"/>
            <a:ext cx="952500" cy="0"/>
          </a:xfrm>
          <a:prstGeom prst="straightConnector1">
            <a:avLst/>
          </a:prstGeom>
          <a:ln w="19050">
            <a:solidFill>
              <a:srgbClr val="5FAE3E"/>
            </a:solidFill>
            <a:prstDash val="solid"/>
            <a:tailEnd type="arrow" w="med" len="med"/>
          </a:ln>
        </p:spPr>
      </p:cxnSp>
      <p:cxnSp>
        <p:nvCxnSpPr>
          <p:cNvPr id="47" name="Straight Arrow Connector 46"/>
          <p:cNvCxnSpPr>
            <a:stCxn id="12" idx="2"/>
            <a:endCxn id="13" idx="0"/>
          </p:cNvCxnSpPr>
          <p:nvPr/>
        </p:nvCxnSpPr>
        <p:spPr>
          <a:xfrm>
            <a:off x="9944100" y="4476750"/>
            <a:ext cx="0" cy="457200"/>
          </a:xfrm>
          <a:prstGeom prst="straightConnector1">
            <a:avLst/>
          </a:prstGeom>
          <a:ln w="19050">
            <a:solidFill>
              <a:srgbClr val="5FAE3E"/>
            </a:solidFill>
            <a:prstDash val="solid"/>
            <a:tailEnd type="arrow" w="med" len="med"/>
          </a:ln>
        </p:spPr>
      </p:cxnSp>
      <p:cxnSp>
        <p:nvCxnSpPr>
          <p:cNvPr id="48" name="Elbow Connector 47"/>
          <p:cNvCxnSpPr>
            <a:stCxn id="13" idx="1"/>
            <a:endCxn id="14" idx="3"/>
          </p:cNvCxnSpPr>
          <p:nvPr/>
        </p:nvCxnSpPr>
        <p:spPr>
          <a:xfrm flipH="1" flipV="1">
            <a:off x="7543800" y="5276850"/>
            <a:ext cx="952500" cy="66675"/>
          </a:xfrm>
          <a:prstGeom prst="bentConnector3">
            <a:avLst>
              <a:gd name="adj1" fmla="val 50000"/>
            </a:avLst>
          </a:prstGeom>
          <a:ln w="19050">
            <a:solidFill>
              <a:srgbClr val="5FAE3E"/>
            </a:solidFill>
            <a:prstDash val="solid"/>
            <a:tailEnd type="arrow" w="med" len="med"/>
          </a:ln>
        </p:spPr>
      </p:cxnSp>
      <p:sp>
        <p:nvSpPr>
          <p:cNvPr id="23" name="Rectangle 22"/>
          <p:cNvSpPr>
            <a:spLocks noGrp="1"/>
          </p:cNvSpPr>
          <p:nvPr/>
        </p:nvSpPr>
        <p:spPr>
          <a:xfrm>
            <a:off x="7705725" y="5305425"/>
            <a:ext cx="666750" cy="209550"/>
          </a:xfrm>
          <a:prstGeom prst="rect">
            <a:avLst/>
          </a:prstGeom>
          <a:solidFill>
            <a:srgbClr val="FFFFFF"/>
          </a:solidFill>
          <a:ln w="0">
            <a:noFill/>
          </a:ln>
        </p:spPr>
        <p:txBody>
          <a:bodyPr wrap="square" lIns="38100" tIns="19050" rIns="38100" bIns="19050" anchor="ctr">
            <a:normAutofit/>
          </a:bodyPr>
          <a:lstStyle/>
          <a:p>
            <a:pPr algn="ctr">
              <a:lnSpc>
                <a:spcPct val="100000"/>
              </a:lnSpc>
              <a:buNone/>
              <a:defRPr sz="940" b="1" i="0">
                <a:solidFill>
                  <a:srgbClr val="59636E"/>
                </a:solidFill>
                <a:latin typeface="Cambria" panose="02040503050406030204"/>
                <a:ea typeface="Cambria" panose="02040503050406030204"/>
                <a:cs typeface="Cambria" panose="02040503050406030204"/>
              </a:defRPr>
            </a:pPr>
            <a:r>
              <a:rPr sz="940" b="1" i="0">
                <a:solidFill>
                  <a:srgbClr val="59636E"/>
                </a:solidFill>
                <a:latin typeface="Cambria" panose="02040503050406030204"/>
                <a:ea typeface="Cambria" panose="02040503050406030204"/>
                <a:cs typeface="Cambria" panose="02040503050406030204"/>
              </a:rPr>
              <a:t>Có</a:t>
            </a:r>
            <a:endParaRPr sz="940" b="1" i="0">
              <a:solidFill>
                <a:srgbClr val="59636E"/>
              </a:solidFill>
              <a:latin typeface="Cambria" panose="02040503050406030204"/>
              <a:ea typeface="Cambria" panose="02040503050406030204"/>
              <a:cs typeface="Cambria" panose="02040503050406030204"/>
            </a:endParaRPr>
          </a:p>
        </p:txBody>
      </p:sp>
      <p:sp>
        <p:nvSpPr>
          <p:cNvPr id="24" name="Rectangle 23"/>
          <p:cNvSpPr>
            <a:spLocks noGrp="1"/>
          </p:cNvSpPr>
          <p:nvPr/>
        </p:nvSpPr>
        <p:spPr>
          <a:xfrm>
            <a:off x="704850" y="6115050"/>
            <a:ext cx="10782300" cy="266700"/>
          </a:xfrm>
          <a:prstGeom prst="rect">
            <a:avLst/>
          </a:prstGeom>
          <a:noFill/>
          <a:ln w="0">
            <a:noFill/>
          </a:ln>
        </p:spPr>
        <p:txBody>
          <a:bodyPr wrap="square" lIns="38100" tIns="19050" rIns="38100" bIns="19050" anchor="ctr">
            <a:normAutofit/>
          </a:bodyPr>
          <a:lstStyle/>
          <a:p>
            <a:pPr algn="ctr">
              <a:lnSpc>
                <a:spcPct val="100000"/>
              </a:lnSpc>
              <a:buNone/>
              <a:defRPr sz="1015" b="0" i="1">
                <a:solidFill>
                  <a:srgbClr val="E00000"/>
                </a:solidFill>
                <a:latin typeface="Cambria" panose="02040503050406030204"/>
                <a:ea typeface="Cambria" panose="02040503050406030204"/>
                <a:cs typeface="Cambria" panose="02040503050406030204"/>
              </a:defRPr>
            </a:pPr>
            <a:r>
              <a:rPr sz="1015" b="0" i="1">
                <a:solidFill>
                  <a:srgbClr val="E00000"/>
                </a:solidFill>
                <a:latin typeface="Cambria" panose="02040503050406030204"/>
                <a:ea typeface="Cambria" panose="02040503050406030204"/>
                <a:cs typeface="Cambria" panose="02040503050406030204"/>
              </a:rPr>
              <a:t>Chu kỳ gửi GPS 30 giây chưa được xác nhận thống nhất. Không trình bày đây là quy tắc production đã chốt.</a:t>
            </a:r>
            <a:endParaRPr sz="1015" b="0" i="1">
              <a:solidFill>
                <a:srgbClr val="E00000"/>
              </a:solidFill>
              <a:latin typeface="Cambria" panose="02040503050406030204"/>
              <a:ea typeface="Cambria" panose="02040503050406030204"/>
              <a:cs typeface="Cambria" panose="02040503050406030204"/>
            </a:endParaRPr>
          </a:p>
        </p:txBody>
      </p:sp>
      <p:sp>
        <p:nvSpPr>
          <p:cNvPr id="25" name="Rectangle 24"/>
          <p:cNvSpPr>
            <a:spLocks noGrp="1"/>
          </p:cNvSpPr>
          <p:nvPr/>
        </p:nvSpPr>
        <p:spPr>
          <a:xfrm>
            <a:off x="266700" y="6534150"/>
            <a:ext cx="7429500" cy="190500"/>
          </a:xfrm>
          <a:prstGeom prst="rect">
            <a:avLst/>
          </a:prstGeom>
          <a:noFill/>
          <a:ln w="0">
            <a:noFill/>
          </a:ln>
        </p:spPr>
        <p:txBody>
          <a:bodyPr wrap="square" lIns="38100" tIns="19050" rIns="38100" bIns="19050" anchor="ctr">
            <a:normAutofit/>
          </a:bodyPr>
          <a:lstStyle/>
          <a:p>
            <a:pPr algn="l">
              <a:lnSpc>
                <a:spcPct val="100000"/>
              </a:lnSpc>
              <a:buNone/>
              <a:defRPr sz="825" b="0" i="1">
                <a:solidFill>
                  <a:srgbClr val="8A8F93"/>
                </a:solidFill>
                <a:latin typeface="Cambria" panose="02040503050406030204"/>
                <a:ea typeface="Cambria" panose="02040503050406030204"/>
                <a:cs typeface="Cambria" panose="02040503050406030204"/>
              </a:defRPr>
            </a:pPr>
            <a:r>
              <a:rPr sz="825" b="0" i="1">
                <a:solidFill>
                  <a:srgbClr val="8A8F93"/>
                </a:solidFill>
                <a:latin typeface="Cambria" panose="02040503050406030204"/>
                <a:ea typeface="Cambria" panose="02040503050406030204"/>
                <a:cs typeface="Cambria" panose="02040503050406030204"/>
              </a:rPr>
              <a:t>Giới thiệu phần mềm và tiến độ phát triển | THACO AGRI Fleet | 21/09/2026</a:t>
            </a:r>
            <a:endParaRPr sz="825" b="0" i="1">
              <a:solidFill>
                <a:srgbClr val="8A8F93"/>
              </a:solidFill>
              <a:latin typeface="Cambria" panose="02040503050406030204"/>
              <a:ea typeface="Cambria" panose="02040503050406030204"/>
              <a:cs typeface="Cambria" panose="02040503050406030204"/>
            </a:endParaRPr>
          </a:p>
        </p:txBody>
      </p:sp>
      <p:sp>
        <p:nvSpPr>
          <p:cNvPr id="26" name="Rectangle 25"/>
          <p:cNvSpPr>
            <a:spLocks noGrp="1"/>
          </p:cNvSpPr>
          <p:nvPr/>
        </p:nvSpPr>
        <p:spPr>
          <a:xfrm>
            <a:off x="11658600" y="6534150"/>
            <a:ext cx="228600" cy="190500"/>
          </a:xfrm>
          <a:prstGeom prst="rect">
            <a:avLst/>
          </a:prstGeom>
          <a:noFill/>
          <a:ln w="0">
            <a:noFill/>
          </a:ln>
        </p:spPr>
        <p:txBody>
          <a:bodyPr wrap="square" lIns="38100" tIns="19050" rIns="38100" bIns="19050" anchor="ctr">
            <a:normAutofit/>
          </a:bodyPr>
          <a:lstStyle/>
          <a:p>
            <a:pPr algn="r">
              <a:lnSpc>
                <a:spcPct val="100000"/>
              </a:lnSpc>
              <a:buNone/>
              <a:defRPr sz="825" b="0" i="0">
                <a:solidFill>
                  <a:srgbClr val="8A8F93"/>
                </a:solidFill>
                <a:latin typeface="Cambria" panose="02040503050406030204"/>
                <a:ea typeface="Cambria" panose="02040503050406030204"/>
                <a:cs typeface="Cambria" panose="02040503050406030204"/>
              </a:defRPr>
            </a:pPr>
            <a:r>
              <a:rPr sz="825" b="0" i="0">
                <a:solidFill>
                  <a:srgbClr val="8A8F93"/>
                </a:solidFill>
                <a:latin typeface="Cambria" panose="02040503050406030204"/>
                <a:ea typeface="Cambria" panose="02040503050406030204"/>
                <a:cs typeface="Cambria" panose="02040503050406030204"/>
              </a:rPr>
              <a:t>19</a:t>
            </a:r>
            <a:endParaRPr sz="825" b="0" i="0">
              <a:solidFill>
                <a:srgbClr val="8A8F93"/>
              </a:solidFill>
              <a:latin typeface="Cambria" panose="02040503050406030204"/>
              <a:ea typeface="Cambria" panose="02040503050406030204"/>
              <a:cs typeface="Cambria" panose="0204050305040603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 name="slide-title"/>
          <p:cNvSpPr>
            <a:spLocks noGrp="1"/>
          </p:cNvSpPr>
          <p:nvPr/>
        </p:nvSpPr>
        <p:spPr>
          <a:xfrm>
            <a:off x="2571750" y="142875"/>
            <a:ext cx="9191625" cy="590550"/>
          </a:xfrm>
          <a:prstGeom prst="rect">
            <a:avLst/>
          </a:prstGeom>
          <a:noFill/>
          <a:ln w="0">
            <a:noFill/>
          </a:ln>
        </p:spPr>
        <p:txBody>
          <a:bodyPr wrap="square" lIns="38100" tIns="19050" rIns="38100" bIns="19050" anchor="ctr">
            <a:normAutofit/>
          </a:bodyPr>
          <a:lstStyle/>
          <a:p>
            <a:pPr algn="ctr">
              <a:lnSpc>
                <a:spcPct val="100000"/>
              </a:lnSpc>
              <a:buNone/>
              <a:defRPr sz="2100" b="1" i="0">
                <a:solidFill>
                  <a:srgbClr val="E00000"/>
                </a:solidFill>
                <a:latin typeface="Cambria" panose="02040503050406030204"/>
                <a:ea typeface="Cambria" panose="02040503050406030204"/>
                <a:cs typeface="Cambria" panose="02040503050406030204"/>
              </a:defRPr>
            </a:pPr>
            <a:r>
              <a:rPr sz="2100" b="1" i="0">
                <a:solidFill>
                  <a:srgbClr val="E00000"/>
                </a:solidFill>
                <a:latin typeface="Cambria" panose="02040503050406030204"/>
                <a:ea typeface="Cambria" panose="02040503050406030204"/>
                <a:cs typeface="Cambria" panose="02040503050406030204"/>
              </a:rPr>
              <a:t>QUẢN LÝ TÀI XẾ VÀ TÍNH KPI</a:t>
            </a:r>
            <a:endParaRPr sz="2100" b="1" i="0">
              <a:solidFill>
                <a:srgbClr val="E00000"/>
              </a:solidFill>
              <a:latin typeface="Cambria" panose="02040503050406030204"/>
              <a:ea typeface="Cambria" panose="02040503050406030204"/>
              <a:cs typeface="Cambria" panose="02040503050406030204"/>
            </a:endParaRPr>
          </a:p>
        </p:txBody>
      </p:sp>
      <p:sp>
        <p:nvSpPr>
          <p:cNvPr id="2" name="Rectangle 1"/>
          <p:cNvSpPr>
            <a:spLocks noGrp="1"/>
          </p:cNvSpPr>
          <p:nvPr/>
        </p:nvSpPr>
        <p:spPr>
          <a:xfrm>
            <a:off x="323850" y="895350"/>
            <a:ext cx="3848100" cy="400050"/>
          </a:xfrm>
          <a:prstGeom prst="rect">
            <a:avLst/>
          </a:prstGeom>
          <a:solidFill>
            <a:srgbClr val="F3F8F0"/>
          </a:solidFill>
          <a:ln w="9525">
            <a:solidFill>
              <a:srgbClr val="5FAE3E"/>
            </a:solidFill>
          </a:ln>
        </p:spPr>
        <p:txBody>
          <a:bodyPr wrap="square" lIns="38100" tIns="19050" rIns="38100" bIns="19050" anchor="ctr">
            <a:normAutofit/>
          </a:bodyPr>
          <a:lstStyle/>
          <a:p>
            <a:pPr algn="ctr">
              <a:lnSpc>
                <a:spcPct val="100000"/>
              </a:lnSpc>
              <a:buNone/>
              <a:defRPr sz="1275" b="1" i="0">
                <a:solidFill>
                  <a:srgbClr val="006B35"/>
                </a:solidFill>
                <a:latin typeface="Cambria" panose="02040503050406030204"/>
                <a:ea typeface="Cambria" panose="02040503050406030204"/>
                <a:cs typeface="Cambria" panose="02040503050406030204"/>
              </a:defRPr>
            </a:pPr>
            <a:r>
              <a:rPr sz="1275" b="1" i="0">
                <a:solidFill>
                  <a:srgbClr val="006B35"/>
                </a:solidFill>
                <a:latin typeface="Cambria" panose="02040503050406030204"/>
                <a:ea typeface="Cambria" panose="02040503050406030204"/>
                <a:cs typeface="Cambria" panose="02040503050406030204"/>
              </a:rPr>
              <a:t>QUẢN LÝ NHÂN SỰ</a:t>
            </a:r>
            <a:endParaRPr sz="1275" b="1" i="0">
              <a:solidFill>
                <a:srgbClr val="006B35"/>
              </a:solidFill>
              <a:latin typeface="Cambria" panose="02040503050406030204"/>
              <a:ea typeface="Cambria" panose="02040503050406030204"/>
              <a:cs typeface="Cambria" panose="02040503050406030204"/>
            </a:endParaRPr>
          </a:p>
        </p:txBody>
      </p:sp>
      <p:sp>
        <p:nvSpPr>
          <p:cNvPr id="3" name="Rectangle 2"/>
          <p:cNvSpPr>
            <a:spLocks noGrp="1"/>
          </p:cNvSpPr>
          <p:nvPr/>
        </p:nvSpPr>
        <p:spPr>
          <a:xfrm>
            <a:off x="4171950" y="895350"/>
            <a:ext cx="3848100" cy="400050"/>
          </a:xfrm>
          <a:prstGeom prst="rect">
            <a:avLst/>
          </a:prstGeom>
          <a:solidFill>
            <a:srgbClr val="F1F6FB"/>
          </a:solidFill>
          <a:ln w="9525">
            <a:solidFill>
              <a:srgbClr val="5FAE3E"/>
            </a:solidFill>
          </a:ln>
        </p:spPr>
        <p:txBody>
          <a:bodyPr wrap="square" lIns="38100" tIns="19050" rIns="38100" bIns="19050" anchor="ctr">
            <a:normAutofit/>
          </a:bodyPr>
          <a:lstStyle/>
          <a:p>
            <a:pPr algn="ctr">
              <a:lnSpc>
                <a:spcPct val="100000"/>
              </a:lnSpc>
              <a:buNone/>
              <a:defRPr sz="1275" b="1" i="0">
                <a:solidFill>
                  <a:srgbClr val="075AA7"/>
                </a:solidFill>
                <a:latin typeface="Cambria" panose="02040503050406030204"/>
                <a:ea typeface="Cambria" panose="02040503050406030204"/>
                <a:cs typeface="Cambria" panose="02040503050406030204"/>
              </a:defRPr>
            </a:pPr>
            <a:r>
              <a:rPr sz="1275" b="1" i="0">
                <a:solidFill>
                  <a:srgbClr val="075AA7"/>
                </a:solidFill>
                <a:latin typeface="Cambria" panose="02040503050406030204"/>
                <a:ea typeface="Cambria" panose="02040503050406030204"/>
                <a:cs typeface="Cambria" panose="02040503050406030204"/>
              </a:rPr>
              <a:t>VẬN HÀNH</a:t>
            </a:r>
            <a:endParaRPr sz="1275" b="1" i="0">
              <a:solidFill>
                <a:srgbClr val="075AA7"/>
              </a:solidFill>
              <a:latin typeface="Cambria" panose="02040503050406030204"/>
              <a:ea typeface="Cambria" panose="02040503050406030204"/>
              <a:cs typeface="Cambria" panose="02040503050406030204"/>
            </a:endParaRPr>
          </a:p>
        </p:txBody>
      </p:sp>
      <p:sp>
        <p:nvSpPr>
          <p:cNvPr id="4" name="Rectangle 3"/>
          <p:cNvSpPr>
            <a:spLocks noGrp="1"/>
          </p:cNvSpPr>
          <p:nvPr/>
        </p:nvSpPr>
        <p:spPr>
          <a:xfrm>
            <a:off x="4171950" y="1295400"/>
            <a:ext cx="14288" cy="4762500"/>
          </a:xfrm>
          <a:prstGeom prst="rect">
            <a:avLst/>
          </a:prstGeom>
          <a:solidFill>
            <a:srgbClr val="5FAE3E"/>
          </a:solidFill>
          <a:ln w="0">
            <a:solidFill>
              <a:srgbClr val="5FAE3E"/>
            </a:solidFill>
          </a:ln>
        </p:spPr>
      </p:sp>
      <p:sp>
        <p:nvSpPr>
          <p:cNvPr id="5" name="Rectangle 4"/>
          <p:cNvSpPr>
            <a:spLocks noGrp="1"/>
          </p:cNvSpPr>
          <p:nvPr/>
        </p:nvSpPr>
        <p:spPr>
          <a:xfrm>
            <a:off x="8020050" y="895350"/>
            <a:ext cx="3848100" cy="400050"/>
          </a:xfrm>
          <a:prstGeom prst="rect">
            <a:avLst/>
          </a:prstGeom>
          <a:solidFill>
            <a:srgbClr val="F3F8F0"/>
          </a:solidFill>
          <a:ln w="9525">
            <a:solidFill>
              <a:srgbClr val="5FAE3E"/>
            </a:solidFill>
          </a:ln>
        </p:spPr>
        <p:txBody>
          <a:bodyPr wrap="square" lIns="38100" tIns="19050" rIns="38100" bIns="19050" anchor="ctr">
            <a:normAutofit/>
          </a:bodyPr>
          <a:lstStyle/>
          <a:p>
            <a:pPr algn="ctr">
              <a:lnSpc>
                <a:spcPct val="100000"/>
              </a:lnSpc>
              <a:buNone/>
              <a:defRPr sz="1275" b="1" i="0">
                <a:solidFill>
                  <a:srgbClr val="006B35"/>
                </a:solidFill>
                <a:latin typeface="Cambria" panose="02040503050406030204"/>
                <a:ea typeface="Cambria" panose="02040503050406030204"/>
                <a:cs typeface="Cambria" panose="02040503050406030204"/>
              </a:defRPr>
            </a:pPr>
            <a:r>
              <a:rPr sz="1275" b="1" i="0">
                <a:solidFill>
                  <a:srgbClr val="006B35"/>
                </a:solidFill>
                <a:latin typeface="Cambria" panose="02040503050406030204"/>
                <a:ea typeface="Cambria" panose="02040503050406030204"/>
                <a:cs typeface="Cambria" panose="02040503050406030204"/>
              </a:rPr>
              <a:t>KPI VÀ TÀI XẾ</a:t>
            </a:r>
            <a:endParaRPr sz="1275" b="1" i="0">
              <a:solidFill>
                <a:srgbClr val="006B35"/>
              </a:solidFill>
              <a:latin typeface="Cambria" panose="02040503050406030204"/>
              <a:ea typeface="Cambria" panose="02040503050406030204"/>
              <a:cs typeface="Cambria" panose="02040503050406030204"/>
            </a:endParaRPr>
          </a:p>
        </p:txBody>
      </p:sp>
      <p:sp>
        <p:nvSpPr>
          <p:cNvPr id="6" name="Rectangle 5"/>
          <p:cNvSpPr>
            <a:spLocks noGrp="1"/>
          </p:cNvSpPr>
          <p:nvPr/>
        </p:nvSpPr>
        <p:spPr>
          <a:xfrm>
            <a:off x="8020050" y="1295400"/>
            <a:ext cx="14288" cy="4762500"/>
          </a:xfrm>
          <a:prstGeom prst="rect">
            <a:avLst/>
          </a:prstGeom>
          <a:solidFill>
            <a:srgbClr val="5FAE3E"/>
          </a:solidFill>
          <a:ln w="0">
            <a:solidFill>
              <a:srgbClr val="5FAE3E"/>
            </a:solidFill>
          </a:ln>
        </p:spPr>
      </p:sp>
      <p:sp>
        <p:nvSpPr>
          <p:cNvPr id="7" name="Rounded Rectangle 6"/>
          <p:cNvSpPr>
            <a:spLocks noGrp="1"/>
          </p:cNvSpPr>
          <p:nvPr/>
        </p:nvSpPr>
        <p:spPr>
          <a:xfrm>
            <a:off x="800100" y="1504950"/>
            <a:ext cx="2895600" cy="685800"/>
          </a:xfrm>
          <a:prstGeom prst="roundRect">
            <a:avLst>
              <a:gd name="adj" fmla="val 11111"/>
            </a:avLst>
          </a:prstGeom>
          <a:solidFill>
            <a:srgbClr val="E8F2E2"/>
          </a:solidFill>
          <a:ln w="13335">
            <a:solidFill>
              <a:srgbClr val="006B35"/>
            </a:solidFill>
            <a:prstDash val="solid"/>
          </a:ln>
        </p:spPr>
        <p:txBody>
          <a:bodyPr wrap="square" lIns="66675" tIns="47625" rIns="66675" bIns="47625" anchor="ctr">
            <a:normAutofit/>
          </a:bodyPr>
          <a:lstStyle/>
          <a:p>
            <a:pPr algn="ctr">
              <a:defRPr sz="1165" b="1">
                <a:solidFill>
                  <a:srgbClr val="17212B"/>
                </a:solidFill>
                <a:latin typeface="Cambria" panose="02040503050406030204"/>
                <a:ea typeface="Cambria" panose="02040503050406030204"/>
                <a:cs typeface="Cambria" panose="02040503050406030204"/>
              </a:defRPr>
            </a:pPr>
            <a:r>
              <a:rPr sz="1165" b="1">
                <a:solidFill>
                  <a:srgbClr val="17212B"/>
                </a:solidFill>
                <a:latin typeface="Cambria" panose="02040503050406030204"/>
                <a:ea typeface="Cambria" panose="02040503050406030204"/>
                <a:cs typeface="Cambria" panose="02040503050406030204"/>
              </a:rPr>
              <a:t>Tạo tài khoản DRIVER và hồ sơ giấy phép, sức khỏe</a:t>
            </a:r>
            <a:endParaRPr sz="1165" b="1">
              <a:solidFill>
                <a:srgbClr val="17212B"/>
              </a:solidFill>
              <a:latin typeface="Cambria" panose="02040503050406030204"/>
              <a:ea typeface="Cambria" panose="02040503050406030204"/>
              <a:cs typeface="Cambria" panose="02040503050406030204"/>
            </a:endParaRPr>
          </a:p>
        </p:txBody>
      </p:sp>
      <p:sp>
        <p:nvSpPr>
          <p:cNvPr id="8" name="Rectangle 7"/>
          <p:cNvSpPr>
            <a:spLocks noGrp="1"/>
          </p:cNvSpPr>
          <p:nvPr/>
        </p:nvSpPr>
        <p:spPr>
          <a:xfrm>
            <a:off x="800100" y="2647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Gán đơn vị, ca và xe chính hoặc phụ</a:t>
            </a:r>
            <a:endParaRPr sz="1165" b="0">
              <a:solidFill>
                <a:srgbClr val="17212B"/>
              </a:solidFill>
              <a:latin typeface="Cambria" panose="02040503050406030204"/>
              <a:ea typeface="Cambria" panose="02040503050406030204"/>
              <a:cs typeface="Cambria" panose="02040503050406030204"/>
            </a:endParaRPr>
          </a:p>
        </p:txBody>
      </p:sp>
      <p:sp>
        <p:nvSpPr>
          <p:cNvPr id="9" name="Rectangle 8"/>
          <p:cNvSpPr>
            <a:spLocks noGrp="1"/>
          </p:cNvSpPr>
          <p:nvPr/>
        </p:nvSpPr>
        <p:spPr>
          <a:xfrm>
            <a:off x="4648200" y="2647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Ghi sự kiện ASSIGNED, ACCEPTED, tiến độ và hoàn thành</a:t>
            </a:r>
            <a:endParaRPr sz="1165" b="0">
              <a:solidFill>
                <a:srgbClr val="17212B"/>
              </a:solidFill>
              <a:latin typeface="Cambria" panose="02040503050406030204"/>
              <a:ea typeface="Cambria" panose="02040503050406030204"/>
              <a:cs typeface="Cambria" panose="02040503050406030204"/>
            </a:endParaRPr>
          </a:p>
        </p:txBody>
      </p:sp>
      <p:sp>
        <p:nvSpPr>
          <p:cNvPr id="10" name="Rectangle 9"/>
          <p:cNvSpPr>
            <a:spLocks noGrp="1"/>
          </p:cNvSpPr>
          <p:nvPr/>
        </p:nvSpPr>
        <p:spPr>
          <a:xfrm>
            <a:off x="4648200" y="3790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Ghi CANNOT_ACCEPT, REASSIGNED và kết quả nghiệm thu</a:t>
            </a:r>
            <a:endParaRPr sz="1165" b="0">
              <a:solidFill>
                <a:srgbClr val="17212B"/>
              </a:solidFill>
              <a:latin typeface="Cambria" panose="02040503050406030204"/>
              <a:ea typeface="Cambria" panose="02040503050406030204"/>
              <a:cs typeface="Cambria" panose="02040503050406030204"/>
            </a:endParaRPr>
          </a:p>
        </p:txBody>
      </p:sp>
      <p:sp>
        <p:nvSpPr>
          <p:cNvPr id="11" name="Rectangle 10"/>
          <p:cNvSpPr>
            <a:spLocks noGrp="1"/>
          </p:cNvSpPr>
          <p:nvPr/>
        </p:nvSpPr>
        <p:spPr>
          <a:xfrm>
            <a:off x="8496300" y="3790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Tổng hợp số chuyến, km, giờ máy và tiết kiệm dầu</a:t>
            </a:r>
            <a:endParaRPr sz="1165" b="0">
              <a:solidFill>
                <a:srgbClr val="17212B"/>
              </a:solidFill>
              <a:latin typeface="Cambria" panose="02040503050406030204"/>
              <a:ea typeface="Cambria" panose="02040503050406030204"/>
              <a:cs typeface="Cambria" panose="02040503050406030204"/>
            </a:endParaRPr>
          </a:p>
        </p:txBody>
      </p:sp>
      <p:sp>
        <p:nvSpPr>
          <p:cNvPr id="12" name="Diamond 11"/>
          <p:cNvSpPr>
            <a:spLocks noGrp="1"/>
          </p:cNvSpPr>
          <p:nvPr/>
        </p:nvSpPr>
        <p:spPr>
          <a:xfrm>
            <a:off x="8496300" y="4933950"/>
            <a:ext cx="2895600" cy="819150"/>
          </a:xfrm>
          <a:prstGeom prst="diamond">
            <a:avLst/>
          </a:prstGeom>
          <a:solidFill>
            <a:srgbClr val="F8D1B0"/>
          </a:solidFill>
          <a:ln w="13335">
            <a:solidFill>
              <a:srgbClr val="006B35"/>
            </a:solidFill>
            <a:prstDash val="solid"/>
          </a:ln>
        </p:spPr>
        <p:txBody>
          <a:bodyPr wrap="square" lIns="66675" tIns="47625" rIns="66675" bIns="47625" anchor="ctr">
            <a:normAutofit fontScale="95317"/>
          </a:bodyPr>
          <a:lstStyle/>
          <a:p>
            <a:pPr algn="ctr">
              <a:defRPr sz="1165" b="1">
                <a:solidFill>
                  <a:srgbClr val="17212B"/>
                </a:solidFill>
                <a:latin typeface="Cambria" panose="02040503050406030204"/>
                <a:ea typeface="Cambria" panose="02040503050406030204"/>
                <a:cs typeface="Cambria" panose="02040503050406030204"/>
              </a:defRPr>
            </a:pPr>
            <a:r>
              <a:rPr sz="1165" b="1">
                <a:solidFill>
                  <a:srgbClr val="17212B"/>
                </a:solidFill>
                <a:latin typeface="Cambria" panose="02040503050406030204"/>
                <a:ea typeface="Cambria" panose="02040503050406030204"/>
                <a:cs typeface="Cambria" panose="02040503050406030204"/>
              </a:rPr>
              <a:t>ĐỦ DỮ LIỆU KỲ KPI?</a:t>
            </a:r>
            <a:endParaRPr sz="1165" b="1">
              <a:solidFill>
                <a:srgbClr val="17212B"/>
              </a:solidFill>
              <a:latin typeface="Cambria" panose="02040503050406030204"/>
              <a:ea typeface="Cambria" panose="02040503050406030204"/>
              <a:cs typeface="Cambria" panose="02040503050406030204"/>
            </a:endParaRPr>
          </a:p>
        </p:txBody>
      </p:sp>
      <p:sp>
        <p:nvSpPr>
          <p:cNvPr id="13" name="Rectangle 12"/>
          <p:cNvSpPr>
            <a:spLocks noGrp="1"/>
          </p:cNvSpPr>
          <p:nvPr/>
        </p:nvSpPr>
        <p:spPr>
          <a:xfrm>
            <a:off x="4648200" y="4933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Tính điểm, xếp hạng và thưởng theo code hiện tại</a:t>
            </a:r>
            <a:endParaRPr sz="1165" b="0">
              <a:solidFill>
                <a:srgbClr val="17212B"/>
              </a:solidFill>
              <a:latin typeface="Cambria" panose="02040503050406030204"/>
              <a:ea typeface="Cambria" panose="02040503050406030204"/>
              <a:cs typeface="Cambria" panose="02040503050406030204"/>
            </a:endParaRPr>
          </a:p>
        </p:txBody>
      </p:sp>
      <p:sp>
        <p:nvSpPr>
          <p:cNvPr id="14" name="Rounded Rectangle 13"/>
          <p:cNvSpPr>
            <a:spLocks noGrp="1"/>
          </p:cNvSpPr>
          <p:nvPr/>
        </p:nvSpPr>
        <p:spPr>
          <a:xfrm>
            <a:off x="800100" y="4933950"/>
            <a:ext cx="2895600" cy="685800"/>
          </a:xfrm>
          <a:prstGeom prst="roundRect">
            <a:avLst>
              <a:gd name="adj" fmla="val 11111"/>
            </a:avLst>
          </a:prstGeom>
          <a:solidFill>
            <a:srgbClr val="E8F2E2"/>
          </a:solidFill>
          <a:ln w="13335">
            <a:solidFill>
              <a:srgbClr val="006B35"/>
            </a:solidFill>
            <a:prstDash val="solid"/>
          </a:ln>
        </p:spPr>
        <p:txBody>
          <a:bodyPr wrap="square" lIns="66675" tIns="47625" rIns="66675" bIns="47625" anchor="ctr">
            <a:normAutofit/>
          </a:bodyPr>
          <a:lstStyle/>
          <a:p>
            <a:pPr algn="ctr">
              <a:defRPr sz="1165" b="1">
                <a:solidFill>
                  <a:srgbClr val="17212B"/>
                </a:solidFill>
                <a:latin typeface="Cambria" panose="02040503050406030204"/>
                <a:ea typeface="Cambria" panose="02040503050406030204"/>
                <a:cs typeface="Cambria" panose="02040503050406030204"/>
              </a:defRPr>
            </a:pPr>
            <a:r>
              <a:rPr sz="1165" b="1">
                <a:solidFill>
                  <a:srgbClr val="17212B"/>
                </a:solidFill>
                <a:latin typeface="Cambria" panose="02040503050406030204"/>
                <a:ea typeface="Cambria" panose="02040503050406030204"/>
                <a:cs typeface="Cambria" panose="02040503050406030204"/>
              </a:rPr>
              <a:t>Tài xế xem KPI cá nhân, quản lý xem leaderboard</a:t>
            </a:r>
            <a:endParaRPr sz="1165" b="1">
              <a:solidFill>
                <a:srgbClr val="17212B"/>
              </a:solidFill>
              <a:latin typeface="Cambria" panose="02040503050406030204"/>
              <a:ea typeface="Cambria" panose="02040503050406030204"/>
              <a:cs typeface="Cambria" panose="02040503050406030204"/>
            </a:endParaRPr>
          </a:p>
        </p:txBody>
      </p:sp>
      <p:cxnSp>
        <p:nvCxnSpPr>
          <p:cNvPr id="40" name="Straight Arrow Connector 39"/>
          <p:cNvCxnSpPr>
            <a:stCxn id="7" idx="2"/>
            <a:endCxn id="8" idx="0"/>
          </p:cNvCxnSpPr>
          <p:nvPr/>
        </p:nvCxnSpPr>
        <p:spPr>
          <a:xfrm>
            <a:off x="2247900" y="2190750"/>
            <a:ext cx="0" cy="457200"/>
          </a:xfrm>
          <a:prstGeom prst="straightConnector1">
            <a:avLst/>
          </a:prstGeom>
          <a:ln w="19050">
            <a:solidFill>
              <a:srgbClr val="5FAE3E"/>
            </a:solidFill>
            <a:prstDash val="solid"/>
            <a:tailEnd type="arrow" w="med" len="med"/>
          </a:ln>
        </p:spPr>
      </p:cxnSp>
      <p:cxnSp>
        <p:nvCxnSpPr>
          <p:cNvPr id="41" name="Elbow Connector 40"/>
          <p:cNvCxnSpPr>
            <a:stCxn id="8" idx="3"/>
            <a:endCxn id="9" idx="1"/>
          </p:cNvCxnSpPr>
          <p:nvPr/>
        </p:nvCxnSpPr>
        <p:spPr>
          <a:xfrm>
            <a:off x="3695700" y="2990850"/>
            <a:ext cx="952500" cy="3181350"/>
          </a:xfrm>
          <a:prstGeom prst="bentConnector4">
            <a:avLst/>
          </a:prstGeom>
          <a:ln w="19050">
            <a:solidFill>
              <a:srgbClr val="5FAE3E"/>
            </a:solidFill>
            <a:prstDash val="solid"/>
            <a:tailEnd type="arrow" w="med" len="med"/>
          </a:ln>
        </p:spPr>
      </p:cxnSp>
      <p:cxnSp>
        <p:nvCxnSpPr>
          <p:cNvPr id="42" name="Straight Arrow Connector 41"/>
          <p:cNvCxnSpPr>
            <a:stCxn id="9" idx="2"/>
            <a:endCxn id="10" idx="0"/>
          </p:cNvCxnSpPr>
          <p:nvPr/>
        </p:nvCxnSpPr>
        <p:spPr>
          <a:xfrm>
            <a:off x="6096000" y="3333750"/>
            <a:ext cx="0" cy="457200"/>
          </a:xfrm>
          <a:prstGeom prst="straightConnector1">
            <a:avLst/>
          </a:prstGeom>
          <a:ln w="19050">
            <a:solidFill>
              <a:srgbClr val="5FAE3E"/>
            </a:solidFill>
            <a:prstDash val="solid"/>
            <a:tailEnd type="arrow" w="med" len="med"/>
          </a:ln>
        </p:spPr>
      </p:cxnSp>
      <p:cxnSp>
        <p:nvCxnSpPr>
          <p:cNvPr id="43" name="Straight Arrow Connector 42"/>
          <p:cNvCxnSpPr>
            <a:stCxn id="10" idx="3"/>
            <a:endCxn id="11" idx="1"/>
          </p:cNvCxnSpPr>
          <p:nvPr/>
        </p:nvCxnSpPr>
        <p:spPr>
          <a:xfrm>
            <a:off x="7543800" y="4133850"/>
            <a:ext cx="952500" cy="0"/>
          </a:xfrm>
          <a:prstGeom prst="straightConnector1">
            <a:avLst/>
          </a:prstGeom>
          <a:ln w="19050">
            <a:solidFill>
              <a:srgbClr val="5FAE3E"/>
            </a:solidFill>
            <a:prstDash val="solid"/>
            <a:tailEnd type="arrow" w="med" len="med"/>
          </a:ln>
        </p:spPr>
      </p:cxnSp>
      <p:cxnSp>
        <p:nvCxnSpPr>
          <p:cNvPr id="44" name="Straight Arrow Connector 43"/>
          <p:cNvCxnSpPr>
            <a:stCxn id="11" idx="2"/>
            <a:endCxn id="12" idx="0"/>
          </p:cNvCxnSpPr>
          <p:nvPr/>
        </p:nvCxnSpPr>
        <p:spPr>
          <a:xfrm>
            <a:off x="9944100" y="4476750"/>
            <a:ext cx="0" cy="457200"/>
          </a:xfrm>
          <a:prstGeom prst="straightConnector1">
            <a:avLst/>
          </a:prstGeom>
          <a:ln w="19050">
            <a:solidFill>
              <a:srgbClr val="5FAE3E"/>
            </a:solidFill>
            <a:prstDash val="solid"/>
            <a:tailEnd type="arrow" w="med" len="med"/>
          </a:ln>
        </p:spPr>
      </p:cxnSp>
      <p:cxnSp>
        <p:nvCxnSpPr>
          <p:cNvPr id="45" name="Elbow Connector 44"/>
          <p:cNvCxnSpPr>
            <a:stCxn id="12" idx="1"/>
            <a:endCxn id="13" idx="3"/>
          </p:cNvCxnSpPr>
          <p:nvPr/>
        </p:nvCxnSpPr>
        <p:spPr>
          <a:xfrm flipH="1" flipV="1">
            <a:off x="7543800" y="5276850"/>
            <a:ext cx="952500" cy="66675"/>
          </a:xfrm>
          <a:prstGeom prst="bentConnector3">
            <a:avLst>
              <a:gd name="adj1" fmla="val 50000"/>
            </a:avLst>
          </a:prstGeom>
          <a:ln w="19050">
            <a:solidFill>
              <a:srgbClr val="5FAE3E"/>
            </a:solidFill>
            <a:prstDash val="solid"/>
            <a:tailEnd type="arrow" w="med" len="med"/>
          </a:ln>
        </p:spPr>
      </p:cxnSp>
      <p:sp>
        <p:nvSpPr>
          <p:cNvPr id="21" name="Rectangle 20"/>
          <p:cNvSpPr>
            <a:spLocks noGrp="1"/>
          </p:cNvSpPr>
          <p:nvPr/>
        </p:nvSpPr>
        <p:spPr>
          <a:xfrm>
            <a:off x="7705725" y="5305425"/>
            <a:ext cx="666750" cy="209550"/>
          </a:xfrm>
          <a:prstGeom prst="rect">
            <a:avLst/>
          </a:prstGeom>
          <a:solidFill>
            <a:srgbClr val="FFFFFF"/>
          </a:solidFill>
          <a:ln w="0">
            <a:noFill/>
          </a:ln>
        </p:spPr>
        <p:txBody>
          <a:bodyPr wrap="square" lIns="38100" tIns="19050" rIns="38100" bIns="19050" anchor="ctr">
            <a:normAutofit/>
          </a:bodyPr>
          <a:lstStyle/>
          <a:p>
            <a:pPr algn="ctr">
              <a:lnSpc>
                <a:spcPct val="100000"/>
              </a:lnSpc>
              <a:buNone/>
              <a:defRPr sz="940" b="1" i="0">
                <a:solidFill>
                  <a:srgbClr val="59636E"/>
                </a:solidFill>
                <a:latin typeface="Cambria" panose="02040503050406030204"/>
                <a:ea typeface="Cambria" panose="02040503050406030204"/>
                <a:cs typeface="Cambria" panose="02040503050406030204"/>
              </a:defRPr>
            </a:pPr>
            <a:r>
              <a:rPr sz="940" b="1" i="0">
                <a:solidFill>
                  <a:srgbClr val="59636E"/>
                </a:solidFill>
                <a:latin typeface="Cambria" panose="02040503050406030204"/>
                <a:ea typeface="Cambria" panose="02040503050406030204"/>
                <a:cs typeface="Cambria" panose="02040503050406030204"/>
              </a:rPr>
              <a:t>Có</a:t>
            </a:r>
            <a:endParaRPr sz="940" b="1" i="0">
              <a:solidFill>
                <a:srgbClr val="59636E"/>
              </a:solidFill>
              <a:latin typeface="Cambria" panose="02040503050406030204"/>
              <a:ea typeface="Cambria" panose="02040503050406030204"/>
              <a:cs typeface="Cambria" panose="02040503050406030204"/>
            </a:endParaRPr>
          </a:p>
        </p:txBody>
      </p:sp>
      <p:cxnSp>
        <p:nvCxnSpPr>
          <p:cNvPr id="47" name="Straight Arrow Connector 46"/>
          <p:cNvCxnSpPr>
            <a:stCxn id="13" idx="1"/>
            <a:endCxn id="14" idx="3"/>
          </p:cNvCxnSpPr>
          <p:nvPr/>
        </p:nvCxnSpPr>
        <p:spPr>
          <a:xfrm flipH="1">
            <a:off x="3695700" y="5276850"/>
            <a:ext cx="952500" cy="0"/>
          </a:xfrm>
          <a:prstGeom prst="straightConnector1">
            <a:avLst/>
          </a:prstGeom>
          <a:ln w="19050">
            <a:solidFill>
              <a:srgbClr val="5FAE3E"/>
            </a:solidFill>
            <a:prstDash val="solid"/>
            <a:tailEnd type="arrow" w="med" len="med"/>
          </a:ln>
        </p:spPr>
      </p:cxnSp>
      <p:sp>
        <p:nvSpPr>
          <p:cNvPr id="23" name="Rectangle 22"/>
          <p:cNvSpPr>
            <a:spLocks noGrp="1"/>
          </p:cNvSpPr>
          <p:nvPr/>
        </p:nvSpPr>
        <p:spPr>
          <a:xfrm>
            <a:off x="704850" y="6115050"/>
            <a:ext cx="10782300" cy="266700"/>
          </a:xfrm>
          <a:prstGeom prst="rect">
            <a:avLst/>
          </a:prstGeom>
          <a:noFill/>
          <a:ln w="0">
            <a:noFill/>
          </a:ln>
        </p:spPr>
        <p:txBody>
          <a:bodyPr wrap="square" lIns="38100" tIns="19050" rIns="38100" bIns="19050" anchor="ctr">
            <a:normAutofit/>
          </a:bodyPr>
          <a:lstStyle/>
          <a:p>
            <a:pPr algn="ctr">
              <a:lnSpc>
                <a:spcPct val="100000"/>
              </a:lnSpc>
              <a:buNone/>
              <a:defRPr sz="1015" b="0" i="1">
                <a:solidFill>
                  <a:srgbClr val="E00000"/>
                </a:solidFill>
                <a:latin typeface="Cambria" panose="02040503050406030204"/>
                <a:ea typeface="Cambria" panose="02040503050406030204"/>
                <a:cs typeface="Cambria" panose="02040503050406030204"/>
              </a:defRPr>
            </a:pPr>
            <a:r>
              <a:rPr sz="1015" b="0" i="1">
                <a:solidFill>
                  <a:srgbClr val="E00000"/>
                </a:solidFill>
                <a:latin typeface="Cambria" panose="02040503050406030204"/>
                <a:ea typeface="Cambria" panose="02040503050406030204"/>
                <a:cs typeface="Cambria" panose="02040503050406030204"/>
              </a:rPr>
              <a:t>Code đang chia bốn nhóm 25 điểm. Công thức quy đổi và ngưỡng thưởng chính thức vẫn cần chủ nghiệp vụ xác nhận.</a:t>
            </a:r>
            <a:endParaRPr sz="1015" b="0" i="1">
              <a:solidFill>
                <a:srgbClr val="E00000"/>
              </a:solidFill>
              <a:latin typeface="Cambria" panose="02040503050406030204"/>
              <a:ea typeface="Cambria" panose="02040503050406030204"/>
              <a:cs typeface="Cambria" panose="02040503050406030204"/>
            </a:endParaRPr>
          </a:p>
        </p:txBody>
      </p:sp>
      <p:sp>
        <p:nvSpPr>
          <p:cNvPr id="24" name="Rectangle 23"/>
          <p:cNvSpPr>
            <a:spLocks noGrp="1"/>
          </p:cNvSpPr>
          <p:nvPr/>
        </p:nvSpPr>
        <p:spPr>
          <a:xfrm>
            <a:off x="266700" y="6534150"/>
            <a:ext cx="7429500" cy="190500"/>
          </a:xfrm>
          <a:prstGeom prst="rect">
            <a:avLst/>
          </a:prstGeom>
          <a:noFill/>
          <a:ln w="0">
            <a:noFill/>
          </a:ln>
        </p:spPr>
        <p:txBody>
          <a:bodyPr wrap="square" lIns="38100" tIns="19050" rIns="38100" bIns="19050" anchor="ctr">
            <a:normAutofit/>
          </a:bodyPr>
          <a:lstStyle/>
          <a:p>
            <a:pPr algn="l">
              <a:lnSpc>
                <a:spcPct val="100000"/>
              </a:lnSpc>
              <a:buNone/>
              <a:defRPr sz="825" b="0" i="1">
                <a:solidFill>
                  <a:srgbClr val="8A8F93"/>
                </a:solidFill>
                <a:latin typeface="Cambria" panose="02040503050406030204"/>
                <a:ea typeface="Cambria" panose="02040503050406030204"/>
                <a:cs typeface="Cambria" panose="02040503050406030204"/>
              </a:defRPr>
            </a:pPr>
            <a:r>
              <a:rPr sz="825" b="0" i="1">
                <a:solidFill>
                  <a:srgbClr val="8A8F93"/>
                </a:solidFill>
                <a:latin typeface="Cambria" panose="02040503050406030204"/>
                <a:ea typeface="Cambria" panose="02040503050406030204"/>
                <a:cs typeface="Cambria" panose="02040503050406030204"/>
              </a:rPr>
              <a:t>Giới thiệu phần mềm và tiến độ phát triển | THACO AGRI Fleet | 21/09/2026</a:t>
            </a:r>
            <a:endParaRPr sz="825" b="0" i="1">
              <a:solidFill>
                <a:srgbClr val="8A8F93"/>
              </a:solidFill>
              <a:latin typeface="Cambria" panose="02040503050406030204"/>
              <a:ea typeface="Cambria" panose="02040503050406030204"/>
              <a:cs typeface="Cambria" panose="02040503050406030204"/>
            </a:endParaRPr>
          </a:p>
        </p:txBody>
      </p:sp>
      <p:sp>
        <p:nvSpPr>
          <p:cNvPr id="25" name="Rectangle 24"/>
          <p:cNvSpPr>
            <a:spLocks noGrp="1"/>
          </p:cNvSpPr>
          <p:nvPr/>
        </p:nvSpPr>
        <p:spPr>
          <a:xfrm>
            <a:off x="11658600" y="6534150"/>
            <a:ext cx="228600" cy="190500"/>
          </a:xfrm>
          <a:prstGeom prst="rect">
            <a:avLst/>
          </a:prstGeom>
          <a:noFill/>
          <a:ln w="0">
            <a:noFill/>
          </a:ln>
        </p:spPr>
        <p:txBody>
          <a:bodyPr wrap="square" lIns="38100" tIns="19050" rIns="38100" bIns="19050" anchor="ctr">
            <a:normAutofit/>
          </a:bodyPr>
          <a:lstStyle/>
          <a:p>
            <a:pPr algn="r">
              <a:lnSpc>
                <a:spcPct val="100000"/>
              </a:lnSpc>
              <a:buNone/>
              <a:defRPr sz="825" b="0" i="0">
                <a:solidFill>
                  <a:srgbClr val="8A8F93"/>
                </a:solidFill>
                <a:latin typeface="Cambria" panose="02040503050406030204"/>
                <a:ea typeface="Cambria" panose="02040503050406030204"/>
                <a:cs typeface="Cambria" panose="02040503050406030204"/>
              </a:defRPr>
            </a:pPr>
            <a:r>
              <a:rPr sz="825" b="0" i="0">
                <a:solidFill>
                  <a:srgbClr val="8A8F93"/>
                </a:solidFill>
                <a:latin typeface="Cambria" panose="02040503050406030204"/>
                <a:ea typeface="Cambria" panose="02040503050406030204"/>
                <a:cs typeface="Cambria" panose="02040503050406030204"/>
              </a:rPr>
              <a:t>20</a:t>
            </a:r>
            <a:endParaRPr sz="825" b="0" i="0">
              <a:solidFill>
                <a:srgbClr val="8A8F93"/>
              </a:solidFill>
              <a:latin typeface="Cambria" panose="02040503050406030204"/>
              <a:ea typeface="Cambria" panose="02040503050406030204"/>
              <a:cs typeface="Cambria" panose="020405030504060302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 name="slide-title"/>
          <p:cNvSpPr>
            <a:spLocks noGrp="1"/>
          </p:cNvSpPr>
          <p:nvPr/>
        </p:nvSpPr>
        <p:spPr>
          <a:xfrm>
            <a:off x="2571750" y="142875"/>
            <a:ext cx="9191625" cy="590550"/>
          </a:xfrm>
          <a:prstGeom prst="rect">
            <a:avLst/>
          </a:prstGeom>
          <a:noFill/>
          <a:ln w="0">
            <a:noFill/>
          </a:ln>
        </p:spPr>
        <p:txBody>
          <a:bodyPr wrap="square" lIns="38100" tIns="19050" rIns="38100" bIns="19050" anchor="ctr">
            <a:normAutofit/>
          </a:bodyPr>
          <a:lstStyle/>
          <a:p>
            <a:pPr algn="ctr">
              <a:lnSpc>
                <a:spcPct val="100000"/>
              </a:lnSpc>
              <a:buNone/>
              <a:defRPr sz="2100" b="1" i="0">
                <a:solidFill>
                  <a:srgbClr val="E00000"/>
                </a:solidFill>
                <a:latin typeface="Cambria" panose="02040503050406030204"/>
                <a:ea typeface="Cambria" panose="02040503050406030204"/>
                <a:cs typeface="Cambria" panose="02040503050406030204"/>
              </a:defRPr>
            </a:pPr>
            <a:r>
              <a:rPr sz="2100" b="1" i="0">
                <a:solidFill>
                  <a:srgbClr val="E00000"/>
                </a:solidFill>
                <a:latin typeface="Cambria" panose="02040503050406030204"/>
                <a:ea typeface="Cambria" panose="02040503050406030204"/>
                <a:cs typeface="Cambria" panose="02040503050406030204"/>
              </a:rPr>
              <a:t>DANH MỤC DÙNG CHUNG VÀ PHÂN QUYỀN</a:t>
            </a:r>
            <a:endParaRPr sz="2100" b="1" i="0">
              <a:solidFill>
                <a:srgbClr val="E00000"/>
              </a:solidFill>
              <a:latin typeface="Cambria" panose="02040503050406030204"/>
              <a:ea typeface="Cambria" panose="02040503050406030204"/>
              <a:cs typeface="Cambria" panose="02040503050406030204"/>
            </a:endParaRPr>
          </a:p>
        </p:txBody>
      </p:sp>
      <p:sp>
        <p:nvSpPr>
          <p:cNvPr id="2" name="Rectangle 1"/>
          <p:cNvSpPr>
            <a:spLocks noGrp="1"/>
          </p:cNvSpPr>
          <p:nvPr/>
        </p:nvSpPr>
        <p:spPr>
          <a:xfrm>
            <a:off x="323850" y="895350"/>
            <a:ext cx="3848100" cy="400050"/>
          </a:xfrm>
          <a:prstGeom prst="rect">
            <a:avLst/>
          </a:prstGeom>
          <a:solidFill>
            <a:srgbClr val="F3F8F0"/>
          </a:solidFill>
          <a:ln w="9525">
            <a:solidFill>
              <a:srgbClr val="5FAE3E"/>
            </a:solidFill>
          </a:ln>
        </p:spPr>
        <p:txBody>
          <a:bodyPr wrap="square" lIns="38100" tIns="19050" rIns="38100" bIns="19050" anchor="ctr">
            <a:normAutofit/>
          </a:bodyPr>
          <a:lstStyle/>
          <a:p>
            <a:pPr algn="ctr">
              <a:lnSpc>
                <a:spcPct val="100000"/>
              </a:lnSpc>
              <a:buNone/>
              <a:defRPr sz="1275" b="1" i="0">
                <a:solidFill>
                  <a:srgbClr val="006B35"/>
                </a:solidFill>
                <a:latin typeface="Cambria" panose="02040503050406030204"/>
                <a:ea typeface="Cambria" panose="02040503050406030204"/>
                <a:cs typeface="Cambria" panose="02040503050406030204"/>
              </a:defRPr>
            </a:pPr>
            <a:r>
              <a:rPr sz="1275" b="1" i="0">
                <a:solidFill>
                  <a:srgbClr val="006B35"/>
                </a:solidFill>
                <a:latin typeface="Cambria" panose="02040503050406030204"/>
                <a:ea typeface="Cambria" panose="02040503050406030204"/>
                <a:cs typeface="Cambria" panose="02040503050406030204"/>
              </a:rPr>
              <a:t>QUẢN TRỊ HỆ THỐNG</a:t>
            </a:r>
            <a:endParaRPr sz="1275" b="1" i="0">
              <a:solidFill>
                <a:srgbClr val="006B35"/>
              </a:solidFill>
              <a:latin typeface="Cambria" panose="02040503050406030204"/>
              <a:ea typeface="Cambria" panose="02040503050406030204"/>
              <a:cs typeface="Cambria" panose="02040503050406030204"/>
            </a:endParaRPr>
          </a:p>
        </p:txBody>
      </p:sp>
      <p:sp>
        <p:nvSpPr>
          <p:cNvPr id="3" name="Rectangle 2"/>
          <p:cNvSpPr>
            <a:spLocks noGrp="1"/>
          </p:cNvSpPr>
          <p:nvPr/>
        </p:nvSpPr>
        <p:spPr>
          <a:xfrm>
            <a:off x="4171950" y="895350"/>
            <a:ext cx="3848100" cy="400050"/>
          </a:xfrm>
          <a:prstGeom prst="rect">
            <a:avLst/>
          </a:prstGeom>
          <a:solidFill>
            <a:srgbClr val="F1F6FB"/>
          </a:solidFill>
          <a:ln w="9525">
            <a:solidFill>
              <a:srgbClr val="5FAE3E"/>
            </a:solidFill>
          </a:ln>
        </p:spPr>
        <p:txBody>
          <a:bodyPr wrap="square" lIns="38100" tIns="19050" rIns="38100" bIns="19050" anchor="ctr">
            <a:normAutofit/>
          </a:bodyPr>
          <a:lstStyle/>
          <a:p>
            <a:pPr algn="ctr">
              <a:lnSpc>
                <a:spcPct val="100000"/>
              </a:lnSpc>
              <a:buNone/>
              <a:defRPr sz="1275" b="1" i="0">
                <a:solidFill>
                  <a:srgbClr val="075AA7"/>
                </a:solidFill>
                <a:latin typeface="Cambria" panose="02040503050406030204"/>
                <a:ea typeface="Cambria" panose="02040503050406030204"/>
                <a:cs typeface="Cambria" panose="02040503050406030204"/>
              </a:defRPr>
            </a:pPr>
            <a:r>
              <a:rPr sz="1275" b="1" i="0">
                <a:solidFill>
                  <a:srgbClr val="075AA7"/>
                </a:solidFill>
                <a:latin typeface="Cambria" panose="02040503050406030204"/>
                <a:ea typeface="Cambria" panose="02040503050406030204"/>
                <a:cs typeface="Cambria" panose="02040503050406030204"/>
              </a:rPr>
              <a:t>XÁC THỰC VÀ PHẠM VI</a:t>
            </a:r>
            <a:endParaRPr sz="1275" b="1" i="0">
              <a:solidFill>
                <a:srgbClr val="075AA7"/>
              </a:solidFill>
              <a:latin typeface="Cambria" panose="02040503050406030204"/>
              <a:ea typeface="Cambria" panose="02040503050406030204"/>
              <a:cs typeface="Cambria" panose="02040503050406030204"/>
            </a:endParaRPr>
          </a:p>
        </p:txBody>
      </p:sp>
      <p:sp>
        <p:nvSpPr>
          <p:cNvPr id="4" name="Rectangle 3"/>
          <p:cNvSpPr>
            <a:spLocks noGrp="1"/>
          </p:cNvSpPr>
          <p:nvPr/>
        </p:nvSpPr>
        <p:spPr>
          <a:xfrm>
            <a:off x="4171950" y="1295400"/>
            <a:ext cx="14288" cy="4762500"/>
          </a:xfrm>
          <a:prstGeom prst="rect">
            <a:avLst/>
          </a:prstGeom>
          <a:solidFill>
            <a:srgbClr val="5FAE3E"/>
          </a:solidFill>
          <a:ln w="0">
            <a:solidFill>
              <a:srgbClr val="5FAE3E"/>
            </a:solidFill>
          </a:ln>
        </p:spPr>
      </p:sp>
      <p:sp>
        <p:nvSpPr>
          <p:cNvPr id="5" name="Rectangle 4"/>
          <p:cNvSpPr>
            <a:spLocks noGrp="1"/>
          </p:cNvSpPr>
          <p:nvPr/>
        </p:nvSpPr>
        <p:spPr>
          <a:xfrm>
            <a:off x="8020050" y="895350"/>
            <a:ext cx="3848100" cy="400050"/>
          </a:xfrm>
          <a:prstGeom prst="rect">
            <a:avLst/>
          </a:prstGeom>
          <a:solidFill>
            <a:srgbClr val="F3F8F0"/>
          </a:solidFill>
          <a:ln w="9525">
            <a:solidFill>
              <a:srgbClr val="5FAE3E"/>
            </a:solidFill>
          </a:ln>
        </p:spPr>
        <p:txBody>
          <a:bodyPr wrap="square" lIns="38100" tIns="19050" rIns="38100" bIns="19050" anchor="ctr">
            <a:normAutofit/>
          </a:bodyPr>
          <a:lstStyle/>
          <a:p>
            <a:pPr algn="ctr">
              <a:lnSpc>
                <a:spcPct val="100000"/>
              </a:lnSpc>
              <a:buNone/>
              <a:defRPr sz="1275" b="1" i="0">
                <a:solidFill>
                  <a:srgbClr val="006B35"/>
                </a:solidFill>
                <a:latin typeface="Cambria" panose="02040503050406030204"/>
                <a:ea typeface="Cambria" panose="02040503050406030204"/>
                <a:cs typeface="Cambria" panose="02040503050406030204"/>
              </a:defRPr>
            </a:pPr>
            <a:r>
              <a:rPr sz="1275" b="1" i="0">
                <a:solidFill>
                  <a:srgbClr val="006B35"/>
                </a:solidFill>
                <a:latin typeface="Cambria" panose="02040503050406030204"/>
                <a:ea typeface="Cambria" panose="02040503050406030204"/>
                <a:cs typeface="Cambria" panose="02040503050406030204"/>
              </a:rPr>
              <a:t>CÁC PHÂN HỆ NGHIỆP VỤ</a:t>
            </a:r>
            <a:endParaRPr sz="1275" b="1" i="0">
              <a:solidFill>
                <a:srgbClr val="006B35"/>
              </a:solidFill>
              <a:latin typeface="Cambria" panose="02040503050406030204"/>
              <a:ea typeface="Cambria" panose="02040503050406030204"/>
              <a:cs typeface="Cambria" panose="02040503050406030204"/>
            </a:endParaRPr>
          </a:p>
        </p:txBody>
      </p:sp>
      <p:sp>
        <p:nvSpPr>
          <p:cNvPr id="6" name="Rectangle 5"/>
          <p:cNvSpPr>
            <a:spLocks noGrp="1"/>
          </p:cNvSpPr>
          <p:nvPr/>
        </p:nvSpPr>
        <p:spPr>
          <a:xfrm>
            <a:off x="8020050" y="1295400"/>
            <a:ext cx="14288" cy="4762500"/>
          </a:xfrm>
          <a:prstGeom prst="rect">
            <a:avLst/>
          </a:prstGeom>
          <a:solidFill>
            <a:srgbClr val="5FAE3E"/>
          </a:solidFill>
          <a:ln w="0">
            <a:solidFill>
              <a:srgbClr val="5FAE3E"/>
            </a:solidFill>
          </a:ln>
        </p:spPr>
      </p:sp>
      <p:sp>
        <p:nvSpPr>
          <p:cNvPr id="7" name="Rounded Rectangle 6"/>
          <p:cNvSpPr>
            <a:spLocks noGrp="1"/>
          </p:cNvSpPr>
          <p:nvPr/>
        </p:nvSpPr>
        <p:spPr>
          <a:xfrm>
            <a:off x="800100" y="1504950"/>
            <a:ext cx="2895600" cy="685800"/>
          </a:xfrm>
          <a:prstGeom prst="roundRect">
            <a:avLst>
              <a:gd name="adj" fmla="val 11111"/>
            </a:avLst>
          </a:prstGeom>
          <a:solidFill>
            <a:srgbClr val="E8F2E2"/>
          </a:solidFill>
          <a:ln w="13335">
            <a:solidFill>
              <a:srgbClr val="006B35"/>
            </a:solidFill>
            <a:prstDash val="solid"/>
          </a:ln>
        </p:spPr>
        <p:txBody>
          <a:bodyPr wrap="square" lIns="66675" tIns="47625" rIns="66675" bIns="47625" anchor="ctr">
            <a:normAutofit/>
          </a:bodyPr>
          <a:lstStyle/>
          <a:p>
            <a:pPr algn="ctr">
              <a:defRPr sz="1165" b="1">
                <a:solidFill>
                  <a:srgbClr val="17212B"/>
                </a:solidFill>
                <a:latin typeface="Cambria" panose="02040503050406030204"/>
                <a:ea typeface="Cambria" panose="02040503050406030204"/>
                <a:cs typeface="Cambria" panose="02040503050406030204"/>
              </a:defRPr>
            </a:pPr>
            <a:r>
              <a:rPr sz="1165" b="1">
                <a:solidFill>
                  <a:srgbClr val="17212B"/>
                </a:solidFill>
                <a:latin typeface="Cambria" panose="02040503050406030204"/>
                <a:ea typeface="Cambria" panose="02040503050406030204"/>
                <a:cs typeface="Cambria" panose="02040503050406030204"/>
              </a:rPr>
              <a:t>Khai báo công ty, đơn vị, đội, loại xe, công việc, lô và tuyến</a:t>
            </a:r>
            <a:endParaRPr sz="1165" b="1">
              <a:solidFill>
                <a:srgbClr val="17212B"/>
              </a:solidFill>
              <a:latin typeface="Cambria" panose="02040503050406030204"/>
              <a:ea typeface="Cambria" panose="02040503050406030204"/>
              <a:cs typeface="Cambria" panose="02040503050406030204"/>
            </a:endParaRPr>
          </a:p>
        </p:txBody>
      </p:sp>
      <p:sp>
        <p:nvSpPr>
          <p:cNvPr id="8" name="Rectangle 7"/>
          <p:cNvSpPr>
            <a:spLocks noGrp="1"/>
          </p:cNvSpPr>
          <p:nvPr/>
        </p:nvSpPr>
        <p:spPr>
          <a:xfrm>
            <a:off x="800100" y="2647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Import preview, kiểm tra lỗi và commit danh mục</a:t>
            </a:r>
            <a:endParaRPr sz="1165" b="0">
              <a:solidFill>
                <a:srgbClr val="17212B"/>
              </a:solidFill>
              <a:latin typeface="Cambria" panose="02040503050406030204"/>
              <a:ea typeface="Cambria" panose="02040503050406030204"/>
              <a:cs typeface="Cambria" panose="02040503050406030204"/>
            </a:endParaRPr>
          </a:p>
        </p:txBody>
      </p:sp>
      <p:sp>
        <p:nvSpPr>
          <p:cNvPr id="9" name="Rectangle 8"/>
          <p:cNvSpPr>
            <a:spLocks noGrp="1"/>
          </p:cNvSpPr>
          <p:nvPr/>
        </p:nvSpPr>
        <p:spPr>
          <a:xfrm>
            <a:off x="800100" y="3790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Tạo người dùng, vai trò và phân công đơn vị quản lý</a:t>
            </a:r>
            <a:endParaRPr sz="1165" b="0">
              <a:solidFill>
                <a:srgbClr val="17212B"/>
              </a:solidFill>
              <a:latin typeface="Cambria" panose="02040503050406030204"/>
              <a:ea typeface="Cambria" panose="02040503050406030204"/>
              <a:cs typeface="Cambria" panose="02040503050406030204"/>
            </a:endParaRPr>
          </a:p>
        </p:txBody>
      </p:sp>
      <p:sp>
        <p:nvSpPr>
          <p:cNvPr id="10" name="Rectangle 9"/>
          <p:cNvSpPr>
            <a:spLocks noGrp="1"/>
          </p:cNvSpPr>
          <p:nvPr/>
        </p:nvSpPr>
        <p:spPr>
          <a:xfrm>
            <a:off x="4648200" y="2647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Đăng nhập JWT và kiểm tra RolesGuard</a:t>
            </a:r>
            <a:endParaRPr sz="1165" b="0">
              <a:solidFill>
                <a:srgbClr val="17212B"/>
              </a:solidFill>
              <a:latin typeface="Cambria" panose="02040503050406030204"/>
              <a:ea typeface="Cambria" panose="02040503050406030204"/>
              <a:cs typeface="Cambria" panose="02040503050406030204"/>
            </a:endParaRPr>
          </a:p>
        </p:txBody>
      </p:sp>
      <p:sp>
        <p:nvSpPr>
          <p:cNvPr id="11" name="Diamond 10"/>
          <p:cNvSpPr>
            <a:spLocks noGrp="1"/>
          </p:cNvSpPr>
          <p:nvPr/>
        </p:nvSpPr>
        <p:spPr>
          <a:xfrm>
            <a:off x="4648200" y="3790950"/>
            <a:ext cx="2895600" cy="819150"/>
          </a:xfrm>
          <a:prstGeom prst="diamond">
            <a:avLst/>
          </a:prstGeom>
          <a:solidFill>
            <a:srgbClr val="F8D1B0"/>
          </a:solidFill>
          <a:ln w="13335">
            <a:solidFill>
              <a:srgbClr val="006B35"/>
            </a:solidFill>
            <a:prstDash val="solid"/>
          </a:ln>
        </p:spPr>
        <p:txBody>
          <a:bodyPr wrap="square" lIns="66675" tIns="47625" rIns="66675" bIns="47625" anchor="ctr">
            <a:normAutofit fontScale="88671"/>
          </a:bodyPr>
          <a:lstStyle/>
          <a:p>
            <a:pPr algn="ctr">
              <a:defRPr sz="1165" b="1">
                <a:solidFill>
                  <a:srgbClr val="17212B"/>
                </a:solidFill>
                <a:latin typeface="Cambria" panose="02040503050406030204"/>
                <a:ea typeface="Cambria" panose="02040503050406030204"/>
                <a:cs typeface="Cambria" panose="02040503050406030204"/>
              </a:defRPr>
            </a:pPr>
            <a:r>
              <a:rPr sz="1165" b="1">
                <a:solidFill>
                  <a:srgbClr val="17212B"/>
                </a:solidFill>
                <a:latin typeface="Cambria" panose="02040503050406030204"/>
                <a:ea typeface="Cambria" panose="02040503050406030204"/>
                <a:cs typeface="Cambria" panose="02040503050406030204"/>
              </a:rPr>
              <a:t>ĐƯỢC PHÉP TRUY CẬP PHẠM VI?</a:t>
            </a:r>
            <a:endParaRPr sz="1165" b="1">
              <a:solidFill>
                <a:srgbClr val="17212B"/>
              </a:solidFill>
              <a:latin typeface="Cambria" panose="02040503050406030204"/>
              <a:ea typeface="Cambria" panose="02040503050406030204"/>
              <a:cs typeface="Cambria" panose="02040503050406030204"/>
            </a:endParaRPr>
          </a:p>
        </p:txBody>
      </p:sp>
      <p:sp>
        <p:nvSpPr>
          <p:cNvPr id="12" name="Rectangle 11"/>
          <p:cNvSpPr>
            <a:spLocks noGrp="1"/>
          </p:cNvSpPr>
          <p:nvPr/>
        </p:nvSpPr>
        <p:spPr>
          <a:xfrm>
            <a:off x="8496300" y="3790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Lọc dữ liệu và nguồn lực theo management unit</a:t>
            </a:r>
            <a:endParaRPr sz="1165" b="0">
              <a:solidFill>
                <a:srgbClr val="17212B"/>
              </a:solidFill>
              <a:latin typeface="Cambria" panose="02040503050406030204"/>
              <a:ea typeface="Cambria" panose="02040503050406030204"/>
              <a:cs typeface="Cambria" panose="02040503050406030204"/>
            </a:endParaRPr>
          </a:p>
        </p:txBody>
      </p:sp>
      <p:sp>
        <p:nvSpPr>
          <p:cNvPr id="13" name="Rectangle 12"/>
          <p:cNvSpPr>
            <a:spLocks noGrp="1"/>
          </p:cNvSpPr>
          <p:nvPr/>
        </p:nvSpPr>
        <p:spPr>
          <a:xfrm>
            <a:off x="8496300" y="4933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Các module dùng cùng mã và quan hệ tham chiếu</a:t>
            </a:r>
            <a:endParaRPr sz="1165" b="0">
              <a:solidFill>
                <a:srgbClr val="17212B"/>
              </a:solidFill>
              <a:latin typeface="Cambria" panose="02040503050406030204"/>
              <a:ea typeface="Cambria" panose="02040503050406030204"/>
              <a:cs typeface="Cambria" panose="02040503050406030204"/>
            </a:endParaRPr>
          </a:p>
        </p:txBody>
      </p:sp>
      <p:sp>
        <p:nvSpPr>
          <p:cNvPr id="14" name="Rounded Rectangle 13"/>
          <p:cNvSpPr>
            <a:spLocks noGrp="1"/>
          </p:cNvSpPr>
          <p:nvPr/>
        </p:nvSpPr>
        <p:spPr>
          <a:xfrm>
            <a:off x="4648200" y="4933950"/>
            <a:ext cx="2895600" cy="685800"/>
          </a:xfrm>
          <a:prstGeom prst="roundRect">
            <a:avLst>
              <a:gd name="adj" fmla="val 11111"/>
            </a:avLst>
          </a:prstGeom>
          <a:solidFill>
            <a:srgbClr val="E8F2E2"/>
          </a:solidFill>
          <a:ln w="13335">
            <a:solidFill>
              <a:srgbClr val="006B35"/>
            </a:solidFill>
            <a:prstDash val="solid"/>
          </a:ln>
        </p:spPr>
        <p:txBody>
          <a:bodyPr wrap="square" lIns="66675" tIns="47625" rIns="66675" bIns="47625" anchor="ctr">
            <a:normAutofit/>
          </a:bodyPr>
          <a:lstStyle/>
          <a:p>
            <a:pPr algn="ctr">
              <a:defRPr sz="1165" b="1">
                <a:solidFill>
                  <a:srgbClr val="17212B"/>
                </a:solidFill>
                <a:latin typeface="Cambria" panose="02040503050406030204"/>
                <a:ea typeface="Cambria" panose="02040503050406030204"/>
                <a:cs typeface="Cambria" panose="02040503050406030204"/>
              </a:defRPr>
            </a:pPr>
            <a:r>
              <a:rPr sz="1165" b="1">
                <a:solidFill>
                  <a:srgbClr val="17212B"/>
                </a:solidFill>
                <a:latin typeface="Cambria" panose="02040503050406030204"/>
                <a:ea typeface="Cambria" panose="02040503050406030204"/>
                <a:cs typeface="Cambria" panose="02040503050406030204"/>
              </a:rPr>
              <a:t>Audit thao tác thay đổi dữ liệu quan trọng</a:t>
            </a:r>
            <a:endParaRPr sz="1165" b="1">
              <a:solidFill>
                <a:srgbClr val="17212B"/>
              </a:solidFill>
              <a:latin typeface="Cambria" panose="02040503050406030204"/>
              <a:ea typeface="Cambria" panose="02040503050406030204"/>
              <a:cs typeface="Cambria" panose="02040503050406030204"/>
            </a:endParaRPr>
          </a:p>
        </p:txBody>
      </p:sp>
      <p:cxnSp>
        <p:nvCxnSpPr>
          <p:cNvPr id="41" name="Straight Arrow Connector 40"/>
          <p:cNvCxnSpPr>
            <a:stCxn id="7" idx="2"/>
            <a:endCxn id="8" idx="0"/>
          </p:cNvCxnSpPr>
          <p:nvPr/>
        </p:nvCxnSpPr>
        <p:spPr>
          <a:xfrm>
            <a:off x="2247900" y="2190750"/>
            <a:ext cx="0" cy="457200"/>
          </a:xfrm>
          <a:prstGeom prst="straightConnector1">
            <a:avLst/>
          </a:prstGeom>
          <a:ln w="19050">
            <a:solidFill>
              <a:srgbClr val="5FAE3E"/>
            </a:solidFill>
            <a:prstDash val="solid"/>
            <a:tailEnd type="arrow" w="med" len="med"/>
          </a:ln>
        </p:spPr>
      </p:cxnSp>
      <p:cxnSp>
        <p:nvCxnSpPr>
          <p:cNvPr id="42" name="Straight Arrow Connector 41"/>
          <p:cNvCxnSpPr>
            <a:stCxn id="8" idx="2"/>
            <a:endCxn id="9" idx="0"/>
          </p:cNvCxnSpPr>
          <p:nvPr/>
        </p:nvCxnSpPr>
        <p:spPr>
          <a:xfrm>
            <a:off x="2247900" y="3333750"/>
            <a:ext cx="0" cy="457200"/>
          </a:xfrm>
          <a:prstGeom prst="straightConnector1">
            <a:avLst/>
          </a:prstGeom>
          <a:ln w="19050">
            <a:solidFill>
              <a:srgbClr val="5FAE3E"/>
            </a:solidFill>
            <a:prstDash val="solid"/>
            <a:tailEnd type="arrow" w="med" len="med"/>
          </a:ln>
        </p:spPr>
      </p:cxnSp>
      <p:cxnSp>
        <p:nvCxnSpPr>
          <p:cNvPr id="43" name="Elbow Connector 42"/>
          <p:cNvCxnSpPr>
            <a:stCxn id="8" idx="3"/>
            <a:endCxn id="10" idx="1"/>
          </p:cNvCxnSpPr>
          <p:nvPr/>
        </p:nvCxnSpPr>
        <p:spPr>
          <a:xfrm>
            <a:off x="3695700" y="2990850"/>
            <a:ext cx="952500" cy="3181350"/>
          </a:xfrm>
          <a:prstGeom prst="bentConnector4">
            <a:avLst/>
          </a:prstGeom>
          <a:ln w="19050">
            <a:solidFill>
              <a:srgbClr val="5FAE3E"/>
            </a:solidFill>
            <a:prstDash val="solid"/>
            <a:tailEnd type="arrow" w="med" len="med"/>
          </a:ln>
        </p:spPr>
      </p:cxnSp>
      <p:cxnSp>
        <p:nvCxnSpPr>
          <p:cNvPr id="44" name="Elbow Connector 43"/>
          <p:cNvCxnSpPr>
            <a:stCxn id="9" idx="3"/>
            <a:endCxn id="11" idx="1"/>
          </p:cNvCxnSpPr>
          <p:nvPr/>
        </p:nvCxnSpPr>
        <p:spPr>
          <a:xfrm>
            <a:off x="3695700" y="4133850"/>
            <a:ext cx="952500" cy="2038350"/>
          </a:xfrm>
          <a:prstGeom prst="bentConnector4">
            <a:avLst/>
          </a:prstGeom>
          <a:ln w="19050">
            <a:solidFill>
              <a:srgbClr val="5FAE3E"/>
            </a:solidFill>
            <a:prstDash val="solid"/>
            <a:tailEnd type="arrow" w="med" len="med"/>
          </a:ln>
        </p:spPr>
      </p:cxnSp>
      <p:cxnSp>
        <p:nvCxnSpPr>
          <p:cNvPr id="45" name="Straight Arrow Connector 44"/>
          <p:cNvCxnSpPr>
            <a:stCxn id="10" idx="2"/>
            <a:endCxn id="11" idx="0"/>
          </p:cNvCxnSpPr>
          <p:nvPr/>
        </p:nvCxnSpPr>
        <p:spPr>
          <a:xfrm>
            <a:off x="6096000" y="3333750"/>
            <a:ext cx="0" cy="457200"/>
          </a:xfrm>
          <a:prstGeom prst="straightConnector1">
            <a:avLst/>
          </a:prstGeom>
          <a:ln w="19050">
            <a:solidFill>
              <a:srgbClr val="5FAE3E"/>
            </a:solidFill>
            <a:prstDash val="solid"/>
            <a:tailEnd type="arrow" w="med" len="med"/>
          </a:ln>
        </p:spPr>
      </p:cxnSp>
      <p:cxnSp>
        <p:nvCxnSpPr>
          <p:cNvPr id="46" name="Elbow Connector 45"/>
          <p:cNvCxnSpPr>
            <a:stCxn id="11" idx="3"/>
            <a:endCxn id="12" idx="1"/>
          </p:cNvCxnSpPr>
          <p:nvPr/>
        </p:nvCxnSpPr>
        <p:spPr>
          <a:xfrm flipV="1">
            <a:off x="7543800" y="4133850"/>
            <a:ext cx="952500" cy="66675"/>
          </a:xfrm>
          <a:prstGeom prst="bentConnector3">
            <a:avLst>
              <a:gd name="adj1" fmla="val 50000"/>
            </a:avLst>
          </a:prstGeom>
          <a:ln w="19050">
            <a:solidFill>
              <a:srgbClr val="5FAE3E"/>
            </a:solidFill>
            <a:prstDash val="solid"/>
            <a:tailEnd type="arrow" w="med" len="med"/>
          </a:ln>
        </p:spPr>
      </p:cxnSp>
      <p:sp>
        <p:nvSpPr>
          <p:cNvPr id="21" name="Rectangle 20"/>
          <p:cNvSpPr>
            <a:spLocks noGrp="1"/>
          </p:cNvSpPr>
          <p:nvPr/>
        </p:nvSpPr>
        <p:spPr>
          <a:xfrm>
            <a:off x="7791450" y="4124325"/>
            <a:ext cx="666750" cy="209550"/>
          </a:xfrm>
          <a:prstGeom prst="rect">
            <a:avLst/>
          </a:prstGeom>
          <a:solidFill>
            <a:srgbClr val="FFFFFF"/>
          </a:solidFill>
          <a:ln w="0">
            <a:noFill/>
          </a:ln>
        </p:spPr>
        <p:txBody>
          <a:bodyPr wrap="square" lIns="38100" tIns="19050" rIns="38100" bIns="19050" anchor="ctr">
            <a:normAutofit/>
          </a:bodyPr>
          <a:lstStyle/>
          <a:p>
            <a:pPr algn="ctr">
              <a:lnSpc>
                <a:spcPct val="100000"/>
              </a:lnSpc>
              <a:buNone/>
              <a:defRPr sz="940" b="1" i="0">
                <a:solidFill>
                  <a:srgbClr val="59636E"/>
                </a:solidFill>
                <a:latin typeface="Cambria" panose="02040503050406030204"/>
                <a:ea typeface="Cambria" panose="02040503050406030204"/>
                <a:cs typeface="Cambria" panose="02040503050406030204"/>
              </a:defRPr>
            </a:pPr>
            <a:r>
              <a:rPr sz="940" b="1" i="0">
                <a:solidFill>
                  <a:srgbClr val="59636E"/>
                </a:solidFill>
                <a:latin typeface="Cambria" panose="02040503050406030204"/>
                <a:ea typeface="Cambria" panose="02040503050406030204"/>
                <a:cs typeface="Cambria" panose="02040503050406030204"/>
              </a:rPr>
              <a:t>Có</a:t>
            </a:r>
            <a:endParaRPr sz="940" b="1" i="0">
              <a:solidFill>
                <a:srgbClr val="59636E"/>
              </a:solidFill>
              <a:latin typeface="Cambria" panose="02040503050406030204"/>
              <a:ea typeface="Cambria" panose="02040503050406030204"/>
              <a:cs typeface="Cambria" panose="02040503050406030204"/>
            </a:endParaRPr>
          </a:p>
        </p:txBody>
      </p:sp>
      <p:cxnSp>
        <p:nvCxnSpPr>
          <p:cNvPr id="48" name="Straight Arrow Connector 47"/>
          <p:cNvCxnSpPr>
            <a:stCxn id="12" idx="2"/>
            <a:endCxn id="13" idx="0"/>
          </p:cNvCxnSpPr>
          <p:nvPr/>
        </p:nvCxnSpPr>
        <p:spPr>
          <a:xfrm>
            <a:off x="9944100" y="4476750"/>
            <a:ext cx="0" cy="457200"/>
          </a:xfrm>
          <a:prstGeom prst="straightConnector1">
            <a:avLst/>
          </a:prstGeom>
          <a:ln w="19050">
            <a:solidFill>
              <a:srgbClr val="5FAE3E"/>
            </a:solidFill>
            <a:prstDash val="solid"/>
            <a:tailEnd type="arrow" w="med" len="med"/>
          </a:ln>
        </p:spPr>
      </p:cxnSp>
      <p:cxnSp>
        <p:nvCxnSpPr>
          <p:cNvPr id="49" name="Straight Arrow Connector 48"/>
          <p:cNvCxnSpPr>
            <a:stCxn id="13" idx="1"/>
            <a:endCxn id="14" idx="3"/>
          </p:cNvCxnSpPr>
          <p:nvPr/>
        </p:nvCxnSpPr>
        <p:spPr>
          <a:xfrm flipH="1">
            <a:off x="7543800" y="5276850"/>
            <a:ext cx="952500" cy="0"/>
          </a:xfrm>
          <a:prstGeom prst="straightConnector1">
            <a:avLst/>
          </a:prstGeom>
          <a:ln w="19050">
            <a:solidFill>
              <a:srgbClr val="5FAE3E"/>
            </a:solidFill>
            <a:prstDash val="solid"/>
            <a:tailEnd type="arrow" w="med" len="med"/>
          </a:ln>
        </p:spPr>
      </p:cxnSp>
      <p:sp>
        <p:nvSpPr>
          <p:cNvPr id="24" name="Rectangle 23"/>
          <p:cNvSpPr>
            <a:spLocks noGrp="1"/>
          </p:cNvSpPr>
          <p:nvPr/>
        </p:nvSpPr>
        <p:spPr>
          <a:xfrm>
            <a:off x="704850" y="6115050"/>
            <a:ext cx="10782300" cy="266700"/>
          </a:xfrm>
          <a:prstGeom prst="rect">
            <a:avLst/>
          </a:prstGeom>
          <a:noFill/>
          <a:ln w="0">
            <a:noFill/>
          </a:ln>
        </p:spPr>
        <p:txBody>
          <a:bodyPr wrap="square" lIns="38100" tIns="19050" rIns="38100" bIns="19050" anchor="ctr">
            <a:normAutofit/>
          </a:bodyPr>
          <a:lstStyle/>
          <a:p>
            <a:pPr algn="ctr">
              <a:lnSpc>
                <a:spcPct val="100000"/>
              </a:lnSpc>
              <a:buNone/>
              <a:defRPr sz="1015" b="0" i="1">
                <a:solidFill>
                  <a:srgbClr val="E00000"/>
                </a:solidFill>
                <a:latin typeface="Cambria" panose="02040503050406030204"/>
                <a:ea typeface="Cambria" panose="02040503050406030204"/>
                <a:cs typeface="Cambria" panose="02040503050406030204"/>
              </a:defRPr>
            </a:pPr>
            <a:r>
              <a:rPr sz="1015" b="0" i="1">
                <a:solidFill>
                  <a:srgbClr val="E00000"/>
                </a:solidFill>
                <a:latin typeface="Cambria" panose="02040503050406030204"/>
                <a:ea typeface="Cambria" panose="02040503050406030204"/>
                <a:cs typeface="Cambria" panose="02040503050406030204"/>
              </a:rPr>
              <a:t>Khoảng trống hiện tại: quyền theo role đã có nhưng cách ly dữ liệu theo đơn vị chưa đồng nhất ở mọi service.</a:t>
            </a:r>
            <a:endParaRPr sz="1015" b="0" i="1">
              <a:solidFill>
                <a:srgbClr val="E00000"/>
              </a:solidFill>
              <a:latin typeface="Cambria" panose="02040503050406030204"/>
              <a:ea typeface="Cambria" panose="02040503050406030204"/>
              <a:cs typeface="Cambria" panose="02040503050406030204"/>
            </a:endParaRPr>
          </a:p>
        </p:txBody>
      </p:sp>
      <p:sp>
        <p:nvSpPr>
          <p:cNvPr id="25" name="Rectangle 24"/>
          <p:cNvSpPr>
            <a:spLocks noGrp="1"/>
          </p:cNvSpPr>
          <p:nvPr/>
        </p:nvSpPr>
        <p:spPr>
          <a:xfrm>
            <a:off x="266700" y="6534150"/>
            <a:ext cx="7429500" cy="190500"/>
          </a:xfrm>
          <a:prstGeom prst="rect">
            <a:avLst/>
          </a:prstGeom>
          <a:noFill/>
          <a:ln w="0">
            <a:noFill/>
          </a:ln>
        </p:spPr>
        <p:txBody>
          <a:bodyPr wrap="square" lIns="38100" tIns="19050" rIns="38100" bIns="19050" anchor="ctr">
            <a:normAutofit/>
          </a:bodyPr>
          <a:lstStyle/>
          <a:p>
            <a:pPr algn="l">
              <a:lnSpc>
                <a:spcPct val="100000"/>
              </a:lnSpc>
              <a:buNone/>
              <a:defRPr sz="825" b="0" i="1">
                <a:solidFill>
                  <a:srgbClr val="8A8F93"/>
                </a:solidFill>
                <a:latin typeface="Cambria" panose="02040503050406030204"/>
                <a:ea typeface="Cambria" panose="02040503050406030204"/>
                <a:cs typeface="Cambria" panose="02040503050406030204"/>
              </a:defRPr>
            </a:pPr>
            <a:r>
              <a:rPr sz="825" b="0" i="1">
                <a:solidFill>
                  <a:srgbClr val="8A8F93"/>
                </a:solidFill>
                <a:latin typeface="Cambria" panose="02040503050406030204"/>
                <a:ea typeface="Cambria" panose="02040503050406030204"/>
                <a:cs typeface="Cambria" panose="02040503050406030204"/>
              </a:rPr>
              <a:t>Giới thiệu phần mềm và tiến độ phát triển | THACO AGRI Fleet | 21/09/2026</a:t>
            </a:r>
            <a:endParaRPr sz="825" b="0" i="1">
              <a:solidFill>
                <a:srgbClr val="8A8F93"/>
              </a:solidFill>
              <a:latin typeface="Cambria" panose="02040503050406030204"/>
              <a:ea typeface="Cambria" panose="02040503050406030204"/>
              <a:cs typeface="Cambria" panose="02040503050406030204"/>
            </a:endParaRPr>
          </a:p>
        </p:txBody>
      </p:sp>
      <p:sp>
        <p:nvSpPr>
          <p:cNvPr id="26" name="Rectangle 25"/>
          <p:cNvSpPr>
            <a:spLocks noGrp="1"/>
          </p:cNvSpPr>
          <p:nvPr/>
        </p:nvSpPr>
        <p:spPr>
          <a:xfrm>
            <a:off x="11658600" y="6534150"/>
            <a:ext cx="228600" cy="190500"/>
          </a:xfrm>
          <a:prstGeom prst="rect">
            <a:avLst/>
          </a:prstGeom>
          <a:noFill/>
          <a:ln w="0">
            <a:noFill/>
          </a:ln>
        </p:spPr>
        <p:txBody>
          <a:bodyPr wrap="square" lIns="38100" tIns="19050" rIns="38100" bIns="19050" anchor="ctr">
            <a:normAutofit/>
          </a:bodyPr>
          <a:lstStyle/>
          <a:p>
            <a:pPr algn="r">
              <a:lnSpc>
                <a:spcPct val="100000"/>
              </a:lnSpc>
              <a:buNone/>
              <a:defRPr sz="825" b="0" i="0">
                <a:solidFill>
                  <a:srgbClr val="8A8F93"/>
                </a:solidFill>
                <a:latin typeface="Cambria" panose="02040503050406030204"/>
                <a:ea typeface="Cambria" panose="02040503050406030204"/>
                <a:cs typeface="Cambria" panose="02040503050406030204"/>
              </a:defRPr>
            </a:pPr>
            <a:r>
              <a:rPr sz="825" b="0" i="0">
                <a:solidFill>
                  <a:srgbClr val="8A8F93"/>
                </a:solidFill>
                <a:latin typeface="Cambria" panose="02040503050406030204"/>
                <a:ea typeface="Cambria" panose="02040503050406030204"/>
                <a:cs typeface="Cambria" panose="02040503050406030204"/>
              </a:rPr>
              <a:t>21</a:t>
            </a:r>
            <a:endParaRPr sz="825" b="0" i="0">
              <a:solidFill>
                <a:srgbClr val="8A8F93"/>
              </a:solidFill>
              <a:latin typeface="Cambria" panose="02040503050406030204"/>
              <a:ea typeface="Cambria" panose="02040503050406030204"/>
              <a:cs typeface="Cambria" panose="020405030504060302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 name="slide-title"/>
          <p:cNvSpPr>
            <a:spLocks noGrp="1"/>
          </p:cNvSpPr>
          <p:nvPr/>
        </p:nvSpPr>
        <p:spPr>
          <a:xfrm>
            <a:off x="2571750" y="142875"/>
            <a:ext cx="9191625" cy="590550"/>
          </a:xfrm>
          <a:prstGeom prst="rect">
            <a:avLst/>
          </a:prstGeom>
          <a:noFill/>
          <a:ln w="0">
            <a:noFill/>
          </a:ln>
        </p:spPr>
        <p:txBody>
          <a:bodyPr wrap="square" lIns="38100" tIns="19050" rIns="38100" bIns="19050" anchor="ctr">
            <a:normAutofit/>
          </a:bodyPr>
          <a:lstStyle/>
          <a:p>
            <a:pPr algn="ctr">
              <a:lnSpc>
                <a:spcPct val="100000"/>
              </a:lnSpc>
              <a:buNone/>
              <a:defRPr sz="2100" b="1" i="0">
                <a:solidFill>
                  <a:srgbClr val="E00000"/>
                </a:solidFill>
                <a:latin typeface="Cambria" panose="02040503050406030204"/>
                <a:ea typeface="Cambria" panose="02040503050406030204"/>
                <a:cs typeface="Cambria" panose="02040503050406030204"/>
              </a:defRPr>
            </a:pPr>
            <a:r>
              <a:rPr sz="2100" b="1" i="0">
                <a:solidFill>
                  <a:srgbClr val="E00000"/>
                </a:solidFill>
                <a:latin typeface="Cambria" panose="02040503050406030204"/>
                <a:ea typeface="Cambria" panose="02040503050406030204"/>
                <a:cs typeface="Cambria" panose="02040503050406030204"/>
              </a:rPr>
              <a:t>DASHBOARD, BÁO CÁO VÀ XỬ LÝ NGOẠI LỆ</a:t>
            </a:r>
            <a:endParaRPr sz="2100" b="1" i="0">
              <a:solidFill>
                <a:srgbClr val="E00000"/>
              </a:solidFill>
              <a:latin typeface="Cambria" panose="02040503050406030204"/>
              <a:ea typeface="Cambria" panose="02040503050406030204"/>
              <a:cs typeface="Cambria" panose="02040503050406030204"/>
            </a:endParaRPr>
          </a:p>
        </p:txBody>
      </p:sp>
      <p:sp>
        <p:nvSpPr>
          <p:cNvPr id="2" name="Rectangle 1"/>
          <p:cNvSpPr>
            <a:spLocks noGrp="1"/>
          </p:cNvSpPr>
          <p:nvPr/>
        </p:nvSpPr>
        <p:spPr>
          <a:xfrm>
            <a:off x="323850" y="895350"/>
            <a:ext cx="3848100" cy="400050"/>
          </a:xfrm>
          <a:prstGeom prst="rect">
            <a:avLst/>
          </a:prstGeom>
          <a:solidFill>
            <a:srgbClr val="F3F8F0"/>
          </a:solidFill>
          <a:ln w="9525">
            <a:solidFill>
              <a:srgbClr val="5FAE3E"/>
            </a:solidFill>
          </a:ln>
        </p:spPr>
        <p:txBody>
          <a:bodyPr wrap="square" lIns="38100" tIns="19050" rIns="38100" bIns="19050" anchor="ctr">
            <a:normAutofit/>
          </a:bodyPr>
          <a:lstStyle/>
          <a:p>
            <a:pPr algn="ctr">
              <a:lnSpc>
                <a:spcPct val="100000"/>
              </a:lnSpc>
              <a:buNone/>
              <a:defRPr sz="1275" b="1" i="0">
                <a:solidFill>
                  <a:srgbClr val="006B35"/>
                </a:solidFill>
                <a:latin typeface="Cambria" panose="02040503050406030204"/>
                <a:ea typeface="Cambria" panose="02040503050406030204"/>
                <a:cs typeface="Cambria" panose="02040503050406030204"/>
              </a:defRPr>
            </a:pPr>
            <a:r>
              <a:rPr sz="1275" b="1" i="0">
                <a:solidFill>
                  <a:srgbClr val="006B35"/>
                </a:solidFill>
                <a:latin typeface="Cambria" panose="02040503050406030204"/>
                <a:ea typeface="Cambria" panose="02040503050406030204"/>
                <a:cs typeface="Cambria" panose="02040503050406030204"/>
              </a:rPr>
              <a:t>DỮ LIỆU NGHIỆP VỤ</a:t>
            </a:r>
            <a:endParaRPr sz="1275" b="1" i="0">
              <a:solidFill>
                <a:srgbClr val="006B35"/>
              </a:solidFill>
              <a:latin typeface="Cambria" panose="02040503050406030204"/>
              <a:ea typeface="Cambria" panose="02040503050406030204"/>
              <a:cs typeface="Cambria" panose="02040503050406030204"/>
            </a:endParaRPr>
          </a:p>
        </p:txBody>
      </p:sp>
      <p:sp>
        <p:nvSpPr>
          <p:cNvPr id="3" name="Rectangle 2"/>
          <p:cNvSpPr>
            <a:spLocks noGrp="1"/>
          </p:cNvSpPr>
          <p:nvPr/>
        </p:nvSpPr>
        <p:spPr>
          <a:xfrm>
            <a:off x="4171950" y="895350"/>
            <a:ext cx="3848100" cy="400050"/>
          </a:xfrm>
          <a:prstGeom prst="rect">
            <a:avLst/>
          </a:prstGeom>
          <a:solidFill>
            <a:srgbClr val="F1F6FB"/>
          </a:solidFill>
          <a:ln w="9525">
            <a:solidFill>
              <a:srgbClr val="5FAE3E"/>
            </a:solidFill>
          </a:ln>
        </p:spPr>
        <p:txBody>
          <a:bodyPr wrap="square" lIns="38100" tIns="19050" rIns="38100" bIns="19050" anchor="ctr">
            <a:normAutofit/>
          </a:bodyPr>
          <a:lstStyle/>
          <a:p>
            <a:pPr algn="ctr">
              <a:lnSpc>
                <a:spcPct val="100000"/>
              </a:lnSpc>
              <a:buNone/>
              <a:defRPr sz="1275" b="1" i="0">
                <a:solidFill>
                  <a:srgbClr val="075AA7"/>
                </a:solidFill>
                <a:latin typeface="Cambria" panose="02040503050406030204"/>
                <a:ea typeface="Cambria" panose="02040503050406030204"/>
                <a:cs typeface="Cambria" panose="02040503050406030204"/>
              </a:defRPr>
            </a:pPr>
            <a:r>
              <a:rPr sz="1275" b="1" i="0">
                <a:solidFill>
                  <a:srgbClr val="075AA7"/>
                </a:solidFill>
                <a:latin typeface="Cambria" panose="02040503050406030204"/>
                <a:ea typeface="Cambria" panose="02040503050406030204"/>
                <a:cs typeface="Cambria" panose="02040503050406030204"/>
              </a:rPr>
              <a:t>TỔNG HỢP VÀ CHỈ SỐ</a:t>
            </a:r>
            <a:endParaRPr sz="1275" b="1" i="0">
              <a:solidFill>
                <a:srgbClr val="075AA7"/>
              </a:solidFill>
              <a:latin typeface="Cambria" panose="02040503050406030204"/>
              <a:ea typeface="Cambria" panose="02040503050406030204"/>
              <a:cs typeface="Cambria" panose="02040503050406030204"/>
            </a:endParaRPr>
          </a:p>
        </p:txBody>
      </p:sp>
      <p:sp>
        <p:nvSpPr>
          <p:cNvPr id="4" name="Rectangle 3"/>
          <p:cNvSpPr>
            <a:spLocks noGrp="1"/>
          </p:cNvSpPr>
          <p:nvPr/>
        </p:nvSpPr>
        <p:spPr>
          <a:xfrm>
            <a:off x="4171950" y="1295400"/>
            <a:ext cx="14288" cy="4762500"/>
          </a:xfrm>
          <a:prstGeom prst="rect">
            <a:avLst/>
          </a:prstGeom>
          <a:solidFill>
            <a:srgbClr val="5FAE3E"/>
          </a:solidFill>
          <a:ln w="0">
            <a:solidFill>
              <a:srgbClr val="5FAE3E"/>
            </a:solidFill>
          </a:ln>
        </p:spPr>
      </p:sp>
      <p:sp>
        <p:nvSpPr>
          <p:cNvPr id="5" name="Rectangle 4"/>
          <p:cNvSpPr>
            <a:spLocks noGrp="1"/>
          </p:cNvSpPr>
          <p:nvPr/>
        </p:nvSpPr>
        <p:spPr>
          <a:xfrm>
            <a:off x="8020050" y="895350"/>
            <a:ext cx="3848100" cy="400050"/>
          </a:xfrm>
          <a:prstGeom prst="rect">
            <a:avLst/>
          </a:prstGeom>
          <a:solidFill>
            <a:srgbClr val="F3F8F0"/>
          </a:solidFill>
          <a:ln w="9525">
            <a:solidFill>
              <a:srgbClr val="5FAE3E"/>
            </a:solidFill>
          </a:ln>
        </p:spPr>
        <p:txBody>
          <a:bodyPr wrap="square" lIns="38100" tIns="19050" rIns="38100" bIns="19050" anchor="ctr">
            <a:normAutofit/>
          </a:bodyPr>
          <a:lstStyle/>
          <a:p>
            <a:pPr algn="ctr">
              <a:lnSpc>
                <a:spcPct val="100000"/>
              </a:lnSpc>
              <a:buNone/>
              <a:defRPr sz="1275" b="1" i="0">
                <a:solidFill>
                  <a:srgbClr val="006B35"/>
                </a:solidFill>
                <a:latin typeface="Cambria" panose="02040503050406030204"/>
                <a:ea typeface="Cambria" panose="02040503050406030204"/>
                <a:cs typeface="Cambria" panose="02040503050406030204"/>
              </a:defRPr>
            </a:pPr>
            <a:r>
              <a:rPr sz="1275" b="1" i="0">
                <a:solidFill>
                  <a:srgbClr val="006B35"/>
                </a:solidFill>
                <a:latin typeface="Cambria" panose="02040503050406030204"/>
                <a:ea typeface="Cambria" panose="02040503050406030204"/>
                <a:cs typeface="Cambria" panose="02040503050406030204"/>
              </a:rPr>
              <a:t>NGƯỜI ĐIỀU HÀNH</a:t>
            </a:r>
            <a:endParaRPr sz="1275" b="1" i="0">
              <a:solidFill>
                <a:srgbClr val="006B35"/>
              </a:solidFill>
              <a:latin typeface="Cambria" panose="02040503050406030204"/>
              <a:ea typeface="Cambria" panose="02040503050406030204"/>
              <a:cs typeface="Cambria" panose="02040503050406030204"/>
            </a:endParaRPr>
          </a:p>
        </p:txBody>
      </p:sp>
      <p:sp>
        <p:nvSpPr>
          <p:cNvPr id="6" name="Rectangle 5"/>
          <p:cNvSpPr>
            <a:spLocks noGrp="1"/>
          </p:cNvSpPr>
          <p:nvPr/>
        </p:nvSpPr>
        <p:spPr>
          <a:xfrm>
            <a:off x="8020050" y="1295400"/>
            <a:ext cx="14288" cy="4762500"/>
          </a:xfrm>
          <a:prstGeom prst="rect">
            <a:avLst/>
          </a:prstGeom>
          <a:solidFill>
            <a:srgbClr val="5FAE3E"/>
          </a:solidFill>
          <a:ln w="0">
            <a:solidFill>
              <a:srgbClr val="5FAE3E"/>
            </a:solidFill>
          </a:ln>
        </p:spPr>
      </p:sp>
      <p:sp>
        <p:nvSpPr>
          <p:cNvPr id="7" name="Rounded Rectangle 6"/>
          <p:cNvSpPr>
            <a:spLocks noGrp="1"/>
          </p:cNvSpPr>
          <p:nvPr/>
        </p:nvSpPr>
        <p:spPr>
          <a:xfrm>
            <a:off x="800100" y="1504950"/>
            <a:ext cx="2895600" cy="685800"/>
          </a:xfrm>
          <a:prstGeom prst="roundRect">
            <a:avLst>
              <a:gd name="adj" fmla="val 11111"/>
            </a:avLst>
          </a:prstGeom>
          <a:solidFill>
            <a:srgbClr val="E8F2E2"/>
          </a:solidFill>
          <a:ln w="13335">
            <a:solidFill>
              <a:srgbClr val="006B35"/>
            </a:solidFill>
            <a:prstDash val="solid"/>
          </a:ln>
        </p:spPr>
        <p:txBody>
          <a:bodyPr wrap="square" lIns="66675" tIns="47625" rIns="66675" bIns="47625" anchor="ctr">
            <a:normAutofit/>
          </a:bodyPr>
          <a:lstStyle/>
          <a:p>
            <a:pPr algn="ctr">
              <a:defRPr sz="1165" b="1">
                <a:solidFill>
                  <a:srgbClr val="17212B"/>
                </a:solidFill>
                <a:latin typeface="Cambria" panose="02040503050406030204"/>
                <a:ea typeface="Cambria" panose="02040503050406030204"/>
                <a:cs typeface="Cambria" panose="02040503050406030204"/>
              </a:defRPr>
            </a:pPr>
            <a:r>
              <a:rPr sz="1165" b="1">
                <a:solidFill>
                  <a:srgbClr val="17212B"/>
                </a:solidFill>
                <a:latin typeface="Cambria" panose="02040503050406030204"/>
                <a:ea typeface="Cambria" panose="02040503050406030204"/>
                <a:cs typeface="Cambria" panose="02040503050406030204"/>
              </a:rPr>
              <a:t>Lệnh, GPS, nhiên liệu, BTSC, KPI và cảnh báo phát sinh</a:t>
            </a:r>
            <a:endParaRPr sz="1165" b="1">
              <a:solidFill>
                <a:srgbClr val="17212B"/>
              </a:solidFill>
              <a:latin typeface="Cambria" panose="02040503050406030204"/>
              <a:ea typeface="Cambria" panose="02040503050406030204"/>
              <a:cs typeface="Cambria" panose="02040503050406030204"/>
            </a:endParaRPr>
          </a:p>
        </p:txBody>
      </p:sp>
      <p:sp>
        <p:nvSpPr>
          <p:cNvPr id="8" name="Rectangle 7"/>
          <p:cNvSpPr>
            <a:spLocks noGrp="1"/>
          </p:cNvSpPr>
          <p:nvPr/>
        </p:nvSpPr>
        <p:spPr>
          <a:xfrm>
            <a:off x="4648200" y="1504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API tổng hợp theo thời gian, đơn vị và trạng thái</a:t>
            </a:r>
            <a:endParaRPr sz="1165" b="0">
              <a:solidFill>
                <a:srgbClr val="17212B"/>
              </a:solidFill>
              <a:latin typeface="Cambria" panose="02040503050406030204"/>
              <a:ea typeface="Cambria" panose="02040503050406030204"/>
              <a:cs typeface="Cambria" panose="02040503050406030204"/>
            </a:endParaRPr>
          </a:p>
        </p:txBody>
      </p:sp>
      <p:sp>
        <p:nvSpPr>
          <p:cNvPr id="9" name="Rectangle 8"/>
          <p:cNvSpPr>
            <a:spLocks noGrp="1"/>
          </p:cNvSpPr>
          <p:nvPr/>
        </p:nvSpPr>
        <p:spPr>
          <a:xfrm>
            <a:off x="4648200" y="2647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Tạo overview, live fleet, manager view và statistics</a:t>
            </a:r>
            <a:endParaRPr sz="1165" b="0">
              <a:solidFill>
                <a:srgbClr val="17212B"/>
              </a:solidFill>
              <a:latin typeface="Cambria" panose="02040503050406030204"/>
              <a:ea typeface="Cambria" panose="02040503050406030204"/>
              <a:cs typeface="Cambria" panose="02040503050406030204"/>
            </a:endParaRPr>
          </a:p>
        </p:txBody>
      </p:sp>
      <p:sp>
        <p:nvSpPr>
          <p:cNvPr id="10" name="Rectangle 9"/>
          <p:cNvSpPr>
            <a:spLocks noGrp="1"/>
          </p:cNvSpPr>
          <p:nvPr/>
        </p:nvSpPr>
        <p:spPr>
          <a:xfrm>
            <a:off x="8496300" y="2647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Theo dõi đội xe, tiến độ, tiêu hao, sự cố và năng suất</a:t>
            </a:r>
            <a:endParaRPr sz="1165" b="0">
              <a:solidFill>
                <a:srgbClr val="17212B"/>
              </a:solidFill>
              <a:latin typeface="Cambria" panose="02040503050406030204"/>
              <a:ea typeface="Cambria" panose="02040503050406030204"/>
              <a:cs typeface="Cambria" panose="02040503050406030204"/>
            </a:endParaRPr>
          </a:p>
        </p:txBody>
      </p:sp>
      <p:sp>
        <p:nvSpPr>
          <p:cNvPr id="11" name="Diamond 10"/>
          <p:cNvSpPr>
            <a:spLocks noGrp="1"/>
          </p:cNvSpPr>
          <p:nvPr/>
        </p:nvSpPr>
        <p:spPr>
          <a:xfrm>
            <a:off x="8496300" y="3790950"/>
            <a:ext cx="2895600" cy="819150"/>
          </a:xfrm>
          <a:prstGeom prst="diamond">
            <a:avLst/>
          </a:prstGeom>
          <a:solidFill>
            <a:srgbClr val="F8D1B0"/>
          </a:solidFill>
          <a:ln w="13335">
            <a:solidFill>
              <a:srgbClr val="006B35"/>
            </a:solidFill>
            <a:prstDash val="solid"/>
          </a:ln>
        </p:spPr>
        <p:txBody>
          <a:bodyPr wrap="square" lIns="66675" tIns="47625" rIns="66675" bIns="47625" anchor="ctr">
            <a:normAutofit fontScale="88671"/>
          </a:bodyPr>
          <a:lstStyle/>
          <a:p>
            <a:pPr algn="ctr">
              <a:defRPr sz="1165" b="1">
                <a:solidFill>
                  <a:srgbClr val="17212B"/>
                </a:solidFill>
                <a:latin typeface="Cambria" panose="02040503050406030204"/>
                <a:ea typeface="Cambria" panose="02040503050406030204"/>
                <a:cs typeface="Cambria" panose="02040503050406030204"/>
              </a:defRPr>
            </a:pPr>
            <a:r>
              <a:rPr sz="1165" b="1">
                <a:solidFill>
                  <a:srgbClr val="17212B"/>
                </a:solidFill>
                <a:latin typeface="Cambria" panose="02040503050406030204"/>
                <a:ea typeface="Cambria" panose="02040503050406030204"/>
                <a:cs typeface="Cambria" panose="02040503050406030204"/>
              </a:rPr>
              <a:t>CÓ CHỈ SỐ BẤT THƯỜNG?</a:t>
            </a:r>
            <a:endParaRPr sz="1165" b="1">
              <a:solidFill>
                <a:srgbClr val="17212B"/>
              </a:solidFill>
              <a:latin typeface="Cambria" panose="02040503050406030204"/>
              <a:ea typeface="Cambria" panose="02040503050406030204"/>
              <a:cs typeface="Cambria" panose="02040503050406030204"/>
            </a:endParaRPr>
          </a:p>
        </p:txBody>
      </p:sp>
      <p:sp>
        <p:nvSpPr>
          <p:cNvPr id="12" name="Rectangle 11"/>
          <p:cNvSpPr>
            <a:spLocks noGrp="1"/>
          </p:cNvSpPr>
          <p:nvPr/>
        </p:nvSpPr>
        <p:spPr>
          <a:xfrm>
            <a:off x="4648200" y="3790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Mở chi tiết lệnh, xe, cảnh báo hoặc phiếu xưởng</a:t>
            </a:r>
            <a:endParaRPr sz="1165" b="0">
              <a:solidFill>
                <a:srgbClr val="17212B"/>
              </a:solidFill>
              <a:latin typeface="Cambria" panose="02040503050406030204"/>
              <a:ea typeface="Cambria" panose="02040503050406030204"/>
              <a:cs typeface="Cambria" panose="02040503050406030204"/>
            </a:endParaRPr>
          </a:p>
        </p:txBody>
      </p:sp>
      <p:sp>
        <p:nvSpPr>
          <p:cNvPr id="13" name="Rectangle 12"/>
          <p:cNvSpPr>
            <a:spLocks noGrp="1"/>
          </p:cNvSpPr>
          <p:nvPr/>
        </p:nvSpPr>
        <p:spPr>
          <a:xfrm>
            <a:off x="800100" y="4933950"/>
            <a:ext cx="2895600" cy="685800"/>
          </a:xfrm>
          <a:prstGeom prst="rect">
            <a:avLst/>
          </a:prstGeom>
          <a:solidFill>
            <a:srgbClr val="FFF5CE"/>
          </a:solidFill>
          <a:ln w="13335">
            <a:solidFill>
              <a:srgbClr val="006B35"/>
            </a:solidFill>
            <a:prstDash val="solid"/>
          </a:ln>
        </p:spPr>
        <p:txBody>
          <a:bodyPr wrap="square" lIns="66675" tIns="47625" rIns="66675" bIns="47625" anchor="ctr">
            <a:normAutofit/>
          </a:bodyPr>
          <a:lstStyle/>
          <a:p>
            <a:pPr algn="ctr">
              <a:defRPr sz="1165" b="0">
                <a:solidFill>
                  <a:srgbClr val="17212B"/>
                </a:solidFill>
                <a:latin typeface="Cambria" panose="02040503050406030204"/>
                <a:ea typeface="Cambria" panose="02040503050406030204"/>
                <a:cs typeface="Cambria" panose="02040503050406030204"/>
              </a:defRPr>
            </a:pPr>
            <a:r>
              <a:rPr sz="1165" b="0">
                <a:solidFill>
                  <a:srgbClr val="17212B"/>
                </a:solidFill>
                <a:latin typeface="Cambria" panose="02040503050406030204"/>
                <a:ea typeface="Cambria" panose="02040503050406030204"/>
                <a:cs typeface="Cambria" panose="02040503050406030204"/>
              </a:rPr>
              <a:t>Bổ sung dữ liệu, xử lý ngoại lệ và cập nhật trạng thái</a:t>
            </a:r>
            <a:endParaRPr sz="1165" b="0">
              <a:solidFill>
                <a:srgbClr val="17212B"/>
              </a:solidFill>
              <a:latin typeface="Cambria" panose="02040503050406030204"/>
              <a:ea typeface="Cambria" panose="02040503050406030204"/>
              <a:cs typeface="Cambria" panose="02040503050406030204"/>
            </a:endParaRPr>
          </a:p>
        </p:txBody>
      </p:sp>
      <p:sp>
        <p:nvSpPr>
          <p:cNvPr id="14" name="Rounded Rectangle 13"/>
          <p:cNvSpPr>
            <a:spLocks noGrp="1"/>
          </p:cNvSpPr>
          <p:nvPr/>
        </p:nvSpPr>
        <p:spPr>
          <a:xfrm>
            <a:off x="8496300" y="4933950"/>
            <a:ext cx="2895600" cy="685800"/>
          </a:xfrm>
          <a:prstGeom prst="roundRect">
            <a:avLst>
              <a:gd name="adj" fmla="val 11111"/>
            </a:avLst>
          </a:prstGeom>
          <a:solidFill>
            <a:srgbClr val="E8F2E2"/>
          </a:solidFill>
          <a:ln w="13335">
            <a:solidFill>
              <a:srgbClr val="006B35"/>
            </a:solidFill>
            <a:prstDash val="solid"/>
          </a:ln>
        </p:spPr>
        <p:txBody>
          <a:bodyPr wrap="square" lIns="66675" tIns="47625" rIns="66675" bIns="47625" anchor="ctr">
            <a:normAutofit/>
          </a:bodyPr>
          <a:lstStyle/>
          <a:p>
            <a:pPr algn="ctr">
              <a:defRPr sz="1165" b="1">
                <a:solidFill>
                  <a:srgbClr val="17212B"/>
                </a:solidFill>
                <a:latin typeface="Cambria" panose="02040503050406030204"/>
                <a:ea typeface="Cambria" panose="02040503050406030204"/>
                <a:cs typeface="Cambria" panose="02040503050406030204"/>
              </a:defRPr>
            </a:pPr>
            <a:r>
              <a:rPr sz="1165" b="1">
                <a:solidFill>
                  <a:srgbClr val="17212B"/>
                </a:solidFill>
                <a:latin typeface="Cambria" panose="02040503050406030204"/>
                <a:ea typeface="Cambria" panose="02040503050406030204"/>
                <a:cs typeface="Cambria" panose="02040503050406030204"/>
              </a:rPr>
              <a:t>Xuất báo cáo và theo dõi kết quả xử lý</a:t>
            </a:r>
            <a:endParaRPr sz="1165" b="1">
              <a:solidFill>
                <a:srgbClr val="17212B"/>
              </a:solidFill>
              <a:latin typeface="Cambria" panose="02040503050406030204"/>
              <a:ea typeface="Cambria" panose="02040503050406030204"/>
              <a:cs typeface="Cambria" panose="02040503050406030204"/>
            </a:endParaRPr>
          </a:p>
        </p:txBody>
      </p:sp>
      <p:cxnSp>
        <p:nvCxnSpPr>
          <p:cNvPr id="42" name="Elbow Connector 41"/>
          <p:cNvCxnSpPr>
            <a:stCxn id="7" idx="3"/>
            <a:endCxn id="8" idx="1"/>
          </p:cNvCxnSpPr>
          <p:nvPr/>
        </p:nvCxnSpPr>
        <p:spPr>
          <a:xfrm>
            <a:off x="3695700" y="1847850"/>
            <a:ext cx="952500" cy="4324350"/>
          </a:xfrm>
          <a:prstGeom prst="bentConnector4">
            <a:avLst/>
          </a:prstGeom>
          <a:ln w="19050">
            <a:solidFill>
              <a:srgbClr val="5FAE3E"/>
            </a:solidFill>
            <a:prstDash val="solid"/>
            <a:tailEnd type="arrow" w="med" len="med"/>
          </a:ln>
        </p:spPr>
      </p:cxnSp>
      <p:cxnSp>
        <p:nvCxnSpPr>
          <p:cNvPr id="43" name="Straight Arrow Connector 42"/>
          <p:cNvCxnSpPr>
            <a:stCxn id="8" idx="2"/>
            <a:endCxn id="9" idx="0"/>
          </p:cNvCxnSpPr>
          <p:nvPr/>
        </p:nvCxnSpPr>
        <p:spPr>
          <a:xfrm>
            <a:off x="6096000" y="2190750"/>
            <a:ext cx="0" cy="457200"/>
          </a:xfrm>
          <a:prstGeom prst="straightConnector1">
            <a:avLst/>
          </a:prstGeom>
          <a:ln w="19050">
            <a:solidFill>
              <a:srgbClr val="5FAE3E"/>
            </a:solidFill>
            <a:prstDash val="solid"/>
            <a:tailEnd type="arrow" w="med" len="med"/>
          </a:ln>
        </p:spPr>
      </p:cxnSp>
      <p:cxnSp>
        <p:nvCxnSpPr>
          <p:cNvPr id="44" name="Straight Arrow Connector 43"/>
          <p:cNvCxnSpPr>
            <a:stCxn id="9" idx="3"/>
            <a:endCxn id="10" idx="1"/>
          </p:cNvCxnSpPr>
          <p:nvPr/>
        </p:nvCxnSpPr>
        <p:spPr>
          <a:xfrm>
            <a:off x="7543800" y="2990850"/>
            <a:ext cx="952500" cy="0"/>
          </a:xfrm>
          <a:prstGeom prst="straightConnector1">
            <a:avLst/>
          </a:prstGeom>
          <a:ln w="19050">
            <a:solidFill>
              <a:srgbClr val="5FAE3E"/>
            </a:solidFill>
            <a:prstDash val="solid"/>
            <a:tailEnd type="arrow" w="med" len="med"/>
          </a:ln>
        </p:spPr>
      </p:cxnSp>
      <p:cxnSp>
        <p:nvCxnSpPr>
          <p:cNvPr id="45" name="Straight Arrow Connector 44"/>
          <p:cNvCxnSpPr>
            <a:stCxn id="10" idx="2"/>
            <a:endCxn id="11" idx="0"/>
          </p:cNvCxnSpPr>
          <p:nvPr/>
        </p:nvCxnSpPr>
        <p:spPr>
          <a:xfrm>
            <a:off x="9944100" y="3333750"/>
            <a:ext cx="0" cy="457200"/>
          </a:xfrm>
          <a:prstGeom prst="straightConnector1">
            <a:avLst/>
          </a:prstGeom>
          <a:ln w="19050">
            <a:solidFill>
              <a:srgbClr val="5FAE3E"/>
            </a:solidFill>
            <a:prstDash val="solid"/>
            <a:tailEnd type="arrow" w="med" len="med"/>
          </a:ln>
        </p:spPr>
      </p:cxnSp>
      <p:cxnSp>
        <p:nvCxnSpPr>
          <p:cNvPr id="46" name="Elbow Connector 45"/>
          <p:cNvCxnSpPr>
            <a:stCxn id="11" idx="1"/>
            <a:endCxn id="12" idx="3"/>
          </p:cNvCxnSpPr>
          <p:nvPr/>
        </p:nvCxnSpPr>
        <p:spPr>
          <a:xfrm flipH="1" flipV="1">
            <a:off x="7543800" y="4133850"/>
            <a:ext cx="952500" cy="66675"/>
          </a:xfrm>
          <a:prstGeom prst="bentConnector3">
            <a:avLst>
              <a:gd name="adj1" fmla="val 50000"/>
            </a:avLst>
          </a:prstGeom>
          <a:ln w="19050">
            <a:solidFill>
              <a:srgbClr val="5FAE3E"/>
            </a:solidFill>
            <a:prstDash val="solid"/>
            <a:tailEnd type="arrow" w="med" len="med"/>
          </a:ln>
        </p:spPr>
      </p:cxnSp>
      <p:sp>
        <p:nvSpPr>
          <p:cNvPr id="20" name="Rectangle 19"/>
          <p:cNvSpPr>
            <a:spLocks noGrp="1"/>
          </p:cNvSpPr>
          <p:nvPr/>
        </p:nvSpPr>
        <p:spPr>
          <a:xfrm>
            <a:off x="7705725" y="4162425"/>
            <a:ext cx="666750" cy="209550"/>
          </a:xfrm>
          <a:prstGeom prst="rect">
            <a:avLst/>
          </a:prstGeom>
          <a:solidFill>
            <a:srgbClr val="FFFFFF"/>
          </a:solidFill>
          <a:ln w="0">
            <a:noFill/>
          </a:ln>
        </p:spPr>
        <p:txBody>
          <a:bodyPr wrap="square" lIns="38100" tIns="19050" rIns="38100" bIns="19050" anchor="ctr">
            <a:normAutofit/>
          </a:bodyPr>
          <a:lstStyle/>
          <a:p>
            <a:pPr algn="ctr">
              <a:lnSpc>
                <a:spcPct val="100000"/>
              </a:lnSpc>
              <a:buNone/>
              <a:defRPr sz="940" b="1" i="0">
                <a:solidFill>
                  <a:srgbClr val="59636E"/>
                </a:solidFill>
                <a:latin typeface="Cambria" panose="02040503050406030204"/>
                <a:ea typeface="Cambria" panose="02040503050406030204"/>
                <a:cs typeface="Cambria" panose="02040503050406030204"/>
              </a:defRPr>
            </a:pPr>
            <a:r>
              <a:rPr sz="940" b="1" i="0">
                <a:solidFill>
                  <a:srgbClr val="59636E"/>
                </a:solidFill>
                <a:latin typeface="Cambria" panose="02040503050406030204"/>
                <a:ea typeface="Cambria" panose="02040503050406030204"/>
                <a:cs typeface="Cambria" panose="02040503050406030204"/>
              </a:rPr>
              <a:t>Có</a:t>
            </a:r>
            <a:endParaRPr sz="940" b="1" i="0">
              <a:solidFill>
                <a:srgbClr val="59636E"/>
              </a:solidFill>
              <a:latin typeface="Cambria" panose="02040503050406030204"/>
              <a:ea typeface="Cambria" panose="02040503050406030204"/>
              <a:cs typeface="Cambria" panose="02040503050406030204"/>
            </a:endParaRPr>
          </a:p>
        </p:txBody>
      </p:sp>
      <p:cxnSp>
        <p:nvCxnSpPr>
          <p:cNvPr id="48" name="Elbow Connector 47"/>
          <p:cNvCxnSpPr>
            <a:stCxn id="12" idx="1"/>
            <a:endCxn id="13" idx="3"/>
          </p:cNvCxnSpPr>
          <p:nvPr/>
        </p:nvCxnSpPr>
        <p:spPr>
          <a:xfrm flipH="1">
            <a:off x="3695700" y="4133850"/>
            <a:ext cx="952500" cy="2038350"/>
          </a:xfrm>
          <a:prstGeom prst="bentConnector4">
            <a:avLst/>
          </a:prstGeom>
          <a:ln w="19050">
            <a:solidFill>
              <a:srgbClr val="5FAE3E"/>
            </a:solidFill>
            <a:prstDash val="solid"/>
            <a:tailEnd type="arrow" w="med" len="med"/>
          </a:ln>
        </p:spPr>
      </p:cxnSp>
      <p:cxnSp>
        <p:nvCxnSpPr>
          <p:cNvPr id="49" name="Elbow Connector 48"/>
          <p:cNvCxnSpPr>
            <a:stCxn id="13" idx="3"/>
            <a:endCxn id="14" idx="1"/>
          </p:cNvCxnSpPr>
          <p:nvPr/>
        </p:nvCxnSpPr>
        <p:spPr>
          <a:xfrm>
            <a:off x="3695700" y="5276850"/>
            <a:ext cx="4800600" cy="895350"/>
          </a:xfrm>
          <a:prstGeom prst="bentConnector4">
            <a:avLst/>
          </a:prstGeom>
          <a:ln w="19050">
            <a:solidFill>
              <a:srgbClr val="5FAE3E"/>
            </a:solidFill>
            <a:prstDash val="solid"/>
            <a:tailEnd type="arrow" w="med" len="med"/>
          </a:ln>
        </p:spPr>
      </p:cxnSp>
      <p:cxnSp>
        <p:nvCxnSpPr>
          <p:cNvPr id="50" name="Straight Arrow Connector 49"/>
          <p:cNvCxnSpPr>
            <a:stCxn id="11" idx="2"/>
            <a:endCxn id="14" idx="0"/>
          </p:cNvCxnSpPr>
          <p:nvPr/>
        </p:nvCxnSpPr>
        <p:spPr>
          <a:xfrm>
            <a:off x="9944100" y="4610100"/>
            <a:ext cx="0" cy="323850"/>
          </a:xfrm>
          <a:prstGeom prst="straightConnector1">
            <a:avLst/>
          </a:prstGeom>
          <a:ln w="19050">
            <a:solidFill>
              <a:srgbClr val="5FAE3E"/>
            </a:solidFill>
            <a:prstDash val="dash"/>
            <a:tailEnd type="arrow" w="med" len="med"/>
          </a:ln>
        </p:spPr>
      </p:cxnSp>
      <p:sp>
        <p:nvSpPr>
          <p:cNvPr id="24" name="Rectangle 23"/>
          <p:cNvSpPr>
            <a:spLocks noGrp="1"/>
          </p:cNvSpPr>
          <p:nvPr/>
        </p:nvSpPr>
        <p:spPr>
          <a:xfrm>
            <a:off x="10582275" y="4848225"/>
            <a:ext cx="666750" cy="209550"/>
          </a:xfrm>
          <a:prstGeom prst="rect">
            <a:avLst/>
          </a:prstGeom>
          <a:solidFill>
            <a:srgbClr val="FFFFFF"/>
          </a:solidFill>
          <a:ln w="0">
            <a:noFill/>
          </a:ln>
        </p:spPr>
        <p:txBody>
          <a:bodyPr wrap="square" lIns="38100" tIns="19050" rIns="38100" bIns="19050" anchor="ctr">
            <a:normAutofit/>
          </a:bodyPr>
          <a:lstStyle/>
          <a:p>
            <a:pPr algn="ctr">
              <a:lnSpc>
                <a:spcPct val="100000"/>
              </a:lnSpc>
              <a:buNone/>
              <a:defRPr sz="940" b="1" i="0">
                <a:solidFill>
                  <a:srgbClr val="59636E"/>
                </a:solidFill>
                <a:latin typeface="Cambria" panose="02040503050406030204"/>
                <a:ea typeface="Cambria" panose="02040503050406030204"/>
                <a:cs typeface="Cambria" panose="02040503050406030204"/>
              </a:defRPr>
            </a:pPr>
            <a:r>
              <a:rPr sz="940" b="1" i="0">
                <a:solidFill>
                  <a:srgbClr val="59636E"/>
                </a:solidFill>
                <a:latin typeface="Cambria" panose="02040503050406030204"/>
                <a:ea typeface="Cambria" panose="02040503050406030204"/>
                <a:cs typeface="Cambria" panose="02040503050406030204"/>
              </a:rPr>
              <a:t>Không</a:t>
            </a:r>
            <a:endParaRPr sz="940" b="1" i="0">
              <a:solidFill>
                <a:srgbClr val="59636E"/>
              </a:solidFill>
              <a:latin typeface="Cambria" panose="02040503050406030204"/>
              <a:ea typeface="Cambria" panose="02040503050406030204"/>
              <a:cs typeface="Cambria" panose="02040503050406030204"/>
            </a:endParaRPr>
          </a:p>
        </p:txBody>
      </p:sp>
      <p:sp>
        <p:nvSpPr>
          <p:cNvPr id="25" name="Rectangle 24"/>
          <p:cNvSpPr>
            <a:spLocks noGrp="1"/>
          </p:cNvSpPr>
          <p:nvPr/>
        </p:nvSpPr>
        <p:spPr>
          <a:xfrm>
            <a:off x="704850" y="6115050"/>
            <a:ext cx="10782300" cy="266700"/>
          </a:xfrm>
          <a:prstGeom prst="rect">
            <a:avLst/>
          </a:prstGeom>
          <a:noFill/>
          <a:ln w="0">
            <a:noFill/>
          </a:ln>
        </p:spPr>
        <p:txBody>
          <a:bodyPr wrap="square" lIns="38100" tIns="19050" rIns="38100" bIns="19050" anchor="ctr">
            <a:normAutofit/>
          </a:bodyPr>
          <a:lstStyle/>
          <a:p>
            <a:pPr algn="ctr">
              <a:lnSpc>
                <a:spcPct val="100000"/>
              </a:lnSpc>
              <a:buNone/>
              <a:defRPr sz="1015" b="0" i="1">
                <a:solidFill>
                  <a:srgbClr val="E00000"/>
                </a:solidFill>
                <a:latin typeface="Cambria" panose="02040503050406030204"/>
                <a:ea typeface="Cambria" panose="02040503050406030204"/>
                <a:cs typeface="Cambria" panose="02040503050406030204"/>
              </a:defRPr>
            </a:pPr>
            <a:r>
              <a:rPr sz="1015" b="0" i="1">
                <a:solidFill>
                  <a:srgbClr val="E00000"/>
                </a:solidFill>
                <a:latin typeface="Cambria" panose="02040503050406030204"/>
                <a:ea typeface="Cambria" panose="02040503050406030204"/>
                <a:cs typeface="Cambria" panose="02040503050406030204"/>
              </a:rPr>
              <a:t>Một số màn hình frontend vẫn có dữ liệu demo hoặc fallback. Chỉ số cần đối chiếu API trước khi dùng làm báo cáo chính thức.</a:t>
            </a:r>
            <a:endParaRPr sz="1015" b="0" i="1">
              <a:solidFill>
                <a:srgbClr val="E00000"/>
              </a:solidFill>
              <a:latin typeface="Cambria" panose="02040503050406030204"/>
              <a:ea typeface="Cambria" panose="02040503050406030204"/>
              <a:cs typeface="Cambria" panose="02040503050406030204"/>
            </a:endParaRPr>
          </a:p>
        </p:txBody>
      </p:sp>
      <p:sp>
        <p:nvSpPr>
          <p:cNvPr id="26" name="Rectangle 25"/>
          <p:cNvSpPr>
            <a:spLocks noGrp="1"/>
          </p:cNvSpPr>
          <p:nvPr/>
        </p:nvSpPr>
        <p:spPr>
          <a:xfrm>
            <a:off x="266700" y="6534150"/>
            <a:ext cx="7429500" cy="190500"/>
          </a:xfrm>
          <a:prstGeom prst="rect">
            <a:avLst/>
          </a:prstGeom>
          <a:noFill/>
          <a:ln w="0">
            <a:noFill/>
          </a:ln>
        </p:spPr>
        <p:txBody>
          <a:bodyPr wrap="square" lIns="38100" tIns="19050" rIns="38100" bIns="19050" anchor="ctr">
            <a:normAutofit/>
          </a:bodyPr>
          <a:lstStyle/>
          <a:p>
            <a:pPr algn="l">
              <a:lnSpc>
                <a:spcPct val="100000"/>
              </a:lnSpc>
              <a:buNone/>
              <a:defRPr sz="825" b="0" i="1">
                <a:solidFill>
                  <a:srgbClr val="8A8F93"/>
                </a:solidFill>
                <a:latin typeface="Cambria" panose="02040503050406030204"/>
                <a:ea typeface="Cambria" panose="02040503050406030204"/>
                <a:cs typeface="Cambria" panose="02040503050406030204"/>
              </a:defRPr>
            </a:pPr>
            <a:r>
              <a:rPr sz="825" b="0" i="1">
                <a:solidFill>
                  <a:srgbClr val="8A8F93"/>
                </a:solidFill>
                <a:latin typeface="Cambria" panose="02040503050406030204"/>
                <a:ea typeface="Cambria" panose="02040503050406030204"/>
                <a:cs typeface="Cambria" panose="02040503050406030204"/>
              </a:rPr>
              <a:t>Giới thiệu phần mềm và tiến độ phát triển | THACO AGRI Fleet | 21/09/2026</a:t>
            </a:r>
            <a:endParaRPr sz="825" b="0" i="1">
              <a:solidFill>
                <a:srgbClr val="8A8F93"/>
              </a:solidFill>
              <a:latin typeface="Cambria" panose="02040503050406030204"/>
              <a:ea typeface="Cambria" panose="02040503050406030204"/>
              <a:cs typeface="Cambria" panose="02040503050406030204"/>
            </a:endParaRPr>
          </a:p>
        </p:txBody>
      </p:sp>
      <p:sp>
        <p:nvSpPr>
          <p:cNvPr id="27" name="Rectangle 26"/>
          <p:cNvSpPr>
            <a:spLocks noGrp="1"/>
          </p:cNvSpPr>
          <p:nvPr/>
        </p:nvSpPr>
        <p:spPr>
          <a:xfrm>
            <a:off x="11658600" y="6534150"/>
            <a:ext cx="228600" cy="190500"/>
          </a:xfrm>
          <a:prstGeom prst="rect">
            <a:avLst/>
          </a:prstGeom>
          <a:noFill/>
          <a:ln w="0">
            <a:noFill/>
          </a:ln>
        </p:spPr>
        <p:txBody>
          <a:bodyPr wrap="square" lIns="38100" tIns="19050" rIns="38100" bIns="19050" anchor="ctr">
            <a:normAutofit/>
          </a:bodyPr>
          <a:lstStyle/>
          <a:p>
            <a:pPr algn="r">
              <a:lnSpc>
                <a:spcPct val="100000"/>
              </a:lnSpc>
              <a:buNone/>
              <a:defRPr sz="825" b="0" i="0">
                <a:solidFill>
                  <a:srgbClr val="8A8F93"/>
                </a:solidFill>
                <a:latin typeface="Cambria" panose="02040503050406030204"/>
                <a:ea typeface="Cambria" panose="02040503050406030204"/>
                <a:cs typeface="Cambria" panose="02040503050406030204"/>
              </a:defRPr>
            </a:pPr>
            <a:r>
              <a:rPr sz="825" b="0" i="0">
                <a:solidFill>
                  <a:srgbClr val="8A8F93"/>
                </a:solidFill>
                <a:latin typeface="Cambria" panose="02040503050406030204"/>
                <a:ea typeface="Cambria" panose="02040503050406030204"/>
                <a:cs typeface="Cambria" panose="02040503050406030204"/>
              </a:rPr>
              <a:t>22</a:t>
            </a:r>
            <a:endParaRPr sz="825" b="0" i="0">
              <a:solidFill>
                <a:srgbClr val="8A8F93"/>
              </a:solidFill>
              <a:latin typeface="Cambria" panose="02040503050406030204"/>
              <a:ea typeface="Cambria" panose="02040503050406030204"/>
              <a:cs typeface="Cambria" panose="020405030504060302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slide-title"/>
          <p:cNvSpPr>
            <a:spLocks noGrp="1"/>
          </p:cNvSpPr>
          <p:nvPr/>
        </p:nvSpPr>
        <p:spPr>
          <a:xfrm>
            <a:off x="2571750" y="142875"/>
            <a:ext cx="9191625" cy="590550"/>
          </a:xfrm>
          <a:prstGeom prst="rect">
            <a:avLst/>
          </a:prstGeom>
          <a:noFill/>
          <a:ln w="0">
            <a:noFill/>
          </a:ln>
        </p:spPr>
        <p:txBody>
          <a:bodyPr wrap="square" lIns="38100" tIns="19050" rIns="38100" bIns="19050" anchor="ctr">
            <a:normAutofit/>
          </a:bodyPr>
          <a:lstStyle/>
          <a:p>
            <a:pPr algn="ctr">
              <a:lnSpc>
                <a:spcPct val="100000"/>
              </a:lnSpc>
              <a:buNone/>
              <a:defRPr sz="2100" b="1" i="0">
                <a:solidFill>
                  <a:srgbClr val="E00000"/>
                </a:solidFill>
                <a:latin typeface="Cambria" panose="02040503050406030204"/>
                <a:ea typeface="Cambria" panose="02040503050406030204"/>
                <a:cs typeface="Cambria" panose="02040503050406030204"/>
              </a:defRPr>
            </a:pPr>
            <a:r>
              <a:rPr sz="2100" b="1" i="0">
                <a:solidFill>
                  <a:srgbClr val="E00000"/>
                </a:solidFill>
                <a:latin typeface="Cambria" panose="02040503050406030204"/>
                <a:ea typeface="Cambria" panose="02040503050406030204"/>
                <a:cs typeface="Cambria" panose="02040503050406030204"/>
              </a:rPr>
              <a:t>TIẾN ĐỘ PHÁT TRIỂN HIỆN TẠI</a:t>
            </a:r>
            <a:endParaRPr sz="2100" b="1" i="0">
              <a:solidFill>
                <a:srgbClr val="E00000"/>
              </a:solidFill>
              <a:latin typeface="Cambria" panose="02040503050406030204"/>
              <a:ea typeface="Cambria" panose="02040503050406030204"/>
              <a:cs typeface="Cambria" panose="02040503050406030204"/>
            </a:endParaRPr>
          </a:p>
        </p:txBody>
      </p:sp>
      <p:sp>
        <p:nvSpPr>
          <p:cNvPr id="2" name="Rectangle 1"/>
          <p:cNvSpPr>
            <a:spLocks noGrp="1"/>
          </p:cNvSpPr>
          <p:nvPr/>
        </p:nvSpPr>
        <p:spPr>
          <a:xfrm>
            <a:off x="723900" y="1000125"/>
            <a:ext cx="2286000" cy="647700"/>
          </a:xfrm>
          <a:prstGeom prst="rect">
            <a:avLst/>
          </a:prstGeom>
          <a:noFill/>
          <a:ln w="0">
            <a:noFill/>
          </a:ln>
        </p:spPr>
        <p:txBody>
          <a:bodyPr wrap="square" lIns="38100" tIns="19050" rIns="38100" bIns="19050" anchor="ctr">
            <a:normAutofit/>
          </a:bodyPr>
          <a:lstStyle/>
          <a:p>
            <a:pPr algn="ctr">
              <a:lnSpc>
                <a:spcPct val="100000"/>
              </a:lnSpc>
              <a:buNone/>
              <a:defRPr sz="3600" b="1" i="0">
                <a:solidFill>
                  <a:srgbClr val="006B35"/>
                </a:solidFill>
                <a:latin typeface="Cambria" panose="02040503050406030204"/>
                <a:ea typeface="Cambria" panose="02040503050406030204"/>
                <a:cs typeface="Cambria" panose="02040503050406030204"/>
              </a:defRPr>
            </a:pPr>
            <a:r>
              <a:rPr sz="3600" b="1" i="0">
                <a:solidFill>
                  <a:srgbClr val="006B35"/>
                </a:solidFill>
                <a:latin typeface="Cambria" panose="02040503050406030204"/>
                <a:ea typeface="Cambria" panose="02040503050406030204"/>
                <a:cs typeface="Cambria" panose="02040503050406030204"/>
              </a:rPr>
              <a:t>104</a:t>
            </a:r>
            <a:endParaRPr sz="3600" b="1" i="0">
              <a:solidFill>
                <a:srgbClr val="006B35"/>
              </a:solidFill>
              <a:latin typeface="Cambria" panose="02040503050406030204"/>
              <a:ea typeface="Cambria" panose="02040503050406030204"/>
              <a:cs typeface="Cambria" panose="02040503050406030204"/>
            </a:endParaRPr>
          </a:p>
        </p:txBody>
      </p:sp>
      <p:sp>
        <p:nvSpPr>
          <p:cNvPr id="3" name="Rectangle 2"/>
          <p:cNvSpPr>
            <a:spLocks noGrp="1"/>
          </p:cNvSpPr>
          <p:nvPr/>
        </p:nvSpPr>
        <p:spPr>
          <a:xfrm>
            <a:off x="723900" y="1619250"/>
            <a:ext cx="2286000" cy="323850"/>
          </a:xfrm>
          <a:prstGeom prst="rect">
            <a:avLst/>
          </a:prstGeom>
          <a:noFill/>
          <a:ln w="0">
            <a:noFill/>
          </a:ln>
        </p:spPr>
        <p:txBody>
          <a:bodyPr wrap="square" lIns="38100" tIns="19050" rIns="38100" bIns="19050" anchor="ctr">
            <a:normAutofit/>
          </a:bodyPr>
          <a:lstStyle/>
          <a:p>
            <a:pPr algn="ctr">
              <a:lnSpc>
                <a:spcPct val="100000"/>
              </a:lnSpc>
              <a:buNone/>
              <a:defRPr sz="1350" b="1" i="0">
                <a:solidFill>
                  <a:srgbClr val="17212B"/>
                </a:solidFill>
                <a:latin typeface="Cambria" panose="02040503050406030204"/>
                <a:ea typeface="Cambria" panose="02040503050406030204"/>
                <a:cs typeface="Cambria" panose="02040503050406030204"/>
              </a:defRPr>
            </a:pPr>
            <a:r>
              <a:rPr sz="1350" b="1" i="0">
                <a:solidFill>
                  <a:srgbClr val="17212B"/>
                </a:solidFill>
                <a:latin typeface="Cambria" panose="02040503050406030204"/>
                <a:ea typeface="Cambria" panose="02040503050406030204"/>
                <a:cs typeface="Cambria" panose="02040503050406030204"/>
              </a:rPr>
              <a:t>đường dẫn web</a:t>
            </a:r>
            <a:endParaRPr sz="1350" b="1" i="0">
              <a:solidFill>
                <a:srgbClr val="17212B"/>
              </a:solidFill>
              <a:latin typeface="Cambria" panose="02040503050406030204"/>
              <a:ea typeface="Cambria" panose="02040503050406030204"/>
              <a:cs typeface="Cambria" panose="02040503050406030204"/>
            </a:endParaRPr>
          </a:p>
        </p:txBody>
      </p:sp>
      <p:sp>
        <p:nvSpPr>
          <p:cNvPr id="4" name="Rectangle 3"/>
          <p:cNvSpPr>
            <a:spLocks noGrp="1"/>
          </p:cNvSpPr>
          <p:nvPr/>
        </p:nvSpPr>
        <p:spPr>
          <a:xfrm>
            <a:off x="3505200" y="1000125"/>
            <a:ext cx="2286000" cy="647700"/>
          </a:xfrm>
          <a:prstGeom prst="rect">
            <a:avLst/>
          </a:prstGeom>
          <a:noFill/>
          <a:ln w="0">
            <a:noFill/>
          </a:ln>
        </p:spPr>
        <p:txBody>
          <a:bodyPr wrap="square" lIns="38100" tIns="19050" rIns="38100" bIns="19050" anchor="ctr">
            <a:normAutofit/>
          </a:bodyPr>
          <a:lstStyle/>
          <a:p>
            <a:pPr algn="ctr">
              <a:lnSpc>
                <a:spcPct val="100000"/>
              </a:lnSpc>
              <a:buNone/>
              <a:defRPr sz="3600" b="1" i="0">
                <a:solidFill>
                  <a:srgbClr val="075AA7"/>
                </a:solidFill>
                <a:latin typeface="Cambria" panose="02040503050406030204"/>
                <a:ea typeface="Cambria" panose="02040503050406030204"/>
                <a:cs typeface="Cambria" panose="02040503050406030204"/>
              </a:defRPr>
            </a:pPr>
            <a:r>
              <a:rPr sz="3600" b="1" i="0">
                <a:solidFill>
                  <a:srgbClr val="075AA7"/>
                </a:solidFill>
                <a:latin typeface="Cambria" panose="02040503050406030204"/>
                <a:ea typeface="Cambria" panose="02040503050406030204"/>
                <a:cs typeface="Cambria" panose="02040503050406030204"/>
              </a:rPr>
              <a:t>27</a:t>
            </a:r>
            <a:endParaRPr sz="3600" b="1" i="0">
              <a:solidFill>
                <a:srgbClr val="075AA7"/>
              </a:solidFill>
              <a:latin typeface="Cambria" panose="02040503050406030204"/>
              <a:ea typeface="Cambria" panose="02040503050406030204"/>
              <a:cs typeface="Cambria" panose="02040503050406030204"/>
            </a:endParaRPr>
          </a:p>
        </p:txBody>
      </p:sp>
      <p:sp>
        <p:nvSpPr>
          <p:cNvPr id="5" name="Rectangle 4"/>
          <p:cNvSpPr>
            <a:spLocks noGrp="1"/>
          </p:cNvSpPr>
          <p:nvPr/>
        </p:nvSpPr>
        <p:spPr>
          <a:xfrm>
            <a:off x="3505200" y="1619250"/>
            <a:ext cx="2286000" cy="323850"/>
          </a:xfrm>
          <a:prstGeom prst="rect">
            <a:avLst/>
          </a:prstGeom>
          <a:noFill/>
          <a:ln w="0">
            <a:noFill/>
          </a:ln>
        </p:spPr>
        <p:txBody>
          <a:bodyPr wrap="square" lIns="38100" tIns="19050" rIns="38100" bIns="19050" anchor="ctr">
            <a:normAutofit/>
          </a:bodyPr>
          <a:lstStyle/>
          <a:p>
            <a:pPr algn="ctr">
              <a:lnSpc>
                <a:spcPct val="100000"/>
              </a:lnSpc>
              <a:buNone/>
              <a:defRPr sz="1350" b="1" i="0">
                <a:solidFill>
                  <a:srgbClr val="17212B"/>
                </a:solidFill>
                <a:latin typeface="Cambria" panose="02040503050406030204"/>
                <a:ea typeface="Cambria" panose="02040503050406030204"/>
                <a:cs typeface="Cambria" panose="02040503050406030204"/>
              </a:defRPr>
            </a:pPr>
            <a:r>
              <a:rPr sz="1350" b="1" i="0">
                <a:solidFill>
                  <a:srgbClr val="17212B"/>
                </a:solidFill>
                <a:latin typeface="Cambria" panose="02040503050406030204"/>
                <a:ea typeface="Cambria" panose="02040503050406030204"/>
                <a:cs typeface="Cambria" panose="02040503050406030204"/>
              </a:rPr>
              <a:t>backend controllers</a:t>
            </a:r>
            <a:endParaRPr sz="1350" b="1" i="0">
              <a:solidFill>
                <a:srgbClr val="17212B"/>
              </a:solidFill>
              <a:latin typeface="Cambria" panose="02040503050406030204"/>
              <a:ea typeface="Cambria" panose="02040503050406030204"/>
              <a:cs typeface="Cambria" panose="02040503050406030204"/>
            </a:endParaRPr>
          </a:p>
        </p:txBody>
      </p:sp>
      <p:sp>
        <p:nvSpPr>
          <p:cNvPr id="6" name="Rectangle 5"/>
          <p:cNvSpPr>
            <a:spLocks noGrp="1"/>
          </p:cNvSpPr>
          <p:nvPr/>
        </p:nvSpPr>
        <p:spPr>
          <a:xfrm>
            <a:off x="6286500" y="1000125"/>
            <a:ext cx="2286000" cy="647700"/>
          </a:xfrm>
          <a:prstGeom prst="rect">
            <a:avLst/>
          </a:prstGeom>
          <a:noFill/>
          <a:ln w="0">
            <a:noFill/>
          </a:ln>
        </p:spPr>
        <p:txBody>
          <a:bodyPr wrap="square" lIns="38100" tIns="19050" rIns="38100" bIns="19050" anchor="ctr">
            <a:normAutofit/>
          </a:bodyPr>
          <a:lstStyle/>
          <a:p>
            <a:pPr algn="ctr">
              <a:lnSpc>
                <a:spcPct val="100000"/>
              </a:lnSpc>
              <a:buNone/>
              <a:defRPr sz="3600" b="1" i="0">
                <a:solidFill>
                  <a:srgbClr val="E87518"/>
                </a:solidFill>
                <a:latin typeface="Cambria" panose="02040503050406030204"/>
                <a:ea typeface="Cambria" panose="02040503050406030204"/>
                <a:cs typeface="Cambria" panose="02040503050406030204"/>
              </a:defRPr>
            </a:pPr>
            <a:r>
              <a:rPr sz="3600" b="1" i="0">
                <a:solidFill>
                  <a:srgbClr val="E87518"/>
                </a:solidFill>
                <a:latin typeface="Cambria" panose="02040503050406030204"/>
                <a:ea typeface="Cambria" panose="02040503050406030204"/>
                <a:cs typeface="Cambria" panose="02040503050406030204"/>
              </a:rPr>
              <a:t>66</a:t>
            </a:r>
            <a:endParaRPr sz="3600" b="1" i="0">
              <a:solidFill>
                <a:srgbClr val="E87518"/>
              </a:solidFill>
              <a:latin typeface="Cambria" panose="02040503050406030204"/>
              <a:ea typeface="Cambria" panose="02040503050406030204"/>
              <a:cs typeface="Cambria" panose="02040503050406030204"/>
            </a:endParaRPr>
          </a:p>
        </p:txBody>
      </p:sp>
      <p:sp>
        <p:nvSpPr>
          <p:cNvPr id="7" name="Rectangle 6"/>
          <p:cNvSpPr>
            <a:spLocks noGrp="1"/>
          </p:cNvSpPr>
          <p:nvPr/>
        </p:nvSpPr>
        <p:spPr>
          <a:xfrm>
            <a:off x="6286500" y="1619250"/>
            <a:ext cx="2286000" cy="323850"/>
          </a:xfrm>
          <a:prstGeom prst="rect">
            <a:avLst/>
          </a:prstGeom>
          <a:noFill/>
          <a:ln w="0">
            <a:noFill/>
          </a:ln>
        </p:spPr>
        <p:txBody>
          <a:bodyPr wrap="square" lIns="38100" tIns="19050" rIns="38100" bIns="19050" anchor="ctr">
            <a:normAutofit/>
          </a:bodyPr>
          <a:lstStyle/>
          <a:p>
            <a:pPr algn="ctr">
              <a:lnSpc>
                <a:spcPct val="100000"/>
              </a:lnSpc>
              <a:buNone/>
              <a:defRPr sz="1350" b="1" i="0">
                <a:solidFill>
                  <a:srgbClr val="17212B"/>
                </a:solidFill>
                <a:latin typeface="Cambria" panose="02040503050406030204"/>
                <a:ea typeface="Cambria" panose="02040503050406030204"/>
                <a:cs typeface="Cambria" panose="02040503050406030204"/>
              </a:defRPr>
            </a:pPr>
            <a:r>
              <a:rPr sz="1350" b="1" i="0">
                <a:solidFill>
                  <a:srgbClr val="17212B"/>
                </a:solidFill>
                <a:latin typeface="Cambria" panose="02040503050406030204"/>
                <a:ea typeface="Cambria" panose="02040503050406030204"/>
                <a:cs typeface="Cambria" panose="02040503050406030204"/>
              </a:rPr>
              <a:t>Prisma models</a:t>
            </a:r>
            <a:endParaRPr sz="1350" b="1" i="0">
              <a:solidFill>
                <a:srgbClr val="17212B"/>
              </a:solidFill>
              <a:latin typeface="Cambria" panose="02040503050406030204"/>
              <a:ea typeface="Cambria" panose="02040503050406030204"/>
              <a:cs typeface="Cambria" panose="02040503050406030204"/>
            </a:endParaRPr>
          </a:p>
        </p:txBody>
      </p:sp>
      <p:sp>
        <p:nvSpPr>
          <p:cNvPr id="8" name="Rectangle 7"/>
          <p:cNvSpPr>
            <a:spLocks noGrp="1"/>
          </p:cNvSpPr>
          <p:nvPr/>
        </p:nvSpPr>
        <p:spPr>
          <a:xfrm>
            <a:off x="9067800" y="1000125"/>
            <a:ext cx="2286000" cy="647700"/>
          </a:xfrm>
          <a:prstGeom prst="rect">
            <a:avLst/>
          </a:prstGeom>
          <a:noFill/>
          <a:ln w="0">
            <a:noFill/>
          </a:ln>
        </p:spPr>
        <p:txBody>
          <a:bodyPr wrap="square" lIns="38100" tIns="19050" rIns="38100" bIns="19050" anchor="ctr">
            <a:normAutofit/>
          </a:bodyPr>
          <a:lstStyle/>
          <a:p>
            <a:pPr algn="ctr">
              <a:lnSpc>
                <a:spcPct val="100000"/>
              </a:lnSpc>
              <a:buNone/>
              <a:defRPr sz="3600" b="1" i="0">
                <a:solidFill>
                  <a:srgbClr val="E00000"/>
                </a:solidFill>
                <a:latin typeface="Cambria" panose="02040503050406030204"/>
                <a:ea typeface="Cambria" panose="02040503050406030204"/>
                <a:cs typeface="Cambria" panose="02040503050406030204"/>
              </a:defRPr>
            </a:pPr>
            <a:r>
              <a:rPr sz="3600" b="1" i="0">
                <a:solidFill>
                  <a:srgbClr val="E00000"/>
                </a:solidFill>
                <a:latin typeface="Cambria" panose="02040503050406030204"/>
                <a:ea typeface="Cambria" panose="02040503050406030204"/>
                <a:cs typeface="Cambria" panose="02040503050406030204"/>
              </a:rPr>
              <a:t>170</a:t>
            </a:r>
            <a:endParaRPr sz="3600" b="1" i="0">
              <a:solidFill>
                <a:srgbClr val="E00000"/>
              </a:solidFill>
              <a:latin typeface="Cambria" panose="02040503050406030204"/>
              <a:ea typeface="Cambria" panose="02040503050406030204"/>
              <a:cs typeface="Cambria" panose="02040503050406030204"/>
            </a:endParaRPr>
          </a:p>
        </p:txBody>
      </p:sp>
      <p:sp>
        <p:nvSpPr>
          <p:cNvPr id="9" name="Rectangle 8"/>
          <p:cNvSpPr>
            <a:spLocks noGrp="1"/>
          </p:cNvSpPr>
          <p:nvPr/>
        </p:nvSpPr>
        <p:spPr>
          <a:xfrm>
            <a:off x="9067800" y="1619250"/>
            <a:ext cx="2286000" cy="323850"/>
          </a:xfrm>
          <a:prstGeom prst="rect">
            <a:avLst/>
          </a:prstGeom>
          <a:noFill/>
          <a:ln w="0">
            <a:noFill/>
          </a:ln>
        </p:spPr>
        <p:txBody>
          <a:bodyPr wrap="square" lIns="38100" tIns="19050" rIns="38100" bIns="19050" anchor="ctr">
            <a:normAutofit/>
          </a:bodyPr>
          <a:lstStyle/>
          <a:p>
            <a:pPr algn="ctr">
              <a:lnSpc>
                <a:spcPct val="100000"/>
              </a:lnSpc>
              <a:buNone/>
              <a:defRPr sz="1350" b="1" i="0">
                <a:solidFill>
                  <a:srgbClr val="17212B"/>
                </a:solidFill>
                <a:latin typeface="Cambria" panose="02040503050406030204"/>
                <a:ea typeface="Cambria" panose="02040503050406030204"/>
                <a:cs typeface="Cambria" panose="02040503050406030204"/>
              </a:defRPr>
            </a:pPr>
            <a:r>
              <a:rPr sz="1350" b="1" i="0">
                <a:solidFill>
                  <a:srgbClr val="17212B"/>
                </a:solidFill>
                <a:latin typeface="Cambria" panose="02040503050406030204"/>
                <a:ea typeface="Cambria" panose="02040503050406030204"/>
                <a:cs typeface="Cambria" panose="02040503050406030204"/>
              </a:rPr>
              <a:t>tests đạt</a:t>
            </a:r>
            <a:endParaRPr sz="1350" b="1" i="0">
              <a:solidFill>
                <a:srgbClr val="17212B"/>
              </a:solidFill>
              <a:latin typeface="Cambria" panose="02040503050406030204"/>
              <a:ea typeface="Cambria" panose="02040503050406030204"/>
              <a:cs typeface="Cambria" panose="02040503050406030204"/>
            </a:endParaRPr>
          </a:p>
        </p:txBody>
      </p:sp>
      <p:graphicFrame>
        <p:nvGraphicFramePr>
          <p:cNvPr id="23" name="Table 22"/>
          <p:cNvGraphicFramePr/>
          <p:nvPr/>
        </p:nvGraphicFramePr>
        <p:xfrm>
          <a:off x="495300" y="2190750"/>
          <a:ext cx="11201400" cy="3429000"/>
        </p:xfrm>
        <a:graphic>
          <a:graphicData uri="http://schemas.openxmlformats.org/drawingml/2006/table">
            <a:tbl>
              <a:tblPr/>
              <a:tblGrid>
                <a:gridCol w="2000250"/>
                <a:gridCol w="4572000"/>
                <a:gridCol w="4629150"/>
              </a:tblGrid>
              <a:tr h="457200">
                <a:tc>
                  <a:txBody>
                    <a:bodyPr/>
                    <a:lstStyle/>
                    <a:p>
                      <a:r>
                        <a:t>LỚP</a:t>
                      </a:r>
                    </a:p>
                  </a:txBody>
                  <a:tcPr/>
                </a:tc>
                <a:tc>
                  <a:txBody>
                    <a:bodyPr/>
                    <a:lstStyle/>
                    <a:p>
                      <a:r>
                        <a:t>BẰNG CHỨNG ĐÃ CÓ</a:t>
                      </a:r>
                    </a:p>
                  </a:txBody>
                  <a:tcPr/>
                </a:tc>
                <a:tc>
                  <a:txBody>
                    <a:bodyPr/>
                    <a:lstStyle/>
                    <a:p>
                      <a:r>
                        <a:t>NHẬN ĐỊNH TIẾN ĐỘ</a:t>
                      </a:r>
                    </a:p>
                  </a:txBody>
                  <a:tcPr/>
                </a:tc>
              </a:tr>
              <a:tr h="590550">
                <a:tc>
                  <a:txBody>
                    <a:bodyPr/>
                    <a:lstStyle/>
                    <a:p>
                      <a:r>
                        <a:t>Web</a:t>
                      </a:r>
                    </a:p>
                  </a:txBody>
                  <a:tcPr/>
                </a:tc>
                <a:tc>
                  <a:txBody>
                    <a:bodyPr/>
                    <a:lstStyle/>
                    <a:p>
                      <a:r>
                        <a:t>Bao phủ module A–K, 70 trang chức năng</a:t>
                      </a:r>
                    </a:p>
                  </a:txBody>
                  <a:tcPr/>
                </a:tc>
                <a:tc>
                  <a:txBody>
                    <a:bodyPr/>
                    <a:lstStyle/>
                    <a:p>
                      <a:r>
                        <a:t>Giao diện rộng, tích hợp API chưa khép kín</a:t>
                      </a:r>
                    </a:p>
                  </a:txBody>
                  <a:tcPr/>
                </a:tc>
              </a:tr>
              <a:tr h="590550">
                <a:tc>
                  <a:txBody>
                    <a:bodyPr/>
                    <a:lstStyle/>
                    <a:p>
                      <a:r>
                        <a:t>Backend</a:t>
                      </a:r>
                    </a:p>
                  </a:txBody>
                  <a:tcPr/>
                </a:tc>
                <a:tc>
                  <a:txBody>
                    <a:bodyPr/>
                    <a:lstStyle/>
                    <a:p>
                      <a:r>
                        <a:t>27 controller, 28 service, transaction ở nhiều luồng</a:t>
                      </a:r>
                    </a:p>
                  </a:txBody>
                  <a:tcPr/>
                </a:tc>
                <a:tc>
                  <a:txBody>
                    <a:bodyPr/>
                    <a:lstStyle/>
                    <a:p>
                      <a:r>
                        <a:t>Mô hình nghiệp vụ đã đi khá sâu</a:t>
                      </a:r>
                    </a:p>
                  </a:txBody>
                  <a:tcPr/>
                </a:tc>
              </a:tr>
              <a:tr h="590550">
                <a:tc>
                  <a:txBody>
                    <a:bodyPr/>
                    <a:lstStyle/>
                    <a:p>
                      <a:r>
                        <a:t>Dữ liệu</a:t>
                      </a:r>
                    </a:p>
                  </a:txBody>
                  <a:tcPr/>
                </a:tc>
                <a:tc>
                  <a:txBody>
                    <a:bodyPr/>
                    <a:lstStyle/>
                    <a:p>
                      <a:r>
                        <a:t>66 model, 85 enum, 27 migration</a:t>
                      </a:r>
                    </a:p>
                  </a:txBody>
                  <a:tcPr/>
                </a:tc>
                <a:tc>
                  <a:txBody>
                    <a:bodyPr/>
                    <a:lstStyle/>
                    <a:p>
                      <a:r>
                        <a:t>Schema phong phú, mapping và backfill cần kiểm soát</a:t>
                      </a:r>
                    </a:p>
                  </a:txBody>
                  <a:tcPr/>
                </a:tc>
              </a:tr>
              <a:tr h="590550">
                <a:tc>
                  <a:txBody>
                    <a:bodyPr/>
                    <a:lstStyle/>
                    <a:p>
                      <a:r>
                        <a:t>Mobile</a:t>
                      </a:r>
                    </a:p>
                  </a:txBody>
                  <a:tcPr/>
                </a:tc>
                <a:tc>
                  <a:txBody>
                    <a:bodyPr/>
                    <a:lstStyle/>
                    <a:p>
                      <a:r>
                        <a:t>Nhận việc, GPS, ảnh, SOS, offline sync</a:t>
                      </a:r>
                    </a:p>
                  </a:txBody>
                  <a:tcPr/>
                </a:tc>
                <a:tc>
                  <a:txBody>
                    <a:bodyPr/>
                    <a:lstStyle/>
                    <a:p>
                      <a:r>
                        <a:t>Năng lực chính đã có, cần thống nhất backend</a:t>
                      </a:r>
                    </a:p>
                  </a:txBody>
                  <a:tcPr/>
                </a:tc>
              </a:tr>
              <a:tr h="590550">
                <a:tc>
                  <a:txBody>
                    <a:bodyPr/>
                    <a:lstStyle/>
                    <a:p>
                      <a:r>
                        <a:t>Phát hành</a:t>
                      </a:r>
                    </a:p>
                  </a:txBody>
                  <a:tcPr/>
                </a:tc>
                <a:tc>
                  <a:txBody>
                    <a:bodyPr/>
                    <a:lstStyle/>
                    <a:p>
                      <a:r>
                        <a:t>170 test đạt và từng lớp build được</a:t>
                      </a:r>
                    </a:p>
                  </a:txBody>
                  <a:tcPr/>
                </a:tc>
                <a:tc>
                  <a:txBody>
                    <a:bodyPr/>
                    <a:lstStyle/>
                    <a:p>
                      <a:r>
                        <a:t>Chưa chốt baseline production và CI</a:t>
                      </a:r>
                    </a:p>
                  </a:txBody>
                  <a:tcPr/>
                </a:tc>
              </a:tr>
            </a:tbl>
          </a:graphicData>
        </a:graphic>
      </p:graphicFrame>
      <p:sp>
        <p:nvSpPr>
          <p:cNvPr id="11" name="Rectangle 10"/>
          <p:cNvSpPr>
            <a:spLocks noGrp="1"/>
          </p:cNvSpPr>
          <p:nvPr/>
        </p:nvSpPr>
        <p:spPr>
          <a:xfrm>
            <a:off x="714375" y="5857875"/>
            <a:ext cx="10763250" cy="342900"/>
          </a:xfrm>
          <a:prstGeom prst="rect">
            <a:avLst/>
          </a:prstGeom>
          <a:noFill/>
          <a:ln w="0">
            <a:noFill/>
          </a:ln>
        </p:spPr>
        <p:txBody>
          <a:bodyPr wrap="square" lIns="38100" tIns="19050" rIns="38100" bIns="19050" anchor="t">
            <a:normAutofit/>
          </a:bodyPr>
          <a:lstStyle/>
          <a:p>
            <a:pPr algn="ctr">
              <a:lnSpc>
                <a:spcPct val="100000"/>
              </a:lnSpc>
              <a:buNone/>
              <a:defRPr sz="1275" b="0" i="1">
                <a:solidFill>
                  <a:srgbClr val="59636E"/>
                </a:solidFill>
                <a:latin typeface="Cambria" panose="02040503050406030204"/>
                <a:ea typeface="Cambria" panose="02040503050406030204"/>
                <a:cs typeface="Cambria" panose="02040503050406030204"/>
              </a:defRPr>
            </a:pPr>
            <a:r>
              <a:rPr sz="1275" b="0" i="1">
                <a:solidFill>
                  <a:srgbClr val="59636E"/>
                </a:solidFill>
                <a:latin typeface="Cambria" panose="02040503050406030204"/>
                <a:ea typeface="Cambria" panose="02040503050406030204"/>
                <a:cs typeface="Cambria" panose="02040503050406030204"/>
              </a:rPr>
              <a:t>Không dùng phần trăm hoàn thành vì repository chưa có tiêu chí nghiệm thu chung cho từng module.</a:t>
            </a:r>
            <a:endParaRPr sz="1275" b="0" i="1">
              <a:solidFill>
                <a:srgbClr val="59636E"/>
              </a:solidFill>
              <a:latin typeface="Cambria" panose="02040503050406030204"/>
              <a:ea typeface="Cambria" panose="02040503050406030204"/>
              <a:cs typeface="Cambria" panose="02040503050406030204"/>
            </a:endParaRPr>
          </a:p>
        </p:txBody>
      </p:sp>
      <p:sp>
        <p:nvSpPr>
          <p:cNvPr id="12" name="Rectangle 11"/>
          <p:cNvSpPr>
            <a:spLocks noGrp="1"/>
          </p:cNvSpPr>
          <p:nvPr/>
        </p:nvSpPr>
        <p:spPr>
          <a:xfrm>
            <a:off x="266700" y="6534150"/>
            <a:ext cx="7429500" cy="190500"/>
          </a:xfrm>
          <a:prstGeom prst="rect">
            <a:avLst/>
          </a:prstGeom>
          <a:noFill/>
          <a:ln w="0">
            <a:noFill/>
          </a:ln>
        </p:spPr>
        <p:txBody>
          <a:bodyPr wrap="square" lIns="38100" tIns="19050" rIns="38100" bIns="19050" anchor="ctr">
            <a:normAutofit/>
          </a:bodyPr>
          <a:lstStyle/>
          <a:p>
            <a:pPr algn="l">
              <a:lnSpc>
                <a:spcPct val="100000"/>
              </a:lnSpc>
              <a:buNone/>
              <a:defRPr sz="825" b="0" i="1">
                <a:solidFill>
                  <a:srgbClr val="8A8F93"/>
                </a:solidFill>
                <a:latin typeface="Cambria" panose="02040503050406030204"/>
                <a:ea typeface="Cambria" panose="02040503050406030204"/>
                <a:cs typeface="Cambria" panose="02040503050406030204"/>
              </a:defRPr>
            </a:pPr>
            <a:r>
              <a:rPr sz="825" b="0" i="1">
                <a:solidFill>
                  <a:srgbClr val="8A8F93"/>
                </a:solidFill>
                <a:latin typeface="Cambria" panose="02040503050406030204"/>
                <a:ea typeface="Cambria" panose="02040503050406030204"/>
                <a:cs typeface="Cambria" panose="02040503050406030204"/>
              </a:rPr>
              <a:t>Giới thiệu phần mềm và tiến độ phát triển | THACO AGRI Fleet | 21/09/2026</a:t>
            </a:r>
            <a:endParaRPr sz="825" b="0" i="1">
              <a:solidFill>
                <a:srgbClr val="8A8F93"/>
              </a:solidFill>
              <a:latin typeface="Cambria" panose="02040503050406030204"/>
              <a:ea typeface="Cambria" panose="02040503050406030204"/>
              <a:cs typeface="Cambria" panose="02040503050406030204"/>
            </a:endParaRPr>
          </a:p>
        </p:txBody>
      </p:sp>
      <p:sp>
        <p:nvSpPr>
          <p:cNvPr id="13" name="Rectangle 12"/>
          <p:cNvSpPr>
            <a:spLocks noGrp="1"/>
          </p:cNvSpPr>
          <p:nvPr/>
        </p:nvSpPr>
        <p:spPr>
          <a:xfrm>
            <a:off x="11658600" y="6534150"/>
            <a:ext cx="228600" cy="190500"/>
          </a:xfrm>
          <a:prstGeom prst="rect">
            <a:avLst/>
          </a:prstGeom>
          <a:noFill/>
          <a:ln w="0">
            <a:noFill/>
          </a:ln>
        </p:spPr>
        <p:txBody>
          <a:bodyPr wrap="square" lIns="38100" tIns="19050" rIns="38100" bIns="19050" anchor="ctr">
            <a:normAutofit/>
          </a:bodyPr>
          <a:lstStyle/>
          <a:p>
            <a:pPr algn="r">
              <a:lnSpc>
                <a:spcPct val="100000"/>
              </a:lnSpc>
              <a:buNone/>
              <a:defRPr sz="825" b="0" i="0">
                <a:solidFill>
                  <a:srgbClr val="8A8F93"/>
                </a:solidFill>
                <a:latin typeface="Cambria" panose="02040503050406030204"/>
                <a:ea typeface="Cambria" panose="02040503050406030204"/>
                <a:cs typeface="Cambria" panose="02040503050406030204"/>
              </a:defRPr>
            </a:pPr>
            <a:r>
              <a:rPr sz="825" b="0" i="0">
                <a:solidFill>
                  <a:srgbClr val="8A8F93"/>
                </a:solidFill>
                <a:latin typeface="Cambria" panose="02040503050406030204"/>
                <a:ea typeface="Cambria" panose="02040503050406030204"/>
                <a:cs typeface="Cambria" panose="02040503050406030204"/>
              </a:rPr>
              <a:t>23</a:t>
            </a:r>
            <a:endParaRPr sz="825" b="0" i="0">
              <a:solidFill>
                <a:srgbClr val="8A8F93"/>
              </a:solidFill>
              <a:latin typeface="Cambria" panose="02040503050406030204"/>
              <a:ea typeface="Cambria" panose="02040503050406030204"/>
              <a:cs typeface="Cambria" panose="020405030504060302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4" name="Image 0"/>
          <p:cNvPicPr>
            <a:picLocks noChangeAspect="1"/>
          </p:cNvPicPr>
          <p:nvPr/>
        </p:nvPicPr>
        <p:blipFill>
          <a:blip r:embed="rId1"/>
          <a:stretch>
            <a:fillRect/>
          </a:stretch>
        </p:blipFill>
        <p:spPr>
          <a:xfrm>
            <a:off x="0" y="0"/>
            <a:ext cx="12191695" cy="6858000"/>
          </a:xfrm>
          <a:prstGeom prst="rect">
            <a:avLst/>
          </a:prstGeom>
        </p:spPr>
      </p:pic>
      <p:sp>
        <p:nvSpPr>
          <p:cNvPr id="49" name="slide-title"/>
          <p:cNvSpPr>
            <a:spLocks noGrp="1"/>
          </p:cNvSpPr>
          <p:nvPr/>
        </p:nvSpPr>
        <p:spPr>
          <a:xfrm>
            <a:off x="2571750" y="142875"/>
            <a:ext cx="9191625" cy="590550"/>
          </a:xfrm>
          <a:prstGeom prst="rect">
            <a:avLst/>
          </a:prstGeom>
          <a:noFill/>
          <a:ln w="0">
            <a:noFill/>
          </a:ln>
        </p:spPr>
        <p:txBody>
          <a:bodyPr wrap="square" lIns="38100" tIns="19050" rIns="38100" bIns="19050" anchor="ctr">
            <a:normAutofit/>
          </a:bodyPr>
          <a:lstStyle/>
          <a:p>
            <a:pPr algn="ctr">
              <a:lnSpc>
                <a:spcPct val="100000"/>
              </a:lnSpc>
              <a:buNone/>
              <a:defRPr sz="2100" b="1" i="0">
                <a:solidFill>
                  <a:srgbClr val="E00000"/>
                </a:solidFill>
                <a:latin typeface="Cambria" panose="02040503050406030204"/>
                <a:ea typeface="Cambria" panose="02040503050406030204"/>
                <a:cs typeface="Cambria" panose="02040503050406030204"/>
              </a:defRPr>
            </a:pPr>
            <a:r>
              <a:rPr sz="2100" b="1" i="0">
                <a:solidFill>
                  <a:srgbClr val="E00000"/>
                </a:solidFill>
                <a:latin typeface="Cambria" panose="02040503050406030204"/>
                <a:ea typeface="Cambria" panose="02040503050406030204"/>
                <a:cs typeface="Cambria" panose="02040503050406030204"/>
              </a:rPr>
              <a:t>KẾT QUẢ KIỂM THỬ VÀ BUILD</a:t>
            </a:r>
            <a:endParaRPr sz="2100" b="1" i="0">
              <a:solidFill>
                <a:srgbClr val="E00000"/>
              </a:solidFill>
              <a:latin typeface="Cambria" panose="02040503050406030204"/>
              <a:ea typeface="Cambria" panose="02040503050406030204"/>
              <a:cs typeface="Cambria" panose="02040503050406030204"/>
            </a:endParaRPr>
          </a:p>
        </p:txBody>
      </p:sp>
      <p:graphicFrame>
        <p:nvGraphicFramePr>
          <p:cNvPr id="56" name="Table 55"/>
          <p:cNvGraphicFramePr/>
          <p:nvPr/>
        </p:nvGraphicFramePr>
        <p:xfrm>
          <a:off x="552450" y="1000125"/>
          <a:ext cx="11087100" cy="4810125"/>
        </p:xfrm>
        <a:graphic>
          <a:graphicData uri="http://schemas.openxmlformats.org/drawingml/2006/table">
            <a:tbl>
              <a:tblPr/>
              <a:tblGrid>
                <a:gridCol w="3238500"/>
                <a:gridCol w="2428875"/>
                <a:gridCol w="5419725"/>
              </a:tblGrid>
              <a:tr h="419100">
                <a:tc>
                  <a:txBody>
                    <a:bodyPr/>
                    <a:lstStyle/>
                    <a:p>
                      <a:r>
                        <a:t>HẠNG MỤC</a:t>
                      </a:r>
                    </a:p>
                  </a:txBody>
                  <a:tcPr/>
                </a:tc>
                <a:tc>
                  <a:txBody>
                    <a:bodyPr/>
                    <a:lstStyle/>
                    <a:p>
                      <a:r>
                        <a:t>KẾT QUẢ</a:t>
                      </a:r>
                    </a:p>
                  </a:txBody>
                  <a:tcPr/>
                </a:tc>
                <a:tc>
                  <a:txBody>
                    <a:bodyPr/>
                    <a:lstStyle/>
                    <a:p>
                      <a:r>
                        <a:t>GHI CHÚ</a:t>
                      </a:r>
                    </a:p>
                  </a:txBody>
                  <a:tcPr/>
                </a:tc>
              </a:tr>
              <a:tr h="485775">
                <a:tc>
                  <a:txBody>
                    <a:bodyPr/>
                    <a:lstStyle/>
                    <a:p>
                      <a:r>
                        <a:t>Backend Jest</a:t>
                      </a:r>
                    </a:p>
                  </a:txBody>
                  <a:tcPr/>
                </a:tc>
                <a:tc>
                  <a:txBody>
                    <a:bodyPr/>
                    <a:lstStyle/>
                    <a:p>
                      <a:pPr algn="ctr"/>
                      <a:r>
                        <a:rPr sz="1125" b="1">
                          <a:solidFill>
                            <a:srgbClr val="006B35"/>
                          </a:solidFill>
                          <a:latin typeface="Cambria" panose="02040503050406030204"/>
                          <a:ea typeface="Cambria" panose="02040503050406030204"/>
                          <a:cs typeface="Cambria" panose="02040503050406030204"/>
                        </a:rPr>
                        <a:t>ĐẠT</a:t>
                      </a:r>
                      <a:endParaRPr sz="1125" b="1">
                        <a:solidFill>
                          <a:srgbClr val="006B35"/>
                        </a:solidFill>
                        <a:latin typeface="Cambria" panose="02040503050406030204"/>
                        <a:ea typeface="Cambria" panose="02040503050406030204"/>
                        <a:cs typeface="Cambria" panose="02040503050406030204"/>
                      </a:endParaRPr>
                    </a:p>
                  </a:txBody>
                  <a:tcPr anchor="ctr">
                    <a:solidFill>
                      <a:srgbClr val="E6F4E3"/>
                    </a:solidFill>
                  </a:tcPr>
                </a:tc>
                <a:tc>
                  <a:txBody>
                    <a:bodyPr/>
                    <a:lstStyle/>
                    <a:p>
                      <a:r>
                        <a:t>31 suites, 129 tests</a:t>
                      </a:r>
                    </a:p>
                  </a:txBody>
                  <a:tcPr/>
                </a:tc>
              </a:tr>
              <a:tr h="485775">
                <a:tc>
                  <a:txBody>
                    <a:bodyPr/>
                    <a:lstStyle/>
                    <a:p>
                      <a:r>
                        <a:t>Frontend Vitest</a:t>
                      </a:r>
                    </a:p>
                  </a:txBody>
                  <a:tcPr/>
                </a:tc>
                <a:tc>
                  <a:txBody>
                    <a:bodyPr/>
                    <a:lstStyle/>
                    <a:p>
                      <a:pPr algn="ctr"/>
                      <a:r>
                        <a:rPr sz="1125" b="1">
                          <a:solidFill>
                            <a:srgbClr val="006B35"/>
                          </a:solidFill>
                          <a:latin typeface="Cambria" panose="02040503050406030204"/>
                          <a:ea typeface="Cambria" panose="02040503050406030204"/>
                          <a:cs typeface="Cambria" panose="02040503050406030204"/>
                        </a:rPr>
                        <a:t>ĐẠT</a:t>
                      </a:r>
                      <a:endParaRPr sz="1125" b="1">
                        <a:solidFill>
                          <a:srgbClr val="006B35"/>
                        </a:solidFill>
                        <a:latin typeface="Cambria" panose="02040503050406030204"/>
                        <a:ea typeface="Cambria" panose="02040503050406030204"/>
                        <a:cs typeface="Cambria" panose="02040503050406030204"/>
                      </a:endParaRPr>
                    </a:p>
                  </a:txBody>
                  <a:tcPr anchor="ctr">
                    <a:solidFill>
                      <a:srgbClr val="E6F4E3"/>
                    </a:solidFill>
                  </a:tcPr>
                </a:tc>
                <a:tc>
                  <a:txBody>
                    <a:bodyPr/>
                    <a:lstStyle/>
                    <a:p>
                      <a:r>
                        <a:t>13 files, 37 tests</a:t>
                      </a:r>
                    </a:p>
                  </a:txBody>
                  <a:tcPr/>
                </a:tc>
              </a:tr>
              <a:tr h="485775">
                <a:tc>
                  <a:txBody>
                    <a:bodyPr/>
                    <a:lstStyle/>
                    <a:p>
                      <a:r>
                        <a:t>Driver app Vitest</a:t>
                      </a:r>
                    </a:p>
                  </a:txBody>
                  <a:tcPr/>
                </a:tc>
                <a:tc>
                  <a:txBody>
                    <a:bodyPr/>
                    <a:lstStyle/>
                    <a:p>
                      <a:pPr algn="ctr"/>
                      <a:r>
                        <a:rPr sz="1125" b="1">
                          <a:solidFill>
                            <a:srgbClr val="006B35"/>
                          </a:solidFill>
                          <a:latin typeface="Cambria" panose="02040503050406030204"/>
                          <a:ea typeface="Cambria" panose="02040503050406030204"/>
                          <a:cs typeface="Cambria" panose="02040503050406030204"/>
                        </a:rPr>
                        <a:t>ĐẠT</a:t>
                      </a:r>
                      <a:endParaRPr sz="1125" b="1">
                        <a:solidFill>
                          <a:srgbClr val="006B35"/>
                        </a:solidFill>
                        <a:latin typeface="Cambria" panose="02040503050406030204"/>
                        <a:ea typeface="Cambria" panose="02040503050406030204"/>
                        <a:cs typeface="Cambria" panose="02040503050406030204"/>
                      </a:endParaRPr>
                    </a:p>
                  </a:txBody>
                  <a:tcPr anchor="ctr">
                    <a:solidFill>
                      <a:srgbClr val="E6F4E3"/>
                    </a:solidFill>
                  </a:tcPr>
                </a:tc>
                <a:tc>
                  <a:txBody>
                    <a:bodyPr/>
                    <a:lstStyle/>
                    <a:p>
                      <a:r>
                        <a:t>1 file, 4 tests</a:t>
                      </a:r>
                    </a:p>
                  </a:txBody>
                  <a:tcPr/>
                </a:tc>
              </a:tr>
              <a:tr h="485775">
                <a:tc>
                  <a:txBody>
                    <a:bodyPr/>
                    <a:lstStyle/>
                    <a:p>
                      <a:r>
                        <a:t>Prisma validate</a:t>
                      </a:r>
                    </a:p>
                  </a:txBody>
                  <a:tcPr/>
                </a:tc>
                <a:tc>
                  <a:txBody>
                    <a:bodyPr/>
                    <a:lstStyle/>
                    <a:p>
                      <a:pPr algn="ctr"/>
                      <a:r>
                        <a:rPr sz="1125" b="1">
                          <a:solidFill>
                            <a:srgbClr val="006B35"/>
                          </a:solidFill>
                          <a:latin typeface="Cambria" panose="02040503050406030204"/>
                          <a:ea typeface="Cambria" panose="02040503050406030204"/>
                          <a:cs typeface="Cambria" panose="02040503050406030204"/>
                        </a:rPr>
                        <a:t>ĐẠT</a:t>
                      </a:r>
                      <a:endParaRPr sz="1125" b="1">
                        <a:solidFill>
                          <a:srgbClr val="006B35"/>
                        </a:solidFill>
                        <a:latin typeface="Cambria" panose="02040503050406030204"/>
                        <a:ea typeface="Cambria" panose="02040503050406030204"/>
                        <a:cs typeface="Cambria" panose="02040503050406030204"/>
                      </a:endParaRPr>
                    </a:p>
                  </a:txBody>
                  <a:tcPr anchor="ctr">
                    <a:solidFill>
                      <a:srgbClr val="E6F4E3"/>
                    </a:solidFill>
                  </a:tcPr>
                </a:tc>
                <a:tc>
                  <a:txBody>
                    <a:bodyPr/>
                    <a:lstStyle/>
                    <a:p>
                      <a:r>
                        <a:t>Schema hợp lệ</a:t>
                      </a:r>
                    </a:p>
                  </a:txBody>
                  <a:tcPr/>
                </a:tc>
              </a:tr>
              <a:tr h="485775">
                <a:tc>
                  <a:txBody>
                    <a:bodyPr/>
                    <a:lstStyle/>
                    <a:p>
                      <a:r>
                        <a:t>Nest build chính</a:t>
                      </a:r>
                    </a:p>
                  </a:txBody>
                  <a:tcPr/>
                </a:tc>
                <a:tc>
                  <a:txBody>
                    <a:bodyPr/>
                    <a:lstStyle/>
                    <a:p>
                      <a:pPr algn="ctr"/>
                      <a:r>
                        <a:rPr sz="1125" b="1">
                          <a:solidFill>
                            <a:srgbClr val="006B35"/>
                          </a:solidFill>
                          <a:latin typeface="Cambria" panose="02040503050406030204"/>
                          <a:ea typeface="Cambria" panose="02040503050406030204"/>
                          <a:cs typeface="Cambria" panose="02040503050406030204"/>
                        </a:rPr>
                        <a:t>ĐẠT</a:t>
                      </a:r>
                      <a:endParaRPr sz="1125" b="1">
                        <a:solidFill>
                          <a:srgbClr val="006B35"/>
                        </a:solidFill>
                        <a:latin typeface="Cambria" panose="02040503050406030204"/>
                        <a:ea typeface="Cambria" panose="02040503050406030204"/>
                        <a:cs typeface="Cambria" panose="02040503050406030204"/>
                      </a:endParaRPr>
                    </a:p>
                  </a:txBody>
                  <a:tcPr anchor="ctr">
                    <a:solidFill>
                      <a:srgbClr val="E6F4E3"/>
                    </a:solidFill>
                  </a:tcPr>
                </a:tc>
                <a:tc>
                  <a:txBody>
                    <a:bodyPr/>
                    <a:lstStyle/>
                    <a:p>
                      <a:r>
                        <a:t>Build trực tiếp thành công</a:t>
                      </a:r>
                    </a:p>
                  </a:txBody>
                  <a:tcPr/>
                </a:tc>
              </a:tr>
              <a:tr h="485775">
                <a:tc>
                  <a:txBody>
                    <a:bodyPr/>
                    <a:lstStyle/>
                    <a:p>
                      <a:r>
                        <a:t>Web production build</a:t>
                      </a:r>
                    </a:p>
                  </a:txBody>
                  <a:tcPr/>
                </a:tc>
                <a:tc>
                  <a:txBody>
                    <a:bodyPr/>
                    <a:lstStyle/>
                    <a:p>
                      <a:pPr algn="ctr"/>
                      <a:r>
                        <a:rPr sz="1125" b="1">
                          <a:solidFill>
                            <a:srgbClr val="A95400"/>
                          </a:solidFill>
                          <a:latin typeface="Cambria" panose="02040503050406030204"/>
                          <a:ea typeface="Cambria" panose="02040503050406030204"/>
                          <a:cs typeface="Cambria" panose="02040503050406030204"/>
                        </a:rPr>
                        <a:t>ĐẠT CÓ CẢNH BÁO</a:t>
                      </a:r>
                      <a:endParaRPr sz="1125" b="1">
                        <a:solidFill>
                          <a:srgbClr val="A95400"/>
                        </a:solidFill>
                        <a:latin typeface="Cambria" panose="02040503050406030204"/>
                        <a:ea typeface="Cambria" panose="02040503050406030204"/>
                        <a:cs typeface="Cambria" panose="02040503050406030204"/>
                      </a:endParaRPr>
                    </a:p>
                  </a:txBody>
                  <a:tcPr anchor="ctr">
                    <a:solidFill>
                      <a:srgbClr val="FFF1D7"/>
                    </a:solidFill>
                  </a:tcPr>
                </a:tc>
                <a:tc>
                  <a:txBody>
                    <a:bodyPr/>
                    <a:lstStyle/>
                    <a:p>
                      <a:r>
                        <a:t>Main JS 3.39 MB, exceljs 0.94 MB</a:t>
                      </a:r>
                    </a:p>
                  </a:txBody>
                  <a:tcPr/>
                </a:tc>
              </a:tr>
              <a:tr h="485775">
                <a:tc>
                  <a:txBody>
                    <a:bodyPr/>
                    <a:lstStyle/>
                    <a:p>
                      <a:r>
                        <a:t>Driver app typecheck</a:t>
                      </a:r>
                    </a:p>
                  </a:txBody>
                  <a:tcPr/>
                </a:tc>
                <a:tc>
                  <a:txBody>
                    <a:bodyPr/>
                    <a:lstStyle/>
                    <a:p>
                      <a:pPr algn="ctr"/>
                      <a:r>
                        <a:rPr sz="1125" b="1">
                          <a:solidFill>
                            <a:srgbClr val="006B35"/>
                          </a:solidFill>
                          <a:latin typeface="Cambria" panose="02040503050406030204"/>
                          <a:ea typeface="Cambria" panose="02040503050406030204"/>
                          <a:cs typeface="Cambria" panose="02040503050406030204"/>
                        </a:rPr>
                        <a:t>ĐẠT</a:t>
                      </a:r>
                      <a:endParaRPr sz="1125" b="1">
                        <a:solidFill>
                          <a:srgbClr val="006B35"/>
                        </a:solidFill>
                        <a:latin typeface="Cambria" panose="02040503050406030204"/>
                        <a:ea typeface="Cambria" panose="02040503050406030204"/>
                        <a:cs typeface="Cambria" panose="02040503050406030204"/>
                      </a:endParaRPr>
                    </a:p>
                  </a:txBody>
                  <a:tcPr anchor="ctr">
                    <a:solidFill>
                      <a:srgbClr val="E6F4E3"/>
                    </a:solidFill>
                  </a:tcPr>
                </a:tc>
                <a:tc>
                  <a:txBody>
                    <a:bodyPr/>
                    <a:lstStyle/>
                    <a:p>
                      <a:r>
                        <a:t>tsc --noEmit</a:t>
                      </a:r>
                    </a:p>
                  </a:txBody>
                  <a:tcPr/>
                </a:tc>
              </a:tr>
              <a:tr h="485775">
                <a:tc>
                  <a:txBody>
                    <a:bodyPr/>
                    <a:lstStyle/>
                    <a:p>
                      <a:r>
                        <a:t>Driver backend build</a:t>
                      </a:r>
                    </a:p>
                  </a:txBody>
                  <a:tcPr/>
                </a:tc>
                <a:tc>
                  <a:txBody>
                    <a:bodyPr/>
                    <a:lstStyle/>
                    <a:p>
                      <a:pPr algn="ctr"/>
                      <a:r>
                        <a:rPr sz="1125" b="1">
                          <a:solidFill>
                            <a:srgbClr val="006B35"/>
                          </a:solidFill>
                          <a:latin typeface="Cambria" panose="02040503050406030204"/>
                          <a:ea typeface="Cambria" panose="02040503050406030204"/>
                          <a:cs typeface="Cambria" panose="02040503050406030204"/>
                        </a:rPr>
                        <a:t>ĐẠT</a:t>
                      </a:r>
                      <a:endParaRPr sz="1125" b="1">
                        <a:solidFill>
                          <a:srgbClr val="006B35"/>
                        </a:solidFill>
                        <a:latin typeface="Cambria" panose="02040503050406030204"/>
                        <a:ea typeface="Cambria" panose="02040503050406030204"/>
                        <a:cs typeface="Cambria" panose="02040503050406030204"/>
                      </a:endParaRPr>
                    </a:p>
                  </a:txBody>
                  <a:tcPr anchor="ctr">
                    <a:solidFill>
                      <a:srgbClr val="E6F4E3"/>
                    </a:solidFill>
                  </a:tcPr>
                </a:tc>
                <a:tc>
                  <a:txBody>
                    <a:bodyPr/>
                    <a:lstStyle/>
                    <a:p>
                      <a:r>
                        <a:t>Nest build thành công</a:t>
                      </a:r>
                    </a:p>
                  </a:txBody>
                  <a:tcPr/>
                </a:tc>
              </a:tr>
              <a:tr h="485775">
                <a:tc>
                  <a:txBody>
                    <a:bodyPr/>
                    <a:lstStyle/>
                    <a:p>
                      <a:r>
                        <a:t>Root npm run build</a:t>
                      </a:r>
                    </a:p>
                  </a:txBody>
                  <a:tcPr/>
                </a:tc>
                <a:tc>
                  <a:txBody>
                    <a:bodyPr/>
                    <a:lstStyle/>
                    <a:p>
                      <a:pPr algn="ctr"/>
                      <a:r>
                        <a:rPr sz="1125" b="1">
                          <a:solidFill>
                            <a:srgbClr val="E00000"/>
                          </a:solidFill>
                          <a:latin typeface="Cambria" panose="02040503050406030204"/>
                          <a:ea typeface="Cambria" panose="02040503050406030204"/>
                          <a:cs typeface="Cambria" panose="02040503050406030204"/>
                        </a:rPr>
                        <a:t>CHƯA ĐẠT</a:t>
                      </a:r>
                      <a:endParaRPr sz="1125" b="1">
                        <a:solidFill>
                          <a:srgbClr val="E00000"/>
                        </a:solidFill>
                        <a:latin typeface="Cambria" panose="02040503050406030204"/>
                        <a:ea typeface="Cambria" panose="02040503050406030204"/>
                        <a:cs typeface="Cambria" panose="02040503050406030204"/>
                      </a:endParaRPr>
                    </a:p>
                  </a:txBody>
                  <a:tcPr anchor="ctr">
                    <a:solidFill>
                      <a:srgbClr val="FFE4E4"/>
                    </a:solidFill>
                  </a:tcPr>
                </a:tc>
                <a:tc>
                  <a:txBody>
                    <a:bodyPr/>
                    <a:lstStyle/>
                    <a:p>
                      <a:r>
                        <a:t>prisma generate bị khóa DLL trên Windows</a:t>
                      </a:r>
                    </a:p>
                  </a:txBody>
                  <a:tcPr/>
                </a:tc>
              </a:tr>
            </a:tbl>
          </a:graphicData>
        </a:graphic>
      </p:graphicFrame>
      <p:sp>
        <p:nvSpPr>
          <p:cNvPr id="51" name="Rectangle 50"/>
          <p:cNvSpPr>
            <a:spLocks noGrp="1"/>
          </p:cNvSpPr>
          <p:nvPr/>
        </p:nvSpPr>
        <p:spPr>
          <a:xfrm>
            <a:off x="666750" y="5953125"/>
            <a:ext cx="10858500" cy="400050"/>
          </a:xfrm>
          <a:prstGeom prst="rect">
            <a:avLst/>
          </a:prstGeom>
          <a:noFill/>
          <a:ln w="0">
            <a:noFill/>
          </a:ln>
        </p:spPr>
        <p:txBody>
          <a:bodyPr wrap="square" lIns="38100" tIns="19050" rIns="38100" bIns="19050" anchor="ctr">
            <a:normAutofit/>
          </a:bodyPr>
          <a:lstStyle/>
          <a:p>
            <a:pPr algn="ctr">
              <a:lnSpc>
                <a:spcPct val="100000"/>
              </a:lnSpc>
              <a:buNone/>
              <a:defRPr sz="1350" b="0" i="1">
                <a:solidFill>
                  <a:srgbClr val="59636E"/>
                </a:solidFill>
                <a:latin typeface="Cambria" panose="02040503050406030204"/>
                <a:ea typeface="Cambria" panose="02040503050406030204"/>
                <a:cs typeface="Cambria" panose="02040503050406030204"/>
              </a:defRPr>
            </a:pPr>
            <a:r>
              <a:rPr sz="1350" b="0" i="1">
                <a:solidFill>
                  <a:srgbClr val="59636E"/>
                </a:solidFill>
                <a:latin typeface="Cambria" panose="02040503050406030204"/>
                <a:ea typeface="Cambria" panose="02040503050406030204"/>
                <a:cs typeface="Cambria" panose="02040503050406030204"/>
              </a:rPr>
              <a:t>Mã nguồn biên dịch được khi tách bước generate Prisma. Quy trình build tổng cần xử lý khóa tiến trình và chuẩn hóa CI.</a:t>
            </a:r>
            <a:endParaRPr sz="1350" b="0" i="1">
              <a:solidFill>
                <a:srgbClr val="59636E"/>
              </a:solidFill>
              <a:latin typeface="Cambria" panose="02040503050406030204"/>
              <a:ea typeface="Cambria" panose="02040503050406030204"/>
              <a:cs typeface="Cambria" panose="02040503050406030204"/>
            </a:endParaRPr>
          </a:p>
        </p:txBody>
      </p:sp>
      <p:sp>
        <p:nvSpPr>
          <p:cNvPr id="52" name="Rectangle 51"/>
          <p:cNvSpPr>
            <a:spLocks noGrp="1"/>
          </p:cNvSpPr>
          <p:nvPr/>
        </p:nvSpPr>
        <p:spPr>
          <a:xfrm>
            <a:off x="266700" y="6534150"/>
            <a:ext cx="7429500" cy="190500"/>
          </a:xfrm>
          <a:prstGeom prst="rect">
            <a:avLst/>
          </a:prstGeom>
          <a:noFill/>
          <a:ln w="0">
            <a:noFill/>
          </a:ln>
        </p:spPr>
        <p:txBody>
          <a:bodyPr wrap="square" lIns="38100" tIns="19050" rIns="38100" bIns="19050" anchor="ctr">
            <a:normAutofit/>
          </a:bodyPr>
          <a:lstStyle/>
          <a:p>
            <a:pPr algn="l">
              <a:lnSpc>
                <a:spcPct val="100000"/>
              </a:lnSpc>
              <a:buNone/>
              <a:defRPr sz="825" b="0" i="1">
                <a:solidFill>
                  <a:srgbClr val="8A8F93"/>
                </a:solidFill>
                <a:latin typeface="Cambria" panose="02040503050406030204"/>
                <a:ea typeface="Cambria" panose="02040503050406030204"/>
                <a:cs typeface="Cambria" panose="02040503050406030204"/>
              </a:defRPr>
            </a:pPr>
            <a:r>
              <a:rPr sz="825" b="0" i="1">
                <a:solidFill>
                  <a:srgbClr val="8A8F93"/>
                </a:solidFill>
                <a:latin typeface="Cambria" panose="02040503050406030204"/>
                <a:ea typeface="Cambria" panose="02040503050406030204"/>
                <a:cs typeface="Cambria" panose="02040503050406030204"/>
              </a:rPr>
              <a:t>Giới thiệu phần mềm và tiến độ phát triển | THACO AGRI Fleet | 21/09/2026</a:t>
            </a:r>
            <a:endParaRPr sz="825" b="0" i="1">
              <a:solidFill>
                <a:srgbClr val="8A8F93"/>
              </a:solidFill>
              <a:latin typeface="Cambria" panose="02040503050406030204"/>
              <a:ea typeface="Cambria" panose="02040503050406030204"/>
              <a:cs typeface="Cambria" panose="02040503050406030204"/>
            </a:endParaRPr>
          </a:p>
        </p:txBody>
      </p:sp>
      <p:sp>
        <p:nvSpPr>
          <p:cNvPr id="53" name="Rectangle 52"/>
          <p:cNvSpPr>
            <a:spLocks noGrp="1"/>
          </p:cNvSpPr>
          <p:nvPr/>
        </p:nvSpPr>
        <p:spPr>
          <a:xfrm>
            <a:off x="11658600" y="6534150"/>
            <a:ext cx="228600" cy="190500"/>
          </a:xfrm>
          <a:prstGeom prst="rect">
            <a:avLst/>
          </a:prstGeom>
          <a:noFill/>
          <a:ln w="0">
            <a:noFill/>
          </a:ln>
        </p:spPr>
        <p:txBody>
          <a:bodyPr wrap="square" lIns="38100" tIns="19050" rIns="38100" bIns="19050" anchor="ctr">
            <a:normAutofit/>
          </a:bodyPr>
          <a:lstStyle/>
          <a:p>
            <a:pPr algn="r">
              <a:lnSpc>
                <a:spcPct val="100000"/>
              </a:lnSpc>
              <a:buNone/>
              <a:defRPr sz="825" b="0" i="0">
                <a:solidFill>
                  <a:srgbClr val="8A8F93"/>
                </a:solidFill>
                <a:latin typeface="Cambria" panose="02040503050406030204"/>
                <a:ea typeface="Cambria" panose="02040503050406030204"/>
                <a:cs typeface="Cambria" panose="02040503050406030204"/>
              </a:defRPr>
            </a:pPr>
            <a:r>
              <a:rPr sz="825" b="0" i="0">
                <a:solidFill>
                  <a:srgbClr val="8A8F93"/>
                </a:solidFill>
                <a:latin typeface="Cambria" panose="02040503050406030204"/>
                <a:ea typeface="Cambria" panose="02040503050406030204"/>
                <a:cs typeface="Cambria" panose="02040503050406030204"/>
              </a:rPr>
              <a:t>24</a:t>
            </a:r>
            <a:endParaRPr sz="825" b="0" i="0">
              <a:solidFill>
                <a:srgbClr val="8A8F93"/>
              </a:solidFill>
              <a:latin typeface="Cambria" panose="02040503050406030204"/>
              <a:ea typeface="Cambria" panose="02040503050406030204"/>
              <a:cs typeface="Cambria" panose="020405030504060302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slide-title"/>
          <p:cNvSpPr>
            <a:spLocks noGrp="1"/>
          </p:cNvSpPr>
          <p:nvPr/>
        </p:nvSpPr>
        <p:spPr>
          <a:xfrm>
            <a:off x="2571750" y="142875"/>
            <a:ext cx="9191625" cy="590550"/>
          </a:xfrm>
          <a:prstGeom prst="rect">
            <a:avLst/>
          </a:prstGeom>
          <a:noFill/>
          <a:ln w="0">
            <a:noFill/>
          </a:ln>
        </p:spPr>
        <p:txBody>
          <a:bodyPr wrap="square" lIns="38100" tIns="19050" rIns="38100" bIns="19050" anchor="ctr">
            <a:normAutofit/>
          </a:bodyPr>
          <a:lstStyle/>
          <a:p>
            <a:pPr algn="ctr">
              <a:lnSpc>
                <a:spcPct val="100000"/>
              </a:lnSpc>
              <a:buNone/>
              <a:defRPr sz="2100" b="1" i="0">
                <a:solidFill>
                  <a:srgbClr val="E00000"/>
                </a:solidFill>
                <a:latin typeface="Cambria" panose="02040503050406030204"/>
                <a:ea typeface="Cambria" panose="02040503050406030204"/>
                <a:cs typeface="Cambria" panose="02040503050406030204"/>
              </a:defRPr>
            </a:pPr>
            <a:r>
              <a:rPr sz="2100" b="1" i="0">
                <a:solidFill>
                  <a:srgbClr val="E00000"/>
                </a:solidFill>
                <a:latin typeface="Cambria" panose="02040503050406030204"/>
                <a:ea typeface="Cambria" panose="02040503050406030204"/>
                <a:cs typeface="Cambria" panose="02040503050406030204"/>
              </a:rPr>
              <a:t>BẤT CẬP VÀ RỦI RO ƯU TIÊN</a:t>
            </a:r>
            <a:endParaRPr sz="2100" b="1" i="0">
              <a:solidFill>
                <a:srgbClr val="E00000"/>
              </a:solidFill>
              <a:latin typeface="Cambria" panose="02040503050406030204"/>
              <a:ea typeface="Cambria" panose="02040503050406030204"/>
              <a:cs typeface="Cambria" panose="02040503050406030204"/>
            </a:endParaRPr>
          </a:p>
        </p:txBody>
      </p:sp>
      <p:graphicFrame>
        <p:nvGraphicFramePr>
          <p:cNvPr id="7" name="Table 6"/>
          <p:cNvGraphicFramePr/>
          <p:nvPr/>
        </p:nvGraphicFramePr>
        <p:xfrm>
          <a:off x="323850" y="971550"/>
          <a:ext cx="11544300" cy="5143500"/>
        </p:xfrm>
        <a:graphic>
          <a:graphicData uri="http://schemas.openxmlformats.org/drawingml/2006/table">
            <a:tbl>
              <a:tblPr/>
              <a:tblGrid>
                <a:gridCol w="2571750"/>
                <a:gridCol w="3667125"/>
                <a:gridCol w="3810000"/>
                <a:gridCol w="1495425"/>
              </a:tblGrid>
              <a:tr h="476250">
                <a:tc>
                  <a:txBody>
                    <a:bodyPr/>
                    <a:lstStyle/>
                    <a:p>
                      <a:r>
                        <a:t>RỦI RO</a:t>
                      </a:r>
                    </a:p>
                  </a:txBody>
                  <a:tcPr/>
                </a:tc>
                <a:tc>
                  <a:txBody>
                    <a:bodyPr/>
                    <a:lstStyle/>
                    <a:p>
                      <a:r>
                        <a:t>BẰNG CHỨNG</a:t>
                      </a:r>
                    </a:p>
                  </a:txBody>
                  <a:tcPr/>
                </a:tc>
                <a:tc>
                  <a:txBody>
                    <a:bodyPr/>
                    <a:lstStyle/>
                    <a:p>
                      <a:r>
                        <a:t>TÁC ĐỘNG</a:t>
                      </a:r>
                    </a:p>
                  </a:txBody>
                  <a:tcPr/>
                </a:tc>
                <a:tc>
                  <a:txBody>
                    <a:bodyPr/>
                    <a:lstStyle/>
                    <a:p>
                      <a:r>
                        <a:t>ƯU TIÊN</a:t>
                      </a:r>
                    </a:p>
                  </a:txBody>
                  <a:tcPr/>
                </a:tc>
              </a:tr>
              <a:tr h="647700">
                <a:tc>
                  <a:txBody>
                    <a:bodyPr/>
                    <a:lstStyle/>
                    <a:p>
                      <a:r>
                        <a:t>Mock/fallback trong luồng thật</a:t>
                      </a:r>
                    </a:p>
                  </a:txBody>
                  <a:tcPr/>
                </a:tc>
                <a:tc>
                  <a:txBody>
                    <a:bodyPr/>
                    <a:lstStyle/>
                    <a:p>
                      <a:r>
                        <a:t>24 trang có cả dấu hiệu API và fallback*</a:t>
                      </a:r>
                    </a:p>
                  </a:txBody>
                  <a:tcPr/>
                </a:tc>
                <a:tc>
                  <a:txBody>
                    <a:bodyPr/>
                    <a:lstStyle/>
                    <a:p>
                      <a:r>
                        <a:t>Sai số liệu, khó phát hiện lỗi</a:t>
                      </a:r>
                    </a:p>
                  </a:txBody>
                  <a:tcPr/>
                </a:tc>
                <a:tc>
                  <a:txBody>
                    <a:bodyPr/>
                    <a:lstStyle/>
                    <a:p>
                      <a:pPr algn="ctr"/>
                      <a:r>
                        <a:rPr sz="1350" b="1">
                          <a:solidFill>
                            <a:srgbClr val="E00000"/>
                          </a:solidFill>
                          <a:latin typeface="Cambria" panose="02040503050406030204"/>
                          <a:ea typeface="Cambria" panose="02040503050406030204"/>
                          <a:cs typeface="Cambria" panose="02040503050406030204"/>
                        </a:rPr>
                        <a:t>P0</a:t>
                      </a:r>
                      <a:endParaRPr sz="1350" b="1">
                        <a:solidFill>
                          <a:srgbClr val="E00000"/>
                        </a:solidFill>
                        <a:latin typeface="Cambria" panose="02040503050406030204"/>
                        <a:ea typeface="Cambria" panose="02040503050406030204"/>
                        <a:cs typeface="Cambria" panose="02040503050406030204"/>
                      </a:endParaRPr>
                    </a:p>
                  </a:txBody>
                  <a:tcPr anchor="ctr">
                    <a:solidFill>
                      <a:srgbClr val="FFE1E1"/>
                    </a:solidFill>
                  </a:tcPr>
                </a:tc>
              </a:tr>
              <a:tr h="647700">
                <a:tc>
                  <a:txBody>
                    <a:bodyPr/>
                    <a:lstStyle/>
                    <a:p>
                      <a:r>
                        <a:t>Cô lập dữ liệu theo đơn vị</a:t>
                      </a:r>
                    </a:p>
                  </a:txBody>
                  <a:tcPr/>
                </a:tc>
                <a:tc>
                  <a:txBody>
                    <a:bodyPr/>
                    <a:lstStyle/>
                    <a:p>
                      <a:r>
                        <a:t>Scope utility mới dùng ở một số service</a:t>
                      </a:r>
                    </a:p>
                  </a:txBody>
                  <a:tcPr/>
                </a:tc>
                <a:tc>
                  <a:txBody>
                    <a:bodyPr/>
                    <a:lstStyle/>
                    <a:p>
                      <a:r>
                        <a:t>Lộ dữ liệu chéo đơn vị</a:t>
                      </a:r>
                    </a:p>
                  </a:txBody>
                  <a:tcPr/>
                </a:tc>
                <a:tc>
                  <a:txBody>
                    <a:bodyPr/>
                    <a:lstStyle/>
                    <a:p>
                      <a:pPr algn="ctr"/>
                      <a:r>
                        <a:rPr sz="1350" b="1">
                          <a:solidFill>
                            <a:srgbClr val="E00000"/>
                          </a:solidFill>
                          <a:latin typeface="Cambria" panose="02040503050406030204"/>
                          <a:ea typeface="Cambria" panose="02040503050406030204"/>
                          <a:cs typeface="Cambria" panose="02040503050406030204"/>
                        </a:rPr>
                        <a:t>P0</a:t>
                      </a:r>
                      <a:endParaRPr sz="1350" b="1">
                        <a:solidFill>
                          <a:srgbClr val="E00000"/>
                        </a:solidFill>
                        <a:latin typeface="Cambria" panose="02040503050406030204"/>
                        <a:ea typeface="Cambria" panose="02040503050406030204"/>
                        <a:cs typeface="Cambria" panose="02040503050406030204"/>
                      </a:endParaRPr>
                    </a:p>
                  </a:txBody>
                  <a:tcPr anchor="ctr">
                    <a:solidFill>
                      <a:srgbClr val="FFE1E1"/>
                    </a:solidFill>
                  </a:tcPr>
                </a:tc>
              </a:tr>
              <a:tr h="647700">
                <a:tc>
                  <a:txBody>
                    <a:bodyPr/>
                    <a:lstStyle/>
                    <a:p>
                      <a:r>
                        <a:t>Xóa vật lý dữ liệu</a:t>
                      </a:r>
                    </a:p>
                  </a:txBody>
                  <a:tcPr/>
                </a:tc>
                <a:tc>
                  <a:txBody>
                    <a:bodyPr/>
                    <a:lstStyle/>
                    <a:p>
                      <a:r>
                        <a:t>Delete/deleteMany ở catalog, vehicle, plan…</a:t>
                      </a:r>
                    </a:p>
                  </a:txBody>
                  <a:tcPr/>
                </a:tc>
                <a:tc>
                  <a:txBody>
                    <a:bodyPr/>
                    <a:lstStyle/>
                    <a:p>
                      <a:r>
                        <a:t>Mất lịch sử, khó audit</a:t>
                      </a:r>
                    </a:p>
                  </a:txBody>
                  <a:tcPr/>
                </a:tc>
                <a:tc>
                  <a:txBody>
                    <a:bodyPr/>
                    <a:lstStyle/>
                    <a:p>
                      <a:pPr algn="ctr"/>
                      <a:r>
                        <a:rPr sz="1350" b="1">
                          <a:solidFill>
                            <a:srgbClr val="E00000"/>
                          </a:solidFill>
                          <a:latin typeface="Cambria" panose="02040503050406030204"/>
                          <a:ea typeface="Cambria" panose="02040503050406030204"/>
                          <a:cs typeface="Cambria" panose="02040503050406030204"/>
                        </a:rPr>
                        <a:t>P0</a:t>
                      </a:r>
                      <a:endParaRPr sz="1350" b="1">
                        <a:solidFill>
                          <a:srgbClr val="E00000"/>
                        </a:solidFill>
                        <a:latin typeface="Cambria" panose="02040503050406030204"/>
                        <a:ea typeface="Cambria" panose="02040503050406030204"/>
                        <a:cs typeface="Cambria" panose="02040503050406030204"/>
                      </a:endParaRPr>
                    </a:p>
                  </a:txBody>
                  <a:tcPr anchor="ctr">
                    <a:solidFill>
                      <a:srgbClr val="FFE1E1"/>
                    </a:solidFill>
                  </a:tcPr>
                </a:tc>
              </a:tr>
              <a:tr h="647700">
                <a:tc>
                  <a:txBody>
                    <a:bodyPr/>
                    <a:lstStyle/>
                    <a:p>
                      <a:r>
                        <a:t>Công thức nghiệp vụ chưa chốt</a:t>
                      </a:r>
                    </a:p>
                  </a:txBody>
                  <a:tcPr/>
                </a:tc>
                <a:tc>
                  <a:txBody>
                    <a:bodyPr/>
                    <a:lstStyle/>
                    <a:p>
                      <a:r>
                        <a:t>KPI, năng suất, GPS threshold còn UNKNOWN</a:t>
                      </a:r>
                    </a:p>
                  </a:txBody>
                  <a:tcPr/>
                </a:tc>
                <a:tc>
                  <a:txBody>
                    <a:bodyPr/>
                    <a:lstStyle/>
                    <a:p>
                      <a:r>
                        <a:t>Kết quả báo cáo không được chấp nhận</a:t>
                      </a:r>
                    </a:p>
                  </a:txBody>
                  <a:tcPr/>
                </a:tc>
                <a:tc>
                  <a:txBody>
                    <a:bodyPr/>
                    <a:lstStyle/>
                    <a:p>
                      <a:pPr algn="ctr"/>
                      <a:r>
                        <a:rPr sz="1350" b="1">
                          <a:solidFill>
                            <a:srgbClr val="A95400"/>
                          </a:solidFill>
                          <a:latin typeface="Cambria" panose="02040503050406030204"/>
                          <a:ea typeface="Cambria" panose="02040503050406030204"/>
                          <a:cs typeface="Cambria" panose="02040503050406030204"/>
                        </a:rPr>
                        <a:t>P1</a:t>
                      </a:r>
                      <a:endParaRPr sz="1350" b="1">
                        <a:solidFill>
                          <a:srgbClr val="A95400"/>
                        </a:solidFill>
                        <a:latin typeface="Cambria" panose="02040503050406030204"/>
                        <a:ea typeface="Cambria" panose="02040503050406030204"/>
                        <a:cs typeface="Cambria" panose="02040503050406030204"/>
                      </a:endParaRPr>
                    </a:p>
                  </a:txBody>
                  <a:tcPr anchor="ctr">
                    <a:solidFill>
                      <a:srgbClr val="FFF0D3"/>
                    </a:solidFill>
                  </a:tcPr>
                </a:tc>
              </a:tr>
              <a:tr h="647700">
                <a:tc>
                  <a:txBody>
                    <a:bodyPr/>
                    <a:lstStyle/>
                    <a:p>
                      <a:r>
                        <a:t>Hai backend mobile</a:t>
                      </a:r>
                    </a:p>
                  </a:txBody>
                  <a:tcPr/>
                </a:tc>
                <a:tc>
                  <a:txBody>
                    <a:bodyPr/>
                    <a:lstStyle/>
                    <a:p>
                      <a:r>
                        <a:t>Main backend và Backend_Driver song song</a:t>
                      </a:r>
                    </a:p>
                  </a:txBody>
                  <a:tcPr/>
                </a:tc>
                <a:tc>
                  <a:txBody>
                    <a:bodyPr/>
                    <a:lstStyle/>
                    <a:p>
                      <a:r>
                        <a:t>Lệch API, tăng chi phí bảo trì</a:t>
                      </a:r>
                    </a:p>
                  </a:txBody>
                  <a:tcPr/>
                </a:tc>
                <a:tc>
                  <a:txBody>
                    <a:bodyPr/>
                    <a:lstStyle/>
                    <a:p>
                      <a:pPr algn="ctr"/>
                      <a:r>
                        <a:rPr sz="1350" b="1">
                          <a:solidFill>
                            <a:srgbClr val="A95400"/>
                          </a:solidFill>
                          <a:latin typeface="Cambria" panose="02040503050406030204"/>
                          <a:ea typeface="Cambria" panose="02040503050406030204"/>
                          <a:cs typeface="Cambria" panose="02040503050406030204"/>
                        </a:rPr>
                        <a:t>P1</a:t>
                      </a:r>
                      <a:endParaRPr sz="1350" b="1">
                        <a:solidFill>
                          <a:srgbClr val="A95400"/>
                        </a:solidFill>
                        <a:latin typeface="Cambria" panose="02040503050406030204"/>
                        <a:ea typeface="Cambria" panose="02040503050406030204"/>
                        <a:cs typeface="Cambria" panose="02040503050406030204"/>
                      </a:endParaRPr>
                    </a:p>
                  </a:txBody>
                  <a:tcPr anchor="ctr">
                    <a:solidFill>
                      <a:srgbClr val="FFF0D3"/>
                    </a:solidFill>
                  </a:tcPr>
                </a:tc>
              </a:tr>
              <a:tr h="647700">
                <a:tc>
                  <a:txBody>
                    <a:bodyPr/>
                    <a:lstStyle/>
                    <a:p>
                      <a:r>
                        <a:t>Quy trình phát hành</a:t>
                      </a:r>
                    </a:p>
                  </a:txBody>
                  <a:tcPr/>
                </a:tc>
                <a:tc>
                  <a:txBody>
                    <a:bodyPr/>
                    <a:lstStyle/>
                    <a:p>
                      <a:r>
                        <a:t>Không có GitHub Actions, 325 entry thay đổi</a:t>
                      </a:r>
                    </a:p>
                  </a:txBody>
                  <a:tcPr/>
                </a:tc>
                <a:tc>
                  <a:txBody>
                    <a:bodyPr/>
                    <a:lstStyle/>
                    <a:p>
                      <a:r>
                        <a:t>Khó truy vết và rollback</a:t>
                      </a:r>
                    </a:p>
                  </a:txBody>
                  <a:tcPr/>
                </a:tc>
                <a:tc>
                  <a:txBody>
                    <a:bodyPr/>
                    <a:lstStyle/>
                    <a:p>
                      <a:pPr algn="ctr"/>
                      <a:r>
                        <a:rPr sz="1350" b="1">
                          <a:solidFill>
                            <a:srgbClr val="A95400"/>
                          </a:solidFill>
                          <a:latin typeface="Cambria" panose="02040503050406030204"/>
                          <a:ea typeface="Cambria" panose="02040503050406030204"/>
                          <a:cs typeface="Cambria" panose="02040503050406030204"/>
                        </a:rPr>
                        <a:t>P1</a:t>
                      </a:r>
                      <a:endParaRPr sz="1350" b="1">
                        <a:solidFill>
                          <a:srgbClr val="A95400"/>
                        </a:solidFill>
                        <a:latin typeface="Cambria" panose="02040503050406030204"/>
                        <a:ea typeface="Cambria" panose="02040503050406030204"/>
                        <a:cs typeface="Cambria" panose="02040503050406030204"/>
                      </a:endParaRPr>
                    </a:p>
                  </a:txBody>
                  <a:tcPr anchor="ctr">
                    <a:solidFill>
                      <a:srgbClr val="FFF0D3"/>
                    </a:solidFill>
                  </a:tcPr>
                </a:tc>
              </a:tr>
              <a:tr h="647700">
                <a:tc>
                  <a:txBody>
                    <a:bodyPr/>
                    <a:lstStyle/>
                    <a:p>
                      <a:r>
                        <a:t>Kích thước bundle</a:t>
                      </a:r>
                    </a:p>
                  </a:txBody>
                  <a:tcPr/>
                </a:tc>
                <a:tc>
                  <a:txBody>
                    <a:bodyPr/>
                    <a:lstStyle/>
                    <a:p>
                      <a:r>
                        <a:t>Main JS 3.39 MB sau minify</a:t>
                      </a:r>
                    </a:p>
                  </a:txBody>
                  <a:tcPr/>
                </a:tc>
                <a:tc>
                  <a:txBody>
                    <a:bodyPr/>
                    <a:lstStyle/>
                    <a:p>
                      <a:r>
                        <a:t>Tải chậm, khó dùng mạng yếu</a:t>
                      </a:r>
                    </a:p>
                  </a:txBody>
                  <a:tcPr/>
                </a:tc>
                <a:tc>
                  <a:txBody>
                    <a:bodyPr/>
                    <a:lstStyle/>
                    <a:p>
                      <a:pPr algn="ctr"/>
                      <a:r>
                        <a:rPr sz="1350" b="1">
                          <a:solidFill>
                            <a:srgbClr val="075AA7"/>
                          </a:solidFill>
                          <a:latin typeface="Cambria" panose="02040503050406030204"/>
                          <a:ea typeface="Cambria" panose="02040503050406030204"/>
                          <a:cs typeface="Cambria" panose="02040503050406030204"/>
                        </a:rPr>
                        <a:t>P2</a:t>
                      </a:r>
                      <a:endParaRPr sz="1350" b="1">
                        <a:solidFill>
                          <a:srgbClr val="075AA7"/>
                        </a:solidFill>
                        <a:latin typeface="Cambria" panose="02040503050406030204"/>
                        <a:ea typeface="Cambria" panose="02040503050406030204"/>
                        <a:cs typeface="Cambria" panose="02040503050406030204"/>
                      </a:endParaRPr>
                    </a:p>
                  </a:txBody>
                  <a:tcPr anchor="ctr">
                    <a:solidFill>
                      <a:srgbClr val="E7F0FB"/>
                    </a:solidFill>
                  </a:tcPr>
                </a:tc>
              </a:tr>
            </a:tbl>
          </a:graphicData>
        </a:graphic>
      </p:graphicFrame>
      <p:sp>
        <p:nvSpPr>
          <p:cNvPr id="3" name="Rectangle 2"/>
          <p:cNvSpPr>
            <a:spLocks noGrp="1"/>
          </p:cNvSpPr>
          <p:nvPr/>
        </p:nvSpPr>
        <p:spPr>
          <a:xfrm>
            <a:off x="619125" y="6191250"/>
            <a:ext cx="10477500" cy="228600"/>
          </a:xfrm>
          <a:prstGeom prst="rect">
            <a:avLst/>
          </a:prstGeom>
          <a:noFill/>
          <a:ln w="0">
            <a:noFill/>
          </a:ln>
        </p:spPr>
        <p:txBody>
          <a:bodyPr wrap="square" lIns="38100" tIns="19050" rIns="38100" bIns="19050" anchor="t">
            <a:normAutofit/>
          </a:bodyPr>
          <a:lstStyle/>
          <a:p>
            <a:pPr algn="ctr">
              <a:lnSpc>
                <a:spcPct val="100000"/>
              </a:lnSpc>
              <a:buNone/>
              <a:defRPr sz="1125" b="0" i="1">
                <a:solidFill>
                  <a:srgbClr val="59636E"/>
                </a:solidFill>
                <a:latin typeface="Cambria" panose="02040503050406030204"/>
                <a:ea typeface="Cambria" panose="02040503050406030204"/>
                <a:cs typeface="Cambria" panose="02040503050406030204"/>
              </a:defRPr>
            </a:pPr>
            <a:r>
              <a:rPr sz="1125" b="0" i="1">
                <a:solidFill>
                  <a:srgbClr val="59636E"/>
                </a:solidFill>
                <a:latin typeface="Cambria" panose="02040503050406030204"/>
                <a:ea typeface="Cambria" panose="02040503050406030204"/>
                <a:cs typeface="Cambria" panose="02040503050406030204"/>
              </a:rPr>
              <a:t>* Dấu hiệu từ quét source, chưa phải tỷ lệ hoàn tất chính thức.</a:t>
            </a:r>
            <a:endParaRPr sz="1125" b="0" i="1">
              <a:solidFill>
                <a:srgbClr val="59636E"/>
              </a:solidFill>
              <a:latin typeface="Cambria" panose="02040503050406030204"/>
              <a:ea typeface="Cambria" panose="02040503050406030204"/>
              <a:cs typeface="Cambria" panose="02040503050406030204"/>
            </a:endParaRPr>
          </a:p>
        </p:txBody>
      </p:sp>
      <p:sp>
        <p:nvSpPr>
          <p:cNvPr id="4" name="Rectangle 3"/>
          <p:cNvSpPr>
            <a:spLocks noGrp="1"/>
          </p:cNvSpPr>
          <p:nvPr/>
        </p:nvSpPr>
        <p:spPr>
          <a:xfrm>
            <a:off x="266700" y="6534150"/>
            <a:ext cx="7429500" cy="190500"/>
          </a:xfrm>
          <a:prstGeom prst="rect">
            <a:avLst/>
          </a:prstGeom>
          <a:noFill/>
          <a:ln w="0">
            <a:noFill/>
          </a:ln>
        </p:spPr>
        <p:txBody>
          <a:bodyPr wrap="square" lIns="38100" tIns="19050" rIns="38100" bIns="19050" anchor="ctr">
            <a:normAutofit/>
          </a:bodyPr>
          <a:lstStyle/>
          <a:p>
            <a:pPr algn="l">
              <a:lnSpc>
                <a:spcPct val="100000"/>
              </a:lnSpc>
              <a:buNone/>
              <a:defRPr sz="825" b="0" i="1">
                <a:solidFill>
                  <a:srgbClr val="8A8F93"/>
                </a:solidFill>
                <a:latin typeface="Cambria" panose="02040503050406030204"/>
                <a:ea typeface="Cambria" panose="02040503050406030204"/>
                <a:cs typeface="Cambria" panose="02040503050406030204"/>
              </a:defRPr>
            </a:pPr>
            <a:r>
              <a:rPr sz="825" b="0" i="1">
                <a:solidFill>
                  <a:srgbClr val="8A8F93"/>
                </a:solidFill>
                <a:latin typeface="Cambria" panose="02040503050406030204"/>
                <a:ea typeface="Cambria" panose="02040503050406030204"/>
                <a:cs typeface="Cambria" panose="02040503050406030204"/>
              </a:rPr>
              <a:t>Giới thiệu phần mềm và tiến độ phát triển | THACO AGRI Fleet | 21/09/2026</a:t>
            </a:r>
            <a:endParaRPr sz="825" b="0" i="1">
              <a:solidFill>
                <a:srgbClr val="8A8F93"/>
              </a:solidFill>
              <a:latin typeface="Cambria" panose="02040503050406030204"/>
              <a:ea typeface="Cambria" panose="02040503050406030204"/>
              <a:cs typeface="Cambria" panose="02040503050406030204"/>
            </a:endParaRPr>
          </a:p>
        </p:txBody>
      </p:sp>
      <p:sp>
        <p:nvSpPr>
          <p:cNvPr id="5" name="Rectangle 4"/>
          <p:cNvSpPr>
            <a:spLocks noGrp="1"/>
          </p:cNvSpPr>
          <p:nvPr/>
        </p:nvSpPr>
        <p:spPr>
          <a:xfrm>
            <a:off x="11658600" y="6534150"/>
            <a:ext cx="228600" cy="190500"/>
          </a:xfrm>
          <a:prstGeom prst="rect">
            <a:avLst/>
          </a:prstGeom>
          <a:noFill/>
          <a:ln w="0">
            <a:noFill/>
          </a:ln>
        </p:spPr>
        <p:txBody>
          <a:bodyPr wrap="square" lIns="38100" tIns="19050" rIns="38100" bIns="19050" anchor="ctr">
            <a:normAutofit/>
          </a:bodyPr>
          <a:lstStyle/>
          <a:p>
            <a:pPr algn="r">
              <a:lnSpc>
                <a:spcPct val="100000"/>
              </a:lnSpc>
              <a:buNone/>
              <a:defRPr sz="825" b="0" i="0">
                <a:solidFill>
                  <a:srgbClr val="8A8F93"/>
                </a:solidFill>
                <a:latin typeface="Cambria" panose="02040503050406030204"/>
                <a:ea typeface="Cambria" panose="02040503050406030204"/>
                <a:cs typeface="Cambria" panose="02040503050406030204"/>
              </a:defRPr>
            </a:pPr>
            <a:r>
              <a:rPr sz="825" b="0" i="0">
                <a:solidFill>
                  <a:srgbClr val="8A8F93"/>
                </a:solidFill>
                <a:latin typeface="Cambria" panose="02040503050406030204"/>
                <a:ea typeface="Cambria" panose="02040503050406030204"/>
                <a:cs typeface="Cambria" panose="02040503050406030204"/>
              </a:rPr>
              <a:t>25</a:t>
            </a:r>
            <a:endParaRPr sz="825" b="0" i="0">
              <a:solidFill>
                <a:srgbClr val="8A8F93"/>
              </a:solidFill>
              <a:latin typeface="Cambria" panose="02040503050406030204"/>
              <a:ea typeface="Cambria" panose="02040503050406030204"/>
              <a:cs typeface="Cambria" panose="02040503050406030204"/>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slide-title"/>
          <p:cNvSpPr>
            <a:spLocks noGrp="1"/>
          </p:cNvSpPr>
          <p:nvPr/>
        </p:nvSpPr>
        <p:spPr>
          <a:xfrm>
            <a:off x="2571750" y="142875"/>
            <a:ext cx="9191625" cy="590550"/>
          </a:xfrm>
          <a:prstGeom prst="rect">
            <a:avLst/>
          </a:prstGeom>
          <a:noFill/>
          <a:ln w="0">
            <a:noFill/>
          </a:ln>
        </p:spPr>
        <p:txBody>
          <a:bodyPr wrap="square" lIns="38100" tIns="19050" rIns="38100" bIns="19050" anchor="ctr">
            <a:normAutofit/>
          </a:bodyPr>
          <a:lstStyle/>
          <a:p>
            <a:pPr algn="ctr">
              <a:lnSpc>
                <a:spcPct val="100000"/>
              </a:lnSpc>
              <a:buNone/>
              <a:defRPr sz="2100" b="1" i="0">
                <a:solidFill>
                  <a:srgbClr val="E00000"/>
                </a:solidFill>
                <a:latin typeface="Cambria" panose="02040503050406030204"/>
                <a:ea typeface="Cambria" panose="02040503050406030204"/>
                <a:cs typeface="Cambria" panose="02040503050406030204"/>
              </a:defRPr>
            </a:pPr>
            <a:r>
              <a:rPr sz="2100" b="1" i="0">
                <a:solidFill>
                  <a:srgbClr val="E00000"/>
                </a:solidFill>
                <a:latin typeface="Cambria" panose="02040503050406030204"/>
                <a:ea typeface="Cambria" panose="02040503050406030204"/>
                <a:cs typeface="Cambria" panose="02040503050406030204"/>
              </a:rPr>
              <a:t>KHÓ KHĂN HIỆN TẠI</a:t>
            </a:r>
            <a:endParaRPr sz="2100" b="1" i="0">
              <a:solidFill>
                <a:srgbClr val="E00000"/>
              </a:solidFill>
              <a:latin typeface="Cambria" panose="02040503050406030204"/>
              <a:ea typeface="Cambria" panose="02040503050406030204"/>
              <a:cs typeface="Cambria" panose="02040503050406030204"/>
            </a:endParaRPr>
          </a:p>
        </p:txBody>
      </p:sp>
      <p:sp>
        <p:nvSpPr>
          <p:cNvPr id="2" name="Rectangle 1"/>
          <p:cNvSpPr>
            <a:spLocks noGrp="1"/>
          </p:cNvSpPr>
          <p:nvPr/>
        </p:nvSpPr>
        <p:spPr>
          <a:xfrm>
            <a:off x="590550" y="1095375"/>
            <a:ext cx="2286000" cy="438150"/>
          </a:xfrm>
          <a:prstGeom prst="rect">
            <a:avLst/>
          </a:prstGeom>
          <a:noFill/>
          <a:ln w="0">
            <a:noFill/>
          </a:ln>
        </p:spPr>
        <p:txBody>
          <a:bodyPr wrap="square" lIns="38100" tIns="19050" rIns="38100" bIns="19050" anchor="ctr">
            <a:normAutofit/>
          </a:bodyPr>
          <a:lstStyle/>
          <a:p>
            <a:pPr algn="l">
              <a:lnSpc>
                <a:spcPct val="100000"/>
              </a:lnSpc>
              <a:buNone/>
              <a:defRPr sz="1725" b="1" i="0">
                <a:solidFill>
                  <a:srgbClr val="006B35"/>
                </a:solidFill>
                <a:latin typeface="Cambria" panose="02040503050406030204"/>
                <a:ea typeface="Cambria" panose="02040503050406030204"/>
                <a:cs typeface="Cambria" panose="02040503050406030204"/>
              </a:defRPr>
            </a:pPr>
            <a:r>
              <a:rPr sz="1725" b="1" i="0">
                <a:solidFill>
                  <a:srgbClr val="006B35"/>
                </a:solidFill>
                <a:latin typeface="Cambria" panose="02040503050406030204"/>
                <a:ea typeface="Cambria" panose="02040503050406030204"/>
                <a:cs typeface="Cambria" panose="02040503050406030204"/>
              </a:rPr>
              <a:t>NGHIỆP VỤ</a:t>
            </a:r>
            <a:endParaRPr sz="1725" b="1" i="0">
              <a:solidFill>
                <a:srgbClr val="006B35"/>
              </a:solidFill>
              <a:latin typeface="Cambria" panose="02040503050406030204"/>
              <a:ea typeface="Cambria" panose="02040503050406030204"/>
              <a:cs typeface="Cambria" panose="02040503050406030204"/>
            </a:endParaRPr>
          </a:p>
        </p:txBody>
      </p:sp>
      <p:sp>
        <p:nvSpPr>
          <p:cNvPr id="3" name="Rectangle 2"/>
          <p:cNvSpPr>
            <a:spLocks noGrp="1"/>
          </p:cNvSpPr>
          <p:nvPr/>
        </p:nvSpPr>
        <p:spPr>
          <a:xfrm>
            <a:off x="2905125" y="1209675"/>
            <a:ext cx="28575" cy="704850"/>
          </a:xfrm>
          <a:prstGeom prst="rect">
            <a:avLst/>
          </a:prstGeom>
          <a:solidFill>
            <a:srgbClr val="5FAE3E"/>
          </a:solidFill>
          <a:ln w="0">
            <a:solidFill>
              <a:srgbClr val="5FAE3E"/>
            </a:solidFill>
          </a:ln>
        </p:spPr>
      </p:sp>
      <p:sp>
        <p:nvSpPr>
          <p:cNvPr id="4" name="Rectangle 3"/>
          <p:cNvSpPr>
            <a:spLocks noGrp="1"/>
          </p:cNvSpPr>
          <p:nvPr/>
        </p:nvSpPr>
        <p:spPr>
          <a:xfrm>
            <a:off x="3190875" y="1095375"/>
            <a:ext cx="8143875" cy="857250"/>
          </a:xfrm>
          <a:prstGeom prst="rect">
            <a:avLst/>
          </a:prstGeom>
          <a:noFill/>
          <a:ln w="0">
            <a:noFill/>
          </a:ln>
        </p:spPr>
        <p:txBody>
          <a:bodyPr wrap="square" lIns="38100" tIns="19050" rIns="38100" bIns="19050" anchor="ctr">
            <a:normAutofit/>
          </a:bodyPr>
          <a:lstStyle/>
          <a:p>
            <a:pPr algn="l">
              <a:lnSpc>
                <a:spcPct val="100000"/>
              </a:lnSpc>
              <a:buNone/>
              <a:defRPr sz="1575" b="0" i="0">
                <a:solidFill>
                  <a:srgbClr val="17212B"/>
                </a:solidFill>
                <a:latin typeface="Cambria" panose="02040503050406030204"/>
                <a:ea typeface="Cambria" panose="02040503050406030204"/>
                <a:cs typeface="Cambria" panose="02040503050406030204"/>
              </a:defRPr>
            </a:pPr>
            <a:r>
              <a:rPr sz="1575" b="0" i="0">
                <a:solidFill>
                  <a:srgbClr val="17212B"/>
                </a:solidFill>
                <a:latin typeface="Cambria" panose="02040503050406030204"/>
                <a:ea typeface="Cambria" panose="02040503050406030204"/>
                <a:cs typeface="Cambria" panose="02040503050406030204"/>
              </a:rPr>
              <a:t>Chưa chốt công thức KPI, năng suất xe, ngưỡng GPS/sai tuyến, ưu tiên xe và loại minh chứng khi đổi kế hoạch.</a:t>
            </a:r>
            <a:endParaRPr sz="1575" b="0" i="0">
              <a:solidFill>
                <a:srgbClr val="17212B"/>
              </a:solidFill>
              <a:latin typeface="Cambria" panose="02040503050406030204"/>
              <a:ea typeface="Cambria" panose="02040503050406030204"/>
              <a:cs typeface="Cambria" panose="02040503050406030204"/>
            </a:endParaRPr>
          </a:p>
        </p:txBody>
      </p:sp>
      <p:sp>
        <p:nvSpPr>
          <p:cNvPr id="5" name="Rectangle 4"/>
          <p:cNvSpPr>
            <a:spLocks noGrp="1"/>
          </p:cNvSpPr>
          <p:nvPr/>
        </p:nvSpPr>
        <p:spPr>
          <a:xfrm>
            <a:off x="590550" y="2333625"/>
            <a:ext cx="2286000" cy="438150"/>
          </a:xfrm>
          <a:prstGeom prst="rect">
            <a:avLst/>
          </a:prstGeom>
          <a:noFill/>
          <a:ln w="0">
            <a:noFill/>
          </a:ln>
        </p:spPr>
        <p:txBody>
          <a:bodyPr wrap="square" lIns="38100" tIns="19050" rIns="38100" bIns="19050" anchor="ctr">
            <a:normAutofit/>
          </a:bodyPr>
          <a:lstStyle/>
          <a:p>
            <a:pPr algn="l">
              <a:lnSpc>
                <a:spcPct val="100000"/>
              </a:lnSpc>
              <a:buNone/>
              <a:defRPr sz="1725" b="1" i="0">
                <a:solidFill>
                  <a:srgbClr val="006B35"/>
                </a:solidFill>
                <a:latin typeface="Cambria" panose="02040503050406030204"/>
                <a:ea typeface="Cambria" panose="02040503050406030204"/>
                <a:cs typeface="Cambria" panose="02040503050406030204"/>
              </a:defRPr>
            </a:pPr>
            <a:r>
              <a:rPr sz="1725" b="1" i="0">
                <a:solidFill>
                  <a:srgbClr val="006B35"/>
                </a:solidFill>
                <a:latin typeface="Cambria" panose="02040503050406030204"/>
                <a:ea typeface="Cambria" panose="02040503050406030204"/>
                <a:cs typeface="Cambria" panose="02040503050406030204"/>
              </a:rPr>
              <a:t>DỮ LIỆU</a:t>
            </a:r>
            <a:endParaRPr sz="1725" b="1" i="0">
              <a:solidFill>
                <a:srgbClr val="006B35"/>
              </a:solidFill>
              <a:latin typeface="Cambria" panose="02040503050406030204"/>
              <a:ea typeface="Cambria" panose="02040503050406030204"/>
              <a:cs typeface="Cambria" panose="02040503050406030204"/>
            </a:endParaRPr>
          </a:p>
        </p:txBody>
      </p:sp>
      <p:sp>
        <p:nvSpPr>
          <p:cNvPr id="6" name="Rectangle 5"/>
          <p:cNvSpPr>
            <a:spLocks noGrp="1"/>
          </p:cNvSpPr>
          <p:nvPr/>
        </p:nvSpPr>
        <p:spPr>
          <a:xfrm>
            <a:off x="2905125" y="2447925"/>
            <a:ext cx="28575" cy="704850"/>
          </a:xfrm>
          <a:prstGeom prst="rect">
            <a:avLst/>
          </a:prstGeom>
          <a:solidFill>
            <a:srgbClr val="5FAE3E"/>
          </a:solidFill>
          <a:ln w="0">
            <a:solidFill>
              <a:srgbClr val="5FAE3E"/>
            </a:solidFill>
          </a:ln>
        </p:spPr>
      </p:sp>
      <p:sp>
        <p:nvSpPr>
          <p:cNvPr id="7" name="Rectangle 6"/>
          <p:cNvSpPr>
            <a:spLocks noGrp="1"/>
          </p:cNvSpPr>
          <p:nvPr/>
        </p:nvSpPr>
        <p:spPr>
          <a:xfrm>
            <a:off x="3190875" y="2333625"/>
            <a:ext cx="8143875" cy="857250"/>
          </a:xfrm>
          <a:prstGeom prst="rect">
            <a:avLst/>
          </a:prstGeom>
          <a:noFill/>
          <a:ln w="0">
            <a:noFill/>
          </a:ln>
        </p:spPr>
        <p:txBody>
          <a:bodyPr wrap="square" lIns="38100" tIns="19050" rIns="38100" bIns="19050" anchor="ctr">
            <a:normAutofit/>
          </a:bodyPr>
          <a:lstStyle/>
          <a:p>
            <a:pPr algn="l">
              <a:lnSpc>
                <a:spcPct val="100000"/>
              </a:lnSpc>
              <a:buNone/>
              <a:defRPr sz="1575" b="0" i="0">
                <a:solidFill>
                  <a:srgbClr val="17212B"/>
                </a:solidFill>
                <a:latin typeface="Cambria" panose="02040503050406030204"/>
                <a:ea typeface="Cambria" panose="02040503050406030204"/>
                <a:cs typeface="Cambria" panose="02040503050406030204"/>
              </a:defRPr>
            </a:pPr>
            <a:r>
              <a:rPr sz="1575" b="0" i="0">
                <a:solidFill>
                  <a:srgbClr val="17212B"/>
                </a:solidFill>
                <a:latin typeface="Cambria" panose="02040503050406030204"/>
                <a:ea typeface="Cambria" panose="02040503050406030204"/>
                <a:cs typeface="Cambria" panose="02040503050406030204"/>
              </a:rPr>
              <a:t>Workbook MMTB nhiều sheet, mã cũ không đồng nhất, cần mapping được duyệt và backfill có thể kiểm tra/rollback.</a:t>
            </a:r>
            <a:endParaRPr sz="1575" b="0" i="0">
              <a:solidFill>
                <a:srgbClr val="17212B"/>
              </a:solidFill>
              <a:latin typeface="Cambria" panose="02040503050406030204"/>
              <a:ea typeface="Cambria" panose="02040503050406030204"/>
              <a:cs typeface="Cambria" panose="02040503050406030204"/>
            </a:endParaRPr>
          </a:p>
        </p:txBody>
      </p:sp>
      <p:sp>
        <p:nvSpPr>
          <p:cNvPr id="8" name="Rectangle 7"/>
          <p:cNvSpPr>
            <a:spLocks noGrp="1"/>
          </p:cNvSpPr>
          <p:nvPr/>
        </p:nvSpPr>
        <p:spPr>
          <a:xfrm>
            <a:off x="590550" y="3571875"/>
            <a:ext cx="2286000" cy="438150"/>
          </a:xfrm>
          <a:prstGeom prst="rect">
            <a:avLst/>
          </a:prstGeom>
          <a:noFill/>
          <a:ln w="0">
            <a:noFill/>
          </a:ln>
        </p:spPr>
        <p:txBody>
          <a:bodyPr wrap="square" lIns="38100" tIns="19050" rIns="38100" bIns="19050" anchor="ctr">
            <a:normAutofit/>
          </a:bodyPr>
          <a:lstStyle/>
          <a:p>
            <a:pPr algn="l">
              <a:lnSpc>
                <a:spcPct val="100000"/>
              </a:lnSpc>
              <a:buNone/>
              <a:defRPr sz="1725" b="1" i="0">
                <a:solidFill>
                  <a:srgbClr val="E00000"/>
                </a:solidFill>
                <a:latin typeface="Cambria" panose="02040503050406030204"/>
                <a:ea typeface="Cambria" panose="02040503050406030204"/>
                <a:cs typeface="Cambria" panose="02040503050406030204"/>
              </a:defRPr>
            </a:pPr>
            <a:r>
              <a:rPr sz="1725" b="1" i="0">
                <a:solidFill>
                  <a:srgbClr val="E00000"/>
                </a:solidFill>
                <a:latin typeface="Cambria" panose="02040503050406030204"/>
                <a:ea typeface="Cambria" panose="02040503050406030204"/>
                <a:cs typeface="Cambria" panose="02040503050406030204"/>
              </a:rPr>
              <a:t>KỸ THUẬT</a:t>
            </a:r>
            <a:endParaRPr sz="1725" b="1" i="0">
              <a:solidFill>
                <a:srgbClr val="E00000"/>
              </a:solidFill>
              <a:latin typeface="Cambria" panose="02040503050406030204"/>
              <a:ea typeface="Cambria" panose="02040503050406030204"/>
              <a:cs typeface="Cambria" panose="02040503050406030204"/>
            </a:endParaRPr>
          </a:p>
        </p:txBody>
      </p:sp>
      <p:sp>
        <p:nvSpPr>
          <p:cNvPr id="9" name="Rectangle 8"/>
          <p:cNvSpPr>
            <a:spLocks noGrp="1"/>
          </p:cNvSpPr>
          <p:nvPr/>
        </p:nvSpPr>
        <p:spPr>
          <a:xfrm>
            <a:off x="2905125" y="3686175"/>
            <a:ext cx="28575" cy="704850"/>
          </a:xfrm>
          <a:prstGeom prst="rect">
            <a:avLst/>
          </a:prstGeom>
          <a:solidFill>
            <a:srgbClr val="E00000"/>
          </a:solidFill>
          <a:ln w="0">
            <a:solidFill>
              <a:srgbClr val="E00000"/>
            </a:solidFill>
          </a:ln>
        </p:spPr>
      </p:sp>
      <p:sp>
        <p:nvSpPr>
          <p:cNvPr id="10" name="Rectangle 9"/>
          <p:cNvSpPr>
            <a:spLocks noGrp="1"/>
          </p:cNvSpPr>
          <p:nvPr/>
        </p:nvSpPr>
        <p:spPr>
          <a:xfrm>
            <a:off x="3190875" y="3571875"/>
            <a:ext cx="8143875" cy="857250"/>
          </a:xfrm>
          <a:prstGeom prst="rect">
            <a:avLst/>
          </a:prstGeom>
          <a:noFill/>
          <a:ln w="0">
            <a:noFill/>
          </a:ln>
        </p:spPr>
        <p:txBody>
          <a:bodyPr wrap="square" lIns="38100" tIns="19050" rIns="38100" bIns="19050" anchor="ctr">
            <a:normAutofit/>
          </a:bodyPr>
          <a:lstStyle/>
          <a:p>
            <a:pPr algn="l">
              <a:lnSpc>
                <a:spcPct val="100000"/>
              </a:lnSpc>
              <a:buNone/>
              <a:defRPr sz="1575" b="0" i="0">
                <a:solidFill>
                  <a:srgbClr val="17212B"/>
                </a:solidFill>
                <a:latin typeface="Cambria" panose="02040503050406030204"/>
                <a:ea typeface="Cambria" panose="02040503050406030204"/>
                <a:cs typeface="Cambria" panose="02040503050406030204"/>
              </a:defRPr>
            </a:pPr>
            <a:r>
              <a:rPr sz="1575" b="0" i="0">
                <a:solidFill>
                  <a:srgbClr val="17212B"/>
                </a:solidFill>
                <a:latin typeface="Cambria" panose="02040503050406030204"/>
                <a:ea typeface="Cambria" panose="02040503050406030204"/>
                <a:cs typeface="Cambria" panose="02040503050406030204"/>
              </a:rPr>
              <a:t>Frontend vẫn phụ thuộc fallback. Báo cáo thiếu endpoint/mapper. Hai backend mobile có nguy cơ phân kỳ và bundle web còn lớn.</a:t>
            </a:r>
            <a:endParaRPr sz="1575" b="0" i="0">
              <a:solidFill>
                <a:srgbClr val="17212B"/>
              </a:solidFill>
              <a:latin typeface="Cambria" panose="02040503050406030204"/>
              <a:ea typeface="Cambria" panose="02040503050406030204"/>
              <a:cs typeface="Cambria" panose="02040503050406030204"/>
            </a:endParaRPr>
          </a:p>
        </p:txBody>
      </p:sp>
      <p:sp>
        <p:nvSpPr>
          <p:cNvPr id="11" name="Rectangle 10"/>
          <p:cNvSpPr>
            <a:spLocks noGrp="1"/>
          </p:cNvSpPr>
          <p:nvPr/>
        </p:nvSpPr>
        <p:spPr>
          <a:xfrm>
            <a:off x="590550" y="4810125"/>
            <a:ext cx="2286000" cy="438150"/>
          </a:xfrm>
          <a:prstGeom prst="rect">
            <a:avLst/>
          </a:prstGeom>
          <a:noFill/>
          <a:ln w="0">
            <a:noFill/>
          </a:ln>
        </p:spPr>
        <p:txBody>
          <a:bodyPr wrap="square" lIns="38100" tIns="19050" rIns="38100" bIns="19050" anchor="ctr">
            <a:normAutofit/>
          </a:bodyPr>
          <a:lstStyle/>
          <a:p>
            <a:pPr algn="l">
              <a:lnSpc>
                <a:spcPct val="100000"/>
              </a:lnSpc>
              <a:buNone/>
              <a:defRPr sz="1725" b="1" i="0">
                <a:solidFill>
                  <a:srgbClr val="E00000"/>
                </a:solidFill>
                <a:latin typeface="Cambria" panose="02040503050406030204"/>
                <a:ea typeface="Cambria" panose="02040503050406030204"/>
                <a:cs typeface="Cambria" panose="02040503050406030204"/>
              </a:defRPr>
            </a:pPr>
            <a:r>
              <a:rPr sz="1725" b="1" i="0">
                <a:solidFill>
                  <a:srgbClr val="E00000"/>
                </a:solidFill>
                <a:latin typeface="Cambria" panose="02040503050406030204"/>
                <a:ea typeface="Cambria" panose="02040503050406030204"/>
                <a:cs typeface="Cambria" panose="02040503050406030204"/>
              </a:rPr>
              <a:t>TRIỂN KHAI</a:t>
            </a:r>
            <a:endParaRPr sz="1725" b="1" i="0">
              <a:solidFill>
                <a:srgbClr val="E00000"/>
              </a:solidFill>
              <a:latin typeface="Cambria" panose="02040503050406030204"/>
              <a:ea typeface="Cambria" panose="02040503050406030204"/>
              <a:cs typeface="Cambria" panose="02040503050406030204"/>
            </a:endParaRPr>
          </a:p>
        </p:txBody>
      </p:sp>
      <p:sp>
        <p:nvSpPr>
          <p:cNvPr id="12" name="Rectangle 11"/>
          <p:cNvSpPr>
            <a:spLocks noGrp="1"/>
          </p:cNvSpPr>
          <p:nvPr/>
        </p:nvSpPr>
        <p:spPr>
          <a:xfrm>
            <a:off x="2905125" y="4924425"/>
            <a:ext cx="28575" cy="704850"/>
          </a:xfrm>
          <a:prstGeom prst="rect">
            <a:avLst/>
          </a:prstGeom>
          <a:solidFill>
            <a:srgbClr val="E00000"/>
          </a:solidFill>
          <a:ln w="0">
            <a:solidFill>
              <a:srgbClr val="E00000"/>
            </a:solidFill>
          </a:ln>
        </p:spPr>
      </p:sp>
      <p:sp>
        <p:nvSpPr>
          <p:cNvPr id="13" name="Rectangle 12"/>
          <p:cNvSpPr>
            <a:spLocks noGrp="1"/>
          </p:cNvSpPr>
          <p:nvPr/>
        </p:nvSpPr>
        <p:spPr>
          <a:xfrm>
            <a:off x="3190875" y="4810125"/>
            <a:ext cx="8143875" cy="857250"/>
          </a:xfrm>
          <a:prstGeom prst="rect">
            <a:avLst/>
          </a:prstGeom>
          <a:noFill/>
          <a:ln w="0">
            <a:noFill/>
          </a:ln>
        </p:spPr>
        <p:txBody>
          <a:bodyPr wrap="square" lIns="38100" tIns="19050" rIns="38100" bIns="19050" anchor="ctr">
            <a:normAutofit/>
          </a:bodyPr>
          <a:lstStyle/>
          <a:p>
            <a:pPr algn="l">
              <a:lnSpc>
                <a:spcPct val="100000"/>
              </a:lnSpc>
              <a:buNone/>
              <a:defRPr sz="1575" b="0" i="0">
                <a:solidFill>
                  <a:srgbClr val="17212B"/>
                </a:solidFill>
                <a:latin typeface="Cambria" panose="02040503050406030204"/>
                <a:ea typeface="Cambria" panose="02040503050406030204"/>
                <a:cs typeface="Cambria" panose="02040503050406030204"/>
              </a:defRPr>
            </a:pPr>
            <a:r>
              <a:rPr sz="1575" b="0" i="0">
                <a:solidFill>
                  <a:srgbClr val="17212B"/>
                </a:solidFill>
                <a:latin typeface="Cambria" panose="02040503050406030204"/>
                <a:ea typeface="Cambria" panose="02040503050406030204"/>
                <a:cs typeface="Cambria" panose="02040503050406030204"/>
              </a:rPr>
              <a:t>Nhiều thay đổi chưa gom baseline, chưa có CI tự động, môi trường Windows đang khóa Prisma engine khi build tổng.</a:t>
            </a:r>
            <a:endParaRPr sz="1575" b="0" i="0">
              <a:solidFill>
                <a:srgbClr val="17212B"/>
              </a:solidFill>
              <a:latin typeface="Cambria" panose="02040503050406030204"/>
              <a:ea typeface="Cambria" panose="02040503050406030204"/>
              <a:cs typeface="Cambria" panose="02040503050406030204"/>
            </a:endParaRPr>
          </a:p>
        </p:txBody>
      </p:sp>
      <p:sp>
        <p:nvSpPr>
          <p:cNvPr id="14" name="Rounded Rectangle 13"/>
          <p:cNvSpPr>
            <a:spLocks noGrp="1"/>
          </p:cNvSpPr>
          <p:nvPr/>
        </p:nvSpPr>
        <p:spPr>
          <a:xfrm>
            <a:off x="685800" y="5857875"/>
            <a:ext cx="10763250" cy="495300"/>
          </a:xfrm>
          <a:prstGeom prst="roundRect">
            <a:avLst>
              <a:gd name="adj" fmla="val 13462"/>
            </a:avLst>
          </a:prstGeom>
          <a:solidFill>
            <a:srgbClr val="FFF5CE"/>
          </a:solidFill>
          <a:ln w="9525">
            <a:solidFill>
              <a:srgbClr val="E4C45A"/>
            </a:solidFill>
          </a:ln>
        </p:spPr>
        <p:txBody>
          <a:bodyPr wrap="square" lIns="38100" tIns="19050" rIns="38100" bIns="19050" anchor="ctr">
            <a:normAutofit fontScale="96271"/>
          </a:bodyPr>
          <a:lstStyle/>
          <a:p>
            <a:pPr algn="ctr">
              <a:lnSpc>
                <a:spcPct val="100000"/>
              </a:lnSpc>
              <a:buNone/>
              <a:defRPr sz="1425" b="0" i="1">
                <a:solidFill>
                  <a:srgbClr val="59636E"/>
                </a:solidFill>
                <a:latin typeface="Cambria" panose="02040503050406030204"/>
                <a:ea typeface="Cambria" panose="02040503050406030204"/>
                <a:cs typeface="Cambria" panose="02040503050406030204"/>
              </a:defRPr>
            </a:pPr>
            <a:r>
              <a:rPr sz="1425" b="0" i="1">
                <a:solidFill>
                  <a:srgbClr val="59636E"/>
                </a:solidFill>
                <a:latin typeface="Cambria" panose="02040503050406030204"/>
                <a:ea typeface="Cambria" panose="02040503050406030204"/>
                <a:cs typeface="Cambria" panose="02040503050406030204"/>
              </a:rPr>
              <a:t>Các khó khăn trên cần được xử lý theo thứ tự rủi ro. Việc bổ sung thêm màn hình trước khi khóa dữ liệu và quyền truy cập sẽ làm tăng chi phí sửa lại.</a:t>
            </a:r>
            <a:endParaRPr sz="1425" b="0" i="1">
              <a:solidFill>
                <a:srgbClr val="59636E"/>
              </a:solidFill>
              <a:latin typeface="Cambria" panose="02040503050406030204"/>
              <a:ea typeface="Cambria" panose="02040503050406030204"/>
              <a:cs typeface="Cambria" panose="02040503050406030204"/>
            </a:endParaRPr>
          </a:p>
        </p:txBody>
      </p:sp>
      <p:sp>
        <p:nvSpPr>
          <p:cNvPr id="15" name="Rectangle 14"/>
          <p:cNvSpPr>
            <a:spLocks noGrp="1"/>
          </p:cNvSpPr>
          <p:nvPr/>
        </p:nvSpPr>
        <p:spPr>
          <a:xfrm>
            <a:off x="266700" y="6534150"/>
            <a:ext cx="7429500" cy="190500"/>
          </a:xfrm>
          <a:prstGeom prst="rect">
            <a:avLst/>
          </a:prstGeom>
          <a:noFill/>
          <a:ln w="0">
            <a:noFill/>
          </a:ln>
        </p:spPr>
        <p:txBody>
          <a:bodyPr wrap="square" lIns="38100" tIns="19050" rIns="38100" bIns="19050" anchor="ctr">
            <a:normAutofit/>
          </a:bodyPr>
          <a:lstStyle/>
          <a:p>
            <a:pPr algn="l">
              <a:lnSpc>
                <a:spcPct val="100000"/>
              </a:lnSpc>
              <a:buNone/>
              <a:defRPr sz="825" b="0" i="1">
                <a:solidFill>
                  <a:srgbClr val="8A8F93"/>
                </a:solidFill>
                <a:latin typeface="Cambria" panose="02040503050406030204"/>
                <a:ea typeface="Cambria" panose="02040503050406030204"/>
                <a:cs typeface="Cambria" panose="02040503050406030204"/>
              </a:defRPr>
            </a:pPr>
            <a:r>
              <a:rPr sz="825" b="0" i="1">
                <a:solidFill>
                  <a:srgbClr val="8A8F93"/>
                </a:solidFill>
                <a:latin typeface="Cambria" panose="02040503050406030204"/>
                <a:ea typeface="Cambria" panose="02040503050406030204"/>
                <a:cs typeface="Cambria" panose="02040503050406030204"/>
              </a:rPr>
              <a:t>Giới thiệu phần mềm và tiến độ phát triển | THACO AGRI Fleet | 21/09/2026</a:t>
            </a:r>
            <a:endParaRPr sz="825" b="0" i="1">
              <a:solidFill>
                <a:srgbClr val="8A8F93"/>
              </a:solidFill>
              <a:latin typeface="Cambria" panose="02040503050406030204"/>
              <a:ea typeface="Cambria" panose="02040503050406030204"/>
              <a:cs typeface="Cambria" panose="02040503050406030204"/>
            </a:endParaRPr>
          </a:p>
        </p:txBody>
      </p:sp>
      <p:sp>
        <p:nvSpPr>
          <p:cNvPr id="16" name="Rectangle 15"/>
          <p:cNvSpPr>
            <a:spLocks noGrp="1"/>
          </p:cNvSpPr>
          <p:nvPr/>
        </p:nvSpPr>
        <p:spPr>
          <a:xfrm>
            <a:off x="11658600" y="6534150"/>
            <a:ext cx="228600" cy="190500"/>
          </a:xfrm>
          <a:prstGeom prst="rect">
            <a:avLst/>
          </a:prstGeom>
          <a:noFill/>
          <a:ln w="0">
            <a:noFill/>
          </a:ln>
        </p:spPr>
        <p:txBody>
          <a:bodyPr wrap="square" lIns="38100" tIns="19050" rIns="38100" bIns="19050" anchor="ctr">
            <a:normAutofit/>
          </a:bodyPr>
          <a:lstStyle/>
          <a:p>
            <a:pPr algn="r">
              <a:lnSpc>
                <a:spcPct val="100000"/>
              </a:lnSpc>
              <a:buNone/>
              <a:defRPr sz="825" b="0" i="0">
                <a:solidFill>
                  <a:srgbClr val="8A8F93"/>
                </a:solidFill>
                <a:latin typeface="Cambria" panose="02040503050406030204"/>
                <a:ea typeface="Cambria" panose="02040503050406030204"/>
                <a:cs typeface="Cambria" panose="02040503050406030204"/>
              </a:defRPr>
            </a:pPr>
            <a:r>
              <a:rPr sz="825" b="0" i="0">
                <a:solidFill>
                  <a:srgbClr val="8A8F93"/>
                </a:solidFill>
                <a:latin typeface="Cambria" panose="02040503050406030204"/>
                <a:ea typeface="Cambria" panose="02040503050406030204"/>
                <a:cs typeface="Cambria" panose="02040503050406030204"/>
              </a:rPr>
              <a:t>26</a:t>
            </a:r>
            <a:endParaRPr sz="825" b="0" i="0">
              <a:solidFill>
                <a:srgbClr val="8A8F93"/>
              </a:solidFill>
              <a:latin typeface="Cambria" panose="02040503050406030204"/>
              <a:ea typeface="Cambria" panose="02040503050406030204"/>
              <a:cs typeface="Cambria" panose="02040503050406030204"/>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8" name="Image 0"/>
          <p:cNvPicPr>
            <a:picLocks noChangeAspect="1"/>
          </p:cNvPicPr>
          <p:nvPr/>
        </p:nvPicPr>
        <p:blipFill>
          <a:blip r:embed="rId1"/>
          <a:stretch>
            <a:fillRect/>
          </a:stretch>
        </p:blipFill>
        <p:spPr>
          <a:xfrm>
            <a:off x="0" y="0"/>
            <a:ext cx="12191695" cy="7062395"/>
          </a:xfrm>
          <a:prstGeom prst="rect">
            <a:avLst/>
          </a:prstGeom>
        </p:spPr>
      </p:pic>
      <p:sp>
        <p:nvSpPr>
          <p:cNvPr id="33" name="slide-title"/>
          <p:cNvSpPr>
            <a:spLocks noGrp="1"/>
          </p:cNvSpPr>
          <p:nvPr/>
        </p:nvSpPr>
        <p:spPr>
          <a:xfrm>
            <a:off x="2571750" y="142875"/>
            <a:ext cx="9191625" cy="590550"/>
          </a:xfrm>
          <a:prstGeom prst="rect">
            <a:avLst/>
          </a:prstGeom>
          <a:noFill/>
          <a:ln w="0">
            <a:noFill/>
          </a:ln>
        </p:spPr>
        <p:txBody>
          <a:bodyPr wrap="square" lIns="38100" tIns="19050" rIns="38100" bIns="19050" anchor="ctr">
            <a:normAutofit/>
          </a:bodyPr>
          <a:lstStyle/>
          <a:p>
            <a:pPr algn="ctr">
              <a:lnSpc>
                <a:spcPct val="100000"/>
              </a:lnSpc>
              <a:buNone/>
              <a:defRPr sz="2100" b="1" i="0">
                <a:solidFill>
                  <a:srgbClr val="E00000"/>
                </a:solidFill>
                <a:latin typeface="Cambria" panose="02040503050406030204"/>
                <a:ea typeface="Cambria" panose="02040503050406030204"/>
                <a:cs typeface="Cambria" panose="02040503050406030204"/>
              </a:defRPr>
            </a:pPr>
            <a:r>
              <a:rPr sz="2100" b="1" i="0">
                <a:solidFill>
                  <a:srgbClr val="E00000"/>
                </a:solidFill>
                <a:latin typeface="Cambria" panose="02040503050406030204"/>
                <a:ea typeface="Cambria" panose="02040503050406030204"/>
                <a:cs typeface="Cambria" panose="02040503050406030204"/>
              </a:rPr>
              <a:t>LỘ TRÌNH HOÀN THIỆN ĐỀ XUẤT</a:t>
            </a:r>
            <a:endParaRPr sz="2100" b="1" i="0">
              <a:solidFill>
                <a:srgbClr val="E00000"/>
              </a:solidFill>
              <a:latin typeface="Cambria" panose="02040503050406030204"/>
              <a:ea typeface="Cambria" panose="02040503050406030204"/>
              <a:cs typeface="Cambria" panose="02040503050406030204"/>
            </a:endParaRPr>
          </a:p>
        </p:txBody>
      </p:sp>
      <p:graphicFrame>
        <p:nvGraphicFramePr>
          <p:cNvPr id="40" name="Table 39"/>
          <p:cNvGraphicFramePr/>
          <p:nvPr/>
        </p:nvGraphicFramePr>
        <p:xfrm>
          <a:off x="457200" y="1000125"/>
          <a:ext cx="11277600" cy="4762500"/>
        </p:xfrm>
        <a:graphic>
          <a:graphicData uri="http://schemas.openxmlformats.org/drawingml/2006/table">
            <a:tbl>
              <a:tblPr/>
              <a:tblGrid>
                <a:gridCol w="2667000"/>
                <a:gridCol w="3333750"/>
                <a:gridCol w="5276850"/>
              </a:tblGrid>
              <a:tr h="476250">
                <a:tc>
                  <a:txBody>
                    <a:bodyPr/>
                    <a:lstStyle/>
                    <a:p>
                      <a:r>
                        <a:t>GIAI ĐOẠN</a:t>
                      </a:r>
                    </a:p>
                  </a:txBody>
                  <a:tcPr/>
                </a:tc>
                <a:tc>
                  <a:txBody>
                    <a:bodyPr/>
                    <a:lstStyle/>
                    <a:p>
                      <a:r>
                        <a:t>MỤC TIÊU</a:t>
                      </a:r>
                    </a:p>
                  </a:txBody>
                  <a:tcPr/>
                </a:tc>
                <a:tc>
                  <a:txBody>
                    <a:bodyPr/>
                    <a:lstStyle/>
                    <a:p>
                      <a:r>
                        <a:t>ĐẦU RA CHÍNH</a:t>
                      </a:r>
                    </a:p>
                  </a:txBody>
                  <a:tcPr/>
                </a:tc>
              </a:tr>
              <a:tr h="857250">
                <a:tc>
                  <a:txBody>
                    <a:bodyPr/>
                    <a:lstStyle/>
                    <a:p>
                      <a:r>
                        <a:t>0. Ổn định baseline</a:t>
                      </a:r>
                    </a:p>
                    <a:p>
                      <a:r>
                        <a:t>2–3 ngày</a:t>
                      </a:r>
                    </a:p>
                  </a:txBody>
                  <a:tcPr/>
                </a:tc>
                <a:tc>
                  <a:txBody>
                    <a:bodyPr/>
                    <a:lstStyle/>
                    <a:p>
                      <a:r>
                        <a:t>Chốt nhánh và build lặp lại</a:t>
                      </a:r>
                    </a:p>
                  </a:txBody>
                  <a:tcPr/>
                </a:tc>
                <a:tc>
                  <a:txBody>
                    <a:bodyPr/>
                    <a:lstStyle/>
                    <a:p>
                      <a:r>
                        <a:t>Dọn working tree, thiết lập CI, xử lý Prisma lock và lập danh sách trang mock</a:t>
                      </a:r>
                    </a:p>
                  </a:txBody>
                  <a:tcPr/>
                </a:tc>
              </a:tr>
              <a:tr h="857250">
                <a:tc>
                  <a:txBody>
                    <a:bodyPr/>
                    <a:lstStyle/>
                    <a:p>
                      <a:r>
                        <a:t>1. Khép kín dữ liệu/API</a:t>
                      </a:r>
                    </a:p>
                    <a:p>
                      <a:r>
                        <a:t>1–2 tuần</a:t>
                      </a:r>
                    </a:p>
                  </a:txBody>
                  <a:tcPr/>
                </a:tc>
                <a:tc>
                  <a:txBody>
                    <a:bodyPr/>
                    <a:lstStyle/>
                    <a:p>
                      <a:r>
                        <a:t>Loại gap P0 trên luồng chính</a:t>
                      </a:r>
                    </a:p>
                  </a:txBody>
                  <a:tcPr/>
                </a:tc>
                <a:tc>
                  <a:txBody>
                    <a:bodyPr/>
                    <a:lstStyle/>
                    <a:p>
                      <a:r>
                        <a:t>Scope đơn vị, policy delete/audit, API báo cáo và bỏ fallback quan trọng</a:t>
                      </a:r>
                    </a:p>
                  </a:txBody>
                  <a:tcPr/>
                </a:tc>
              </a:tr>
              <a:tr h="857250">
                <a:tc>
                  <a:txBody>
                    <a:bodyPr/>
                    <a:lstStyle/>
                    <a:p>
                      <a:r>
                        <a:t>2. Xác nhận nghiệp vụ</a:t>
                      </a:r>
                    </a:p>
                    <a:p>
                      <a:r>
                        <a:t>1–2 tuần</a:t>
                      </a:r>
                    </a:p>
                  </a:txBody>
                  <a:tcPr/>
                </a:tc>
                <a:tc>
                  <a:txBody>
                    <a:bodyPr/>
                    <a:lstStyle/>
                    <a:p>
                      <a:r>
                        <a:t>Chốt các rule UNKNOWN</a:t>
                      </a:r>
                    </a:p>
                  </a:txBody>
                  <a:tcPr/>
                </a:tc>
                <a:tc>
                  <a:txBody>
                    <a:bodyPr/>
                    <a:lstStyle/>
                    <a:p>
                      <a:r>
                        <a:t>KPI, GPS, năng suất, ưu tiên xe, minh chứng và nghiệm thu</a:t>
                      </a:r>
                    </a:p>
                  </a:txBody>
                  <a:tcPr/>
                </a:tc>
              </a:tr>
              <a:tr h="857250">
                <a:tc>
                  <a:txBody>
                    <a:bodyPr/>
                    <a:lstStyle/>
                    <a:p>
                      <a:r>
                        <a:t>3. Pilot có kiểm soát</a:t>
                      </a:r>
                    </a:p>
                    <a:p>
                      <a:r>
                        <a:t>1 tuần</a:t>
                      </a:r>
                    </a:p>
                  </a:txBody>
                  <a:tcPr/>
                </a:tc>
                <a:tc>
                  <a:txBody>
                    <a:bodyPr/>
                    <a:lstStyle/>
                    <a:p>
                      <a:r>
                        <a:t>Kiểm chứng đầu cuối tại một đơn vị</a:t>
                      </a:r>
                    </a:p>
                  </a:txBody>
                  <a:tcPr/>
                </a:tc>
                <a:tc>
                  <a:txBody>
                    <a:bodyPr/>
                    <a:lstStyle/>
                    <a:p>
                      <a:r>
                        <a:t>UAT theo role, đối soát dữ liệu, offline sync và rollback/runbook</a:t>
                      </a:r>
                    </a:p>
                  </a:txBody>
                  <a:tcPr/>
                </a:tc>
              </a:tr>
              <a:tr h="857250">
                <a:tc>
                  <a:txBody>
                    <a:bodyPr/>
                    <a:lstStyle/>
                    <a:p>
                      <a:r>
                        <a:t>4. Mở rộng</a:t>
                      </a:r>
                    </a:p>
                  </a:txBody>
                  <a:tcPr/>
                </a:tc>
                <a:tc>
                  <a:txBody>
                    <a:bodyPr/>
                    <a:lstStyle/>
                    <a:p>
                      <a:r>
                        <a:t>Nhân rộng sau khi pilot đạt</a:t>
                      </a:r>
                    </a:p>
                  </a:txBody>
                  <a:tcPr/>
                </a:tc>
                <a:tc>
                  <a:txBody>
                    <a:bodyPr/>
                    <a:lstStyle/>
                    <a:p>
                      <a:r>
                        <a:t>Theo dõi SLA, lỗi dữ liệu, hiệu năng và adoption</a:t>
                      </a:r>
                    </a:p>
                  </a:txBody>
                  <a:tcPr/>
                </a:tc>
              </a:tr>
            </a:tbl>
          </a:graphicData>
        </a:graphic>
      </p:graphicFrame>
      <p:sp>
        <p:nvSpPr>
          <p:cNvPr id="35" name="Rectangle 34"/>
          <p:cNvSpPr>
            <a:spLocks noGrp="1"/>
          </p:cNvSpPr>
          <p:nvPr/>
        </p:nvSpPr>
        <p:spPr>
          <a:xfrm>
            <a:off x="742950" y="5905500"/>
            <a:ext cx="10668000" cy="428625"/>
          </a:xfrm>
          <a:prstGeom prst="rect">
            <a:avLst/>
          </a:prstGeom>
          <a:noFill/>
          <a:ln w="0">
            <a:noFill/>
          </a:ln>
        </p:spPr>
        <p:txBody>
          <a:bodyPr wrap="square" lIns="38100" tIns="19050" rIns="38100" bIns="19050" anchor="ctr">
            <a:normAutofit/>
          </a:bodyPr>
          <a:lstStyle/>
          <a:p>
            <a:pPr algn="ctr">
              <a:lnSpc>
                <a:spcPct val="100000"/>
              </a:lnSpc>
              <a:buNone/>
              <a:defRPr sz="1350" b="0" i="1">
                <a:solidFill>
                  <a:srgbClr val="59636E"/>
                </a:solidFill>
                <a:latin typeface="Cambria" panose="02040503050406030204"/>
                <a:ea typeface="Cambria" panose="02040503050406030204"/>
                <a:cs typeface="Cambria" panose="02040503050406030204"/>
              </a:defRPr>
            </a:pPr>
            <a:r>
              <a:rPr sz="1350" b="0" i="1">
                <a:solidFill>
                  <a:srgbClr val="59636E"/>
                </a:solidFill>
                <a:latin typeface="Cambria" panose="02040503050406030204"/>
                <a:ea typeface="Cambria" panose="02040503050406030204"/>
                <a:cs typeface="Cambria" panose="02040503050406030204"/>
              </a:rPr>
              <a:t>Thời lượng là ước lượng phục vụ lập kế hoạch. Cần điều chỉnh sau khi chốt phạm vi pilot và nguồn lực thực tế.</a:t>
            </a:r>
            <a:endParaRPr sz="1350" b="0" i="1">
              <a:solidFill>
                <a:srgbClr val="59636E"/>
              </a:solidFill>
              <a:latin typeface="Cambria" panose="02040503050406030204"/>
              <a:ea typeface="Cambria" panose="02040503050406030204"/>
              <a:cs typeface="Cambria" panose="02040503050406030204"/>
            </a:endParaRPr>
          </a:p>
        </p:txBody>
      </p:sp>
      <p:sp>
        <p:nvSpPr>
          <p:cNvPr id="36" name="Rectangle 35"/>
          <p:cNvSpPr>
            <a:spLocks noGrp="1"/>
          </p:cNvSpPr>
          <p:nvPr/>
        </p:nvSpPr>
        <p:spPr>
          <a:xfrm>
            <a:off x="266700" y="6534150"/>
            <a:ext cx="7429500" cy="190500"/>
          </a:xfrm>
          <a:prstGeom prst="rect">
            <a:avLst/>
          </a:prstGeom>
          <a:noFill/>
          <a:ln w="0">
            <a:noFill/>
          </a:ln>
        </p:spPr>
        <p:txBody>
          <a:bodyPr wrap="square" lIns="38100" tIns="19050" rIns="38100" bIns="19050" anchor="ctr">
            <a:normAutofit/>
          </a:bodyPr>
          <a:lstStyle/>
          <a:p>
            <a:pPr algn="l">
              <a:lnSpc>
                <a:spcPct val="100000"/>
              </a:lnSpc>
              <a:buNone/>
              <a:defRPr sz="825" b="0" i="1">
                <a:solidFill>
                  <a:srgbClr val="8A8F93"/>
                </a:solidFill>
                <a:latin typeface="Cambria" panose="02040503050406030204"/>
                <a:ea typeface="Cambria" panose="02040503050406030204"/>
                <a:cs typeface="Cambria" panose="02040503050406030204"/>
              </a:defRPr>
            </a:pPr>
            <a:r>
              <a:rPr sz="825" b="0" i="1">
                <a:solidFill>
                  <a:srgbClr val="8A8F93"/>
                </a:solidFill>
                <a:latin typeface="Cambria" panose="02040503050406030204"/>
                <a:ea typeface="Cambria" panose="02040503050406030204"/>
                <a:cs typeface="Cambria" panose="02040503050406030204"/>
              </a:rPr>
              <a:t>Giới thiệu phần mềm và tiến độ phát triển | THACO AGRI Fleet | 21/09/2026</a:t>
            </a:r>
            <a:endParaRPr sz="825" b="0" i="1">
              <a:solidFill>
                <a:srgbClr val="8A8F93"/>
              </a:solidFill>
              <a:latin typeface="Cambria" panose="02040503050406030204"/>
              <a:ea typeface="Cambria" panose="02040503050406030204"/>
              <a:cs typeface="Cambria" panose="02040503050406030204"/>
            </a:endParaRPr>
          </a:p>
        </p:txBody>
      </p:sp>
      <p:sp>
        <p:nvSpPr>
          <p:cNvPr id="37" name="Rectangle 36"/>
          <p:cNvSpPr>
            <a:spLocks noGrp="1"/>
          </p:cNvSpPr>
          <p:nvPr/>
        </p:nvSpPr>
        <p:spPr>
          <a:xfrm>
            <a:off x="11658600" y="6534150"/>
            <a:ext cx="228600" cy="190500"/>
          </a:xfrm>
          <a:prstGeom prst="rect">
            <a:avLst/>
          </a:prstGeom>
          <a:noFill/>
          <a:ln w="0">
            <a:noFill/>
          </a:ln>
        </p:spPr>
        <p:txBody>
          <a:bodyPr wrap="square" lIns="38100" tIns="19050" rIns="38100" bIns="19050" anchor="ctr">
            <a:normAutofit/>
          </a:bodyPr>
          <a:lstStyle/>
          <a:p>
            <a:pPr algn="r">
              <a:lnSpc>
                <a:spcPct val="100000"/>
              </a:lnSpc>
              <a:buNone/>
              <a:defRPr sz="825" b="0" i="0">
                <a:solidFill>
                  <a:srgbClr val="8A8F93"/>
                </a:solidFill>
                <a:latin typeface="Cambria" panose="02040503050406030204"/>
                <a:ea typeface="Cambria" panose="02040503050406030204"/>
                <a:cs typeface="Cambria" panose="02040503050406030204"/>
              </a:defRPr>
            </a:pPr>
            <a:r>
              <a:rPr sz="825" b="0" i="0">
                <a:solidFill>
                  <a:srgbClr val="8A8F93"/>
                </a:solidFill>
                <a:latin typeface="Cambria" panose="02040503050406030204"/>
                <a:ea typeface="Cambria" panose="02040503050406030204"/>
                <a:cs typeface="Cambria" panose="02040503050406030204"/>
              </a:rPr>
              <a:t>27</a:t>
            </a:r>
            <a:endParaRPr sz="825" b="0" i="0">
              <a:solidFill>
                <a:srgbClr val="8A8F93"/>
              </a:solidFill>
              <a:latin typeface="Cambria" panose="02040503050406030204"/>
              <a:ea typeface="Cambria" panose="02040503050406030204"/>
              <a:cs typeface="Cambria" panose="02040503050406030204"/>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3" name="Image 0"/>
          <p:cNvPicPr>
            <a:picLocks noChangeAspect="1"/>
          </p:cNvPicPr>
          <p:nvPr/>
        </p:nvPicPr>
        <p:blipFill>
          <a:blip r:embed="rId1"/>
          <a:stretch>
            <a:fillRect/>
          </a:stretch>
        </p:blipFill>
        <p:spPr>
          <a:xfrm>
            <a:off x="-83975" y="0"/>
            <a:ext cx="12191695" cy="6858000"/>
          </a:xfrm>
          <a:prstGeom prst="rect">
            <a:avLst/>
          </a:prstGeom>
        </p:spPr>
      </p:pic>
      <p:sp>
        <p:nvSpPr>
          <p:cNvPr id="9" name="Rectangle 8"/>
          <p:cNvSpPr>
            <a:spLocks noGrp="1"/>
          </p:cNvSpPr>
          <p:nvPr/>
        </p:nvSpPr>
        <p:spPr>
          <a:xfrm>
            <a:off x="2381250" y="2476500"/>
            <a:ext cx="7429500" cy="762000"/>
          </a:xfrm>
          <a:prstGeom prst="rect">
            <a:avLst/>
          </a:prstGeom>
          <a:noFill/>
          <a:ln w="0">
            <a:noFill/>
          </a:ln>
        </p:spPr>
        <p:txBody>
          <a:bodyPr wrap="square" lIns="38100" tIns="19050" rIns="38100" bIns="19050" anchor="ctr">
            <a:normAutofit/>
          </a:bodyPr>
          <a:lstStyle/>
          <a:p>
            <a:pPr algn="ctr">
              <a:lnSpc>
                <a:spcPct val="100000"/>
              </a:lnSpc>
              <a:buNone/>
              <a:defRPr sz="3600" b="1" i="0">
                <a:solidFill>
                  <a:srgbClr val="006B35"/>
                </a:solidFill>
                <a:latin typeface="Cambria" panose="02040503050406030204"/>
                <a:ea typeface="Cambria" panose="02040503050406030204"/>
                <a:cs typeface="Cambria" panose="02040503050406030204"/>
              </a:defRPr>
            </a:pPr>
            <a:r>
              <a:rPr sz="3600" b="1" i="0">
                <a:solidFill>
                  <a:srgbClr val="006B35"/>
                </a:solidFill>
                <a:latin typeface="Cambria" panose="02040503050406030204"/>
                <a:ea typeface="Cambria" panose="02040503050406030204"/>
                <a:cs typeface="Cambria" panose="02040503050406030204"/>
              </a:rPr>
              <a:t>TRÂN TRỌNG CẢM ƠN</a:t>
            </a:r>
            <a:endParaRPr sz="3600" b="1" i="0">
              <a:solidFill>
                <a:srgbClr val="006B35"/>
              </a:solidFill>
              <a:latin typeface="Cambria" panose="02040503050406030204"/>
              <a:ea typeface="Cambria" panose="02040503050406030204"/>
              <a:cs typeface="Cambria" panose="02040503050406030204"/>
            </a:endParaRPr>
          </a:p>
        </p:txBody>
      </p:sp>
      <p:sp>
        <p:nvSpPr>
          <p:cNvPr id="10" name="Rectangle 9"/>
          <p:cNvSpPr>
            <a:spLocks noGrp="1"/>
          </p:cNvSpPr>
          <p:nvPr/>
        </p:nvSpPr>
        <p:spPr>
          <a:xfrm>
            <a:off x="3048000" y="3638550"/>
            <a:ext cx="6096000" cy="361950"/>
          </a:xfrm>
          <a:prstGeom prst="rect">
            <a:avLst/>
          </a:prstGeom>
          <a:noFill/>
          <a:ln w="0">
            <a:noFill/>
          </a:ln>
        </p:spPr>
        <p:txBody>
          <a:bodyPr wrap="square" lIns="38100" tIns="19050" rIns="38100" bIns="19050" anchor="t">
            <a:normAutofit/>
          </a:bodyPr>
          <a:lstStyle/>
          <a:p>
            <a:pPr algn="ctr">
              <a:lnSpc>
                <a:spcPct val="100000"/>
              </a:lnSpc>
              <a:buNone/>
              <a:defRPr sz="1725" b="1" i="0">
                <a:solidFill>
                  <a:srgbClr val="E00000"/>
                </a:solidFill>
                <a:latin typeface="Cambria" panose="02040503050406030204"/>
                <a:ea typeface="Cambria" panose="02040503050406030204"/>
                <a:cs typeface="Cambria" panose="02040503050406030204"/>
              </a:defRPr>
            </a:pPr>
            <a:r>
              <a:rPr sz="1725" b="1" i="0">
                <a:solidFill>
                  <a:srgbClr val="E00000"/>
                </a:solidFill>
                <a:latin typeface="Cambria" panose="02040503050406030204"/>
                <a:ea typeface="Cambria" panose="02040503050406030204"/>
                <a:cs typeface="Cambria" panose="02040503050406030204"/>
              </a:rPr>
              <a:t>Ba quyết định cần chốt tiếp theo</a:t>
            </a:r>
            <a:endParaRPr sz="1725" b="1" i="0">
              <a:solidFill>
                <a:srgbClr val="E00000"/>
              </a:solidFill>
              <a:latin typeface="Cambria" panose="02040503050406030204"/>
              <a:ea typeface="Cambria" panose="02040503050406030204"/>
              <a:cs typeface="Cambria" panose="02040503050406030204"/>
            </a:endParaRPr>
          </a:p>
        </p:txBody>
      </p:sp>
      <p:sp>
        <p:nvSpPr>
          <p:cNvPr id="11" name="Rectangle 10"/>
          <p:cNvSpPr>
            <a:spLocks noGrp="1"/>
          </p:cNvSpPr>
          <p:nvPr/>
        </p:nvSpPr>
        <p:spPr>
          <a:xfrm>
            <a:off x="1095375" y="4143375"/>
            <a:ext cx="10001250" cy="523875"/>
          </a:xfrm>
          <a:prstGeom prst="rect">
            <a:avLst/>
          </a:prstGeom>
          <a:noFill/>
          <a:ln w="0">
            <a:noFill/>
          </a:ln>
        </p:spPr>
        <p:txBody>
          <a:bodyPr wrap="square" lIns="38100" tIns="19050" rIns="38100" bIns="19050" anchor="ctr">
            <a:normAutofit/>
          </a:bodyPr>
          <a:lstStyle/>
          <a:p>
            <a:pPr algn="ctr">
              <a:lnSpc>
                <a:spcPct val="100000"/>
              </a:lnSpc>
              <a:buNone/>
              <a:defRPr sz="1500" b="0" i="0">
                <a:solidFill>
                  <a:srgbClr val="17212B"/>
                </a:solidFill>
                <a:latin typeface="Cambria" panose="02040503050406030204"/>
                <a:ea typeface="Cambria" panose="02040503050406030204"/>
                <a:cs typeface="Cambria" panose="02040503050406030204"/>
              </a:defRPr>
            </a:pPr>
            <a:r>
              <a:rPr sz="1500" b="0" i="0">
                <a:solidFill>
                  <a:srgbClr val="17212B"/>
                </a:solidFill>
                <a:latin typeface="Cambria" panose="02040503050406030204"/>
                <a:ea typeface="Cambria" panose="02040503050406030204"/>
                <a:cs typeface="Cambria" panose="02040503050406030204"/>
              </a:rPr>
              <a:t>1. Phạm vi và đơn vị pilot   2. Quy tắc nghiệp vụ còn UNKNOWN   3. Tiêu chí nghiệm thu production</a:t>
            </a:r>
            <a:endParaRPr sz="1500" b="0" i="0">
              <a:solidFill>
                <a:srgbClr val="17212B"/>
              </a:solidFill>
              <a:latin typeface="Cambria" panose="02040503050406030204"/>
              <a:ea typeface="Cambria" panose="02040503050406030204"/>
              <a:cs typeface="Cambria" panose="02040503050406030204"/>
            </a:endParaRPr>
          </a:p>
        </p:txBody>
      </p:sp>
      <p:sp>
        <p:nvSpPr>
          <p:cNvPr id="12" name="Rectangle 11"/>
          <p:cNvSpPr>
            <a:spLocks noGrp="1"/>
          </p:cNvSpPr>
          <p:nvPr/>
        </p:nvSpPr>
        <p:spPr>
          <a:xfrm>
            <a:off x="2381250" y="5619750"/>
            <a:ext cx="7429500" cy="533400"/>
          </a:xfrm>
          <a:prstGeom prst="rect">
            <a:avLst/>
          </a:prstGeom>
          <a:noFill/>
          <a:ln w="0">
            <a:noFill/>
          </a:ln>
        </p:spPr>
        <p:txBody>
          <a:bodyPr wrap="square" lIns="38100" tIns="19050" rIns="38100" bIns="19050" anchor="ctr">
            <a:normAutofit/>
          </a:bodyPr>
          <a:lstStyle/>
          <a:p>
            <a:pPr algn="ctr">
              <a:lnSpc>
                <a:spcPct val="100000"/>
              </a:lnSpc>
              <a:buNone/>
              <a:defRPr sz="1425" b="1" i="0">
                <a:solidFill>
                  <a:srgbClr val="006B35"/>
                </a:solidFill>
                <a:latin typeface="Cambria" panose="02040503050406030204"/>
                <a:ea typeface="Cambria" panose="02040503050406030204"/>
                <a:cs typeface="Cambria" panose="02040503050406030204"/>
              </a:defRPr>
            </a:pPr>
            <a:r>
              <a:rPr sz="1425" b="1" i="0">
                <a:solidFill>
                  <a:srgbClr val="006B35"/>
                </a:solidFill>
                <a:latin typeface="Cambria" panose="02040503050406030204"/>
                <a:ea typeface="Cambria" panose="02040503050406030204"/>
                <a:cs typeface="Cambria" panose="02040503050406030204"/>
              </a:rPr>
              <a:t>PHÒNG VẬN HÀNH SỐ</a:t>
            </a:r>
            <a:endParaRPr sz="1425" b="1" i="0">
              <a:solidFill>
                <a:srgbClr val="006B35"/>
              </a:solidFill>
              <a:latin typeface="Cambria" panose="02040503050406030204"/>
              <a:ea typeface="Cambria" panose="02040503050406030204"/>
              <a:cs typeface="Cambria" panose="02040503050406030204"/>
            </a:endParaRPr>
          </a:p>
          <a:p>
            <a:pPr algn="ctr">
              <a:lnSpc>
                <a:spcPct val="100000"/>
              </a:lnSpc>
              <a:buNone/>
              <a:defRPr sz="1425" b="1" i="0">
                <a:solidFill>
                  <a:srgbClr val="006B35"/>
                </a:solidFill>
                <a:latin typeface="Cambria" panose="02040503050406030204"/>
                <a:ea typeface="Cambria" panose="02040503050406030204"/>
                <a:cs typeface="Cambria" panose="02040503050406030204"/>
              </a:defRPr>
            </a:pPr>
            <a:r>
              <a:rPr sz="1425" b="1" i="0">
                <a:solidFill>
                  <a:srgbClr val="006B35"/>
                </a:solidFill>
                <a:latin typeface="Cambria" panose="02040503050406030204"/>
                <a:ea typeface="Cambria" panose="02040503050406030204"/>
                <a:cs typeface="Cambria" panose="02040503050406030204"/>
              </a:rPr>
              <a:t>KLH Koun Mom, Ratanakiri, Cambodia | 21.09.2026</a:t>
            </a:r>
            <a:endParaRPr sz="1425" b="1" i="0">
              <a:solidFill>
                <a:srgbClr val="006B35"/>
              </a:solidFill>
              <a:latin typeface="Cambria" panose="02040503050406030204"/>
              <a:ea typeface="Cambria" panose="02040503050406030204"/>
              <a:cs typeface="Cambria" panose="0204050305040603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18110</Words>
  <Application>WPS Presentation</Application>
  <PresentationFormat>Converted Presentation</PresentationFormat>
  <Paragraphs>1123</Paragraphs>
  <Slides>28</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28</vt:i4>
      </vt:variant>
    </vt:vector>
  </HeadingPairs>
  <TitlesOfParts>
    <vt:vector size="38" baseType="lpstr">
      <vt:lpstr>Arial</vt:lpstr>
      <vt:lpstr>SimSun</vt:lpstr>
      <vt:lpstr>Wingdings</vt:lpstr>
      <vt:lpstr>Arial</vt:lpstr>
      <vt:lpstr>Cambria</vt:lpstr>
      <vt:lpstr>Microsoft YaHei</vt:lpstr>
      <vt:lpstr>Arial Unicode MS</vt:lpstr>
      <vt:lpstr>Calibri</vt:lpstr>
      <vt:lpstr>Calibri Light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Tiểu Long Chau</cp:lastModifiedBy>
  <cp:revision>1</cp:revision>
  <dcterms:created xsi:type="dcterms:W3CDTF">2026-09-22T00:10:21Z</dcterms:created>
  <dcterms:modified xsi:type="dcterms:W3CDTF">2026-09-22T00:10:21Z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CB14AB7862D640FBB8876F517FCDAAA9_12</vt:lpwstr>
  </property>
</Properties>
</file>