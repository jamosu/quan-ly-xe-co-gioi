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e7479df1174dde" /><Relationship Type="http://schemas.openxmlformats.org/officeDocument/2006/relationships/extended-properties" Target="/docProps/app.xml" Id="Rb68a3f3b77294ced" /><Relationship Type="http://schemas.openxmlformats.org/officeDocument/2006/relationships/officeDocument" Target="/ppt/presentation.xml" Id="R96ef12634a88455f" /></Relationships>
</file>

<file path=ppt/presentation.xml><?xml version="1.0" encoding="utf-8"?>
<p:presentation xmlns:p="http://schemas.openxmlformats.org/presentationml/2006/main">
  <p:sldMasterIdLst>
    <p:sldMasterId xmlns:r="http://schemas.openxmlformats.org/officeDocument/2006/relationships" id="2147483648" r:id="R869302c1150742d0"/>
  </p:sldMasterIdLst>
  <p:notesMasterIdLst>
    <p:notesMasterId xmlns:r="http://schemas.openxmlformats.org/officeDocument/2006/relationships" r:id="R8c323e18890c4229"/>
  </p:notesMasterIdLst>
  <p:sldIdLst>
    <p:sldId xmlns:r="http://schemas.openxmlformats.org/officeDocument/2006/relationships" id="256" r:id="Ree4b6187551e4372"/>
    <p:sldId xmlns:r="http://schemas.openxmlformats.org/officeDocument/2006/relationships" id="257" r:id="R1a8ef18385524db6"/>
    <p:sldId xmlns:r="http://schemas.openxmlformats.org/officeDocument/2006/relationships" id="258" r:id="R878e92c029b44bec"/>
    <p:sldId xmlns:r="http://schemas.openxmlformats.org/officeDocument/2006/relationships" id="259" r:id="R3d13f02d849f4af9"/>
    <p:sldId xmlns:r="http://schemas.openxmlformats.org/officeDocument/2006/relationships" id="260" r:id="R8098e60372074812"/>
    <p:sldId xmlns:r="http://schemas.openxmlformats.org/officeDocument/2006/relationships" id="261" r:id="R276d1620dd614f0d"/>
    <p:sldId xmlns:r="http://schemas.openxmlformats.org/officeDocument/2006/relationships" id="262" r:id="R3b188a52b8bb4691"/>
    <p:sldId xmlns:r="http://schemas.openxmlformats.org/officeDocument/2006/relationships" id="263" r:id="Ra71c5a0a76104a79"/>
    <p:sldId xmlns:r="http://schemas.openxmlformats.org/officeDocument/2006/relationships" id="264" r:id="R28e045965d8042a2"/>
    <p:sldId xmlns:r="http://schemas.openxmlformats.org/officeDocument/2006/relationships" id="265" r:id="Rfcc7e36bdd864ff8"/>
    <p:sldId xmlns:r="http://schemas.openxmlformats.org/officeDocument/2006/relationships" id="266" r:id="Rc530b36e437841c2"/>
    <p:sldId xmlns:r="http://schemas.openxmlformats.org/officeDocument/2006/relationships" id="267" r:id="R8be93062768143ec"/>
    <p:sldId xmlns:r="http://schemas.openxmlformats.org/officeDocument/2006/relationships" id="268" r:id="Rf40f52f9213048a8"/>
    <p:sldId xmlns:r="http://schemas.openxmlformats.org/officeDocument/2006/relationships" id="269" r:id="R0e56661fbacc4f4f"/>
    <p:sldId xmlns:r="http://schemas.openxmlformats.org/officeDocument/2006/relationships" id="270" r:id="Rd46d3514405f41e6"/>
    <p:sldId xmlns:r="http://schemas.openxmlformats.org/officeDocument/2006/relationships" id="271" r:id="Rc55a9e0982a74033"/>
    <p:sldId xmlns:r="http://schemas.openxmlformats.org/officeDocument/2006/relationships" id="272" r:id="R882e5901087544b5"/>
    <p:sldId xmlns:r="http://schemas.openxmlformats.org/officeDocument/2006/relationships" id="273" r:id="R1445a8b63d8f45d5"/>
    <p:sldId xmlns:r="http://schemas.openxmlformats.org/officeDocument/2006/relationships" id="274" r:id="R7fe76bab2a4d4216"/>
    <p:sldId xmlns:r="http://schemas.openxmlformats.org/officeDocument/2006/relationships" id="275" r:id="R11bf10c3e63e4fe4"/>
    <p:sldId xmlns:r="http://schemas.openxmlformats.org/officeDocument/2006/relationships" id="276" r:id="R8cb5dacc0a534c35"/>
    <p:sldId xmlns:r="http://schemas.openxmlformats.org/officeDocument/2006/relationships" id="277" r:id="R031edc655514464a"/>
    <p:sldId xmlns:r="http://schemas.openxmlformats.org/officeDocument/2006/relationships" id="278" r:id="R7e73f89e15724b9c"/>
    <p:sldId xmlns:r="http://schemas.openxmlformats.org/officeDocument/2006/relationships" id="279" r:id="Rcd16178dac464ac7"/>
    <p:sldId xmlns:r="http://schemas.openxmlformats.org/officeDocument/2006/relationships" id="280" r:id="R945881c248054c4a"/>
    <p:sldId xmlns:r="http://schemas.openxmlformats.org/officeDocument/2006/relationships" id="281" r:id="R5064523fe88f45d6"/>
    <p:sldId xmlns:r="http://schemas.openxmlformats.org/officeDocument/2006/relationships" id="282" r:id="R79a00e840769444b"/>
    <p:sldId xmlns:r="http://schemas.openxmlformats.org/officeDocument/2006/relationships" id="283" r:id="R29c2c19b28ef48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4240902d3e248f8" /><Relationship Type="http://schemas.openxmlformats.org/officeDocument/2006/relationships/slideMaster" Target="/ppt/slideMasters/slideMaster1.xml" Id="R869302c1150742d0" /><Relationship Type="http://schemas.openxmlformats.org/officeDocument/2006/relationships/notesMaster" Target="/ppt/notesMasters/notesMaster1.xml" Id="R8c323e18890c4229" /><Relationship Type="http://schemas.openxmlformats.org/officeDocument/2006/relationships/presProps" Target="/ppt/presProps.xml" Id="R7d76571af9594d48" /><Relationship Type="http://schemas.openxmlformats.org/officeDocument/2006/relationships/viewProps" Target="/ppt/viewProps.xml" Id="R7712b24c5c394458" /><Relationship Type="http://schemas.openxmlformats.org/officeDocument/2006/relationships/tableStyles" Target="/ppt/tableStyles.xml" Id="Rf7d72280c3534999" /><Relationship Type="http://schemas.openxmlformats.org/officeDocument/2006/relationships/slide" Target="/ppt/slides/slide1.xml" Id="Ree4b6187551e4372" /><Relationship Type="http://schemas.openxmlformats.org/officeDocument/2006/relationships/slide" Target="/ppt/slides/slide2.xml" Id="R1a8ef18385524db6" /><Relationship Type="http://schemas.openxmlformats.org/officeDocument/2006/relationships/slide" Target="/ppt/slides/slide3.xml" Id="R878e92c029b44bec" /><Relationship Type="http://schemas.openxmlformats.org/officeDocument/2006/relationships/slide" Target="/ppt/slides/slide4.xml" Id="R3d13f02d849f4af9" /><Relationship Type="http://schemas.openxmlformats.org/officeDocument/2006/relationships/slide" Target="/ppt/slides/slide5.xml" Id="R8098e60372074812" /><Relationship Type="http://schemas.openxmlformats.org/officeDocument/2006/relationships/slide" Target="/ppt/slides/slide6.xml" Id="R276d1620dd614f0d" /><Relationship Type="http://schemas.openxmlformats.org/officeDocument/2006/relationships/slide" Target="/ppt/slides/slide7.xml" Id="R3b188a52b8bb4691" /><Relationship Type="http://schemas.openxmlformats.org/officeDocument/2006/relationships/slide" Target="/ppt/slides/slide8.xml" Id="Ra71c5a0a76104a79" /><Relationship Type="http://schemas.openxmlformats.org/officeDocument/2006/relationships/slide" Target="/ppt/slides/slide9.xml" Id="R28e045965d8042a2" /><Relationship Type="http://schemas.openxmlformats.org/officeDocument/2006/relationships/slide" Target="/ppt/slides/slide10.xml" Id="Rfcc7e36bdd864ff8" /><Relationship Type="http://schemas.openxmlformats.org/officeDocument/2006/relationships/slide" Target="/ppt/slides/slide11.xml" Id="Rc530b36e437841c2" /><Relationship Type="http://schemas.openxmlformats.org/officeDocument/2006/relationships/slide" Target="/ppt/slides/slide12.xml" Id="R8be93062768143ec" /><Relationship Type="http://schemas.openxmlformats.org/officeDocument/2006/relationships/slide" Target="/ppt/slides/slide13.xml" Id="Rf40f52f9213048a8" /><Relationship Type="http://schemas.openxmlformats.org/officeDocument/2006/relationships/slide" Target="/ppt/slides/slide14.xml" Id="R0e56661fbacc4f4f" /><Relationship Type="http://schemas.openxmlformats.org/officeDocument/2006/relationships/slide" Target="/ppt/slides/slide15.xml" Id="Rd46d3514405f41e6" /><Relationship Type="http://schemas.openxmlformats.org/officeDocument/2006/relationships/slide" Target="/ppt/slides/slide16.xml" Id="Rc55a9e0982a74033" /><Relationship Type="http://schemas.openxmlformats.org/officeDocument/2006/relationships/slide" Target="/ppt/slides/slide17.xml" Id="R882e5901087544b5" /><Relationship Type="http://schemas.openxmlformats.org/officeDocument/2006/relationships/slide" Target="/ppt/slides/slide18.xml" Id="R1445a8b63d8f45d5" /><Relationship Type="http://schemas.openxmlformats.org/officeDocument/2006/relationships/slide" Target="/ppt/slides/slide19.xml" Id="R7fe76bab2a4d4216" /><Relationship Type="http://schemas.openxmlformats.org/officeDocument/2006/relationships/slide" Target="/ppt/slides/slide20.xml" Id="R11bf10c3e63e4fe4" /><Relationship Type="http://schemas.openxmlformats.org/officeDocument/2006/relationships/slide" Target="/ppt/slides/slide21.xml" Id="R8cb5dacc0a534c35" /><Relationship Type="http://schemas.openxmlformats.org/officeDocument/2006/relationships/slide" Target="/ppt/slides/slide22.xml" Id="R031edc655514464a" /><Relationship Type="http://schemas.openxmlformats.org/officeDocument/2006/relationships/slide" Target="/ppt/slides/slide23.xml" Id="R7e73f89e15724b9c" /><Relationship Type="http://schemas.openxmlformats.org/officeDocument/2006/relationships/slide" Target="/ppt/slides/slide24.xml" Id="Rcd16178dac464ac7" /><Relationship Type="http://schemas.openxmlformats.org/officeDocument/2006/relationships/slide" Target="/ppt/slides/slide25.xml" Id="R945881c248054c4a" /><Relationship Type="http://schemas.openxmlformats.org/officeDocument/2006/relationships/slide" Target="/ppt/slides/slide26.xml" Id="R5064523fe88f45d6" /><Relationship Type="http://schemas.openxmlformats.org/officeDocument/2006/relationships/slide" Target="/ppt/slides/slide27.xml" Id="R79a00e840769444b" /><Relationship Type="http://schemas.openxmlformats.org/officeDocument/2006/relationships/slide" Target="/ppt/slides/slide28.xml" Id="R29c2c19b28ef48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dd7e0fd7cd46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3fb8478e4d4008" /><Relationship Type="http://schemas.openxmlformats.org/officeDocument/2006/relationships/notesMaster" Target="/ppt/notesMasters/notesMaster1.xml" Id="Rc0a79244cdf34a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b03033dd324db0" /><Relationship Type="http://schemas.openxmlformats.org/officeDocument/2006/relationships/notesMaster" Target="/ppt/notesMasters/notesMaster1.xml" Id="R2235257e392741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1643ecd98842c3" /><Relationship Type="http://schemas.openxmlformats.org/officeDocument/2006/relationships/notesMaster" Target="/ppt/notesMasters/notesMaster1.xml" Id="R95a6e44e42434f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c1173cae4247ef" /><Relationship Type="http://schemas.openxmlformats.org/officeDocument/2006/relationships/notesMaster" Target="/ppt/notesMasters/notesMaster1.xml" Id="R2e08c84e917b45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016ab5fcf54d57" /><Relationship Type="http://schemas.openxmlformats.org/officeDocument/2006/relationships/notesMaster" Target="/ppt/notesMasters/notesMaster1.xml" Id="R83237d593f614e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60309a4fec4e4e" /><Relationship Type="http://schemas.openxmlformats.org/officeDocument/2006/relationships/notesMaster" Target="/ppt/notesMasters/notesMaster1.xml" Id="R07e872b292f846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725607ee3d4cd7" /><Relationship Type="http://schemas.openxmlformats.org/officeDocument/2006/relationships/notesMaster" Target="/ppt/notesMasters/notesMaster1.xml" Id="R32e6d314af3d40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6d247c432e4cb7" /><Relationship Type="http://schemas.openxmlformats.org/officeDocument/2006/relationships/notesMaster" Target="/ppt/notesMasters/notesMaster1.xml" Id="R45807cb45f7a42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27d341a0c346cd" /><Relationship Type="http://schemas.openxmlformats.org/officeDocument/2006/relationships/notesMaster" Target="/ppt/notesMasters/notesMaster1.xml" Id="Rf3ca152798e44f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f04f3ea46b41fc" /><Relationship Type="http://schemas.openxmlformats.org/officeDocument/2006/relationships/notesMaster" Target="/ppt/notesMasters/notesMaster1.xml" Id="R3b15028d7b514e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f358944cf1448c" /><Relationship Type="http://schemas.openxmlformats.org/officeDocument/2006/relationships/notesMaster" Target="/ppt/notesMasters/notesMaster1.xml" Id="Ra356d08c1ae844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4d87b6b7a34701" /><Relationship Type="http://schemas.openxmlformats.org/officeDocument/2006/relationships/notesMaster" Target="/ppt/notesMasters/notesMaster1.xml" Id="R87b5ffac2a2944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ae1321abd941f4" /><Relationship Type="http://schemas.openxmlformats.org/officeDocument/2006/relationships/notesMaster" Target="/ppt/notesMasters/notesMaster1.xml" Id="Rf9555addf98841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4fe0996e5e43be" /><Relationship Type="http://schemas.openxmlformats.org/officeDocument/2006/relationships/notesMaster" Target="/ppt/notesMasters/notesMaster1.xml" Id="Rd7c7de65981448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aca46f38a34c80" /><Relationship Type="http://schemas.openxmlformats.org/officeDocument/2006/relationships/notesMaster" Target="/ppt/notesMasters/notesMaster1.xml" Id="Rb802b1a100d443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485909a3604829" /><Relationship Type="http://schemas.openxmlformats.org/officeDocument/2006/relationships/notesMaster" Target="/ppt/notesMasters/notesMaster1.xml" Id="Rc19a9321d0c04d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88849dfd5345c6" /><Relationship Type="http://schemas.openxmlformats.org/officeDocument/2006/relationships/notesMaster" Target="/ppt/notesMasters/notesMaster1.xml" Id="R7fbd2a6524ac49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cd399990c349dd" /><Relationship Type="http://schemas.openxmlformats.org/officeDocument/2006/relationships/notesMaster" Target="/ppt/notesMasters/notesMaster1.xml" Id="Rfe13b2cf657443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241f8bf894419c" /><Relationship Type="http://schemas.openxmlformats.org/officeDocument/2006/relationships/notesMaster" Target="/ppt/notesMasters/notesMaster1.xml" Id="R0f15c92b0c4640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51ca35611a475f" /><Relationship Type="http://schemas.openxmlformats.org/officeDocument/2006/relationships/notesMaster" Target="/ppt/notesMasters/notesMaster1.xml" Id="R9de8012a8f204a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c8345681a24446" /><Relationship Type="http://schemas.openxmlformats.org/officeDocument/2006/relationships/notesMaster" Target="/ppt/notesMasters/notesMaster1.xml" Id="Rd439bcde15504ca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cf3b245b04a49f4" /><Relationship Type="http://schemas.openxmlformats.org/officeDocument/2006/relationships/notesMaster" Target="/ppt/notesMasters/notesMaster1.xml" Id="R9fdffea7ea3a4d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1f3d62fba84b8e" /><Relationship Type="http://schemas.openxmlformats.org/officeDocument/2006/relationships/notesMaster" Target="/ppt/notesMasters/notesMaster1.xml" Id="R92328fe3ffd64b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5d2c3482ac43ba" /><Relationship Type="http://schemas.openxmlformats.org/officeDocument/2006/relationships/notesMaster" Target="/ppt/notesMasters/notesMaster1.xml" Id="R98b1649b067e49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537b5ea7434378" /><Relationship Type="http://schemas.openxmlformats.org/officeDocument/2006/relationships/notesMaster" Target="/ppt/notesMasters/notesMaster1.xml" Id="Ra63065f8c1d0476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edd80570fe544bf" /><Relationship Type="http://schemas.openxmlformats.org/officeDocument/2006/relationships/notesMaster" Target="/ppt/notesMasters/notesMaster1.xml" Id="R584d44a81ad64dc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8b3a1963ef441d8" /><Relationship Type="http://schemas.openxmlformats.org/officeDocument/2006/relationships/notesMaster" Target="/ppt/notesMasters/notesMaster1.xml" Id="R161bed0b28f34b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85179c5e0445a7" /><Relationship Type="http://schemas.openxmlformats.org/officeDocument/2006/relationships/notesMaster" Target="/ppt/notesMasters/notesMaster1.xml" Id="R18c747eb9dba40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repository D:/ThacoAgri_Code/Mockup, rà soát tại working tree ngày 21/09/2026. Nội dung giới thiệu dựa trên code, schema và tài liệu nghiệp vụ. File mẫu chỉ được dùng làm chuẩn nhận diện và bố cục.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Cấu trúc báo cáo cân bằng hai mục tiêu: giới thiệu phần mềm đang có những gì và mô tả tiến độ, bất cập, khó khăn hiện tại.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docs/BRD_extracted.txt; .agents/context/project-overview.md; backend/prisma/schema.prisma. Giá trị nêu trên là mục tiêu vận hành, không phải cam kết đã đạt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AI_PROJECT_CONTEXT.md; docs/business/ROLE_PERMISSION.md; docs/architecture/SYSTEM_OVERVIEW.md; backend/src/app.module.ts; frontend/src/App.tsx; Frontend_Driver/package.json.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 các domain production-plans, transport, vehicles, implements, maintenance, repairs, fuel, mobile-driver, alerts, driver-kpi, catalogs và dashboard; backend/prisma/schema.prisma. Các nghiệp vụ có mức độ hoàn thiện khác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.agents/context/module-map.md; docs/architecture/MODULE_MAP.md; backend/src/app.module.ts; frontend/src/App.tsx; kiểm tra trực tiếp pages/services/schema.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frontend/src/components/dispatch/DispatchOrderForm.tsx; frontend/src/api/scheduling.ts; backend/src/work-orders/work-orders.controller.ts; backend/src/work-orders/work-orders.service.ts; backend/src/mobile-driver/mobile-sync.controller.ts; backend/src/mobile-driver/mobile-sync.service.ts; Frontend_Driver/src/syncEngine.ts; Frontend_Driver/src/screens/TaskDetailScreen.tsx. VERIFIED: pull/sync và ORDER_ACCEPTED. GAP: chưa tìm thấy thư viện hoặc service push notification hệ điều hành, và mobile UI chưa có nút cannot-accept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backend/prisma/schema.prisma; backend/prisma/migrations; backend/scripts/import-*; .agents/context/database-overview.md; workbook MMTB là dữ liệu tham chiếu, không phải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frontend/src/App.tsx; frontend/src/pages; frontend/src/api; quét source code theo dấu hiệu apiClient/apiService và mock/fallback/localStorage. Sáu trang báo cáo trong frontend/src/pages/reports khởi tạo list rỗng và không gọi API trực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Frontend_Driver/src/syncEngine.ts; Frontend_Driver/src/database.ts; Frontend_Driver/src/screens/TaskDetailScreen.tsx; backend/src/mobile-driver/mobile-sync.service.ts; backend/src/work-orders/work-orders.service.ts. Main backend là API mặc định của app. Repository vẫn có Backend_Driver độc lập nên cần kiểm soát nguy cơ phân kỳ.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docs/business/DISPATCH_ORDER_FLOW.md; ACCEPTANCE_FLOW.md; backend/prisma/schema.prisma; backend/src/work-orders; backend/src/mobile-driver.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backend/src/production-plans/production-plans.controller.ts; production-plans.service.ts; schema.prisma PlanStatus, PlotStatus.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DispatchOrderForm.tsx; scheduling.ts; work-orders.service.ts; mobile-sync.service.ts; Frontend_Driver/src/syncEngine.ts.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docs/business/ACCEPTANCE_FLOW.md; backend/src/work-orders; schema.prisma WorkAcceptanceStatus, WorkSessionStatus.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backend/src/transport/transport.controller.ts; transport.service.ts; schema.prisma TransportStatus; internal-feed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docs/business/VEHICLE_FLOW.md; vehicles.service.ts; implements.service.ts; vehicle-driver-assignments.service.ts.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maintenance.controller.ts; maintenance.service.ts; repairs.controller.ts; workshop workflow; schema.prisma WorkshopRequestStatus.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backend/src/fuel/fuel.controller.ts; fuel.service.ts; schema.prisma FuelDispenseTicket, FuelWarehouse.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alerts.service.ts; vehicles.service.ts; mobile-driver.service.ts; .agents/context/business-rules.md.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DRIVER_FLOW.md; driver-kpi.controller.ts; driver-kpi.service.ts; schema.prisma DriverKpiEventType.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ROLE_PERMISSION.md; catalogs modules; auth and RolesGuard; common/utils/management-scope; .agents/context/business-rules.md.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dashboard.controller.ts; dashboard.service.ts; alerts.service.ts; frontend pages and API mappings; .agents/context/module-map.md.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đếm trực tiếp frontend/src/App.tsx, frontend/src/pages, backend/src, backend/prisma/schema.prisma và kết quả test. Các số liệu thể hiện độ rộng codebase, không phải phần trăm hoàn thành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chạy ngày 21/09/2026: npm test; backend nest build; frontend npm run build; Frontend_Driver npm run typecheck và npm test; Backend_Driver npm run build; prisma validate. Root build dừng tại EPERM rename query_engine-windows.dll.node do file đang bị tiến trình khác giữ.</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scan source hiện tại và các tài liệu business-rule evidence. P0/P1/P2 là khuyến nghị ưu tiên của báo cáo, không phải trạng thái nghiệp vụ đã được phê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.agents/context/business-rules.md; CURRENT_SYSTEM_ANALYSIS.md; build/test output; package versions; repository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khuyến nghị triển khai dựa trên mức độ rủi ro quan sát được. Thời lượng chưa phải cam kết tiến độ chính thức.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báo cáo. Đề nghị dùng deck này làm tài liệu chốt scope pilot và danh sách quyết định nghiệp vụ.</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ea0adf87af4f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4299c8557d4874" /><Relationship Type="http://schemas.openxmlformats.org/officeDocument/2006/relationships/image" Target="/ppt/media/image.jpeg" Id="R633bfdd67eaa491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Title and Content">
    <p:spTree>
      <p:nvGrpSpPr>
        <p:cNvPr id="1" name=""/>
        <p:cNvGrpSpPr/>
        <p:nvPr/>
      </p:nvGrpSpPr>
      <p:grpSpPr>
        <a:xfrm xmlns:a="http://schemas.openxmlformats.org/drawingml/2006/main"/>
      </p:grpSpPr>
      <p:pic>
        <p:nvPicPr>
          <p:cNvPr id="7" name="Picture 3"/>
          <p:cNvPicPr>
            <a:picLocks xmlns:a="http://schemas.openxmlformats.org/drawingml/2006/main" noChangeAspect="1"/>
          </p:cNvPicPr>
          <p:nvPr/>
        </p:nvPicPr>
        <p:blipFill>
          <a:blip xmlns:r="http://schemas.openxmlformats.org/officeDocument/2006/relationships" xmlns:a="http://schemas.openxmlformats.org/drawingml/2006/main" r:embed="R633bfdd67eaa4913"/>
          <a:stretch xmlns:a="http://schemas.openxmlformats.org/drawingml/2006/main">
            <a:fillRect l="0" t="0" r="0" b="0"/>
          </a:stretch>
        </p:blipFill>
        <p:spPr>
          <a:xfrm xmlns:a="http://schemas.openxmlformats.org/drawingml/2006/main">
            <a:off x="1185" y="0"/>
            <a:ext cx="12189630" cy="6858000"/>
          </a:xfrm>
          <a:prstGeom xmlns:a="http://schemas.openxmlformats.org/drawingml/2006/main" prst="rect">
            <a:avLst/>
          </a:prstGeom>
        </p:spPr>
      </p:pic>
      <p:sp>
        <p:nvSpPr>
          <p:cNvPr id="5" name="Title 4">
            <a:extLst xmlns:a="http://schemas.openxmlformats.org/drawingml/2006/main">
              <a:ext uri="{FF2B5EF4-FFF2-40B4-BE49-F238E27FC236}">
                <a16:creationId xmlns:a16="http://schemas.microsoft.com/office/drawing/2014/main" id="{F18D8631-A97C-F3DC-31A8-9BCA136F6078}"/>
              </a:ext>
            </a:extLst>
          </p:cNvPr>
          <p:cNvSpPr>
            <a:spLocks xmlns:a="http://schemas.openxmlformats.org/drawingml/2006/main" noGrp="1"/>
          </p:cNvSpPr>
          <p:nvPr>
            <p:ph type="title" idx="0"/>
          </p:nvPr>
        </p:nvSpPr>
        <p:spPr>
          <a:xfrm xmlns:a="http://schemas.openxmlformats.org/drawingml/2006/main">
            <a:off x="2295524" y="0"/>
            <a:ext cx="9896475" cy="752475"/>
          </a:xfrm>
        </p:spPr>
        <p:txBody>
          <a:bodyPr xmlns:a="http://schemas.openxmlformats.org/drawingml/2006/main">
            <a:normAutofit/>
          </a:bodyPr>
          <a:lstStyle xmlns:a="http://schemas.openxmlformats.org/drawingml/2006/main">
            <a:lvl1pPr algn="ctr">
              <a:lnSpc>
                <a:spcPct val="100000"/>
              </a:lnSpc>
              <a:buNone/>
              <a:defRPr sz="2000" b="1">
                <a:solidFill>
                  <a:srgbClr val="39853F"/>
                </a:solidFill>
              </a:defRPr>
            </a:lvl1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18042f71324234" /><Relationship Type="http://schemas.openxmlformats.org/officeDocument/2006/relationships/slideLayout" Target="/ppt/slideLayouts/slideLayout1.xml" Id="R98df51330e4e4ada" /><Relationship Type="http://schemas.openxmlformats.org/officeDocument/2006/relationships/slideLayout" Target="/ppt/slideLayouts/slideLayout2.xml" Id="Rbae06a55008b4f7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df51330e4e4ada"/>
    <p:sldLayoutId xmlns:r="http://schemas.openxmlformats.org/officeDocument/2006/relationships" id="2147483650" r:id="Rbae06a55008b4f7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967077f0ef4187" /><Relationship Type="http://schemas.openxmlformats.org/officeDocument/2006/relationships/image" Target="/ppt/media/image2.jpeg" Id="Rc042b036052d4850" /><Relationship Type="http://schemas.openxmlformats.org/officeDocument/2006/relationships/notesSlide" Target="/ppt/notesSlides/notesSlide1.xml" Id="R6217e2e82c9c48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e47d7666824787" /><Relationship Type="http://schemas.openxmlformats.org/officeDocument/2006/relationships/image" Target="/ppt/media/image.jpeg" Id="R45ec7f8284a54d2b" /><Relationship Type="http://schemas.openxmlformats.org/officeDocument/2006/relationships/notesSlide" Target="/ppt/notesSlides/notesSlide2.xml" Id="R11cc4966e0794c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a9c23cf2b9d49f3" /><Relationship Type="http://schemas.openxmlformats.org/officeDocument/2006/relationships/notesSlide" Target="/ppt/notesSlides/notesSlide3.xml" Id="Rf8ef804a107746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66e30da6dd441be" /><Relationship Type="http://schemas.openxmlformats.org/officeDocument/2006/relationships/notesSlide" Target="/ppt/notesSlides/notesSlide4.xml" Id="Rbc94b746e3f44a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7f18b8050e2490d" /><Relationship Type="http://schemas.openxmlformats.org/officeDocument/2006/relationships/notesSlide" Target="/ppt/notesSlides/notesSlide5.xml" Id="R833328bf3c4049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70f3dfbd7fd4836" /><Relationship Type="http://schemas.openxmlformats.org/officeDocument/2006/relationships/notesSlide" Target="/ppt/notesSlides/notesSlide6.xml" Id="R87e7d999ee584c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0967bceab4e4399" /><Relationship Type="http://schemas.openxmlformats.org/officeDocument/2006/relationships/notesSlide" Target="/ppt/notesSlides/notesSlide7.xml" Id="R0a32a2f8730244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7e65ecb806d4055" /><Relationship Type="http://schemas.openxmlformats.org/officeDocument/2006/relationships/notesSlide" Target="/ppt/notesSlides/notesSlide8.xml" Id="R34d73735a82e40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e0c2da163ce4e62" /><Relationship Type="http://schemas.openxmlformats.org/officeDocument/2006/relationships/notesSlide" Target="/ppt/notesSlides/notesSlide9.xml" Id="R08f0e61101864f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0061ed89824497b" /><Relationship Type="http://schemas.openxmlformats.org/officeDocument/2006/relationships/notesSlide" Target="/ppt/notesSlides/notesSlide10.xml" Id="R1e49040b19de45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5ab6ca39ba5475d" /><Relationship Type="http://schemas.openxmlformats.org/officeDocument/2006/relationships/notesSlide" Target="/ppt/notesSlides/notesSlide11.xml" Id="R8ff94ba7db1844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6cd84c6115b468d" /><Relationship Type="http://schemas.openxmlformats.org/officeDocument/2006/relationships/notesSlide" Target="/ppt/notesSlides/notesSlide12.xml" Id="R02b72d930da34a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e2fced09846492a" /><Relationship Type="http://schemas.openxmlformats.org/officeDocument/2006/relationships/notesSlide" Target="/ppt/notesSlides/notesSlide13.xml" Id="R0dfee3c8f98449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246fbe32e494afa" /><Relationship Type="http://schemas.openxmlformats.org/officeDocument/2006/relationships/notesSlide" Target="/ppt/notesSlides/notesSlide14.xml" Id="Recfa5afb0d3e41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9cdaf991c74407a" /><Relationship Type="http://schemas.openxmlformats.org/officeDocument/2006/relationships/notesSlide" Target="/ppt/notesSlides/notesSlide15.xml" Id="R77637caa257445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fefa6aa0777b40fe" /><Relationship Type="http://schemas.openxmlformats.org/officeDocument/2006/relationships/notesSlide" Target="/ppt/notesSlides/notesSlide16.xml" Id="R1b61331eab0749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242f9b293cc4bdf" /><Relationship Type="http://schemas.openxmlformats.org/officeDocument/2006/relationships/notesSlide" Target="/ppt/notesSlides/notesSlide17.xml" Id="R7facfdcaa6944b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936e8e0b6484101" /><Relationship Type="http://schemas.openxmlformats.org/officeDocument/2006/relationships/notesSlide" Target="/ppt/notesSlides/notesSlide18.xml" Id="R2eb02882ee32455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5a8450ed7aa4b04" /><Relationship Type="http://schemas.openxmlformats.org/officeDocument/2006/relationships/notesSlide" Target="/ppt/notesSlides/notesSlide19.xml" Id="R2c2ee021f1964c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b264b05abb44f5a" /><Relationship Type="http://schemas.openxmlformats.org/officeDocument/2006/relationships/notesSlide" Target="/ppt/notesSlides/notesSlide20.xml" Id="Rfadcce6c04ee4a4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ac98fffbc7242b6" /><Relationship Type="http://schemas.openxmlformats.org/officeDocument/2006/relationships/notesSlide" Target="/ppt/notesSlides/notesSlide21.xml" Id="Rc94d5d0a56cd4a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3fb623175bc40cd" /><Relationship Type="http://schemas.openxmlformats.org/officeDocument/2006/relationships/notesSlide" Target="/ppt/notesSlides/notesSlide22.xml" Id="R33c17517ef95440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da5ca1ffe1b447d" /><Relationship Type="http://schemas.openxmlformats.org/officeDocument/2006/relationships/notesSlide" Target="/ppt/notesSlides/notesSlide23.xml" Id="Rd704585e5da54f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72403d89fa54f62" /><Relationship Type="http://schemas.openxmlformats.org/officeDocument/2006/relationships/image" Target="/ppt/media/image.jpeg" Id="R929653da26ae44a7" /><Relationship Type="http://schemas.openxmlformats.org/officeDocument/2006/relationships/notesSlide" Target="/ppt/notesSlides/notesSlide24.xml" Id="R64a7b31085c04bc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a9e710cfd05458b" /><Relationship Type="http://schemas.openxmlformats.org/officeDocument/2006/relationships/notesSlide" Target="/ppt/notesSlides/notesSlide25.xml" Id="Ra36133deacfd41b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d3edef6234145de" /><Relationship Type="http://schemas.openxmlformats.org/officeDocument/2006/relationships/notesSlide" Target="/ppt/notesSlides/notesSlide26.xml" Id="Ra6152ef7484742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83f7b39fdad4bb3" /><Relationship Type="http://schemas.openxmlformats.org/officeDocument/2006/relationships/image" Target="/ppt/media/image.jpeg" Id="R4d196164ebec467c" /><Relationship Type="http://schemas.openxmlformats.org/officeDocument/2006/relationships/notesSlide" Target="/ppt/notesSlides/notesSlide27.xml" Id="R0e14665278b04e1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dce65a7cd34eee" /><Relationship Type="http://schemas.openxmlformats.org/officeDocument/2006/relationships/image" Target="/ppt/media/image2.jpeg" Id="Ra721b9fb04784dc1" /><Relationship Type="http://schemas.openxmlformats.org/officeDocument/2006/relationships/notesSlide" Target="/ppt/notesSlides/notesSlide28.xml" Id="R9043c207ddc8466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c042b036052d4850"/>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1523B10-0C8A-4E02-BD55-CB403A801F99}"/>
              </a:ext>
            </a:extLst>
          </p:cNvPr>
          <p:cNvSpPr>
            <a:spLocks xmlns:a="http://schemas.openxmlformats.org/drawingml/2006/main" noGrp="1"/>
          </p:cNvSpPr>
          <p:nvPr/>
        </p:nvSpPr>
        <p:spPr>
          <a:xfrm xmlns:a="http://schemas.openxmlformats.org/drawingml/2006/main">
            <a:off x="1428750" y="1924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025" b="1" i="0">
                <a:solidFill>
                  <a:srgbClr val="006B35"/>
                </a:solidFill>
                <a:latin typeface="Cambria"/>
                <a:ea typeface="Cambria"/>
                <a:cs typeface="Cambria"/>
              </a:defRPr>
            </a:pPr>
            <a:r>
              <a:rPr sz="2025" b="1" i="0">
                <a:solidFill>
                  <a:srgbClr val="006B35"/>
                </a:solidFill>
                <a:latin typeface="Cambria"/>
                <a:ea typeface="Cambria"/>
                <a:cs typeface="Cambria"/>
              </a:rPr>
              <a:t>GIỚI THIỆU PHẦN MỀM VÀ BÁO CÁO TIẾN ĐỘ</a:t>
            </a:r>
          </a:p>
        </p:txBody>
      </p:sp>
      <p:sp>
        <p:nvSpPr>
          <p:cNvPr id="12" name="">
            <a:extLst xmlns:a="http://schemas.openxmlformats.org/drawingml/2006/main">
              <a:ext uri="{FF2B5EF4-FFF2-40B4-BE49-F238E27FC236}">
                <a16:creationId xmlns:a16="http://schemas.microsoft.com/office/drawing/2014/main" id="{70A23C10-FB2C-4269-9133-707DD5DC148E}"/>
              </a:ext>
            </a:extLst>
          </p:cNvPr>
          <p:cNvSpPr>
            <a:spLocks xmlns:a="http://schemas.openxmlformats.org/drawingml/2006/main" noGrp="1"/>
          </p:cNvSpPr>
          <p:nvPr/>
        </p:nvSpPr>
        <p:spPr>
          <a:xfrm xmlns:a="http://schemas.openxmlformats.org/drawingml/2006/main">
            <a:off x="1190625" y="257175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150" b="1" i="0">
                <a:solidFill>
                  <a:srgbClr val="E00000"/>
                </a:solidFill>
                <a:latin typeface="Cambria"/>
                <a:ea typeface="Cambria"/>
                <a:cs typeface="Cambria"/>
              </a:defRPr>
            </a:pPr>
            <a:r>
              <a:rPr sz="3150" b="1" i="0">
                <a:solidFill>
                  <a:srgbClr val="E00000"/>
                </a:solidFill>
                <a:latin typeface="Cambria"/>
                <a:ea typeface="Cambria"/>
                <a:cs typeface="Cambria"/>
              </a:rPr>
              <a:t>HỆ THỐNG QUẢN LÝ XE CƠ GIỚI &amp; PTVC</a:t>
            </a:r>
          </a:p>
        </p:txBody>
      </p:sp>
      <p:sp>
        <p:nvSpPr>
          <p:cNvPr id="13" name="">
            <a:extLst xmlns:a="http://schemas.openxmlformats.org/drawingml/2006/main">
              <a:ext uri="{FF2B5EF4-FFF2-40B4-BE49-F238E27FC236}">
                <a16:creationId xmlns:a16="http://schemas.microsoft.com/office/drawing/2014/main" id="{569B6543-9B5C-4BA1-B422-ACC3F1D5D999}"/>
              </a:ext>
            </a:extLst>
          </p:cNvPr>
          <p:cNvSpPr>
            <a:spLocks xmlns:a="http://schemas.openxmlformats.org/drawingml/2006/main" noGrp="1"/>
          </p:cNvSpPr>
          <p:nvPr/>
        </p:nvSpPr>
        <p:spPr>
          <a:xfrm xmlns:a="http://schemas.openxmlformats.org/drawingml/2006/main">
            <a:off x="1428750" y="3333750"/>
            <a:ext cx="933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00" b="0" i="1">
                <a:solidFill>
                  <a:srgbClr val="59636E"/>
                </a:solidFill>
                <a:latin typeface="Cambria"/>
                <a:ea typeface="Cambria"/>
                <a:cs typeface="Cambria"/>
              </a:defRPr>
            </a:pPr>
            <a:r>
              <a:rPr sz="1800" b="0" i="1">
                <a:solidFill>
                  <a:srgbClr val="59636E"/>
                </a:solidFill>
                <a:latin typeface="Cambria"/>
                <a:ea typeface="Cambria"/>
                <a:cs typeface="Cambria"/>
              </a:rPr>
              <a:t>Phạm vi chức năng, trải nghiệm người dùng, tiến độ mã nguồn và các bất cập hiện tại</a:t>
            </a:r>
          </a:p>
        </p:txBody>
      </p:sp>
      <p:sp>
        <p:nvSpPr>
          <p:cNvPr id="14" name="">
            <a:extLst xmlns:a="http://schemas.openxmlformats.org/drawingml/2006/main">
              <a:ext uri="{FF2B5EF4-FFF2-40B4-BE49-F238E27FC236}">
                <a16:creationId xmlns:a16="http://schemas.microsoft.com/office/drawing/2014/main" id="{CC5A074C-B5D1-4626-A7EE-A53116EC7D41}"/>
              </a:ext>
            </a:extLst>
          </p:cNvPr>
          <p:cNvSpPr>
            <a:spLocks xmlns:a="http://schemas.openxmlformats.org/drawingml/2006/main" noGrp="1"/>
          </p:cNvSpPr>
          <p:nvPr/>
        </p:nvSpPr>
        <p:spPr>
          <a:xfrm xmlns:a="http://schemas.openxmlformats.org/drawingml/2006/main">
            <a:off x="1714500" y="400050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1" i="0">
                <a:solidFill>
                  <a:srgbClr val="006B35"/>
                </a:solidFill>
                <a:latin typeface="Cambria"/>
                <a:ea typeface="Cambria"/>
                <a:cs typeface="Cambria"/>
              </a:defRPr>
            </a:pPr>
            <a:r>
              <a:rPr sz="1500" b="1" i="0">
                <a:solidFill>
                  <a:srgbClr val="006B35"/>
                </a:solidFill>
                <a:latin typeface="Cambria"/>
                <a:ea typeface="Cambria"/>
                <a:cs typeface="Cambria"/>
              </a:rPr>
              <a:t>Phạm vi rà soát: web React, API NestJS, Prisma/MySQL và ứng dụng tài xế</a:t>
            </a:r>
          </a:p>
        </p:txBody>
      </p:sp>
      <p:sp>
        <p:nvSpPr>
          <p:cNvPr id="15" name="">
            <a:extLst xmlns:a="http://schemas.openxmlformats.org/drawingml/2006/main">
              <a:ext uri="{FF2B5EF4-FFF2-40B4-BE49-F238E27FC236}">
                <a16:creationId xmlns:a16="http://schemas.microsoft.com/office/drawing/2014/main" id="{E492418F-5DA6-476D-8326-C61899AF98C4}"/>
              </a:ext>
            </a:extLst>
          </p:cNvPr>
          <p:cNvSpPr>
            <a:spLocks xmlns:a="http://schemas.openxmlformats.org/drawingml/2006/main" noGrp="1"/>
          </p:cNvSpPr>
          <p:nvPr/>
        </p:nvSpPr>
        <p:spPr>
          <a:xfrm xmlns:a="http://schemas.openxmlformats.org/drawingml/2006/main">
            <a:off x="2381250" y="56388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1338482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45ec7f8284a54d2b"/>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3" name="slide-title">
            <a:extLst xmlns:a="http://schemas.openxmlformats.org/drawingml/2006/main">
              <a:ext uri="{FF2B5EF4-FFF2-40B4-BE49-F238E27FC236}">
                <a16:creationId xmlns:a16="http://schemas.microsoft.com/office/drawing/2014/main" id="{29602CE3-6DE4-42A2-9F87-626C2633128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NỘI DUNG BÁO CÁO</a:t>
            </a:r>
          </a:p>
        </p:txBody>
      </p:sp>
      <p:sp>
        <p:nvSpPr>
          <p:cNvPr id="44" name="">
            <a:extLst xmlns:a="http://schemas.openxmlformats.org/drawingml/2006/main">
              <a:ext uri="{FF2B5EF4-FFF2-40B4-BE49-F238E27FC236}">
                <a16:creationId xmlns:a16="http://schemas.microsoft.com/office/drawing/2014/main" id="{A26260F0-3502-42C5-8FA6-C7C839F57419}"/>
              </a:ext>
            </a:extLst>
          </p:cNvPr>
          <p:cNvSpPr>
            <a:spLocks xmlns:a="http://schemas.openxmlformats.org/drawingml/2006/main" noGrp="1"/>
          </p:cNvSpPr>
          <p:nvPr/>
        </p:nvSpPr>
        <p:spPr>
          <a:xfrm xmlns:a="http://schemas.openxmlformats.org/drawingml/2006/main">
            <a:off x="457200" y="9906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01</a:t>
            </a:r>
          </a:p>
        </p:txBody>
      </p:sp>
      <p:sp>
        <p:nvSpPr>
          <p:cNvPr id="45" name="">
            <a:extLst xmlns:a="http://schemas.openxmlformats.org/drawingml/2006/main">
              <a:ext uri="{FF2B5EF4-FFF2-40B4-BE49-F238E27FC236}">
                <a16:creationId xmlns:a16="http://schemas.microsoft.com/office/drawing/2014/main" id="{94B6A012-7E9F-4EAB-B020-501454755672}"/>
              </a:ext>
            </a:extLst>
          </p:cNvPr>
          <p:cNvSpPr>
            <a:spLocks xmlns:a="http://schemas.openxmlformats.org/drawingml/2006/main" noGrp="1"/>
          </p:cNvSpPr>
          <p:nvPr/>
        </p:nvSpPr>
        <p:spPr>
          <a:xfrm xmlns:a="http://schemas.openxmlformats.org/drawingml/2006/main">
            <a:off x="1238250" y="9906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Phần mềm phục vụ ai và giải quyết công việc gì</a:t>
            </a:r>
          </a:p>
        </p:txBody>
      </p:sp>
      <p:sp>
        <p:nvSpPr>
          <p:cNvPr id="46" name="">
            <a:extLst xmlns:a="http://schemas.openxmlformats.org/drawingml/2006/main">
              <a:ext uri="{FF2B5EF4-FFF2-40B4-BE49-F238E27FC236}">
                <a16:creationId xmlns:a16="http://schemas.microsoft.com/office/drawing/2014/main" id="{E04D191A-72B8-486E-B630-CD28059EAF99}"/>
              </a:ext>
            </a:extLst>
          </p:cNvPr>
          <p:cNvSpPr>
            <a:spLocks xmlns:a="http://schemas.openxmlformats.org/drawingml/2006/main" noGrp="1"/>
          </p:cNvSpPr>
          <p:nvPr/>
        </p:nvSpPr>
        <p:spPr>
          <a:xfrm xmlns:a="http://schemas.openxmlformats.org/drawingml/2006/main">
            <a:off x="457200" y="151447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02</a:t>
            </a:r>
          </a:p>
        </p:txBody>
      </p:sp>
      <p:sp>
        <p:nvSpPr>
          <p:cNvPr id="47" name="">
            <a:extLst xmlns:a="http://schemas.openxmlformats.org/drawingml/2006/main">
              <a:ext uri="{FF2B5EF4-FFF2-40B4-BE49-F238E27FC236}">
                <a16:creationId xmlns:a16="http://schemas.microsoft.com/office/drawing/2014/main" id="{15CE9318-F654-4043-AB32-547FDC338059}"/>
              </a:ext>
            </a:extLst>
          </p:cNvPr>
          <p:cNvSpPr>
            <a:spLocks xmlns:a="http://schemas.openxmlformats.org/drawingml/2006/main" noGrp="1"/>
          </p:cNvSpPr>
          <p:nvPr/>
        </p:nvSpPr>
        <p:spPr>
          <a:xfrm xmlns:a="http://schemas.openxmlformats.org/drawingml/2006/main">
            <a:off x="1238250" y="151447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Các nhóm chức năng và module A–K</a:t>
            </a:r>
          </a:p>
        </p:txBody>
      </p:sp>
      <p:sp>
        <p:nvSpPr>
          <p:cNvPr id="48" name="">
            <a:extLst xmlns:a="http://schemas.openxmlformats.org/drawingml/2006/main">
              <a:ext uri="{FF2B5EF4-FFF2-40B4-BE49-F238E27FC236}">
                <a16:creationId xmlns:a16="http://schemas.microsoft.com/office/drawing/2014/main" id="{EF597162-9199-4346-832F-2002DB1D38E6}"/>
              </a:ext>
            </a:extLst>
          </p:cNvPr>
          <p:cNvSpPr>
            <a:spLocks xmlns:a="http://schemas.openxmlformats.org/drawingml/2006/main" noGrp="1"/>
          </p:cNvSpPr>
          <p:nvPr/>
        </p:nvSpPr>
        <p:spPr>
          <a:xfrm xmlns:a="http://schemas.openxmlformats.org/drawingml/2006/main">
            <a:off x="457200" y="203835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03</a:t>
            </a:r>
          </a:p>
        </p:txBody>
      </p:sp>
      <p:sp>
        <p:nvSpPr>
          <p:cNvPr id="49" name="">
            <a:extLst xmlns:a="http://schemas.openxmlformats.org/drawingml/2006/main">
              <a:ext uri="{FF2B5EF4-FFF2-40B4-BE49-F238E27FC236}">
                <a16:creationId xmlns:a16="http://schemas.microsoft.com/office/drawing/2014/main" id="{BFD9F60F-4F7F-4715-9411-2F8FFE47EF56}"/>
              </a:ext>
            </a:extLst>
          </p:cNvPr>
          <p:cNvSpPr>
            <a:spLocks xmlns:a="http://schemas.openxmlformats.org/drawingml/2006/main" noGrp="1"/>
          </p:cNvSpPr>
          <p:nvPr/>
        </p:nvSpPr>
        <p:spPr>
          <a:xfrm xmlns:a="http://schemas.openxmlformats.org/drawingml/2006/main">
            <a:off x="1238250" y="203835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Quy trình tạo lệnh và chuyển lệnh đến tài xế</a:t>
            </a:r>
          </a:p>
        </p:txBody>
      </p:sp>
      <p:sp>
        <p:nvSpPr>
          <p:cNvPr id="50" name="">
            <a:extLst xmlns:a="http://schemas.openxmlformats.org/drawingml/2006/main">
              <a:ext uri="{FF2B5EF4-FFF2-40B4-BE49-F238E27FC236}">
                <a16:creationId xmlns:a16="http://schemas.microsoft.com/office/drawing/2014/main" id="{925ADB0A-8565-4A48-8BFA-4DCB86AECF72}"/>
              </a:ext>
            </a:extLst>
          </p:cNvPr>
          <p:cNvSpPr>
            <a:spLocks xmlns:a="http://schemas.openxmlformats.org/drawingml/2006/main" noGrp="1"/>
          </p:cNvSpPr>
          <p:nvPr/>
        </p:nvSpPr>
        <p:spPr>
          <a:xfrm xmlns:a="http://schemas.openxmlformats.org/drawingml/2006/main">
            <a:off x="457200" y="256222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04</a:t>
            </a:r>
          </a:p>
        </p:txBody>
      </p:sp>
      <p:sp>
        <p:nvSpPr>
          <p:cNvPr id="51" name="">
            <a:extLst xmlns:a="http://schemas.openxmlformats.org/drawingml/2006/main">
              <a:ext uri="{FF2B5EF4-FFF2-40B4-BE49-F238E27FC236}">
                <a16:creationId xmlns:a16="http://schemas.microsoft.com/office/drawing/2014/main" id="{17BB6AC6-95B0-4302-932A-4A2F6B4C0967}"/>
              </a:ext>
            </a:extLst>
          </p:cNvPr>
          <p:cNvSpPr>
            <a:spLocks xmlns:a="http://schemas.openxmlformats.org/drawingml/2006/main" noGrp="1"/>
          </p:cNvSpPr>
          <p:nvPr/>
        </p:nvSpPr>
        <p:spPr>
          <a:xfrm xmlns:a="http://schemas.openxmlformats.org/drawingml/2006/main">
            <a:off x="1238250" y="256222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Sơ đồ quy trình cho từng nghiệp vụ chính</a:t>
            </a:r>
          </a:p>
        </p:txBody>
      </p:sp>
      <p:sp>
        <p:nvSpPr>
          <p:cNvPr id="52" name="">
            <a:extLst xmlns:a="http://schemas.openxmlformats.org/drawingml/2006/main">
              <a:ext uri="{FF2B5EF4-FFF2-40B4-BE49-F238E27FC236}">
                <a16:creationId xmlns:a16="http://schemas.microsoft.com/office/drawing/2014/main" id="{D6E0D888-4C82-4C71-9780-41CCF1EA9CCF}"/>
              </a:ext>
            </a:extLst>
          </p:cNvPr>
          <p:cNvSpPr>
            <a:spLocks xmlns:a="http://schemas.openxmlformats.org/drawingml/2006/main" noGrp="1"/>
          </p:cNvSpPr>
          <p:nvPr/>
        </p:nvSpPr>
        <p:spPr>
          <a:xfrm xmlns:a="http://schemas.openxmlformats.org/drawingml/2006/main">
            <a:off x="457200" y="30861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05</a:t>
            </a:r>
          </a:p>
        </p:txBody>
      </p:sp>
      <p:sp>
        <p:nvSpPr>
          <p:cNvPr id="53" name="">
            <a:extLst xmlns:a="http://schemas.openxmlformats.org/drawingml/2006/main">
              <a:ext uri="{FF2B5EF4-FFF2-40B4-BE49-F238E27FC236}">
                <a16:creationId xmlns:a16="http://schemas.microsoft.com/office/drawing/2014/main" id="{A581FB0F-E37E-4390-938D-8DE773CFC9A5}"/>
              </a:ext>
            </a:extLst>
          </p:cNvPr>
          <p:cNvSpPr>
            <a:spLocks xmlns:a="http://schemas.openxmlformats.org/drawingml/2006/main" noGrp="1"/>
          </p:cNvSpPr>
          <p:nvPr/>
        </p:nvSpPr>
        <p:spPr>
          <a:xfrm xmlns:a="http://schemas.openxmlformats.org/drawingml/2006/main">
            <a:off x="1238250" y="30861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Dữ liệu, kiến trúc và kênh sử dụng</a:t>
            </a:r>
          </a:p>
        </p:txBody>
      </p:sp>
      <p:sp>
        <p:nvSpPr>
          <p:cNvPr id="54" name="">
            <a:extLst xmlns:a="http://schemas.openxmlformats.org/drawingml/2006/main">
              <a:ext uri="{FF2B5EF4-FFF2-40B4-BE49-F238E27FC236}">
                <a16:creationId xmlns:a16="http://schemas.microsoft.com/office/drawing/2014/main" id="{A2FC71BB-0126-444D-86F0-7AA76B358A41}"/>
              </a:ext>
            </a:extLst>
          </p:cNvPr>
          <p:cNvSpPr>
            <a:spLocks xmlns:a="http://schemas.openxmlformats.org/drawingml/2006/main" noGrp="1"/>
          </p:cNvSpPr>
          <p:nvPr/>
        </p:nvSpPr>
        <p:spPr>
          <a:xfrm xmlns:a="http://schemas.openxmlformats.org/drawingml/2006/main">
            <a:off x="457200" y="360997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06</a:t>
            </a:r>
          </a:p>
        </p:txBody>
      </p:sp>
      <p:sp>
        <p:nvSpPr>
          <p:cNvPr id="55" name="">
            <a:extLst xmlns:a="http://schemas.openxmlformats.org/drawingml/2006/main">
              <a:ext uri="{FF2B5EF4-FFF2-40B4-BE49-F238E27FC236}">
                <a16:creationId xmlns:a16="http://schemas.microsoft.com/office/drawing/2014/main" id="{B13C6100-07EF-4A4A-9EA4-58586177A1CD}"/>
              </a:ext>
            </a:extLst>
          </p:cNvPr>
          <p:cNvSpPr>
            <a:spLocks xmlns:a="http://schemas.openxmlformats.org/drawingml/2006/main" noGrp="1"/>
          </p:cNvSpPr>
          <p:nvPr/>
        </p:nvSpPr>
        <p:spPr>
          <a:xfrm xmlns:a="http://schemas.openxmlformats.org/drawingml/2006/main">
            <a:off x="1238250" y="360997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Tiến độ phát triển hiện tại</a:t>
            </a:r>
          </a:p>
        </p:txBody>
      </p:sp>
      <p:sp>
        <p:nvSpPr>
          <p:cNvPr id="56" name="">
            <a:extLst xmlns:a="http://schemas.openxmlformats.org/drawingml/2006/main">
              <a:ext uri="{FF2B5EF4-FFF2-40B4-BE49-F238E27FC236}">
                <a16:creationId xmlns:a16="http://schemas.microsoft.com/office/drawing/2014/main" id="{E5F1C6DB-30AC-41FC-998E-83CBDB5F0ED2}"/>
              </a:ext>
            </a:extLst>
          </p:cNvPr>
          <p:cNvSpPr>
            <a:spLocks xmlns:a="http://schemas.openxmlformats.org/drawingml/2006/main" noGrp="1"/>
          </p:cNvSpPr>
          <p:nvPr/>
        </p:nvSpPr>
        <p:spPr>
          <a:xfrm xmlns:a="http://schemas.openxmlformats.org/drawingml/2006/main">
            <a:off x="457200" y="413385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07</a:t>
            </a:r>
          </a:p>
        </p:txBody>
      </p:sp>
      <p:sp>
        <p:nvSpPr>
          <p:cNvPr id="57" name="">
            <a:extLst xmlns:a="http://schemas.openxmlformats.org/drawingml/2006/main">
              <a:ext uri="{FF2B5EF4-FFF2-40B4-BE49-F238E27FC236}">
                <a16:creationId xmlns:a16="http://schemas.microsoft.com/office/drawing/2014/main" id="{0CEAA742-02B6-4BAF-B9A5-AEF10B3D956C}"/>
              </a:ext>
            </a:extLst>
          </p:cNvPr>
          <p:cNvSpPr>
            <a:spLocks xmlns:a="http://schemas.openxmlformats.org/drawingml/2006/main" noGrp="1"/>
          </p:cNvSpPr>
          <p:nvPr/>
        </p:nvSpPr>
        <p:spPr>
          <a:xfrm xmlns:a="http://schemas.openxmlformats.org/drawingml/2006/main">
            <a:off x="1238250" y="413385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Kết quả kiểm thử và build</a:t>
            </a:r>
          </a:p>
        </p:txBody>
      </p:sp>
      <p:sp>
        <p:nvSpPr>
          <p:cNvPr id="58" name="">
            <a:extLst xmlns:a="http://schemas.openxmlformats.org/drawingml/2006/main">
              <a:ext uri="{FF2B5EF4-FFF2-40B4-BE49-F238E27FC236}">
                <a16:creationId xmlns:a16="http://schemas.microsoft.com/office/drawing/2014/main" id="{4C552E7B-FF98-4FE3-A952-B49B5C740106}"/>
              </a:ext>
            </a:extLst>
          </p:cNvPr>
          <p:cNvSpPr>
            <a:spLocks xmlns:a="http://schemas.openxmlformats.org/drawingml/2006/main" noGrp="1"/>
          </p:cNvSpPr>
          <p:nvPr/>
        </p:nvSpPr>
        <p:spPr>
          <a:xfrm xmlns:a="http://schemas.openxmlformats.org/drawingml/2006/main">
            <a:off x="457200" y="4657725"/>
            <a:ext cx="685800" cy="361950"/>
          </a:xfrm>
          <a:prstGeom xmlns:a="http://schemas.openxmlformats.org/drawingml/2006/main" prst="rect">
            <a:avLst/>
          </a:prstGeom>
          <a:solidFill xmlns:a="http://schemas.openxmlformats.org/drawingml/2006/main">
            <a:srgbClr val="075AA7"/>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08</a:t>
            </a:r>
          </a:p>
        </p:txBody>
      </p:sp>
      <p:sp>
        <p:nvSpPr>
          <p:cNvPr id="59" name="">
            <a:extLst xmlns:a="http://schemas.openxmlformats.org/drawingml/2006/main">
              <a:ext uri="{FF2B5EF4-FFF2-40B4-BE49-F238E27FC236}">
                <a16:creationId xmlns:a16="http://schemas.microsoft.com/office/drawing/2014/main" id="{FAF720BF-E2A8-4188-8A0B-09081BBDF0BD}"/>
              </a:ext>
            </a:extLst>
          </p:cNvPr>
          <p:cNvSpPr>
            <a:spLocks xmlns:a="http://schemas.openxmlformats.org/drawingml/2006/main" noGrp="1"/>
          </p:cNvSpPr>
          <p:nvPr/>
        </p:nvSpPr>
        <p:spPr>
          <a:xfrm xmlns:a="http://schemas.openxmlformats.org/drawingml/2006/main">
            <a:off x="1238250" y="4657725"/>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Bất cập, khó khăn và rủi ro</a:t>
            </a:r>
          </a:p>
        </p:txBody>
      </p:sp>
      <p:sp>
        <p:nvSpPr>
          <p:cNvPr id="60" name="">
            <a:extLst xmlns:a="http://schemas.openxmlformats.org/drawingml/2006/main">
              <a:ext uri="{FF2B5EF4-FFF2-40B4-BE49-F238E27FC236}">
                <a16:creationId xmlns:a16="http://schemas.microsoft.com/office/drawing/2014/main" id="{753D803D-66A6-4BB3-9147-75A5F85D2E4F}"/>
              </a:ext>
            </a:extLst>
          </p:cNvPr>
          <p:cNvSpPr>
            <a:spLocks xmlns:a="http://schemas.openxmlformats.org/drawingml/2006/main" noGrp="1"/>
          </p:cNvSpPr>
          <p:nvPr/>
        </p:nvSpPr>
        <p:spPr>
          <a:xfrm xmlns:a="http://schemas.openxmlformats.org/drawingml/2006/main">
            <a:off x="457200" y="5181600"/>
            <a:ext cx="685800" cy="361950"/>
          </a:xfrm>
          <a:prstGeom xmlns:a="http://schemas.openxmlformats.org/drawingml/2006/main" prst="rect">
            <a:avLst/>
          </a:prstGeom>
          <a:solidFill xmlns:a="http://schemas.openxmlformats.org/drawingml/2006/main">
            <a:srgbClr val="006B35"/>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650" b="1" i="0">
                <a:solidFill>
                  <a:srgbClr val="FFFFFF"/>
                </a:solidFill>
                <a:latin typeface="Cambria"/>
                <a:ea typeface="Cambria"/>
                <a:cs typeface="Cambria"/>
              </a:defRPr>
            </a:pPr>
            <a:r>
              <a:rPr sz="1650" b="1" i="0">
                <a:solidFill>
                  <a:srgbClr val="FFFFFF"/>
                </a:solidFill>
                <a:latin typeface="Cambria"/>
                <a:ea typeface="Cambria"/>
                <a:cs typeface="Cambria"/>
              </a:rPr>
              <a:t>09</a:t>
            </a:r>
          </a:p>
        </p:txBody>
      </p:sp>
      <p:sp>
        <p:nvSpPr>
          <p:cNvPr id="61" name="">
            <a:extLst xmlns:a="http://schemas.openxmlformats.org/drawingml/2006/main">
              <a:ext uri="{FF2B5EF4-FFF2-40B4-BE49-F238E27FC236}">
                <a16:creationId xmlns:a16="http://schemas.microsoft.com/office/drawing/2014/main" id="{6E57C02D-8D1A-4E64-B4F4-479AEADF48AB}"/>
              </a:ext>
            </a:extLst>
          </p:cNvPr>
          <p:cNvSpPr>
            <a:spLocks xmlns:a="http://schemas.openxmlformats.org/drawingml/2006/main" noGrp="1"/>
          </p:cNvSpPr>
          <p:nvPr/>
        </p:nvSpPr>
        <p:spPr>
          <a:xfrm xmlns:a="http://schemas.openxmlformats.org/drawingml/2006/main">
            <a:off x="1238250" y="5181600"/>
            <a:ext cx="9982200" cy="361950"/>
          </a:xfrm>
          <a:prstGeom xmlns:a="http://schemas.openxmlformats.org/drawingml/2006/main" prst="rect">
            <a:avLst/>
          </a:prstGeom>
          <a:solidFill xmlns:a="http://schemas.openxmlformats.org/drawingml/2006/main">
            <a:srgbClr val="F8F9F8"/>
          </a:solidFill>
          <a:ln xmlns:a="http://schemas.openxmlformats.org/drawingml/2006/main" w="9525">
            <a:solidFill>
              <a:srgbClr val="D8DDD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006B35"/>
                </a:solidFill>
                <a:latin typeface="Cambria"/>
                <a:ea typeface="Cambria"/>
                <a:cs typeface="Cambria"/>
              </a:defRPr>
            </a:pPr>
            <a:r>
              <a:rPr sz="1575" b="0" i="0">
                <a:solidFill>
                  <a:srgbClr val="006B35"/>
                </a:solidFill>
                <a:latin typeface="Cambria"/>
                <a:ea typeface="Cambria"/>
                <a:cs typeface="Cambria"/>
              </a:rPr>
              <a:t>Lộ trình hoàn thiện đề xuất</a:t>
            </a:r>
          </a:p>
        </p:txBody>
      </p:sp>
      <p:sp>
        <p:nvSpPr>
          <p:cNvPr id="62" name="">
            <a:extLst xmlns:a="http://schemas.openxmlformats.org/drawingml/2006/main">
              <a:ext uri="{FF2B5EF4-FFF2-40B4-BE49-F238E27FC236}">
                <a16:creationId xmlns:a16="http://schemas.microsoft.com/office/drawing/2014/main" id="{B0D4844C-DEE5-4205-B2D0-4D05DFEBC663}"/>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63" name="">
            <a:extLst xmlns:a="http://schemas.openxmlformats.org/drawingml/2006/main">
              <a:ext uri="{FF2B5EF4-FFF2-40B4-BE49-F238E27FC236}">
                <a16:creationId xmlns:a16="http://schemas.microsoft.com/office/drawing/2014/main" id="{ACDF095B-6B8D-47F4-9AB4-7C315FC16B6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a:t>
            </a:r>
          </a:p>
        </p:txBody>
      </p:sp>
    </p:spTree>
    <p:extLst>
      <p:ext uri="{BB962C8B-B14F-4D97-AF65-F5344CB8AC3E}">
        <p14:creationId xmlns:p14="http://schemas.microsoft.com/office/powerpoint/2010/main" val="6933893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626C008-4F5C-4C20-A761-B50BC41FEC8F}"/>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PHẦN MỀM PHỤC VỤ VẬN HÀNH GÌ</a:t>
            </a:r>
          </a:p>
        </p:txBody>
      </p:sp>
      <p:sp>
        <p:nvSpPr>
          <p:cNvPr id="2" name="">
            <a:extLst xmlns:a="http://schemas.openxmlformats.org/drawingml/2006/main">
              <a:ext uri="{FF2B5EF4-FFF2-40B4-BE49-F238E27FC236}">
                <a16:creationId xmlns:a16="http://schemas.microsoft.com/office/drawing/2014/main" id="{CD810645-0360-4659-8C46-8527B28063ED}"/>
              </a:ext>
            </a:extLst>
          </p:cNvPr>
          <p:cNvSpPr>
            <a:spLocks xmlns:a="http://schemas.openxmlformats.org/drawingml/2006/main" noGrp="1"/>
          </p:cNvSpPr>
          <p:nvPr/>
        </p:nvSpPr>
        <p:spPr>
          <a:xfrm xmlns:a="http://schemas.openxmlformats.org/drawingml/2006/main">
            <a:off x="781050" y="10668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Mục tiêu</a:t>
            </a:r>
          </a:p>
        </p:txBody>
      </p:sp>
      <p:sp>
        <p:nvSpPr>
          <p:cNvPr id="3" name="">
            <a:extLst xmlns:a="http://schemas.openxmlformats.org/drawingml/2006/main">
              <a:ext uri="{FF2B5EF4-FFF2-40B4-BE49-F238E27FC236}">
                <a16:creationId xmlns:a16="http://schemas.microsoft.com/office/drawing/2014/main" id="{6437B87B-BC2E-42AC-90A0-D22AB9958CF6}"/>
              </a:ext>
            </a:extLst>
          </p:cNvPr>
          <p:cNvSpPr>
            <a:spLocks xmlns:a="http://schemas.openxmlformats.org/drawingml/2006/main" noGrp="1"/>
          </p:cNvSpPr>
          <p:nvPr/>
        </p:nvSpPr>
        <p:spPr>
          <a:xfrm xmlns:a="http://schemas.openxmlformats.org/drawingml/2006/main">
            <a:off x="723900" y="1476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tập trung xe cơ giới, thiết bị nông nghiệp và tình trạng sẵn sàng</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Kết nối kế hoạch sản xuất với điều xe, thực hiện công việc và nghiệm thu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Theo dõi GPS, nhiên liệu, bảo dưỡng, sửa chữa và hiệu quả lái xe</a:t>
            </a:r>
          </a:p>
        </p:txBody>
      </p:sp>
      <p:sp>
        <p:nvSpPr>
          <p:cNvPr id="4" name="">
            <a:extLst xmlns:a="http://schemas.openxmlformats.org/drawingml/2006/main">
              <a:ext uri="{FF2B5EF4-FFF2-40B4-BE49-F238E27FC236}">
                <a16:creationId xmlns:a16="http://schemas.microsoft.com/office/drawing/2014/main" id="{DC17F4E9-85E6-478B-9CEF-6046C541DC42}"/>
              </a:ext>
            </a:extLst>
          </p:cNvPr>
          <p:cNvSpPr>
            <a:spLocks xmlns:a="http://schemas.openxmlformats.org/drawingml/2006/main" noGrp="1"/>
          </p:cNvSpPr>
          <p:nvPr/>
        </p:nvSpPr>
        <p:spPr>
          <a:xfrm xmlns:a="http://schemas.openxmlformats.org/drawingml/2006/main">
            <a:off x="6438900" y="10668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Người sử dụng</a:t>
            </a:r>
          </a:p>
        </p:txBody>
      </p:sp>
      <p:sp>
        <p:nvSpPr>
          <p:cNvPr id="5" name="">
            <a:extLst xmlns:a="http://schemas.openxmlformats.org/drawingml/2006/main">
              <a:ext uri="{FF2B5EF4-FFF2-40B4-BE49-F238E27FC236}">
                <a16:creationId xmlns:a16="http://schemas.microsoft.com/office/drawing/2014/main" id="{A735F005-3B04-4D31-87BD-47BB9CCFC1A8}"/>
              </a:ext>
            </a:extLst>
          </p:cNvPr>
          <p:cNvSpPr>
            <a:spLocks xmlns:a="http://schemas.openxmlformats.org/drawingml/2006/main" noGrp="1"/>
          </p:cNvSpPr>
          <p:nvPr/>
        </p:nvSpPr>
        <p:spPr>
          <a:xfrm xmlns:a="http://schemas.openxmlformats.org/drawingml/2006/main">
            <a:off x="6381750" y="1476375"/>
            <a:ext cx="5048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Ban Xe cơ giới và cán bộ điều hành tại đơn vị</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Quản lý nông trường, nhân sự xưởng BTSC và kho nhiên liệu</a:t>
            </a:r>
          </a:p>
          <a:p xmlns:a="http://schemas.openxmlformats.org/drawingml/2006/main">
            <a:pPr marL="241300" indent="-114300" algn="l">
              <a:lnSpc>
                <a:spcPct val="104000"/>
              </a:lnSpc>
              <a:spcAft>
                <a:spcPts val="1000"/>
              </a:spcAft>
              <a:buNone/>
              <a:defRPr sz="1575" b="0" i="0">
                <a:solidFill>
                  <a:srgbClr val="17212B"/>
                </a:solidFill>
                <a:latin typeface="Cambria"/>
                <a:ea typeface="Cambria"/>
                <a:cs typeface="Cambria"/>
              </a:defRPr>
            </a:pPr>
            <a:r>
              <a:rPr sz="1575" b="0" i="0">
                <a:solidFill>
                  <a:srgbClr val="17212B"/>
                </a:solidFill>
                <a:latin typeface="Cambria"/>
                <a:ea typeface="Cambria"/>
                <a:cs typeface="Cambria"/>
              </a:rPr>
              <a:t>Lái xe qua ứng dụng mobile, quản trị hệ thống và lãnh đạo theo dõi báo cáo</a:t>
            </a:r>
          </a:p>
        </p:txBody>
      </p:sp>
      <p:sp>
        <p:nvSpPr>
          <p:cNvPr id="6" name="">
            <a:extLst xmlns:a="http://schemas.openxmlformats.org/drawingml/2006/main">
              <a:ext uri="{FF2B5EF4-FFF2-40B4-BE49-F238E27FC236}">
                <a16:creationId xmlns:a16="http://schemas.microsoft.com/office/drawing/2014/main" id="{724A9118-DFEE-4283-B249-A70D6CC9074E}"/>
              </a:ext>
            </a:extLst>
          </p:cNvPr>
          <p:cNvSpPr>
            <a:spLocks xmlns:a="http://schemas.openxmlformats.org/drawingml/2006/main" noGrp="1"/>
          </p:cNvSpPr>
          <p:nvPr/>
        </p:nvSpPr>
        <p:spPr>
          <a:xfrm xmlns:a="http://schemas.openxmlformats.org/drawingml/2006/main">
            <a:off x="838200" y="3981450"/>
            <a:ext cx="10515600" cy="190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F3B6247F-320F-4D08-91EE-026C75F4E611}"/>
              </a:ext>
            </a:extLst>
          </p:cNvPr>
          <p:cNvSpPr>
            <a:spLocks xmlns:a="http://schemas.openxmlformats.org/drawingml/2006/main" noGrp="1"/>
          </p:cNvSpPr>
          <p:nvPr/>
        </p:nvSpPr>
        <p:spPr>
          <a:xfrm xmlns:a="http://schemas.openxmlformats.org/drawingml/2006/main">
            <a:off x="781050" y="42386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Giá trị dự kiến khi dữ liệu và quy trình được khép kín</a:t>
            </a:r>
          </a:p>
        </p:txBody>
      </p:sp>
      <p:sp>
        <p:nvSpPr>
          <p:cNvPr id="8" name="">
            <a:extLst xmlns:a="http://schemas.openxmlformats.org/drawingml/2006/main">
              <a:ext uri="{FF2B5EF4-FFF2-40B4-BE49-F238E27FC236}">
                <a16:creationId xmlns:a16="http://schemas.microsoft.com/office/drawing/2014/main" id="{3FCE9EA0-6971-4E22-B439-9F1677BB9F05}"/>
              </a:ext>
            </a:extLst>
          </p:cNvPr>
          <p:cNvSpPr>
            <a:spLocks xmlns:a="http://schemas.openxmlformats.org/drawingml/2006/main" noGrp="1"/>
          </p:cNvSpPr>
          <p:nvPr/>
        </p:nvSpPr>
        <p:spPr>
          <a:xfrm xmlns:a="http://schemas.openxmlformats.org/drawingml/2006/main">
            <a:off x="781050" y="4686300"/>
            <a:ext cx="10553700" cy="1066800"/>
          </a:xfrm>
          <a:prstGeom xmlns:a="http://schemas.openxmlformats.org/drawingml/2006/main" prst="roundRect">
            <a:avLst>
              <a:gd name="adj" fmla="val 7143"/>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875" b="1" i="0">
                <a:solidFill>
                  <a:srgbClr val="17212B"/>
                </a:solidFill>
                <a:latin typeface="Cambria"/>
                <a:ea typeface="Cambria"/>
                <a:cs typeface="Cambria"/>
              </a:defRPr>
            </a:pPr>
            <a:r>
              <a:rPr sz="1875" b="1" i="0">
                <a:solidFill>
                  <a:srgbClr val="17212B"/>
                </a:solidFill>
                <a:latin typeface="Cambria"/>
                <a:ea typeface="Cambria"/>
                <a:cs typeface="Cambria"/>
              </a:rPr>
              <a:t>Một nguồn dữ liệu vận hành để biết xe nào sẵn sàng, công việc nào đang chậm, chi phí phát sinh ở đâu và ai chịu trách nhiệm xử lý.</a:t>
            </a:r>
          </a:p>
        </p:txBody>
      </p:sp>
      <p:sp>
        <p:nvSpPr>
          <p:cNvPr id="9" name="">
            <a:extLst xmlns:a="http://schemas.openxmlformats.org/drawingml/2006/main">
              <a:ext uri="{FF2B5EF4-FFF2-40B4-BE49-F238E27FC236}">
                <a16:creationId xmlns:a16="http://schemas.microsoft.com/office/drawing/2014/main" id="{9DF6B25C-3D95-4218-A33F-634512C65E3B}"/>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0" name="">
            <a:extLst xmlns:a="http://schemas.openxmlformats.org/drawingml/2006/main">
              <a:ext uri="{FF2B5EF4-FFF2-40B4-BE49-F238E27FC236}">
                <a16:creationId xmlns:a16="http://schemas.microsoft.com/office/drawing/2014/main" id="{43AFDF3E-06B0-4AA9-849C-24CAD854EE7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3</a:t>
            </a:r>
          </a:p>
        </p:txBody>
      </p:sp>
    </p:spTree>
    <p:extLst>
      <p:ext uri="{BB962C8B-B14F-4D97-AF65-F5344CB8AC3E}">
        <p14:creationId xmlns:p14="http://schemas.microsoft.com/office/powerpoint/2010/main" val="20502282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DE13591-D53F-46C2-B370-ED5D89D11ED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ĐỐI TƯỢNG SỬ DỤNG VÀ KIẾN TRÚC</a:t>
            </a:r>
          </a:p>
        </p:txBody>
      </p:sp>
      <p:sp>
        <p:nvSpPr>
          <p:cNvPr id="2" name="">
            <a:extLst xmlns:a="http://schemas.openxmlformats.org/drawingml/2006/main">
              <a:ext uri="{FF2B5EF4-FFF2-40B4-BE49-F238E27FC236}">
                <a16:creationId xmlns:a16="http://schemas.microsoft.com/office/drawing/2014/main" id="{C63AEF9E-71AA-4BE5-B981-E1169EE4CBD7}"/>
              </a:ext>
            </a:extLst>
          </p:cNvPr>
          <p:cNvSpPr>
            <a:spLocks xmlns:a="http://schemas.openxmlformats.org/drawingml/2006/main" noGrp="1"/>
          </p:cNvSpPr>
          <p:nvPr/>
        </p:nvSpPr>
        <p:spPr>
          <a:xfrm xmlns:a="http://schemas.openxmlformats.org/drawingml/2006/main">
            <a:off x="523875" y="10001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Vai trò và công việc chính</a:t>
            </a:r>
          </a:p>
        </p:txBody>
      </p:sp>
      <p:graphicFrame>
        <p:nvGraphicFramePr>
          <p:cNvPr id="11" name=""/>
          <p:cNvGraphicFramePr/>
          <p:nvPr/>
        </p:nvGraphicFramePr>
        <p:xfrm>
          <a:off xmlns:a="http://schemas.openxmlformats.org/drawingml/2006/main" x="476250" y="1381125"/>
          <a:ext xmlns:a="http://schemas.openxmlformats.org/drawingml/2006/main" cx="11239500" cy="3143250"/>
        </p:xfrm>
        <a:graphic xmlns:a="http://schemas.openxmlformats.org/drawingml/2006/main">
          <a:graphicData uri="http://schemas.openxmlformats.org/drawingml/2006/table">
            <a:tbl>
              <a:tblPr/>
              <a:tblGrid>
                <a:gridCol w="3143250"/>
                <a:gridCol w="8096250"/>
              </a:tblGrid>
              <a:tr h="457200">
                <a:tc>
                  <a:txBody>
                    <a:bodyPr/>
                    <a:lstStyle/>
                    <a:p>
                      <a:r>
                        <a:t>NHÓM NGƯỜI DÙNG</a:t>
                      </a:r>
                    </a:p>
                  </a:txBody>
                  <a:tcPr marL="91440" marR="91440" marT="45720" marB="45720"/>
                </a:tc>
                <a:tc>
                  <a:txBody>
                    <a:bodyPr/>
                    <a:lstStyle/>
                    <a:p>
                      <a:r>
                        <a:t>CÔNG VIỆC TRÊN HỆ THỐNG</a:t>
                      </a:r>
                    </a:p>
                  </a:txBody>
                  <a:tcPr marL="91440" marR="91440" marT="45720" marB="45720"/>
                </a:tc>
              </a:tr>
              <a:tr h="533400">
                <a:tc>
                  <a:txBody>
                    <a:bodyPr/>
                    <a:lstStyle/>
                    <a:p>
                      <a:r>
                        <a:t>Ban Xe cơ giới / điều hành</a:t>
                      </a:r>
                    </a:p>
                  </a:txBody>
                  <a:tcPr marL="91440" marR="91440" marT="45720" marB="45720"/>
                </a:tc>
                <a:tc>
                  <a:txBody>
                    <a:bodyPr/>
                    <a:lstStyle/>
                    <a:p>
                      <a:r>
                        <a:t>Lập kế hoạch, phân bổ xe, theo dõi tiến độ và xử lý điều chỉnh</a:t>
                      </a:r>
                    </a:p>
                  </a:txBody>
                  <a:tcPr marL="91440" marR="91440" marT="45720" marB="45720"/>
                </a:tc>
              </a:tr>
              <a:tr h="533400">
                <a:tc>
                  <a:txBody>
                    <a:bodyPr/>
                    <a:lstStyle/>
                    <a:p>
                      <a:r>
                        <a:t>Đơn vị / nông trường</a:t>
                      </a:r>
                    </a:p>
                  </a:txBody>
                  <a:tcPr marL="91440" marR="91440" marT="45720" marB="45720"/>
                </a:tc>
                <a:tc>
                  <a:txBody>
                    <a:bodyPr/>
                    <a:lstStyle/>
                    <a:p>
                      <a:r>
                        <a:t>Đăng ký nhu cầu, điều xe trong phạm vi kế hoạch, xác nhận kết quả</a:t>
                      </a:r>
                    </a:p>
                  </a:txBody>
                  <a:tcPr marL="91440" marR="91440" marT="45720" marB="45720"/>
                </a:tc>
              </a:tr>
              <a:tr h="533400">
                <a:tc>
                  <a:txBody>
                    <a:bodyPr/>
                    <a:lstStyle/>
                    <a:p>
                      <a:r>
                        <a:t>Xưởng và kho nhiên liệu</a:t>
                      </a:r>
                    </a:p>
                  </a:txBody>
                  <a:tcPr marL="91440" marR="91440" marT="45720" marB="45720"/>
                </a:tc>
                <a:tc>
                  <a:txBody>
                    <a:bodyPr/>
                    <a:lstStyle/>
                    <a:p>
                      <a:r>
                        <a:t>Bảo dưỡng, sửa chữa, phụ tùng, tồn kho và cấp phát nhiên liệu</a:t>
                      </a:r>
                    </a:p>
                  </a:txBody>
                  <a:tcPr marL="91440" marR="91440" marT="45720" marB="45720"/>
                </a:tc>
              </a:tr>
              <a:tr h="533400">
                <a:tc>
                  <a:txBody>
                    <a:bodyPr/>
                    <a:lstStyle/>
                    <a:p>
                      <a:r>
                        <a:t>Lái xe</a:t>
                      </a:r>
                    </a:p>
                  </a:txBody>
                  <a:tcPr marL="91440" marR="91440" marT="45720" marB="45720"/>
                </a:tc>
                <a:tc>
                  <a:txBody>
                    <a:bodyPr/>
                    <a:lstStyle/>
                    <a:p>
                      <a:r>
                        <a:t>Nhận việc, bắt đầu hoặc kết thúc chuyến, gửi minh chứng và SOS</a:t>
                      </a:r>
                    </a:p>
                  </a:txBody>
                  <a:tcPr marL="91440" marR="91440" marT="45720" marB="45720"/>
                </a:tc>
              </a:tr>
              <a:tr h="533400">
                <a:tc>
                  <a:txBody>
                    <a:bodyPr/>
                    <a:lstStyle/>
                    <a:p>
                      <a:r>
                        <a:t>Lãnh đạo / quản trị</a:t>
                      </a:r>
                    </a:p>
                  </a:txBody>
                  <a:tcPr marL="91440" marR="91440" marT="45720" marB="45720"/>
                </a:tc>
                <a:tc>
                  <a:txBody>
                    <a:bodyPr/>
                    <a:lstStyle/>
                    <a:p>
                      <a:r>
                        <a:t>Dashboard, báo cáo, danh mục, người dùng, vai trò và phạm vi dữ liệu</a:t>
                      </a:r>
                    </a:p>
                  </a:txBody>
                  <a:tcPr marL="91440" marR="91440" marT="45720" marB="45720"/>
                </a:tc>
              </a:tr>
            </a:tbl>
          </a:graphicData>
        </a:graphic>
      </p:graphicFrame>
      <p:sp>
        <p:nvSpPr>
          <p:cNvPr id="4" name="">
            <a:extLst xmlns:a="http://schemas.openxmlformats.org/drawingml/2006/main">
              <a:ext uri="{FF2B5EF4-FFF2-40B4-BE49-F238E27FC236}">
                <a16:creationId xmlns:a16="http://schemas.microsoft.com/office/drawing/2014/main" id="{245DB114-B456-4F2F-97EF-DE881EE28B05}"/>
              </a:ext>
            </a:extLst>
          </p:cNvPr>
          <p:cNvSpPr>
            <a:spLocks xmlns:a="http://schemas.openxmlformats.org/drawingml/2006/main" noGrp="1"/>
          </p:cNvSpPr>
          <p:nvPr/>
        </p:nvSpPr>
        <p:spPr>
          <a:xfrm xmlns:a="http://schemas.openxmlformats.org/drawingml/2006/main">
            <a:off x="523875" y="481012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Kiến trúc triển khai</a:t>
            </a:r>
          </a:p>
        </p:txBody>
      </p:sp>
      <p:sp>
        <p:nvSpPr>
          <p:cNvPr id="5" name="">
            <a:extLst xmlns:a="http://schemas.openxmlformats.org/drawingml/2006/main">
              <a:ext uri="{FF2B5EF4-FFF2-40B4-BE49-F238E27FC236}">
                <a16:creationId xmlns:a16="http://schemas.microsoft.com/office/drawing/2014/main" id="{20CBB929-B36F-49C4-ACE1-EAD7433C41D5}"/>
              </a:ext>
            </a:extLst>
          </p:cNvPr>
          <p:cNvSpPr>
            <a:spLocks xmlns:a="http://schemas.openxmlformats.org/drawingml/2006/main" noGrp="1"/>
          </p:cNvSpPr>
          <p:nvPr/>
        </p:nvSpPr>
        <p:spPr>
          <a:xfrm xmlns:a="http://schemas.openxmlformats.org/drawingml/2006/main">
            <a:off x="523875" y="5219700"/>
            <a:ext cx="11144250" cy="552450"/>
          </a:xfrm>
          <a:prstGeom xmlns:a="http://schemas.openxmlformats.org/drawingml/2006/main" prst="roundRect">
            <a:avLst>
              <a:gd name="adj" fmla="val 10345"/>
            </a:avLst>
          </a:prstGeom>
          <a:solidFill xmlns:a="http://schemas.openxmlformats.org/drawingml/2006/main">
            <a:srgbClr val="E8F2E2"/>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725" b="1" i="0">
                <a:solidFill>
                  <a:srgbClr val="17212B"/>
                </a:solidFill>
                <a:latin typeface="Cambria"/>
                <a:ea typeface="Cambria"/>
                <a:cs typeface="Cambria"/>
              </a:defRPr>
            </a:pPr>
            <a:r>
              <a:rPr sz="1725" b="1" i="0">
                <a:solidFill>
                  <a:srgbClr val="17212B"/>
                </a:solidFill>
                <a:latin typeface="Cambria"/>
                <a:ea typeface="Cambria"/>
                <a:cs typeface="Cambria"/>
              </a:rPr>
              <a:t>Web React/Vite, API NestJS, Prisma/MySQL và ứng dụng tài xế Expo/React Native</a:t>
            </a:r>
          </a:p>
        </p:txBody>
      </p:sp>
      <p:sp>
        <p:nvSpPr>
          <p:cNvPr id="6" name="">
            <a:extLst xmlns:a="http://schemas.openxmlformats.org/drawingml/2006/main">
              <a:ext uri="{FF2B5EF4-FFF2-40B4-BE49-F238E27FC236}">
                <a16:creationId xmlns:a16="http://schemas.microsoft.com/office/drawing/2014/main" id="{69A67CEA-6285-4AD2-8126-05E1792AAAE6}"/>
              </a:ext>
            </a:extLst>
          </p:cNvPr>
          <p:cNvSpPr>
            <a:spLocks xmlns:a="http://schemas.openxmlformats.org/drawingml/2006/main" noGrp="1"/>
          </p:cNvSpPr>
          <p:nvPr/>
        </p:nvSpPr>
        <p:spPr>
          <a:xfrm xmlns:a="http://schemas.openxmlformats.org/drawingml/2006/main">
            <a:off x="571500" y="59055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JWT và role guard đã có. Kiểm soát dữ liệu theo đơn vị cần tiếp tục chuẩn hóa ở từng service.</a:t>
            </a:r>
          </a:p>
        </p:txBody>
      </p:sp>
      <p:sp>
        <p:nvSpPr>
          <p:cNvPr id="7" name="">
            <a:extLst xmlns:a="http://schemas.openxmlformats.org/drawingml/2006/main">
              <a:ext uri="{FF2B5EF4-FFF2-40B4-BE49-F238E27FC236}">
                <a16:creationId xmlns:a16="http://schemas.microsoft.com/office/drawing/2014/main" id="{2B6A2611-1441-4214-83BA-32C3D91BDDCF}"/>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9808D389-88A4-49DB-A727-C6C1D2A8DAE8}"/>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4</a:t>
            </a:r>
          </a:p>
        </p:txBody>
      </p:sp>
    </p:spTree>
    <p:extLst>
      <p:ext uri="{BB962C8B-B14F-4D97-AF65-F5344CB8AC3E}">
        <p14:creationId xmlns:p14="http://schemas.microsoft.com/office/powerpoint/2010/main" val="3046596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E418290-E00F-43C9-8F63-3A71F5A7E3E0}"/>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CÁC NGHIỆP VỤ CHÍNH NGOÀI ĐIỀU XE</a:t>
            </a:r>
          </a:p>
        </p:txBody>
      </p:sp>
      <p:graphicFrame>
        <p:nvGraphicFramePr>
          <p:cNvPr id="6" name=""/>
          <p:cNvGraphicFramePr/>
          <p:nvPr/>
        </p:nvGraphicFramePr>
        <p:xfrm>
          <a:off xmlns:a="http://schemas.openxmlformats.org/drawingml/2006/main" x="381000" y="952500"/>
          <a:ext xmlns:a="http://schemas.openxmlformats.org/drawingml/2006/main" cx="11430000" cy="5219700"/>
        </p:xfrm>
        <a:graphic xmlns:a="http://schemas.openxmlformats.org/drawingml/2006/main">
          <a:graphicData uri="http://schemas.openxmlformats.org/drawingml/2006/table">
            <a:tbl>
              <a:tblPr/>
              <a:tblGrid>
                <a:gridCol w="2333625"/>
                <a:gridCol w="7667625"/>
                <a:gridCol w="1428750"/>
              </a:tblGrid>
              <a:tr h="419100">
                <a:tc>
                  <a:txBody>
                    <a:bodyPr/>
                    <a:lstStyle/>
                    <a:p>
                      <a:r>
                        <a:t>NGHIỆP VỤ</a:t>
                      </a:r>
                    </a:p>
                  </a:txBody>
                  <a:tcPr marL="91440" marR="91440" marT="45720" marB="45720"/>
                </a:tc>
                <a:tc>
                  <a:txBody>
                    <a:bodyPr/>
                    <a:lstStyle/>
                    <a:p>
                      <a:r>
                        <a:t>THAO TÁC CỤ THỂ TRÊN HỆ THỐNG</a:t>
                      </a:r>
                    </a:p>
                  </a:txBody>
                  <a:tcPr marL="91440" marR="91440" marT="45720" marB="45720"/>
                </a:tc>
                <a:tc>
                  <a:txBody>
                    <a:bodyPr/>
                    <a:lstStyle/>
                    <a:p>
                      <a:r>
                        <a:t>MODULE</a:t>
                      </a:r>
                    </a:p>
                  </a:txBody>
                  <a:tcPr marL="91440" marR="91440" marT="45720" marB="45720"/>
                </a:tc>
              </a:tr>
              <a:tr h="590550">
                <a:tc>
                  <a:txBody>
                    <a:bodyPr/>
                    <a:lstStyle/>
                    <a:p>
                      <a:r>
                        <a:t>Kế hoạch sản xuất</a:t>
                      </a:r>
                    </a:p>
                  </a:txBody>
                  <a:tcPr marL="91440" marR="91440" marT="45720" marB="45720"/>
                </a:tc>
                <a:tc>
                  <a:txBody>
                    <a:bodyPr/>
                    <a:lstStyle/>
                    <a:p>
                      <a:r>
                        <a:t>Lập kế hoạch theo lô/công việc, phê duyệt, điều chỉnh có lý do, theo dõi tiến độ và sinh lệnh</a:t>
                      </a:r>
                    </a:p>
                  </a:txBody>
                  <a:tcPr marL="91440" marR="91440" marT="45720" marB="45720"/>
                </a:tc>
                <a:tc>
                  <a:txBody>
                    <a:bodyPr/>
                    <a:lstStyle/>
                    <a:p>
                      <a:pPr algn="ctr"/>
                      <a:r>
                        <a:rPr sz="1200" b="1">
                          <a:solidFill>
                            <a:srgbClr val="006B35"/>
                          </a:solidFill>
                          <a:latin typeface="Cambria"/>
                          <a:ea typeface="Cambria"/>
                          <a:cs typeface="Cambria"/>
                        </a:rPr>
                        <a:t>D</a:t>
                      </a:r>
                    </a:p>
                  </a:txBody>
                  <a:tcPr marL="91440" marR="91440" marT="45720" marB="45720" anchor="ctr"/>
                </a:tc>
              </a:tr>
              <a:tr h="590550">
                <a:tc>
                  <a:txBody>
                    <a:bodyPr/>
                    <a:lstStyle/>
                    <a:p>
                      <a:r>
                        <a:t>Vận chuyển</a:t>
                      </a:r>
                    </a:p>
                  </a:txBody>
                  <a:tcPr marL="91440" marR="91440" marT="45720" marB="45720"/>
                </a:tc>
                <a:tc>
                  <a:txBody>
                    <a:bodyPr/>
                    <a:lstStyle/>
                    <a:p>
                      <a:r>
                        <a:t>Khai báo hàng, tuyến, điểm lấy/giao, xếp dỡ, hành trình về bãi, đối soát và nghiệm thu</a:t>
                      </a:r>
                    </a:p>
                  </a:txBody>
                  <a:tcPr marL="91440" marR="91440" marT="45720" marB="45720"/>
                </a:tc>
                <a:tc>
                  <a:txBody>
                    <a:bodyPr/>
                    <a:lstStyle/>
                    <a:p>
                      <a:pPr algn="ctr"/>
                      <a:r>
                        <a:rPr sz="1200" b="1">
                          <a:solidFill>
                            <a:srgbClr val="006B35"/>
                          </a:solidFill>
                          <a:latin typeface="Cambria"/>
                          <a:ea typeface="Cambria"/>
                          <a:cs typeface="Cambria"/>
                        </a:rPr>
                        <a:t>D</a:t>
                      </a:r>
                    </a:p>
                  </a:txBody>
                  <a:tcPr marL="91440" marR="91440" marT="45720" marB="45720" anchor="ctr"/>
                </a:tc>
              </a:tr>
              <a:tr h="590550">
                <a:tc>
                  <a:txBody>
                    <a:bodyPr/>
                    <a:lstStyle/>
                    <a:p>
                      <a:r>
                        <a:t>Đội xe và thiết bị</a:t>
                      </a:r>
                    </a:p>
                  </a:txBody>
                  <a:tcPr marL="91440" marR="91440" marT="45720" marB="45720"/>
                </a:tc>
                <a:tc>
                  <a:txBody>
                    <a:bodyPr/>
                    <a:lstStyle/>
                    <a:p>
                      <a:r>
                        <a:t>Quản lý hồ sơ xe, phân về đội, gán tài xế, gắn/tháo nông cụ, lịch sử và khả dụng</a:t>
                      </a:r>
                    </a:p>
                  </a:txBody>
                  <a:tcPr marL="91440" marR="91440" marT="45720" marB="45720"/>
                </a:tc>
                <a:tc>
                  <a:txBody>
                    <a:bodyPr/>
                    <a:lstStyle/>
                    <a:p>
                      <a:pPr algn="ctr"/>
                      <a:r>
                        <a:rPr sz="1200" b="1">
                          <a:solidFill>
                            <a:srgbClr val="006B35"/>
                          </a:solidFill>
                          <a:latin typeface="Cambria"/>
                          <a:ea typeface="Cambria"/>
                          <a:cs typeface="Cambria"/>
                        </a:rPr>
                        <a:t>C</a:t>
                      </a:r>
                    </a:p>
                  </a:txBody>
                  <a:tcPr marL="91440" marR="91440" marT="45720" marB="45720" anchor="ctr"/>
                </a:tc>
              </a:tr>
              <a:tr h="590550">
                <a:tc>
                  <a:txBody>
                    <a:bodyPr/>
                    <a:lstStyle/>
                    <a:p>
                      <a:r>
                        <a:t>Bảo dưỡng và sửa chữa</a:t>
                      </a:r>
                    </a:p>
                  </a:txBody>
                  <a:tcPr marL="91440" marR="91440" marT="45720" marB="45720"/>
                </a:tc>
                <a:tc>
                  <a:txBody>
                    <a:bodyPr/>
                    <a:lstStyle/>
                    <a:p>
                      <a:r>
                        <a:t>Theo dõi giờ máy/ODO, lập kế hoạch BTSC, phiếu sửa chữa, phụ tùng còn nợ và bàn giao xe</a:t>
                      </a:r>
                    </a:p>
                  </a:txBody>
                  <a:tcPr marL="91440" marR="91440" marT="45720" marB="45720"/>
                </a:tc>
                <a:tc>
                  <a:txBody>
                    <a:bodyPr/>
                    <a:lstStyle/>
                    <a:p>
                      <a:pPr algn="ctr"/>
                      <a:r>
                        <a:rPr sz="1200" b="1">
                          <a:solidFill>
                            <a:srgbClr val="006B35"/>
                          </a:solidFill>
                          <a:latin typeface="Cambria"/>
                          <a:ea typeface="Cambria"/>
                          <a:cs typeface="Cambria"/>
                        </a:rPr>
                        <a:t>E</a:t>
                      </a:r>
                    </a:p>
                  </a:txBody>
                  <a:tcPr marL="91440" marR="91440" marT="45720" marB="45720" anchor="ctr"/>
                </a:tc>
              </a:tr>
              <a:tr h="590550">
                <a:tc>
                  <a:txBody>
                    <a:bodyPr/>
                    <a:lstStyle/>
                    <a:p>
                      <a:r>
                        <a:t>Nhiên liệu</a:t>
                      </a:r>
                    </a:p>
                  </a:txBody>
                  <a:tcPr marL="91440" marR="91440" marT="45720" marB="45720"/>
                </a:tc>
                <a:tc>
                  <a:txBody>
                    <a:bodyPr/>
                    <a:lstStyle/>
                    <a:p>
                      <a:r>
                        <a:t>Quản lý kho/bồn, phiếu cấp phát, định mức theo xe, chênh lệch tiêu hao và đối soát tồn</a:t>
                      </a:r>
                    </a:p>
                  </a:txBody>
                  <a:tcPr marL="91440" marR="91440" marT="45720" marB="45720"/>
                </a:tc>
                <a:tc>
                  <a:txBody>
                    <a:bodyPr/>
                    <a:lstStyle/>
                    <a:p>
                      <a:pPr algn="ctr"/>
                      <a:r>
                        <a:rPr sz="1200" b="1">
                          <a:solidFill>
                            <a:srgbClr val="006B35"/>
                          </a:solidFill>
                          <a:latin typeface="Cambria"/>
                          <a:ea typeface="Cambria"/>
                          <a:cs typeface="Cambria"/>
                        </a:rPr>
                        <a:t>J</a:t>
                      </a:r>
                    </a:p>
                  </a:txBody>
                  <a:tcPr marL="91440" marR="91440" marT="45720" marB="45720" anchor="ctr"/>
                </a:tc>
              </a:tr>
              <a:tr h="590550">
                <a:tc>
                  <a:txBody>
                    <a:bodyPr/>
                    <a:lstStyle/>
                    <a:p>
                      <a:r>
                        <a:t>Lái xe</a:t>
                      </a:r>
                    </a:p>
                  </a:txBody>
                  <a:tcPr marL="91440" marR="91440" marT="45720" marB="45720"/>
                </a:tc>
                <a:tc>
                  <a:txBody>
                    <a:bodyPr/>
                    <a:lstStyle/>
                    <a:p>
                      <a:r>
                        <a:t>Hồ sơ, GPLX/sức khỏe, ca làm, nhận việc trên mobile, tiến độ, ảnh, SOS và KPI</a:t>
                      </a:r>
                    </a:p>
                  </a:txBody>
                  <a:tcPr marL="91440" marR="91440" marT="45720" marB="45720"/>
                </a:tc>
                <a:tc>
                  <a:txBody>
                    <a:bodyPr/>
                    <a:lstStyle/>
                    <a:p>
                      <a:pPr algn="ctr"/>
                      <a:r>
                        <a:rPr sz="1200" b="1">
                          <a:solidFill>
                            <a:srgbClr val="006B35"/>
                          </a:solidFill>
                          <a:latin typeface="Cambria"/>
                          <a:ea typeface="Cambria"/>
                          <a:cs typeface="Cambria"/>
                        </a:rPr>
                        <a:t>I</a:t>
                      </a:r>
                    </a:p>
                  </a:txBody>
                  <a:tcPr marL="91440" marR="91440" marT="45720" marB="45720" anchor="ctr"/>
                </a:tc>
              </a:tr>
              <a:tr h="590550">
                <a:tc>
                  <a:txBody>
                    <a:bodyPr/>
                    <a:lstStyle/>
                    <a:p>
                      <a:r>
                        <a:t>GPS và cảnh báo</a:t>
                      </a:r>
                    </a:p>
                  </a:txBody>
                  <a:tcPr marL="91440" marR="91440" marT="45720" marB="45720"/>
                </a:tc>
                <a:tc>
                  <a:txBody>
                    <a:bodyPr/>
                    <a:lstStyle/>
                    <a:p>
                      <a:r>
                        <a:t>Vị trí hiện tại, lịch sử hành trình, cảnh báo mất tín hiệu, sai tuyến, vượt tốc, SOS và BTSC</a:t>
                      </a:r>
                    </a:p>
                  </a:txBody>
                  <a:tcPr marL="91440" marR="91440" marT="45720" marB="45720"/>
                </a:tc>
                <a:tc>
                  <a:txBody>
                    <a:bodyPr/>
                    <a:lstStyle/>
                    <a:p>
                      <a:pPr algn="ctr"/>
                      <a:r>
                        <a:rPr sz="1200" b="1">
                          <a:solidFill>
                            <a:srgbClr val="006B35"/>
                          </a:solidFill>
                          <a:latin typeface="Cambria"/>
                          <a:ea typeface="Cambria"/>
                          <a:cs typeface="Cambria"/>
                        </a:rPr>
                        <a:t>B, K</a:t>
                      </a:r>
                    </a:p>
                  </a:txBody>
                  <a:tcPr marL="91440" marR="91440" marT="45720" marB="45720" anchor="ctr"/>
                </a:tc>
              </a:tr>
              <a:tr h="590550">
                <a:tc>
                  <a:txBody>
                    <a:bodyPr/>
                    <a:lstStyle/>
                    <a:p>
                      <a:r>
                        <a:t>Quản trị và báo cáo</a:t>
                      </a:r>
                    </a:p>
                  </a:txBody>
                  <a:tcPr marL="91440" marR="91440" marT="45720" marB="45720"/>
                </a:tc>
                <a:tc>
                  <a:txBody>
                    <a:bodyPr/>
                    <a:lstStyle/>
                    <a:p>
                      <a:r>
                        <a:t>Danh mục, import/export Excel, người dùng/vai trò, phạm vi đơn vị, dashboard và báo cáo quản trị</a:t>
                      </a:r>
                    </a:p>
                  </a:txBody>
                  <a:tcPr marL="91440" marR="91440" marT="45720" marB="45720"/>
                </a:tc>
                <a:tc>
                  <a:txBody>
                    <a:bodyPr/>
                    <a:lstStyle/>
                    <a:p>
                      <a:pPr algn="ctr"/>
                      <a:r>
                        <a:rPr sz="1200" b="1">
                          <a:solidFill>
                            <a:srgbClr val="006B35"/>
                          </a:solidFill>
                          <a:latin typeface="Cambria"/>
                          <a:ea typeface="Cambria"/>
                          <a:cs typeface="Cambria"/>
                        </a:rPr>
                        <a:t>A, F, G, H</a:t>
                      </a:r>
                    </a:p>
                  </a:txBody>
                  <a:tcPr marL="91440" marR="91440" marT="45720" marB="45720" anchor="ctr"/>
                </a:tc>
              </a:tr>
            </a:tbl>
          </a:graphicData>
        </a:graphic>
      </p:graphicFrame>
      <p:sp>
        <p:nvSpPr>
          <p:cNvPr id="3" name="">
            <a:extLst xmlns:a="http://schemas.openxmlformats.org/drawingml/2006/main">
              <a:ext uri="{FF2B5EF4-FFF2-40B4-BE49-F238E27FC236}">
                <a16:creationId xmlns:a16="http://schemas.microsoft.com/office/drawing/2014/main" id="{99F75929-0568-4939-8DFF-8379D4859D2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1A873D14-3CA9-4D59-BFFD-98D46F443556}"/>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5</a:t>
            </a:r>
          </a:p>
        </p:txBody>
      </p:sp>
    </p:spTree>
    <p:extLst>
      <p:ext uri="{BB962C8B-B14F-4D97-AF65-F5344CB8AC3E}">
        <p14:creationId xmlns:p14="http://schemas.microsoft.com/office/powerpoint/2010/main" val="39174887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7C82213-66CC-4822-8EFE-22039EE3CF9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BẢN ĐỒ MODULE A–K VÀ MỨC ĐỘ TRIỂN KHAI</a:t>
            </a:r>
          </a:p>
        </p:txBody>
      </p:sp>
      <p:graphicFrame>
        <p:nvGraphicFramePr>
          <p:cNvPr id="6" name=""/>
          <p:cNvGraphicFramePr/>
          <p:nvPr/>
        </p:nvGraphicFramePr>
        <p:xfrm>
          <a:off xmlns:a="http://schemas.openxmlformats.org/drawingml/2006/main" x="342900" y="952500"/>
          <a:ext xmlns:a="http://schemas.openxmlformats.org/drawingml/2006/main" cx="11506200" cy="5257800"/>
        </p:xfrm>
        <a:graphic xmlns:a="http://schemas.openxmlformats.org/drawingml/2006/main">
          <a:graphicData uri="http://schemas.openxmlformats.org/drawingml/2006/table">
            <a:tbl>
              <a:tblPr/>
              <a:tblGrid>
                <a:gridCol w="495300"/>
                <a:gridCol w="1809750"/>
                <a:gridCol w="4476750"/>
                <a:gridCol w="4724400"/>
              </a:tblGrid>
              <a:tr h="438150">
                <a:tc>
                  <a:txBody>
                    <a:bodyPr/>
                    <a:lstStyle/>
                    <a:p>
                      <a:r>
                        <a:t>M</a:t>
                      </a:r>
                    </a:p>
                  </a:txBody>
                  <a:tcPr marL="91440" marR="91440" marT="45720" marB="45720"/>
                </a:tc>
                <a:tc>
                  <a:txBody>
                    <a:bodyPr/>
                    <a:lstStyle/>
                    <a:p>
                      <a:r>
                        <a:t>PHÂN HỆ</a:t>
                      </a:r>
                    </a:p>
                  </a:txBody>
                  <a:tcPr marL="91440" marR="91440" marT="45720" marB="45720"/>
                </a:tc>
                <a:tc>
                  <a:txBody>
                    <a:bodyPr/>
                    <a:lstStyle/>
                    <a:p>
                      <a:r>
                        <a:t>BẰNG CHỨNG ĐÃ CÓ</a:t>
                      </a:r>
                    </a:p>
                  </a:txBody>
                  <a:tcPr marL="91440" marR="91440" marT="45720" marB="45720"/>
                </a:tc>
                <a:tc>
                  <a:txBody>
                    <a:bodyPr/>
                    <a:lstStyle/>
                    <a:p>
                      <a:r>
                        <a:t>NHẬN ĐỊNH HIỆN TẠI</a:t>
                      </a:r>
                    </a:p>
                  </a:txBody>
                  <a:tcPr marL="91440" marR="91440" marT="45720" marB="45720"/>
                </a:tc>
              </a:tr>
              <a:tr h="438150">
                <a:tc>
                  <a:txBody>
                    <a:bodyPr/>
                    <a:lstStyle/>
                    <a:p>
                      <a:pPr algn="ctr"/>
                      <a:r>
                        <a:rPr sz="1200" b="1">
                          <a:solidFill>
                            <a:srgbClr val="006B35"/>
                          </a:solidFill>
                          <a:latin typeface="Cambria"/>
                          <a:ea typeface="Cambria"/>
                          <a:cs typeface="Cambria"/>
                        </a:rPr>
                        <a:t>A</a:t>
                      </a:r>
                    </a:p>
                  </a:txBody>
                  <a:tcPr marL="91440" marR="91440" marT="45720" marB="45720">
                    <a:solidFill>
                      <a:srgbClr val="EAF2E6"/>
                    </a:solidFill>
                  </a:tcPr>
                </a:tc>
                <a:tc>
                  <a:txBody>
                    <a:bodyPr/>
                    <a:lstStyle/>
                    <a:p>
                      <a:r>
                        <a:t>Dashboard</a:t>
                      </a:r>
                    </a:p>
                  </a:txBody>
                  <a:tcPr marL="91440" marR="91440" marT="45720" marB="45720"/>
                </a:tc>
                <a:tc>
                  <a:txBody>
                    <a:bodyPr/>
                    <a:lstStyle/>
                    <a:p>
                      <a:r>
                        <a:t>Có API tổng hợp, UI đã nối</a:t>
                      </a:r>
                    </a:p>
                  </a:txBody>
                  <a:tcPr marL="91440" marR="91440" marT="45720" marB="45720"/>
                </a:tc>
                <a:tc>
                  <a:txBody>
                    <a:bodyPr/>
                    <a:lstStyle/>
                    <a:p>
                      <a:r>
                        <a:t>Đang hoàn thiện số liệu</a:t>
                      </a:r>
                    </a:p>
                  </a:txBody>
                  <a:tcPr marL="91440" marR="91440" marT="45720" marB="45720"/>
                </a:tc>
              </a:tr>
              <a:tr h="438150">
                <a:tc>
                  <a:txBody>
                    <a:bodyPr/>
                    <a:lstStyle/>
                    <a:p>
                      <a:pPr algn="ctr"/>
                      <a:r>
                        <a:rPr sz="1200" b="1">
                          <a:solidFill>
                            <a:srgbClr val="006B35"/>
                          </a:solidFill>
                          <a:latin typeface="Cambria"/>
                          <a:ea typeface="Cambria"/>
                          <a:cs typeface="Cambria"/>
                        </a:rPr>
                        <a:t>B</a:t>
                      </a:r>
                    </a:p>
                  </a:txBody>
                  <a:tcPr marL="91440" marR="91440" marT="45720" marB="45720">
                    <a:solidFill>
                      <a:srgbClr val="EAF2E6"/>
                    </a:solidFill>
                  </a:tcPr>
                </a:tc>
                <a:tc>
                  <a:txBody>
                    <a:bodyPr/>
                    <a:lstStyle/>
                    <a:p>
                      <a:r>
                        <a:t>GPS</a:t>
                      </a:r>
                    </a:p>
                  </a:txBody>
                  <a:tcPr marL="91440" marR="91440" marT="45720" marB="45720"/>
                </a:tc>
                <a:tc>
                  <a:txBody>
                    <a:bodyPr/>
                    <a:lstStyle/>
                    <a:p>
                      <a:r>
                        <a:t>Telemetry, realtime, SOS</a:t>
                      </a:r>
                    </a:p>
                  </a:txBody>
                  <a:tcPr marL="91440" marR="91440" marT="45720" marB="45720"/>
                </a:tc>
                <a:tc>
                  <a:txBody>
                    <a:bodyPr/>
                    <a:lstStyle/>
                    <a:p>
                      <a:r>
                        <a:t>Hybrid / cần tích hợp thiết bị</a:t>
                      </a:r>
                    </a:p>
                  </a:txBody>
                  <a:tcPr marL="91440" marR="91440" marT="45720" marB="45720"/>
                </a:tc>
              </a:tr>
              <a:tr h="438150">
                <a:tc>
                  <a:txBody>
                    <a:bodyPr/>
                    <a:lstStyle/>
                    <a:p>
                      <a:pPr algn="ctr"/>
                      <a:r>
                        <a:rPr sz="1200" b="1">
                          <a:solidFill>
                            <a:srgbClr val="006B35"/>
                          </a:solidFill>
                          <a:latin typeface="Cambria"/>
                          <a:ea typeface="Cambria"/>
                          <a:cs typeface="Cambria"/>
                        </a:rPr>
                        <a:t>C</a:t>
                      </a:r>
                    </a:p>
                  </a:txBody>
                  <a:tcPr marL="91440" marR="91440" marT="45720" marB="45720">
                    <a:solidFill>
                      <a:srgbClr val="EAF2E6"/>
                    </a:solidFill>
                  </a:tcPr>
                </a:tc>
                <a:tc>
                  <a:txBody>
                    <a:bodyPr/>
                    <a:lstStyle/>
                    <a:p>
                      <a:r>
                        <a:t>Đội xe</a:t>
                      </a:r>
                    </a:p>
                  </a:txBody>
                  <a:tcPr marL="91440" marR="91440" marT="45720" marB="45720"/>
                </a:tc>
                <a:tc>
                  <a:txBody>
                    <a:bodyPr/>
                    <a:lstStyle/>
                    <a:p>
                      <a:r>
                        <a:t>Vehicle, implement, lịch sử</a:t>
                      </a:r>
                    </a:p>
                  </a:txBody>
                  <a:tcPr marL="91440" marR="91440" marT="45720" marB="45720"/>
                </a:tc>
                <a:tc>
                  <a:txBody>
                    <a:bodyPr/>
                    <a:lstStyle/>
                    <a:p>
                      <a:r>
                        <a:t>Tích hợp tương đối sâu</a:t>
                      </a:r>
                    </a:p>
                  </a:txBody>
                  <a:tcPr marL="91440" marR="91440" marT="45720" marB="45720"/>
                </a:tc>
              </a:tr>
              <a:tr h="438150">
                <a:tc>
                  <a:txBody>
                    <a:bodyPr/>
                    <a:lstStyle/>
                    <a:p>
                      <a:pPr algn="ctr"/>
                      <a:r>
                        <a:rPr sz="1200" b="1">
                          <a:solidFill>
                            <a:srgbClr val="006B35"/>
                          </a:solidFill>
                          <a:latin typeface="Cambria"/>
                          <a:ea typeface="Cambria"/>
                          <a:cs typeface="Cambria"/>
                        </a:rPr>
                        <a:t>D</a:t>
                      </a:r>
                    </a:p>
                  </a:txBody>
                  <a:tcPr marL="91440" marR="91440" marT="45720" marB="45720">
                    <a:solidFill>
                      <a:srgbClr val="EAF2E6"/>
                    </a:solidFill>
                  </a:tcPr>
                </a:tc>
                <a:tc>
                  <a:txBody>
                    <a:bodyPr/>
                    <a:lstStyle/>
                    <a:p>
                      <a:r>
                        <a:t>Điều xe</a:t>
                      </a:r>
                    </a:p>
                  </a:txBody>
                  <a:tcPr marL="91440" marR="91440" marT="45720" marB="45720"/>
                </a:tc>
                <a:tc>
                  <a:txBody>
                    <a:bodyPr/>
                    <a:lstStyle/>
                    <a:p>
                      <a:r>
                        <a:t>Plan, dispatch, work order</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E</a:t>
                      </a:r>
                    </a:p>
                  </a:txBody>
                  <a:tcPr marL="91440" marR="91440" marT="45720" marB="45720">
                    <a:solidFill>
                      <a:srgbClr val="EAF2E6"/>
                    </a:solidFill>
                  </a:tcPr>
                </a:tc>
                <a:tc>
                  <a:txBody>
                    <a:bodyPr/>
                    <a:lstStyle/>
                    <a:p>
                      <a:r>
                        <a:t>BTSC</a:t>
                      </a:r>
                    </a:p>
                  </a:txBody>
                  <a:tcPr marL="91440" marR="91440" marT="45720" marB="45720"/>
                </a:tc>
                <a:tc>
                  <a:txBody>
                    <a:bodyPr/>
                    <a:lstStyle/>
                    <a:p>
                      <a:r>
                        <a:t>Maintenance, repair, workshop</a:t>
                      </a:r>
                    </a:p>
                  </a:txBody>
                  <a:tcPr marL="91440" marR="91440" marT="45720" marB="45720"/>
                </a:tc>
                <a:tc>
                  <a:txBody>
                    <a:bodyPr/>
                    <a:lstStyle/>
                    <a:p>
                      <a:r>
                        <a:t>Luồng chính đã có</a:t>
                      </a:r>
                    </a:p>
                  </a:txBody>
                  <a:tcPr marL="91440" marR="91440" marT="45720" marB="45720"/>
                </a:tc>
              </a:tr>
              <a:tr h="438150">
                <a:tc>
                  <a:txBody>
                    <a:bodyPr/>
                    <a:lstStyle/>
                    <a:p>
                      <a:pPr algn="ctr"/>
                      <a:r>
                        <a:rPr sz="1200" b="1">
                          <a:solidFill>
                            <a:srgbClr val="006B35"/>
                          </a:solidFill>
                          <a:latin typeface="Cambria"/>
                          <a:ea typeface="Cambria"/>
                          <a:cs typeface="Cambria"/>
                        </a:rPr>
                        <a:t>F</a:t>
                      </a:r>
                    </a:p>
                  </a:txBody>
                  <a:tcPr marL="91440" marR="91440" marT="45720" marB="45720">
                    <a:solidFill>
                      <a:srgbClr val="EAF2E6"/>
                    </a:solidFill>
                  </a:tcPr>
                </a:tc>
                <a:tc>
                  <a:txBody>
                    <a:bodyPr/>
                    <a:lstStyle/>
                    <a:p>
                      <a:r>
                        <a:t>Báo cáo</a:t>
                      </a:r>
                    </a:p>
                  </a:txBody>
                  <a:tcPr marL="91440" marR="91440" marT="45720" marB="45720"/>
                </a:tc>
                <a:tc>
                  <a:txBody>
                    <a:bodyPr/>
                    <a:lstStyle/>
                    <a:p>
                      <a:r>
                        <a:t>6 trang báo cáo khởi tạo rỗng</a:t>
                      </a:r>
                    </a:p>
                  </a:txBody>
                  <a:tcPr marL="91440" marR="91440" marT="45720" marB="45720"/>
                </a:tc>
                <a:tc>
                  <a:txBody>
                    <a:bodyPr/>
                    <a:lstStyle/>
                    <a:p>
                      <a:r>
                        <a:t>Khoảng trống rõ</a:t>
                      </a:r>
                    </a:p>
                  </a:txBody>
                  <a:tcPr marL="91440" marR="91440" marT="45720" marB="45720"/>
                </a:tc>
              </a:tr>
              <a:tr h="438150">
                <a:tc>
                  <a:txBody>
                    <a:bodyPr/>
                    <a:lstStyle/>
                    <a:p>
                      <a:pPr algn="ctr"/>
                      <a:r>
                        <a:rPr sz="1200" b="1">
                          <a:solidFill>
                            <a:srgbClr val="006B35"/>
                          </a:solidFill>
                          <a:latin typeface="Cambria"/>
                          <a:ea typeface="Cambria"/>
                          <a:cs typeface="Cambria"/>
                        </a:rPr>
                        <a:t>G</a:t>
                      </a:r>
                    </a:p>
                  </a:txBody>
                  <a:tcPr marL="91440" marR="91440" marT="45720" marB="45720">
                    <a:solidFill>
                      <a:srgbClr val="EAF2E6"/>
                    </a:solidFill>
                  </a:tcPr>
                </a:tc>
                <a:tc>
                  <a:txBody>
                    <a:bodyPr/>
                    <a:lstStyle/>
                    <a:p>
                      <a:r>
                        <a:t>Phân quyền</a:t>
                      </a:r>
                    </a:p>
                  </a:txBody>
                  <a:tcPr marL="91440" marR="91440" marT="45720" marB="45720"/>
                </a:tc>
                <a:tc>
                  <a:txBody>
                    <a:bodyPr/>
                    <a:lstStyle/>
                    <a:p>
                      <a:r>
                        <a:t>JWT, roles, scope utilities</a:t>
                      </a:r>
                    </a:p>
                  </a:txBody>
                  <a:tcPr marL="91440" marR="91440" marT="45720" marB="45720"/>
                </a:tc>
                <a:tc>
                  <a:txBody>
                    <a:bodyPr/>
                    <a:lstStyle/>
                    <a:p>
                      <a:r>
                        <a:t>Scope đơn vị chưa đồng đều</a:t>
                      </a:r>
                    </a:p>
                  </a:txBody>
                  <a:tcPr marL="91440" marR="91440" marT="45720" marB="45720"/>
                </a:tc>
              </a:tr>
              <a:tr h="438150">
                <a:tc>
                  <a:txBody>
                    <a:bodyPr/>
                    <a:lstStyle/>
                    <a:p>
                      <a:pPr algn="ctr"/>
                      <a:r>
                        <a:rPr sz="1200" b="1">
                          <a:solidFill>
                            <a:srgbClr val="006B35"/>
                          </a:solidFill>
                          <a:latin typeface="Cambria"/>
                          <a:ea typeface="Cambria"/>
                          <a:cs typeface="Cambria"/>
                        </a:rPr>
                        <a:t>H</a:t>
                      </a:r>
                    </a:p>
                  </a:txBody>
                  <a:tcPr marL="91440" marR="91440" marT="45720" marB="45720">
                    <a:solidFill>
                      <a:srgbClr val="EAF2E6"/>
                    </a:solidFill>
                  </a:tcPr>
                </a:tc>
                <a:tc>
                  <a:txBody>
                    <a:bodyPr/>
                    <a:lstStyle/>
                    <a:p>
                      <a:r>
                        <a:t>Danh mục</a:t>
                      </a:r>
                    </a:p>
                  </a:txBody>
                  <a:tcPr marL="91440" marR="91440" marT="45720" marB="45720"/>
                </a:tc>
                <a:tc>
                  <a:txBody>
                    <a:bodyPr/>
                    <a:lstStyle/>
                    <a:p>
                      <a:r>
                        <a:t>Catalog API và import Excel</a:t>
                      </a:r>
                    </a:p>
                  </a:txBody>
                  <a:tcPr marL="91440" marR="91440" marT="45720" marB="45720"/>
                </a:tc>
                <a:tc>
                  <a:txBody>
                    <a:bodyPr/>
                    <a:lstStyle/>
                    <a:p>
                      <a:r>
                        <a:t>Còn fallback local</a:t>
                      </a:r>
                    </a:p>
                  </a:txBody>
                  <a:tcPr marL="91440" marR="91440" marT="45720" marB="45720"/>
                </a:tc>
              </a:tr>
              <a:tr h="438150">
                <a:tc>
                  <a:txBody>
                    <a:bodyPr/>
                    <a:lstStyle/>
                    <a:p>
                      <a:pPr algn="ctr"/>
                      <a:r>
                        <a:rPr sz="1200" b="1">
                          <a:solidFill>
                            <a:srgbClr val="006B35"/>
                          </a:solidFill>
                          <a:latin typeface="Cambria"/>
                          <a:ea typeface="Cambria"/>
                          <a:cs typeface="Cambria"/>
                        </a:rPr>
                        <a:t>I</a:t>
                      </a:r>
                    </a:p>
                  </a:txBody>
                  <a:tcPr marL="91440" marR="91440" marT="45720" marB="45720">
                    <a:solidFill>
                      <a:srgbClr val="EAF2E6"/>
                    </a:solidFill>
                  </a:tcPr>
                </a:tc>
                <a:tc>
                  <a:txBody>
                    <a:bodyPr/>
                    <a:lstStyle/>
                    <a:p>
                      <a:r>
                        <a:t>Lái xe</a:t>
                      </a:r>
                    </a:p>
                  </a:txBody>
                  <a:tcPr marL="91440" marR="91440" marT="45720" marB="45720"/>
                </a:tc>
                <a:tc>
                  <a:txBody>
                    <a:bodyPr/>
                    <a:lstStyle/>
                    <a:p>
                      <a:r>
                        <a:t>Web, mobile, KPI, sync</a:t>
                      </a:r>
                    </a:p>
                  </a:txBody>
                  <a:tcPr marL="91440" marR="91440" marT="45720" marB="45720"/>
                </a:tc>
                <a:tc>
                  <a:txBody>
                    <a:bodyPr/>
                    <a:lstStyle/>
                    <a:p>
                      <a:r>
                        <a:t>Đang hoàn thiện đầu cuối</a:t>
                      </a:r>
                    </a:p>
                  </a:txBody>
                  <a:tcPr marL="91440" marR="91440" marT="45720" marB="45720"/>
                </a:tc>
              </a:tr>
              <a:tr h="438150">
                <a:tc>
                  <a:txBody>
                    <a:bodyPr/>
                    <a:lstStyle/>
                    <a:p>
                      <a:pPr algn="ctr"/>
                      <a:r>
                        <a:rPr sz="1200" b="1">
                          <a:solidFill>
                            <a:srgbClr val="006B35"/>
                          </a:solidFill>
                          <a:latin typeface="Cambria"/>
                          <a:ea typeface="Cambria"/>
                          <a:cs typeface="Cambria"/>
                        </a:rPr>
                        <a:t>J</a:t>
                      </a:r>
                    </a:p>
                  </a:txBody>
                  <a:tcPr marL="91440" marR="91440" marT="45720" marB="45720">
                    <a:solidFill>
                      <a:srgbClr val="EAF2E6"/>
                    </a:solidFill>
                  </a:tcPr>
                </a:tc>
                <a:tc>
                  <a:txBody>
                    <a:bodyPr/>
                    <a:lstStyle/>
                    <a:p>
                      <a:r>
                        <a:t>Nhiên liệu</a:t>
                      </a:r>
                    </a:p>
                  </a:txBody>
                  <a:tcPr marL="91440" marR="91440" marT="45720" marB="45720"/>
                </a:tc>
                <a:tc>
                  <a:txBody>
                    <a:bodyPr/>
                    <a:lstStyle/>
                    <a:p>
                      <a:r>
                        <a:t>Kho, phiếu cấp phát, variance</a:t>
                      </a:r>
                    </a:p>
                  </a:txBody>
                  <a:tcPr marL="91440" marR="91440" marT="45720" marB="45720"/>
                </a:tc>
                <a:tc>
                  <a:txBody>
                    <a:bodyPr/>
                    <a:lstStyle/>
                    <a:p>
                      <a:r>
                        <a:t>UI còn màn hình demo</a:t>
                      </a:r>
                    </a:p>
                  </a:txBody>
                  <a:tcPr marL="91440" marR="91440" marT="45720" marB="45720"/>
                </a:tc>
              </a:tr>
              <a:tr h="438150">
                <a:tc>
                  <a:txBody>
                    <a:bodyPr/>
                    <a:lstStyle/>
                    <a:p>
                      <a:pPr algn="ctr"/>
                      <a:r>
                        <a:rPr sz="1200" b="1">
                          <a:solidFill>
                            <a:srgbClr val="006B35"/>
                          </a:solidFill>
                          <a:latin typeface="Cambria"/>
                          <a:ea typeface="Cambria"/>
                          <a:cs typeface="Cambria"/>
                        </a:rPr>
                        <a:t>K</a:t>
                      </a:r>
                    </a:p>
                  </a:txBody>
                  <a:tcPr marL="91440" marR="91440" marT="45720" marB="45720">
                    <a:solidFill>
                      <a:srgbClr val="EAF2E6"/>
                    </a:solidFill>
                  </a:tcPr>
                </a:tc>
                <a:tc>
                  <a:txBody>
                    <a:bodyPr/>
                    <a:lstStyle/>
                    <a:p>
                      <a:r>
                        <a:t>Cảnh báo</a:t>
                      </a:r>
                    </a:p>
                  </a:txBody>
                  <a:tcPr marL="91440" marR="91440" marT="45720" marB="45720"/>
                </a:tc>
                <a:tc>
                  <a:txBody>
                    <a:bodyPr/>
                    <a:lstStyle/>
                    <a:p>
                      <a:r>
                        <a:t>Alert theo nhiều domain</a:t>
                      </a:r>
                    </a:p>
                  </a:txBody>
                  <a:tcPr marL="91440" marR="91440" marT="45720" marB="45720"/>
                </a:tc>
                <a:tc>
                  <a:txBody>
                    <a:bodyPr/>
                    <a:lstStyle/>
                    <a:p>
                      <a:r>
                        <a:t>Alert center còn phân tán</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568F0780-7F96-4730-A159-4ECAB6BA05B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21B4B157-A465-41EE-BA2D-2EA82F0FABE4}"/>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6</a:t>
            </a:r>
          </a:p>
        </p:txBody>
      </p:sp>
    </p:spTree>
    <p:extLst>
      <p:ext uri="{BB962C8B-B14F-4D97-AF65-F5344CB8AC3E}">
        <p14:creationId xmlns:p14="http://schemas.microsoft.com/office/powerpoint/2010/main" val="42083942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2A8D292-E2AE-4AAF-B6CD-D1A5261636A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QUY TRÌNH TẠO LỆNH VÀ CHUYỂN ĐẾN TÀI XẾ</a:t>
            </a:r>
          </a:p>
        </p:txBody>
      </p:sp>
      <p:graphicFrame>
        <p:nvGraphicFramePr>
          <p:cNvPr id="6" name=""/>
          <p:cNvGraphicFramePr/>
          <p:nvPr/>
        </p:nvGraphicFramePr>
        <p:xfrm>
          <a:off xmlns:a="http://schemas.openxmlformats.org/drawingml/2006/main" x="285750" y="895350"/>
          <a:ext xmlns:a="http://schemas.openxmlformats.org/drawingml/2006/main" cx="11620500" cy="3714750"/>
        </p:xfrm>
        <a:graphic xmlns:a="http://schemas.openxmlformats.org/drawingml/2006/main">
          <a:graphicData uri="http://schemas.openxmlformats.org/drawingml/2006/table">
            <a:tbl>
              <a:tblPr/>
              <a:tblGrid>
                <a:gridCol w="1238250"/>
                <a:gridCol w="2000250"/>
                <a:gridCol w="6191250"/>
                <a:gridCol w="2190750"/>
              </a:tblGrid>
              <a:tr h="361950">
                <a:tc>
                  <a:txBody>
                    <a:bodyPr/>
                    <a:lstStyle/>
                    <a:p>
                      <a:r>
                        <a:t>BƯỚC</a:t>
                      </a:r>
                    </a:p>
                  </a:txBody>
                  <a:tcPr marL="91440" marR="91440" marT="45720" marB="45720"/>
                </a:tc>
                <a:tc>
                  <a:txBody>
                    <a:bodyPr/>
                    <a:lstStyle/>
                    <a:p>
                      <a:r>
                        <a:t>NGƯỜI / HỆ THỐNG</a:t>
                      </a:r>
                    </a:p>
                  </a:txBody>
                  <a:tcPr marL="91440" marR="91440" marT="45720" marB="45720"/>
                </a:tc>
                <a:tc>
                  <a:txBody>
                    <a:bodyPr/>
                    <a:lstStyle/>
                    <a:p>
                      <a:r>
                        <a:t>XỬ LÝ CỤ THỂ</a:t>
                      </a:r>
                    </a:p>
                  </a:txBody>
                  <a:tcPr marL="91440" marR="91440" marT="45720" marB="45720"/>
                </a:tc>
                <a:tc>
                  <a:txBody>
                    <a:bodyPr/>
                    <a:lstStyle/>
                    <a:p>
                      <a:r>
                        <a:t>KẾT QUẢ</a:t>
                      </a:r>
                    </a:p>
                  </a:txBody>
                  <a:tcPr marL="91440" marR="91440" marT="45720" marB="45720"/>
                </a:tc>
              </a:tr>
              <a:tr h="590550">
                <a:tc>
                  <a:txBody>
                    <a:bodyPr/>
                    <a:lstStyle/>
                    <a:p>
                      <a:r>
                        <a:t>1. Chuẩn bị</a:t>
                      </a:r>
                    </a:p>
                  </a:txBody>
                  <a:tcPr marL="91440" marR="91440" marT="45720" marB="45720"/>
                </a:tc>
                <a:tc>
                  <a:txBody>
                    <a:bodyPr/>
                    <a:lstStyle/>
                    <a:p>
                      <a:r>
                        <a:t>Admin / Điều phối / Quản lý nông trường</a:t>
                      </a:r>
                    </a:p>
                  </a:txBody>
                  <a:tcPr marL="91440" marR="91440" marT="45720" marB="45720"/>
                </a:tc>
                <a:tc>
                  <a:txBody>
                    <a:bodyPr/>
                    <a:lstStyle/>
                    <a:p>
                      <a:r>
                        <a:t>Nguồn trực tiếp hoặc kế hoạch. Chọn đơn vị, đội, KLH, nông trường, vị trí, công việc, khối lượng, ca và thời gian</a:t>
                      </a:r>
                    </a:p>
                  </a:txBody>
                  <a:tcPr marL="91440" marR="91440" marT="45720" marB="45720"/>
                </a:tc>
                <a:tc>
                  <a:txBody>
                    <a:bodyPr/>
                    <a:lstStyle/>
                    <a:p>
                      <a:r>
                        <a:t>Hồ sơ đúng phạm vi</a:t>
                      </a:r>
                    </a:p>
                  </a:txBody>
                  <a:tcPr marL="91440" marR="91440" marT="45720" marB="45720"/>
                </a:tc>
              </a:tr>
              <a:tr h="590550">
                <a:tc>
                  <a:txBody>
                    <a:bodyPr/>
                    <a:lstStyle/>
                    <a:p>
                      <a:r>
                        <a:t>2. Nguồn lực</a:t>
                      </a:r>
                    </a:p>
                  </a:txBody>
                  <a:tcPr marL="91440" marR="91440" marT="45720" marB="45720"/>
                </a:tc>
                <a:tc>
                  <a:txBody>
                    <a:bodyPr/>
                    <a:lstStyle/>
                    <a:p>
                      <a:r>
                        <a:t>Web + preparation-context</a:t>
                      </a:r>
                    </a:p>
                  </a:txBody>
                  <a:tcPr marL="91440" marR="91440" marT="45720" marB="45720"/>
                </a:tc>
                <a:tc>
                  <a:txBody>
                    <a:bodyPr/>
                    <a:lstStyle/>
                    <a:p>
                      <a:r>
                        <a:t>GET nguồn lực: xe, tài xế, nông cụ + selectable + lý do khóa. Chọn 1 xe, tài xế cố định/lệnh mở và nông cụ tương thích</a:t>
                      </a:r>
                    </a:p>
                  </a:txBody>
                  <a:tcPr marL="91440" marR="91440" marT="45720" marB="45720"/>
                </a:tc>
                <a:tc>
                  <a:txBody>
                    <a:bodyPr/>
                    <a:lstStyle/>
                    <a:p>
                      <a:r>
                        <a:t>Nguồn lực hợp lệ</a:t>
                      </a:r>
                    </a:p>
                  </a:txBody>
                  <a:tcPr marL="91440" marR="91440" marT="45720" marB="45720"/>
                </a:tc>
              </a:tr>
              <a:tr h="590550">
                <a:tc>
                  <a:txBody>
                    <a:bodyPr/>
                    <a:lstStyle/>
                    <a:p>
                      <a:r>
                        <a:t>3. Phát hành</a:t>
                      </a:r>
                    </a:p>
                  </a:txBody>
                  <a:tcPr marL="91440" marR="91440" marT="45720" marB="45720"/>
                </a:tc>
                <a:tc>
                  <a:txBody>
                    <a:bodyPr/>
                    <a:lstStyle/>
                    <a:p>
                      <a:r>
                        <a:t>Work Orders API</a:t>
                      </a:r>
                    </a:p>
                  </a:txBody>
                  <a:tcPr marL="91440" marR="91440" marT="45720" marB="45720"/>
                </a:tc>
                <a:tc>
                  <a:txBody>
                    <a:bodyPr/>
                    <a:lstStyle/>
                    <a:p>
                      <a:r>
                        <a:t>POST /work-orders/manual hoặc ISSUE. Kiểm tra quyền, xung đột, availability, tương thích rồi ghi transaction</a:t>
                      </a:r>
                    </a:p>
                  </a:txBody>
                  <a:tcPr marL="91440" marR="91440" marT="45720" marB="45720"/>
                </a:tc>
                <a:tc>
                  <a:txBody>
                    <a:bodyPr/>
                    <a:lstStyle/>
                    <a:p>
                      <a:r>
                        <a:t>DispatchOrder + WorkOrder + assignment + audit</a:t>
                      </a:r>
                    </a:p>
                  </a:txBody>
                  <a:tcPr marL="91440" marR="91440" marT="45720" marB="45720"/>
                </a:tc>
              </a:tr>
              <a:tr h="590550">
                <a:tc>
                  <a:txBody>
                    <a:bodyPr/>
                    <a:lstStyle/>
                    <a:p>
                      <a:r>
                        <a:t>4. Đến app</a:t>
                      </a:r>
                    </a:p>
                  </a:txBody>
                  <a:tcPr marL="91440" marR="91440" marT="45720" marB="45720"/>
                </a:tc>
                <a:tc>
                  <a:txBody>
                    <a:bodyPr/>
                    <a:lstStyle/>
                    <a:p>
                      <a:r>
                        <a:t>Mobile sync</a:t>
                      </a:r>
                    </a:p>
                  </a:txBody>
                  <a:tcPr marL="91440" marR="91440" marT="45720" marB="45720"/>
                </a:tc>
                <a:tc>
                  <a:txBody>
                    <a:bodyPr/>
                    <a:lstStyle/>
                    <a:p>
                      <a:r>
                        <a:t>JWT → GET /mobile/sync/pull theo driverId → lưu SQLite → hiển thị Hôm nay/Tuần</a:t>
                      </a:r>
                    </a:p>
                  </a:txBody>
                  <a:tcPr marL="91440" marR="91440" marT="45720" marB="45720"/>
                </a:tc>
                <a:tc>
                  <a:txBody>
                    <a:bodyPr/>
                    <a:lstStyle/>
                    <a:p>
                      <a:r>
                        <a:t>Lệnh ASSIGNED</a:t>
                      </a:r>
                    </a:p>
                  </a:txBody>
                  <a:tcPr marL="91440" marR="91440" marT="45720" marB="45720"/>
                </a:tc>
              </a:tr>
              <a:tr h="590550">
                <a:tc>
                  <a:txBody>
                    <a:bodyPr/>
                    <a:lstStyle/>
                    <a:p>
                      <a:r>
                        <a:t>5. Nhận lệnh</a:t>
                      </a:r>
                    </a:p>
                  </a:txBody>
                  <a:tcPr marL="91440" marR="91440" marT="45720" marB="45720"/>
                </a:tc>
                <a:tc>
                  <a:txBody>
                    <a:bodyPr/>
                    <a:lstStyle/>
                    <a:p>
                      <a:r>
                        <a:t>Ứng dụng tài xế</a:t>
                      </a:r>
                    </a:p>
                  </a:txBody>
                  <a:tcPr marL="91440" marR="91440" marT="45720" marB="45720"/>
                </a:tc>
                <a:tc>
                  <a:txBody>
                    <a:bodyPr/>
                    <a:lstStyle/>
                    <a:p>
                      <a:r>
                        <a:t>Nhận nhiệm vụ → queue ORDER_ACCEPTED → POST /mobile/sync/push khi có mạng</a:t>
                      </a:r>
                    </a:p>
                  </a:txBody>
                  <a:tcPr marL="91440" marR="91440" marT="45720" marB="45720"/>
                </a:tc>
                <a:tc>
                  <a:txBody>
                    <a:bodyPr/>
                    <a:lstStyle/>
                    <a:p>
                      <a:r>
                        <a:t>ACCEPTED → DRIVER_ACCEPTED + acceptedAt + KPI</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64273866-87E8-45D0-A124-C7364B0E4EA0}"/>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4" name="">
            <a:extLst xmlns:a="http://schemas.openxmlformats.org/drawingml/2006/main">
              <a:ext uri="{FF2B5EF4-FFF2-40B4-BE49-F238E27FC236}">
                <a16:creationId xmlns:a16="http://schemas.microsoft.com/office/drawing/2014/main" id="{374DF8DD-CCD1-4678-8800-727B3F07F39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7</a:t>
            </a:r>
          </a:p>
        </p:txBody>
      </p:sp>
    </p:spTree>
    <p:extLst>
      <p:ext uri="{BB962C8B-B14F-4D97-AF65-F5344CB8AC3E}">
        <p14:creationId xmlns:p14="http://schemas.microsoft.com/office/powerpoint/2010/main" val="748027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BB2FB3D-AA9C-4A21-B0AC-2A938B25A93D}"/>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DỮ LIỆU VÀ TÍCH HỢP</a:t>
            </a:r>
          </a:p>
        </p:txBody>
      </p:sp>
      <p:graphicFrame>
        <p:nvGraphicFramePr>
          <p:cNvPr id="10" name=""/>
          <p:cNvGraphicFramePr/>
          <p:nvPr/>
        </p:nvGraphicFramePr>
        <p:xfrm>
          <a:off xmlns:a="http://schemas.openxmlformats.org/drawingml/2006/main" x="523875" y="1143000"/>
          <a:ext xmlns:a="http://schemas.openxmlformats.org/drawingml/2006/main" cx="11144250" cy="3905250"/>
        </p:xfrm>
        <a:graphic xmlns:a="http://schemas.openxmlformats.org/drawingml/2006/main">
          <a:graphicData uri="http://schemas.openxmlformats.org/drawingml/2006/table">
            <a:tbl>
              <a:tblPr/>
              <a:tblGrid>
                <a:gridCol w="2476500"/>
                <a:gridCol w="4429125"/>
                <a:gridCol w="4238625"/>
              </a:tblGrid>
              <a:tr h="457200">
                <a:tc>
                  <a:txBody>
                    <a:bodyPr/>
                    <a:lstStyle/>
                    <a:p>
                      <a:r>
                        <a:t>LỚP</a:t>
                      </a:r>
                    </a:p>
                  </a:txBody>
                  <a:tcPr marL="91440" marR="91440" marT="45720" marB="45720"/>
                </a:tc>
                <a:tc>
                  <a:txBody>
                    <a:bodyPr/>
                    <a:lstStyle/>
                    <a:p>
                      <a:r>
                        <a:t>HIỆN TRẠNG</a:t>
                      </a:r>
                    </a:p>
                  </a:txBody>
                  <a:tcPr marL="91440" marR="91440" marT="45720" marB="45720"/>
                </a:tc>
                <a:tc>
                  <a:txBody>
                    <a:bodyPr/>
                    <a:lstStyle/>
                    <a:p>
                      <a:r>
                        <a:t>ĐIỂM CẦN KIỂM SOÁT</a:t>
                      </a:r>
                    </a:p>
                  </a:txBody>
                  <a:tcPr marL="91440" marR="91440" marT="45720" marB="45720"/>
                </a:tc>
              </a:tr>
              <a:tr h="666750">
                <a:tc>
                  <a:txBody>
                    <a:bodyPr/>
                    <a:lstStyle/>
                    <a:p>
                      <a:r>
                        <a:t>Danh mục nền</a:t>
                      </a:r>
                    </a:p>
                  </a:txBody>
                  <a:tcPr marL="91440" marR="91440" marT="45720" marB="45720"/>
                </a:tc>
                <a:tc>
                  <a:txBody>
                    <a:bodyPr/>
                    <a:lstStyle/>
                    <a:p>
                      <a:r>
                        <a:t>Company, đơn vị, đội, loại xe, tuyến, công việc</a:t>
                      </a:r>
                    </a:p>
                  </a:txBody>
                  <a:tcPr marL="91440" marR="91440" marT="45720" marB="45720"/>
                </a:tc>
                <a:tc>
                  <a:txBody>
                    <a:bodyPr/>
                    <a:lstStyle/>
                    <a:p>
                      <a:r>
                        <a:t>Chuẩn hóa mã và quan hệ cha–con</a:t>
                      </a:r>
                    </a:p>
                  </a:txBody>
                  <a:tcPr marL="91440" marR="91440" marT="45720" marB="45720"/>
                </a:tc>
              </a:tr>
              <a:tr h="666750">
                <a:tc>
                  <a:txBody>
                    <a:bodyPr/>
                    <a:lstStyle/>
                    <a:p>
                      <a:r>
                        <a:t>Đội xe / thiết bị</a:t>
                      </a:r>
                    </a:p>
                  </a:txBody>
                  <a:tcPr marL="91440" marR="91440" marT="45720" marB="45720"/>
                </a:tc>
                <a:tc>
                  <a:txBody>
                    <a:bodyPr/>
                    <a:lstStyle/>
                    <a:p>
                      <a:r>
                        <a:t>Vehicle, VehicleType, Implement, assignment</a:t>
                      </a:r>
                    </a:p>
                  </a:txBody>
                  <a:tcPr marL="91440" marR="91440" marT="45720" marB="45720"/>
                </a:tc>
                <a:tc>
                  <a:txBody>
                    <a:bodyPr/>
                    <a:lstStyle/>
                    <a:p>
                      <a:r>
                        <a:t>Mapping workbook MMTB và lịch sử phân công</a:t>
                      </a:r>
                    </a:p>
                  </a:txBody>
                  <a:tcPr marL="91440" marR="91440" marT="45720" marB="45720"/>
                </a:tc>
              </a:tr>
              <a:tr h="666750">
                <a:tc>
                  <a:txBody>
                    <a:bodyPr/>
                    <a:lstStyle/>
                    <a:p>
                      <a:r>
                        <a:t>Vận hành</a:t>
                      </a:r>
                    </a:p>
                  </a:txBody>
                  <a:tcPr marL="91440" marR="91440" marT="45720" marB="45720"/>
                </a:tc>
                <a:tc>
                  <a:txBody>
                    <a:bodyPr/>
                    <a:lstStyle/>
                    <a:p>
                      <a:r>
                        <a:t>Plan, DispatchOrder, OperationalWorkOrder, event</a:t>
                      </a:r>
                    </a:p>
                  </a:txBody>
                  <a:tcPr marL="91440" marR="91440" marT="45720" marB="45720"/>
                </a:tc>
                <a:tc>
                  <a:txBody>
                    <a:bodyPr/>
                    <a:lstStyle/>
                    <a:p>
                      <a:r>
                        <a:t>Đồng bộ nguồn lệnh và idempotency</a:t>
                      </a:r>
                    </a:p>
                  </a:txBody>
                  <a:tcPr marL="91440" marR="91440" marT="45720" marB="45720"/>
                </a:tc>
              </a:tr>
              <a:tr h="666750">
                <a:tc>
                  <a:txBody>
                    <a:bodyPr/>
                    <a:lstStyle/>
                    <a:p>
                      <a:r>
                        <a:t>Hỗ trợ</a:t>
                      </a:r>
                    </a:p>
                  </a:txBody>
                  <a:tcPr marL="91440" marR="91440" marT="45720" marB="45720"/>
                </a:tc>
                <a:tc>
                  <a:txBody>
                    <a:bodyPr/>
                    <a:lstStyle/>
                    <a:p>
                      <a:r>
                        <a:t>Fuel, maintenance, repair, alerts, KPI</a:t>
                      </a:r>
                    </a:p>
                  </a:txBody>
                  <a:tcPr marL="91440" marR="91440" marT="45720" marB="45720"/>
                </a:tc>
                <a:tc>
                  <a:txBody>
                    <a:bodyPr/>
                    <a:lstStyle/>
                    <a:p>
                      <a:r>
                        <a:t>Quy tắc còn thiếu xác nhận nghiệp vụ</a:t>
                      </a:r>
                    </a:p>
                  </a:txBody>
                  <a:tcPr marL="91440" marR="91440" marT="45720" marB="45720"/>
                </a:tc>
              </a:tr>
              <a:tr h="666750">
                <a:tc>
                  <a:txBody>
                    <a:bodyPr/>
                    <a:lstStyle/>
                    <a:p>
                      <a:r>
                        <a:t>Kênh sử dụng</a:t>
                      </a:r>
                    </a:p>
                  </a:txBody>
                  <a:tcPr marL="91440" marR="91440" marT="45720" marB="45720"/>
                </a:tc>
                <a:tc>
                  <a:txBody>
                    <a:bodyPr/>
                    <a:lstStyle/>
                    <a:p>
                      <a:r>
                        <a:t>Web, mobile, realtime, import/export Excel</a:t>
                      </a:r>
                    </a:p>
                  </a:txBody>
                  <a:tcPr marL="91440" marR="91440" marT="45720" marB="45720"/>
                </a:tc>
                <a:tc>
                  <a:txBody>
                    <a:bodyPr/>
                    <a:lstStyle/>
                    <a:p>
                      <a:r>
                        <a:t>Không để fallback che lỗi dữ liệu thật</a:t>
                      </a:r>
                    </a:p>
                  </a:txBody>
                  <a:tcPr marL="91440" marR="91440" marT="45720" marB="45720"/>
                </a:tc>
              </a:tr>
            </a:tbl>
          </a:graphicData>
        </a:graphic>
      </p:graphicFrame>
      <p:sp>
        <p:nvSpPr>
          <p:cNvPr id="3" name="">
            <a:extLst xmlns:a="http://schemas.openxmlformats.org/drawingml/2006/main">
              <a:ext uri="{FF2B5EF4-FFF2-40B4-BE49-F238E27FC236}">
                <a16:creationId xmlns:a16="http://schemas.microsoft.com/office/drawing/2014/main" id="{A5AA35AD-43E5-4FD8-888F-45A818BFBC42}"/>
              </a:ext>
            </a:extLst>
          </p:cNvPr>
          <p:cNvSpPr>
            <a:spLocks xmlns:a="http://schemas.openxmlformats.org/drawingml/2006/main" noGrp="1"/>
          </p:cNvSpPr>
          <p:nvPr/>
        </p:nvSpPr>
        <p:spPr>
          <a:xfrm xmlns:a="http://schemas.openxmlformats.org/drawingml/2006/main">
            <a:off x="571500" y="53816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006B35"/>
                </a:solidFill>
                <a:latin typeface="Cambria"/>
                <a:ea typeface="Cambria"/>
                <a:cs typeface="Cambria"/>
              </a:defRPr>
            </a:pPr>
            <a:r>
              <a:rPr sz="1650" b="1" i="0">
                <a:solidFill>
                  <a:srgbClr val="006B35"/>
                </a:solidFill>
                <a:latin typeface="Cambria"/>
                <a:ea typeface="Cambria"/>
                <a:cs typeface="Cambria"/>
              </a:rPr>
              <a:t>Điểm tích cực</a:t>
            </a:r>
          </a:p>
        </p:txBody>
      </p:sp>
      <p:sp>
        <p:nvSpPr>
          <p:cNvPr id="4" name="">
            <a:extLst xmlns:a="http://schemas.openxmlformats.org/drawingml/2006/main">
              <a:ext uri="{FF2B5EF4-FFF2-40B4-BE49-F238E27FC236}">
                <a16:creationId xmlns:a16="http://schemas.microsoft.com/office/drawing/2014/main" id="{9F5E5208-B681-48C6-84CD-D448407B52DC}"/>
              </a:ext>
            </a:extLst>
          </p:cNvPr>
          <p:cNvSpPr>
            <a:spLocks xmlns:a="http://schemas.openxmlformats.org/drawingml/2006/main" noGrp="1"/>
          </p:cNvSpPr>
          <p:nvPr/>
        </p:nvSpPr>
        <p:spPr>
          <a:xfrm xmlns:a="http://schemas.openxmlformats.org/drawingml/2006/main">
            <a:off x="2476500" y="5381625"/>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Schema đã mô hình hóa quan hệ vận hành và có migration/backfill gần đây.</a:t>
            </a:r>
          </a:p>
        </p:txBody>
      </p:sp>
      <p:sp>
        <p:nvSpPr>
          <p:cNvPr id="5" name="">
            <a:extLst xmlns:a="http://schemas.openxmlformats.org/drawingml/2006/main">
              <a:ext uri="{FF2B5EF4-FFF2-40B4-BE49-F238E27FC236}">
                <a16:creationId xmlns:a16="http://schemas.microsoft.com/office/drawing/2014/main" id="{985B8996-7679-4E20-83E7-41AA3B97E828}"/>
              </a:ext>
            </a:extLst>
          </p:cNvPr>
          <p:cNvSpPr>
            <a:spLocks xmlns:a="http://schemas.openxmlformats.org/drawingml/2006/main" noGrp="1"/>
          </p:cNvSpPr>
          <p:nvPr/>
        </p:nvSpPr>
        <p:spPr>
          <a:xfrm xmlns:a="http://schemas.openxmlformats.org/drawingml/2006/main">
            <a:off x="571500" y="58102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98485"/>
          </a:bodyPr>
          <a:lstStyle xmlns:a="http://schemas.openxmlformats.org/drawingml/2006/main"/>
          <a:p xmlns:a="http://schemas.openxmlformats.org/drawingml/2006/main">
            <a:pPr algn="l">
              <a:lnSpc>
                <a:spcPct val="100000"/>
              </a:lnSpc>
              <a:buNone/>
              <a:defRPr sz="1650" b="1" i="0">
                <a:solidFill>
                  <a:srgbClr val="E00000"/>
                </a:solidFill>
                <a:latin typeface="Cambria"/>
                <a:ea typeface="Cambria"/>
                <a:cs typeface="Cambria"/>
              </a:defRPr>
            </a:pPr>
            <a:r>
              <a:rPr sz="1650" b="1" i="0">
                <a:solidFill>
                  <a:srgbClr val="E00000"/>
                </a:solidFill>
                <a:latin typeface="Cambria"/>
                <a:ea typeface="Cambria"/>
                <a:cs typeface="Cambria"/>
              </a:rPr>
              <a:t>Rủi ro</a:t>
            </a:r>
          </a:p>
        </p:txBody>
      </p:sp>
      <p:sp>
        <p:nvSpPr>
          <p:cNvPr id="6" name="">
            <a:extLst xmlns:a="http://schemas.openxmlformats.org/drawingml/2006/main">
              <a:ext uri="{FF2B5EF4-FFF2-40B4-BE49-F238E27FC236}">
                <a16:creationId xmlns:a16="http://schemas.microsoft.com/office/drawing/2014/main" id="{D279D467-367F-435F-B57A-E4E6E62A62CF}"/>
              </a:ext>
            </a:extLst>
          </p:cNvPr>
          <p:cNvSpPr>
            <a:spLocks xmlns:a="http://schemas.openxmlformats.org/drawingml/2006/main" noGrp="1"/>
          </p:cNvSpPr>
          <p:nvPr/>
        </p:nvSpPr>
        <p:spPr>
          <a:xfrm xmlns:a="http://schemas.openxmlformats.org/drawingml/2006/main">
            <a:off x="2476500" y="58102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Mapping đầy đủ giữa workbook nhiều sheet và dữ liệu chuẩn vẫn chưa được xác nhận.</a:t>
            </a:r>
          </a:p>
        </p:txBody>
      </p:sp>
      <p:sp>
        <p:nvSpPr>
          <p:cNvPr id="7" name="">
            <a:extLst xmlns:a="http://schemas.openxmlformats.org/drawingml/2006/main">
              <a:ext uri="{FF2B5EF4-FFF2-40B4-BE49-F238E27FC236}">
                <a16:creationId xmlns:a16="http://schemas.microsoft.com/office/drawing/2014/main" id="{1DA3D7D1-A0A0-43DC-94D7-687D7F237D21}"/>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8" name="">
            <a:extLst xmlns:a="http://schemas.openxmlformats.org/drawingml/2006/main">
              <a:ext uri="{FF2B5EF4-FFF2-40B4-BE49-F238E27FC236}">
                <a16:creationId xmlns:a16="http://schemas.microsoft.com/office/drawing/2014/main" id="{A86287FE-1B3F-4504-9E77-4E53EBA8AA1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8</a:t>
            </a:r>
          </a:p>
        </p:txBody>
      </p:sp>
    </p:spTree>
    <p:extLst>
      <p:ext uri="{BB962C8B-B14F-4D97-AF65-F5344CB8AC3E}">
        <p14:creationId xmlns:p14="http://schemas.microsoft.com/office/powerpoint/2010/main" val="21221779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7E62078B-9EF9-4302-B4B8-D514DD5D5EE9}"/>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TRẢI NGHIỆM WEB CHO KHỐI ĐIỀU HÀNH</a:t>
            </a:r>
          </a:p>
        </p:txBody>
      </p:sp>
      <p:sp>
        <p:nvSpPr>
          <p:cNvPr id="2" name="">
            <a:extLst xmlns:a="http://schemas.openxmlformats.org/drawingml/2006/main">
              <a:ext uri="{FF2B5EF4-FFF2-40B4-BE49-F238E27FC236}">
                <a16:creationId xmlns:a16="http://schemas.microsoft.com/office/drawing/2014/main" id="{129A0C21-D468-42EA-A8F9-C9588A81DE65}"/>
              </a:ext>
            </a:extLst>
          </p:cNvPr>
          <p:cNvSpPr>
            <a:spLocks xmlns:a="http://schemas.openxmlformats.org/drawingml/2006/main" noGrp="1"/>
          </p:cNvSpPr>
          <p:nvPr/>
        </p:nvSpPr>
        <p:spPr>
          <a:xfrm xmlns:a="http://schemas.openxmlformats.org/drawingml/2006/main">
            <a:off x="7048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06B35"/>
                </a:solidFill>
                <a:latin typeface="Cambria"/>
                <a:ea typeface="Cambria"/>
                <a:cs typeface="Cambria"/>
              </a:defRPr>
            </a:pPr>
            <a:r>
              <a:rPr sz="4200" b="1" i="0">
                <a:solidFill>
                  <a:srgbClr val="006B35"/>
                </a:solidFill>
                <a:latin typeface="Cambria"/>
                <a:ea typeface="Cambria"/>
                <a:cs typeface="Cambria"/>
              </a:rPr>
              <a:t>70</a:t>
            </a:r>
          </a:p>
        </p:txBody>
      </p:sp>
      <p:sp>
        <p:nvSpPr>
          <p:cNvPr id="3" name="">
            <a:extLst xmlns:a="http://schemas.openxmlformats.org/drawingml/2006/main">
              <a:ext uri="{FF2B5EF4-FFF2-40B4-BE49-F238E27FC236}">
                <a16:creationId xmlns:a16="http://schemas.microsoft.com/office/drawing/2014/main" id="{C68560D7-F8D6-4D3B-98D1-C9736FAA1AB2}"/>
              </a:ext>
            </a:extLst>
          </p:cNvPr>
          <p:cNvSpPr>
            <a:spLocks xmlns:a="http://schemas.openxmlformats.org/drawingml/2006/main" noGrp="1"/>
          </p:cNvSpPr>
          <p:nvPr/>
        </p:nvSpPr>
        <p:spPr>
          <a:xfrm xmlns:a="http://schemas.openxmlformats.org/drawingml/2006/main">
            <a:off x="7048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trang chức năng</a:t>
            </a:r>
          </a:p>
        </p:txBody>
      </p:sp>
      <p:sp>
        <p:nvSpPr>
          <p:cNvPr id="4" name="">
            <a:extLst xmlns:a="http://schemas.openxmlformats.org/drawingml/2006/main">
              <a:ext uri="{FF2B5EF4-FFF2-40B4-BE49-F238E27FC236}">
                <a16:creationId xmlns:a16="http://schemas.microsoft.com/office/drawing/2014/main" id="{03BA1F3D-F416-4DEA-A2CD-7708310CA2BC}"/>
              </a:ext>
            </a:extLst>
          </p:cNvPr>
          <p:cNvSpPr>
            <a:spLocks xmlns:a="http://schemas.openxmlformats.org/drawingml/2006/main" noGrp="1"/>
          </p:cNvSpPr>
          <p:nvPr/>
        </p:nvSpPr>
        <p:spPr>
          <a:xfrm xmlns:a="http://schemas.openxmlformats.org/drawingml/2006/main">
            <a:off x="31051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075AA7"/>
                </a:solidFill>
                <a:latin typeface="Cambria"/>
                <a:ea typeface="Cambria"/>
                <a:cs typeface="Cambria"/>
              </a:defRPr>
            </a:pPr>
            <a:r>
              <a:rPr sz="4200" b="1" i="0">
                <a:solidFill>
                  <a:srgbClr val="075AA7"/>
                </a:solidFill>
                <a:latin typeface="Cambria"/>
                <a:ea typeface="Cambria"/>
                <a:cs typeface="Cambria"/>
              </a:rPr>
              <a:t>104</a:t>
            </a:r>
          </a:p>
        </p:txBody>
      </p:sp>
      <p:sp>
        <p:nvSpPr>
          <p:cNvPr id="5" name="">
            <a:extLst xmlns:a="http://schemas.openxmlformats.org/drawingml/2006/main">
              <a:ext uri="{FF2B5EF4-FFF2-40B4-BE49-F238E27FC236}">
                <a16:creationId xmlns:a16="http://schemas.microsoft.com/office/drawing/2014/main" id="{CC46B74A-B963-4D93-9E64-D4B49C979D59}"/>
              </a:ext>
            </a:extLst>
          </p:cNvPr>
          <p:cNvSpPr>
            <a:spLocks xmlns:a="http://schemas.openxmlformats.org/drawingml/2006/main" noGrp="1"/>
          </p:cNvSpPr>
          <p:nvPr/>
        </p:nvSpPr>
        <p:spPr>
          <a:xfrm xmlns:a="http://schemas.openxmlformats.org/drawingml/2006/main">
            <a:off x="3105150" y="198120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500" b="1" i="0">
                <a:solidFill>
                  <a:srgbClr val="17212B"/>
                </a:solidFill>
                <a:latin typeface="Cambria"/>
                <a:ea typeface="Cambria"/>
                <a:cs typeface="Cambria"/>
              </a:defRPr>
            </a:pPr>
            <a:r>
              <a:rPr sz="1500" b="1" i="0">
                <a:solidFill>
                  <a:srgbClr val="17212B"/>
                </a:solidFill>
                <a:latin typeface="Cambria"/>
                <a:ea typeface="Cambria"/>
                <a:cs typeface="Cambria"/>
              </a:rPr>
              <a:t>đường dẫn web</a:t>
            </a:r>
          </a:p>
        </p:txBody>
      </p:sp>
      <p:sp>
        <p:nvSpPr>
          <p:cNvPr id="6" name="">
            <a:extLst xmlns:a="http://schemas.openxmlformats.org/drawingml/2006/main">
              <a:ext uri="{FF2B5EF4-FFF2-40B4-BE49-F238E27FC236}">
                <a16:creationId xmlns:a16="http://schemas.microsoft.com/office/drawing/2014/main" id="{708399CE-D9DC-48E7-B2FD-154DD651A1B1}"/>
              </a:ext>
            </a:extLst>
          </p:cNvPr>
          <p:cNvSpPr>
            <a:spLocks xmlns:a="http://schemas.openxmlformats.org/drawingml/2006/main" noGrp="1"/>
          </p:cNvSpPr>
          <p:nvPr/>
        </p:nvSpPr>
        <p:spPr>
          <a:xfrm xmlns:a="http://schemas.openxmlformats.org/drawingml/2006/main">
            <a:off x="55054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87518"/>
                </a:solidFill>
                <a:latin typeface="Cambria"/>
                <a:ea typeface="Cambria"/>
                <a:cs typeface="Cambria"/>
              </a:defRPr>
            </a:pPr>
            <a:r>
              <a:rPr sz="4200" b="1" i="0">
                <a:solidFill>
                  <a:srgbClr val="E87518"/>
                </a:solidFill>
                <a:latin typeface="Cambria"/>
                <a:ea typeface="Cambria"/>
                <a:cs typeface="Cambria"/>
              </a:rPr>
              <a:t>49</a:t>
            </a:r>
          </a:p>
        </p:txBody>
      </p:sp>
      <p:sp>
        <p:nvSpPr>
          <p:cNvPr id="7" name="">
            <a:extLst xmlns:a="http://schemas.openxmlformats.org/drawingml/2006/main">
              <a:ext uri="{FF2B5EF4-FFF2-40B4-BE49-F238E27FC236}">
                <a16:creationId xmlns:a16="http://schemas.microsoft.com/office/drawing/2014/main" id="{F39EE46D-1E74-49F4-86A2-630EB89380ED}"/>
              </a:ext>
            </a:extLst>
          </p:cNvPr>
          <p:cNvSpPr>
            <a:spLocks xmlns:a="http://schemas.openxmlformats.org/drawingml/2006/main" noGrp="1"/>
          </p:cNvSpPr>
          <p:nvPr/>
        </p:nvSpPr>
        <p:spPr>
          <a:xfrm xmlns:a="http://schemas.openxmlformats.org/drawingml/2006/main">
            <a:off x="55054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có dấu hiệu</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kết nối API*</a:t>
            </a:r>
          </a:p>
        </p:txBody>
      </p:sp>
      <p:sp>
        <p:nvSpPr>
          <p:cNvPr id="8" name="">
            <a:extLst xmlns:a="http://schemas.openxmlformats.org/drawingml/2006/main">
              <a:ext uri="{FF2B5EF4-FFF2-40B4-BE49-F238E27FC236}">
                <a16:creationId xmlns:a16="http://schemas.microsoft.com/office/drawing/2014/main" id="{2CC00180-D812-48CF-9706-AD84535B7059}"/>
              </a:ext>
            </a:extLst>
          </p:cNvPr>
          <p:cNvSpPr>
            <a:spLocks xmlns:a="http://schemas.openxmlformats.org/drawingml/2006/main" noGrp="1"/>
          </p:cNvSpPr>
          <p:nvPr/>
        </p:nvSpPr>
        <p:spPr>
          <a:xfrm xmlns:a="http://schemas.openxmlformats.org/drawingml/2006/main">
            <a:off x="7905750" y="1257300"/>
            <a:ext cx="2000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4200" b="1" i="0">
                <a:solidFill>
                  <a:srgbClr val="E00000"/>
                </a:solidFill>
                <a:latin typeface="Cambria"/>
                <a:ea typeface="Cambria"/>
                <a:cs typeface="Cambria"/>
              </a:defRPr>
            </a:pPr>
            <a:r>
              <a:rPr sz="4200" b="1" i="0">
                <a:solidFill>
                  <a:srgbClr val="E00000"/>
                </a:solidFill>
                <a:latin typeface="Cambria"/>
                <a:ea typeface="Cambria"/>
                <a:cs typeface="Cambria"/>
              </a:rPr>
              <a:t>24</a:t>
            </a:r>
          </a:p>
        </p:txBody>
      </p:sp>
      <p:sp>
        <p:nvSpPr>
          <p:cNvPr id="9" name="">
            <a:extLst xmlns:a="http://schemas.openxmlformats.org/drawingml/2006/main">
              <a:ext uri="{FF2B5EF4-FFF2-40B4-BE49-F238E27FC236}">
                <a16:creationId xmlns:a16="http://schemas.microsoft.com/office/drawing/2014/main" id="{2EE694BA-7DAB-4569-865C-5EAF5F55716C}"/>
              </a:ext>
            </a:extLst>
          </p:cNvPr>
          <p:cNvSpPr>
            <a:spLocks xmlns:a="http://schemas.openxmlformats.org/drawingml/2006/main" noGrp="1"/>
          </p:cNvSpPr>
          <p:nvPr/>
        </p:nvSpPr>
        <p:spPr>
          <a:xfrm xmlns:a="http://schemas.openxmlformats.org/drawingml/2006/main">
            <a:off x="7905750" y="19812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trang vừa dùng API</a:t>
            </a:r>
          </a:p>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vừa có mock/fallback*</a:t>
            </a:r>
          </a:p>
        </p:txBody>
      </p:sp>
      <p:sp>
        <p:nvSpPr>
          <p:cNvPr id="10" name="">
            <a:extLst xmlns:a="http://schemas.openxmlformats.org/drawingml/2006/main">
              <a:ext uri="{FF2B5EF4-FFF2-40B4-BE49-F238E27FC236}">
                <a16:creationId xmlns:a16="http://schemas.microsoft.com/office/drawing/2014/main" id="{CBB95656-3BB0-4D4A-B862-ACA2148F1520}"/>
              </a:ext>
            </a:extLst>
          </p:cNvPr>
          <p:cNvSpPr>
            <a:spLocks xmlns:a="http://schemas.openxmlformats.org/drawingml/2006/main" noGrp="1"/>
          </p:cNvSpPr>
          <p:nvPr/>
        </p:nvSpPr>
        <p:spPr>
          <a:xfrm xmlns:a="http://schemas.openxmlformats.org/drawingml/2006/main">
            <a:off x="666750" y="30670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Trải nghiệm giao diện đã được xây dựng</a:t>
            </a:r>
          </a:p>
        </p:txBody>
      </p:sp>
      <p:sp>
        <p:nvSpPr>
          <p:cNvPr id="11" name="">
            <a:extLst xmlns:a="http://schemas.openxmlformats.org/drawingml/2006/main">
              <a:ext uri="{FF2B5EF4-FFF2-40B4-BE49-F238E27FC236}">
                <a16:creationId xmlns:a16="http://schemas.microsoft.com/office/drawing/2014/main" id="{63B065F6-4007-4AC3-9C2E-1C21B4678789}"/>
              </a:ext>
            </a:extLst>
          </p:cNvPr>
          <p:cNvSpPr>
            <a:spLocks xmlns:a="http://schemas.openxmlformats.org/drawingml/2006/main" noGrp="1"/>
          </p:cNvSpPr>
          <p:nvPr/>
        </p:nvSpPr>
        <p:spPr>
          <a:xfrm xmlns:a="http://schemas.openxmlformats.org/drawingml/2006/main">
            <a:off x="619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Xem dashboard, bản đồ, danh sách xe và trạng thái vận hành</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Lập kế hoạch, điều xe, quản lý lệnh và theo dõi tiến độ</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Quản lý BTSC, nhiên liệu, lái xe, danh mục và phân quyền</a:t>
            </a:r>
          </a:p>
        </p:txBody>
      </p:sp>
      <p:sp>
        <p:nvSpPr>
          <p:cNvPr id="12" name="">
            <a:extLst xmlns:a="http://schemas.openxmlformats.org/drawingml/2006/main">
              <a:ext uri="{FF2B5EF4-FFF2-40B4-BE49-F238E27FC236}">
                <a16:creationId xmlns:a16="http://schemas.microsoft.com/office/drawing/2014/main" id="{9D530209-4589-463E-836A-F3B2E8803729}"/>
              </a:ext>
            </a:extLst>
          </p:cNvPr>
          <p:cNvSpPr>
            <a:spLocks xmlns:a="http://schemas.openxmlformats.org/drawingml/2006/main" noGrp="1"/>
          </p:cNvSpPr>
          <p:nvPr/>
        </p:nvSpPr>
        <p:spPr>
          <a:xfrm xmlns:a="http://schemas.openxmlformats.org/drawingml/2006/main">
            <a:off x="6381750" y="30670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Phần cần hoàn thiện</a:t>
            </a:r>
          </a:p>
        </p:txBody>
      </p:sp>
      <p:sp>
        <p:nvSpPr>
          <p:cNvPr id="13" name="">
            <a:extLst xmlns:a="http://schemas.openxmlformats.org/drawingml/2006/main">
              <a:ext uri="{FF2B5EF4-FFF2-40B4-BE49-F238E27FC236}">
                <a16:creationId xmlns:a16="http://schemas.microsoft.com/office/drawing/2014/main" id="{EA559CFD-4B03-4EE7-9FA3-040D37CDE4D9}"/>
              </a:ext>
            </a:extLst>
          </p:cNvPr>
          <p:cNvSpPr>
            <a:spLocks xmlns:a="http://schemas.openxmlformats.org/drawingml/2006/main" noGrp="1"/>
          </p:cNvSpPr>
          <p:nvPr/>
        </p:nvSpPr>
        <p:spPr>
          <a:xfrm xmlns:a="http://schemas.openxmlformats.org/drawingml/2006/main">
            <a:off x="6334125" y="3429000"/>
            <a:ext cx="5048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Loại mock và fallback khỏi các luồng vận hành quan trọng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Nối dữ liệu thật cho sáu trang báo cáo đang khởi tạo rỗng</a:t>
            </a:r>
          </a:p>
          <a:p xmlns:a="http://schemas.openxmlformats.org/drawingml/2006/main">
            <a:pPr marL="241300" indent="-114300" algn="l">
              <a:lnSpc>
                <a:spcPct val="104000"/>
              </a:lnSpc>
              <a:spcAft>
                <a:spcPts val="7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Chuẩn hóa lỗi API, tách bundle và kiểm chứng dữ liệu đầu cuối</a:t>
            </a:r>
          </a:p>
        </p:txBody>
      </p:sp>
      <p:sp>
        <p:nvSpPr>
          <p:cNvPr id="14" name="">
            <a:extLst xmlns:a="http://schemas.openxmlformats.org/drawingml/2006/main">
              <a:ext uri="{FF2B5EF4-FFF2-40B4-BE49-F238E27FC236}">
                <a16:creationId xmlns:a16="http://schemas.microsoft.com/office/drawing/2014/main" id="{BAA45FF1-5664-499B-9B38-D4BBF4868C56}"/>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 Chỉ báo từ quét source code; cần audit từng trang trước khi công bố tỷ lệ hoàn tất.</a:t>
            </a:r>
          </a:p>
        </p:txBody>
      </p:sp>
      <p:sp>
        <p:nvSpPr>
          <p:cNvPr id="15" name="">
            <a:extLst xmlns:a="http://schemas.openxmlformats.org/drawingml/2006/main">
              <a:ext uri="{FF2B5EF4-FFF2-40B4-BE49-F238E27FC236}">
                <a16:creationId xmlns:a16="http://schemas.microsoft.com/office/drawing/2014/main" id="{D6DAEC36-37BD-40CA-8E20-9312E4C0E783}"/>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AF3506D0-8A67-4943-BDB9-9438CACE3121}"/>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9</a:t>
            </a:r>
          </a:p>
        </p:txBody>
      </p:sp>
    </p:spTree>
    <p:extLst>
      <p:ext uri="{BB962C8B-B14F-4D97-AF65-F5344CB8AC3E}">
        <p14:creationId xmlns:p14="http://schemas.microsoft.com/office/powerpoint/2010/main" val="39471715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B171440-D022-4B8F-881D-FB9B34308476}"/>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TÀI XẾ NHẬN LỆNH VÀ THỰC HIỆN TRÊN MOBILE</a:t>
            </a:r>
          </a:p>
        </p:txBody>
      </p:sp>
      <p:sp>
        <p:nvSpPr>
          <p:cNvPr id="2" name="">
            <a:extLst xmlns:a="http://schemas.openxmlformats.org/drawingml/2006/main">
              <a:ext uri="{FF2B5EF4-FFF2-40B4-BE49-F238E27FC236}">
                <a16:creationId xmlns:a16="http://schemas.microsoft.com/office/drawing/2014/main" id="{3E04DCE2-3D9E-45F8-A36B-164A9D772EB0}"/>
              </a:ext>
            </a:extLst>
          </p:cNvPr>
          <p:cNvSpPr>
            <a:spLocks xmlns:a="http://schemas.openxmlformats.org/drawingml/2006/main" noGrp="1"/>
          </p:cNvSpPr>
          <p:nvPr/>
        </p:nvSpPr>
        <p:spPr>
          <a:xfrm xmlns:a="http://schemas.openxmlformats.org/drawingml/2006/main">
            <a:off x="619125"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06B35"/>
                </a:solidFill>
                <a:latin typeface="Cambria"/>
                <a:ea typeface="Cambria"/>
                <a:cs typeface="Cambria"/>
              </a:defRPr>
            </a:pPr>
            <a:r>
              <a:rPr sz="1800" b="1" i="0">
                <a:solidFill>
                  <a:srgbClr val="006B35"/>
                </a:solidFill>
                <a:latin typeface="Cambria"/>
                <a:ea typeface="Cambria"/>
                <a:cs typeface="Cambria"/>
              </a:rPr>
              <a:t>Luồng thao tác đã có</a:t>
            </a:r>
          </a:p>
        </p:txBody>
      </p:sp>
      <p:sp>
        <p:nvSpPr>
          <p:cNvPr id="3" name="">
            <a:extLst xmlns:a="http://schemas.openxmlformats.org/drawingml/2006/main">
              <a:ext uri="{FF2B5EF4-FFF2-40B4-BE49-F238E27FC236}">
                <a16:creationId xmlns:a16="http://schemas.microsoft.com/office/drawing/2014/main" id="{5677F39E-2B1B-41DC-9A02-55156095EAB5}"/>
              </a:ext>
            </a:extLst>
          </p:cNvPr>
          <p:cNvSpPr>
            <a:spLocks xmlns:a="http://schemas.openxmlformats.org/drawingml/2006/main" noGrp="1"/>
          </p:cNvSpPr>
          <p:nvPr/>
        </p:nvSpPr>
        <p:spPr>
          <a:xfrm xmlns:a="http://schemas.openxmlformats.org/drawingml/2006/main">
            <a:off x="571500" y="1571625"/>
            <a:ext cx="5429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Đồng bộ lệnh được giao về SQLite và hiển thị theo Hôm nay/Tuần</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Mở chi tiết để xem thời gian, địa điểm, xe và nội dung công việc</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Nhận nhiệm vụ, xác nhận nhận xe, nhập ODO/giờ máy và bắt đầu</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Tạm dừng, nghỉ, tiếp tục, cập nhật tiến độ và chụp ảnh minh chứng</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Kết thúc ngày, gửi báo cáo hoặc đề nghị nghiệm thu toàn bộ công việc</a:t>
            </a:r>
          </a:p>
        </p:txBody>
      </p:sp>
      <p:sp>
        <p:nvSpPr>
          <p:cNvPr id="4" name="">
            <a:extLst xmlns:a="http://schemas.openxmlformats.org/drawingml/2006/main">
              <a:ext uri="{FF2B5EF4-FFF2-40B4-BE49-F238E27FC236}">
                <a16:creationId xmlns:a16="http://schemas.microsoft.com/office/drawing/2014/main" id="{8B2FABBF-1A0A-43C1-93B3-E9BF69C3CEFF}"/>
              </a:ext>
            </a:extLst>
          </p:cNvPr>
          <p:cNvSpPr>
            <a:spLocks xmlns:a="http://schemas.openxmlformats.org/drawingml/2006/main" noGrp="1"/>
          </p:cNvSpPr>
          <p:nvPr/>
        </p:nvSpPr>
        <p:spPr>
          <a:xfrm xmlns:a="http://schemas.openxmlformats.org/drawingml/2006/main">
            <a:off x="6477000" y="11239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800" b="1" i="0">
                <a:solidFill>
                  <a:srgbClr val="075AA7"/>
                </a:solidFill>
                <a:latin typeface="Cambria"/>
                <a:ea typeface="Cambria"/>
                <a:cs typeface="Cambria"/>
              </a:defRPr>
            </a:pPr>
            <a:r>
              <a:rPr sz="1800" b="1" i="0">
                <a:solidFill>
                  <a:srgbClr val="075AA7"/>
                </a:solidFill>
                <a:latin typeface="Cambria"/>
                <a:ea typeface="Cambria"/>
                <a:cs typeface="Cambria"/>
              </a:rPr>
              <a:t>Đồng bộ và ngoại lệ</a:t>
            </a:r>
          </a:p>
        </p:txBody>
      </p:sp>
      <p:sp>
        <p:nvSpPr>
          <p:cNvPr id="5" name="">
            <a:extLst xmlns:a="http://schemas.openxmlformats.org/drawingml/2006/main">
              <a:ext uri="{FF2B5EF4-FFF2-40B4-BE49-F238E27FC236}">
                <a16:creationId xmlns:a16="http://schemas.microsoft.com/office/drawing/2014/main" id="{D9B9E909-F0ED-4E60-A3BF-66B841A70968}"/>
              </a:ext>
            </a:extLst>
          </p:cNvPr>
          <p:cNvSpPr>
            <a:spLocks xmlns:a="http://schemas.openxmlformats.org/drawingml/2006/main" noGrp="1"/>
          </p:cNvSpPr>
          <p:nvPr/>
        </p:nvSpPr>
        <p:spPr>
          <a:xfrm xmlns:a="http://schemas.openxmlformats.org/drawingml/2006/main">
            <a:off x="6429375" y="1571625"/>
            <a:ext cx="5095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Sự kiện được xếp hàng offline và đẩy lên /mobile/sync/push khi có mạng</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Ảnh được tải riêng, sự kiện SOS và báo hỏng có độ ưu tiên cao hơn</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Có xin điều chỉnh lịch, yêu cầu chuyển việc, báo sự cố và SOS</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Backend kiểm tra version/quyền sở hữu lệnh và giữ dữ liệu khi xung đột</a:t>
            </a:r>
          </a:p>
          <a:p xmlns:a="http://schemas.openxmlformats.org/drawingml/2006/main">
            <a:pPr marL="241300" indent="-114300" algn="l">
              <a:lnSpc>
                <a:spcPct val="104000"/>
              </a:lnSpc>
              <a:spcAft>
                <a:spcPts val="800"/>
              </a:spcAft>
              <a:buNone/>
              <a:defRPr sz="1500" b="0" i="0">
                <a:solidFill>
                  <a:srgbClr val="17212B"/>
                </a:solidFill>
                <a:latin typeface="Cambria"/>
                <a:ea typeface="Cambria"/>
                <a:cs typeface="Cambria"/>
              </a:defRPr>
            </a:pPr>
            <a:r>
              <a:rPr sz="1500" b="0" i="0">
                <a:solidFill>
                  <a:srgbClr val="17212B"/>
                </a:solidFill>
                <a:latin typeface="Cambria"/>
                <a:ea typeface="Cambria"/>
                <a:cs typeface="Cambria"/>
              </a:rPr>
              <a:t>Chưa xác minh push notification nền và nút từ chối lệnh trên mobile</a:t>
            </a:r>
          </a:p>
        </p:txBody>
      </p:sp>
      <p:sp>
        <p:nvSpPr>
          <p:cNvPr id="6" name="">
            <a:extLst xmlns:a="http://schemas.openxmlformats.org/drawingml/2006/main">
              <a:ext uri="{FF2B5EF4-FFF2-40B4-BE49-F238E27FC236}">
                <a16:creationId xmlns:a16="http://schemas.microsoft.com/office/drawing/2014/main" id="{E5EC1ADC-0A2A-49B0-B6E5-3B3A93EC45B8}"/>
              </a:ext>
            </a:extLst>
          </p:cNvPr>
          <p:cNvSpPr>
            <a:spLocks xmlns:a="http://schemas.openxmlformats.org/drawingml/2006/main" noGrp="1"/>
          </p:cNvSpPr>
          <p:nvPr/>
        </p:nvSpPr>
        <p:spPr>
          <a:xfrm xmlns:a="http://schemas.openxmlformats.org/drawingml/2006/main">
            <a:off x="619125" y="49530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Điểm cần kiểm chứng tại pilot</a:t>
            </a:r>
          </a:p>
        </p:txBody>
      </p:sp>
      <p:sp>
        <p:nvSpPr>
          <p:cNvPr id="7" name="">
            <a:extLst xmlns:a="http://schemas.openxmlformats.org/drawingml/2006/main">
              <a:ext uri="{FF2B5EF4-FFF2-40B4-BE49-F238E27FC236}">
                <a16:creationId xmlns:a16="http://schemas.microsoft.com/office/drawing/2014/main" id="{1B6655A7-1BE5-4567-BB90-F5E00FDC4781}"/>
              </a:ext>
            </a:extLst>
          </p:cNvPr>
          <p:cNvSpPr>
            <a:spLocks xmlns:a="http://schemas.openxmlformats.org/drawingml/2006/main" noGrp="1"/>
          </p:cNvSpPr>
          <p:nvPr/>
        </p:nvSpPr>
        <p:spPr>
          <a:xfrm xmlns:a="http://schemas.openxmlformats.org/drawingml/2006/main">
            <a:off x="619125" y="5353050"/>
            <a:ext cx="10858500" cy="628650"/>
          </a:xfrm>
          <a:prstGeom xmlns:a="http://schemas.openxmlformats.org/drawingml/2006/main" prst="roundRect">
            <a:avLst>
              <a:gd name="adj" fmla="val 10606"/>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Thời gian lệnh xuất hiện sau khi phát, hành vi khi mất mạng dài, xung đột đồng bộ, nhận lệnh trễ, tải ảnh và phân lại lệnh khi tài xế không thể nhận.</a:t>
            </a:r>
          </a:p>
        </p:txBody>
      </p:sp>
      <p:sp>
        <p:nvSpPr>
          <p:cNvPr id="8" name="">
            <a:extLst xmlns:a="http://schemas.openxmlformats.org/drawingml/2006/main">
              <a:ext uri="{FF2B5EF4-FFF2-40B4-BE49-F238E27FC236}">
                <a16:creationId xmlns:a16="http://schemas.microsoft.com/office/drawing/2014/main" id="{7D57A2E2-C45E-44E7-8017-61E6D7DEF97E}"/>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9" name="">
            <a:extLst xmlns:a="http://schemas.openxmlformats.org/drawingml/2006/main">
              <a:ext uri="{FF2B5EF4-FFF2-40B4-BE49-F238E27FC236}">
                <a16:creationId xmlns:a16="http://schemas.microsoft.com/office/drawing/2014/main" id="{72D95013-33A9-4255-A229-E96A54C7E696}"/>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10</a:t>
            </a:r>
          </a:p>
        </p:txBody>
      </p:sp>
    </p:spTree>
    <p:extLst>
      <p:ext uri="{BB962C8B-B14F-4D97-AF65-F5344CB8AC3E}">
        <p14:creationId xmlns:p14="http://schemas.microsoft.com/office/powerpoint/2010/main" val="10836095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FE07AAF0-FC05-4D7C-9025-6C09D2D1BB8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LUỒNG NGHIỆP VỤ VẬN HÀNH TỔNG THỂ</a:t>
            </a:r>
          </a:p>
        </p:txBody>
      </p:sp>
      <p:sp>
        <p:nvSpPr>
          <p:cNvPr id="2" name="">
            <a:extLst xmlns:a="http://schemas.openxmlformats.org/drawingml/2006/main">
              <a:ext uri="{FF2B5EF4-FFF2-40B4-BE49-F238E27FC236}">
                <a16:creationId xmlns:a16="http://schemas.microsoft.com/office/drawing/2014/main" id="{9AB48BBB-A8C7-457B-9FF2-F1CD987C05F8}"/>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KẾ HOẠCH VÀ ĐIỀU PHỐI</a:t>
            </a:r>
          </a:p>
        </p:txBody>
      </p:sp>
      <p:sp>
        <p:nvSpPr>
          <p:cNvPr id="3" name="">
            <a:extLst xmlns:a="http://schemas.openxmlformats.org/drawingml/2006/main">
              <a:ext uri="{FF2B5EF4-FFF2-40B4-BE49-F238E27FC236}">
                <a16:creationId xmlns:a16="http://schemas.microsoft.com/office/drawing/2014/main" id="{05EF335A-D577-4FA4-B3BD-DDDFE03F3A98}"/>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 VÀ DỮ LIỆU</a:t>
            </a:r>
          </a:p>
        </p:txBody>
      </p:sp>
      <p:sp>
        <p:nvSpPr>
          <p:cNvPr id="4" name="">
            <a:extLst xmlns:a="http://schemas.openxmlformats.org/drawingml/2006/main">
              <a:ext uri="{FF2B5EF4-FFF2-40B4-BE49-F238E27FC236}">
                <a16:creationId xmlns:a16="http://schemas.microsoft.com/office/drawing/2014/main" id="{27518B1E-F25A-4398-ADB0-212C7212FB14}"/>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EA12E71F-9A98-4E64-B684-6B740C85FF41}"/>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 VÀ HIỆN TRƯỜNG</a:t>
            </a:r>
          </a:p>
        </p:txBody>
      </p:sp>
      <p:sp>
        <p:nvSpPr>
          <p:cNvPr id="6" name="">
            <a:extLst xmlns:a="http://schemas.openxmlformats.org/drawingml/2006/main">
              <a:ext uri="{FF2B5EF4-FFF2-40B4-BE49-F238E27FC236}">
                <a16:creationId xmlns:a16="http://schemas.microsoft.com/office/drawing/2014/main" id="{7FFD5E8A-718C-49D2-B2C2-90E0E207D987}"/>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77807723-E2AB-4837-99E2-ADC1D7A67EB2}"/>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Lập kế hoạch hoặc tạo lệnh trực tiếp</a:t>
            </a:r>
          </a:p>
        </p:txBody>
      </p:sp>
      <p:sp>
        <p:nvSpPr>
          <p:cNvPr id="8" name="">
            <a:extLst xmlns:a="http://schemas.openxmlformats.org/drawingml/2006/main">
              <a:ext uri="{FF2B5EF4-FFF2-40B4-BE49-F238E27FC236}">
                <a16:creationId xmlns:a16="http://schemas.microsoft.com/office/drawing/2014/main" id="{1DA0317F-E5A9-4482-8C63-6D99D14CEF96}"/>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Kiểm tra phạm vi, lịch và nguồn lực</a:t>
            </a:r>
          </a:p>
        </p:txBody>
      </p:sp>
      <p:sp>
        <p:nvSpPr>
          <p:cNvPr id="9" name="">
            <a:extLst xmlns:a="http://schemas.openxmlformats.org/drawingml/2006/main">
              <a:ext uri="{FF2B5EF4-FFF2-40B4-BE49-F238E27FC236}">
                <a16:creationId xmlns:a16="http://schemas.microsoft.com/office/drawing/2014/main" id="{6F069E8B-F479-4648-B4AD-E82256E2917A}"/>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Duyệt và phát hành lệnh</a:t>
            </a:r>
          </a:p>
        </p:txBody>
      </p:sp>
      <p:sp>
        <p:nvSpPr>
          <p:cNvPr id="10" name="">
            <a:extLst xmlns:a="http://schemas.openxmlformats.org/drawingml/2006/main">
              <a:ext uri="{FF2B5EF4-FFF2-40B4-BE49-F238E27FC236}">
                <a16:creationId xmlns:a16="http://schemas.microsoft.com/office/drawing/2014/main" id="{D06CB675-4AF7-4FCA-BF1E-0376511CAF51}"/>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WorkOrder, phân công, sự kiện và audit</a:t>
            </a:r>
          </a:p>
        </p:txBody>
      </p:sp>
      <p:sp>
        <p:nvSpPr>
          <p:cNvPr id="11" name="">
            <a:extLst xmlns:a="http://schemas.openxmlformats.org/drawingml/2006/main">
              <a:ext uri="{FF2B5EF4-FFF2-40B4-BE49-F238E27FC236}">
                <a16:creationId xmlns:a16="http://schemas.microsoft.com/office/drawing/2014/main" id="{7759740C-4258-4A10-9D15-D7A60685D8A4}"/>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Đồng bộ lệnh và xác nhận nhận việc</a:t>
            </a:r>
          </a:p>
        </p:txBody>
      </p:sp>
      <p:sp>
        <p:nvSpPr>
          <p:cNvPr id="12" name="">
            <a:extLst xmlns:a="http://schemas.openxmlformats.org/drawingml/2006/main">
              <a:ext uri="{FF2B5EF4-FFF2-40B4-BE49-F238E27FC236}">
                <a16:creationId xmlns:a16="http://schemas.microsoft.com/office/drawing/2014/main" id="{C7FFA6F1-7A04-46D7-A6F7-7FFDF26B31EC}"/>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Thực hiện, cập nhật tiến độ, ODO và minh chứng</a:t>
            </a:r>
          </a:p>
        </p:txBody>
      </p:sp>
      <p:sp>
        <p:nvSpPr>
          <p:cNvPr id="13" name="">
            <a:extLst xmlns:a="http://schemas.openxmlformats.org/drawingml/2006/main">
              <a:ext uri="{FF2B5EF4-FFF2-40B4-BE49-F238E27FC236}">
                <a16:creationId xmlns:a16="http://schemas.microsoft.com/office/drawing/2014/main" id="{1880C4B1-76A7-4046-AE2E-5EC93F71F13A}"/>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NGHIỆM THU ĐẠT?</a:t>
            </a:r>
          </a:p>
        </p:txBody>
      </p:sp>
      <p:sp>
        <p:nvSpPr>
          <p:cNvPr id="14" name="">
            <a:extLst xmlns:a="http://schemas.openxmlformats.org/drawingml/2006/main">
              <a:ext uri="{FF2B5EF4-FFF2-40B4-BE49-F238E27FC236}">
                <a16:creationId xmlns:a16="http://schemas.microsoft.com/office/drawing/2014/main" id="{1EF31EC0-F742-4BC4-9FEC-44C9A32657E9}"/>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Dashboard, KPI, cảnh báo và báo cáo</a:t>
            </a:r>
          </a:p>
        </p:txBody>
      </p:sp>
      <p:cxnSp>
        <p:nvCxnSpPr>
          <p:cNvPr id="40"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1"/>
            <a:endCxn xmlns:a="http://schemas.openxmlformats.org/drawingml/2006/main" id="9" idx="3"/>
          </p:cNvCxnSpPr>
          <p:nvPr/>
        </p:nvCxnSpPr>
        <p:spPr>
          <a:xfrm xmlns:a="http://schemas.openxmlformats.org/drawingml/2006/main" flipH="1">
            <a:off x="3695700" y="1847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3"/>
            <a:endCxn xmlns:a="http://schemas.openxmlformats.org/drawingml/2006/main" id="10" idx="1"/>
          </p:cNvCxnSpPr>
          <p:nvPr/>
        </p:nvCxnSpPr>
        <p:spPr>
          <a:xfrm xmlns:a="http://schemas.openxmlformats.org/drawingml/2006/main">
            <a:off x="36957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3"/>
            <a:endCxn xmlns:a="http://schemas.openxmlformats.org/drawingml/2006/main" id="11" idx="1"/>
          </p:cNvCxnSpPr>
          <p:nvPr/>
        </p:nvCxnSpPr>
        <p:spPr>
          <a:xfrm xmlns:a="http://schemas.openxmlformats.org/drawingml/2006/main">
            <a:off x="75438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2" idx="1"/>
            <a:endCxn xmlns:a="http://schemas.openxmlformats.org/drawingml/2006/main" id="13" idx="3"/>
          </p:cNvCxnSpPr>
          <p:nvPr/>
        </p:nvCxnSpPr>
        <p:spPr>
          <a:xfrm xmlns:a="http://schemas.openxmlformats.org/drawingml/2006/main" flipH="1">
            <a:off x="75438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3" idx="1"/>
            <a:endCxn xmlns:a="http://schemas.openxmlformats.org/drawingml/2006/main" id="14" idx="3"/>
          </p:cNvCxnSpPr>
          <p:nvPr/>
        </p:nvCxnSpPr>
        <p:spPr>
          <a:xfrm xmlns:a="http://schemas.openxmlformats.org/drawingml/2006/main" flipH="1">
            <a:off x="3695700" y="4200525"/>
            <a:ext cx="952500" cy="1971675"/>
          </a:xfrm>
          <a:prstGeom xmlns:a="http://schemas.openxmlformats.org/drawingml/2006/main" prst="bentConnector4">
            <a:avLst/>
          </a:prstGeom>
          <a:ln xmlns:a="http://schemas.openxmlformats.org/drawingml/2006/main" w="19050">
            <a:solidFill>
              <a:srgbClr val="5FAE3E"/>
            </a:solidFill>
            <a:prstDash val="solid"/>
            <a:tailEnd type="arrow" w="med" len="med"/>
          </a:ln>
        </p:spPr>
      </p:cxnSp>
      <p:sp>
        <p:nvSpPr>
          <p:cNvPr id="22" name="">
            <a:extLst xmlns:a="http://schemas.openxmlformats.org/drawingml/2006/main">
              <a:ext uri="{FF2B5EF4-FFF2-40B4-BE49-F238E27FC236}">
                <a16:creationId xmlns:a16="http://schemas.microsoft.com/office/drawing/2014/main" id="{9AD93AD3-96C1-4620-89B6-D4EC33EBDE47}"/>
              </a:ext>
            </a:extLst>
          </p:cNvPr>
          <p:cNvSpPr>
            <a:spLocks xmlns:a="http://schemas.openxmlformats.org/drawingml/2006/main" noGrp="1"/>
          </p:cNvSpPr>
          <p:nvPr/>
        </p:nvSpPr>
        <p:spPr>
          <a:xfrm xmlns:a="http://schemas.openxmlformats.org/drawingml/2006/main">
            <a:off x="3695700" y="49530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Đạt</a:t>
            </a:r>
          </a:p>
        </p:txBody>
      </p:sp>
      <p:sp>
        <p:nvSpPr>
          <p:cNvPr id="23" name="">
            <a:extLst xmlns:a="http://schemas.openxmlformats.org/drawingml/2006/main">
              <a:ext uri="{FF2B5EF4-FFF2-40B4-BE49-F238E27FC236}">
                <a16:creationId xmlns:a16="http://schemas.microsoft.com/office/drawing/2014/main" id="{1C4ED000-1BBE-4013-B386-7F299A7FBF6A}"/>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Mỗi chuyển trạng thái chính phải để lại người thực hiện, thời điểm, lý do và dữ liệu liên quan.</a:t>
            </a:r>
          </a:p>
        </p:txBody>
      </p:sp>
      <p:sp>
        <p:nvSpPr>
          <p:cNvPr id="24" name="">
            <a:extLst xmlns:a="http://schemas.openxmlformats.org/drawingml/2006/main">
              <a:ext uri="{FF2B5EF4-FFF2-40B4-BE49-F238E27FC236}">
                <a16:creationId xmlns:a16="http://schemas.microsoft.com/office/drawing/2014/main" id="{69C191F4-F1D1-47DF-977D-9B136A18BBB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AD4AF66B-2323-46F1-838B-041D71D29A6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11</a:t>
            </a:r>
          </a:p>
        </p:txBody>
      </p:sp>
    </p:spTree>
    <p:extLst>
      <p:ext uri="{BB962C8B-B14F-4D97-AF65-F5344CB8AC3E}">
        <p14:creationId xmlns:p14="http://schemas.microsoft.com/office/powerpoint/2010/main" val="10836095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6B6994F0-DD0B-483B-9CAC-43A5E5DEC1B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 HOẠCH SẢN XUẤT ĐẾN LỆNH THỰC HIỆN</a:t>
            </a:r>
          </a:p>
        </p:txBody>
      </p:sp>
      <p:sp>
        <p:nvSpPr>
          <p:cNvPr id="2" name="">
            <a:extLst xmlns:a="http://schemas.openxmlformats.org/drawingml/2006/main">
              <a:ext uri="{FF2B5EF4-FFF2-40B4-BE49-F238E27FC236}">
                <a16:creationId xmlns:a16="http://schemas.microsoft.com/office/drawing/2014/main" id="{9161443F-82EA-461C-B46E-3C6B2D5273B9}"/>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NÔNG TRƯỜNG</a:t>
            </a:r>
          </a:p>
        </p:txBody>
      </p:sp>
      <p:sp>
        <p:nvSpPr>
          <p:cNvPr id="3" name="">
            <a:extLst xmlns:a="http://schemas.openxmlformats.org/drawingml/2006/main">
              <a:ext uri="{FF2B5EF4-FFF2-40B4-BE49-F238E27FC236}">
                <a16:creationId xmlns:a16="http://schemas.microsoft.com/office/drawing/2014/main" id="{C4894656-5BF8-444B-91CC-0F8868FD5149}"/>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a:t>
            </a:r>
          </a:p>
        </p:txBody>
      </p:sp>
      <p:sp>
        <p:nvSpPr>
          <p:cNvPr id="4" name="">
            <a:extLst xmlns:a="http://schemas.openxmlformats.org/drawingml/2006/main">
              <a:ext uri="{FF2B5EF4-FFF2-40B4-BE49-F238E27FC236}">
                <a16:creationId xmlns:a16="http://schemas.microsoft.com/office/drawing/2014/main" id="{5CA02549-4FFA-4A7E-8ACE-E9767733951F}"/>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78DB3621-28DF-4CE8-8D51-0469FD9CFAE2}"/>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6" name="">
            <a:extLst xmlns:a="http://schemas.openxmlformats.org/drawingml/2006/main">
              <a:ext uri="{FF2B5EF4-FFF2-40B4-BE49-F238E27FC236}">
                <a16:creationId xmlns:a16="http://schemas.microsoft.com/office/drawing/2014/main" id="{0B795893-03E2-421E-8702-DAEFF8ABD926}"/>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B32E5924-049D-412A-9CF0-FE996D257032}"/>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kế hoạch, hạng mục, lô và khối lượng</a:t>
            </a:r>
          </a:p>
        </p:txBody>
      </p:sp>
      <p:sp>
        <p:nvSpPr>
          <p:cNvPr id="8" name="">
            <a:extLst xmlns:a="http://schemas.openxmlformats.org/drawingml/2006/main">
              <a:ext uri="{FF2B5EF4-FFF2-40B4-BE49-F238E27FC236}">
                <a16:creationId xmlns:a16="http://schemas.microsoft.com/office/drawing/2014/main" id="{221ACF0F-AB52-45A5-8002-A085E83AFD55}"/>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Trình duyệt kế hoạch</a:t>
            </a:r>
          </a:p>
        </p:txBody>
      </p:sp>
      <p:sp>
        <p:nvSpPr>
          <p:cNvPr id="9" name="">
            <a:extLst xmlns:a="http://schemas.openxmlformats.org/drawingml/2006/main">
              <a:ext uri="{FF2B5EF4-FFF2-40B4-BE49-F238E27FC236}">
                <a16:creationId xmlns:a16="http://schemas.microsoft.com/office/drawing/2014/main" id="{003E01AD-A512-438D-8935-C87EFBFDD81A}"/>
              </a:ext>
            </a:extLst>
          </p:cNvPr>
          <p:cNvSpPr>
            <a:spLocks xmlns:a="http://schemas.openxmlformats.org/drawingml/2006/main" noGrp="1"/>
          </p:cNvSpPr>
          <p:nvPr/>
        </p:nvSpPr>
        <p:spPr>
          <a:xfrm xmlns:a="http://schemas.openxmlformats.org/drawingml/2006/main">
            <a:off x="46482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DUYỆT KẾ HOẠCH?</a:t>
            </a:r>
          </a:p>
        </p:txBody>
      </p:sp>
      <p:sp>
        <p:nvSpPr>
          <p:cNvPr id="10" name="">
            <a:extLst xmlns:a="http://schemas.openxmlformats.org/drawingml/2006/main">
              <a:ext uri="{FF2B5EF4-FFF2-40B4-BE49-F238E27FC236}">
                <a16:creationId xmlns:a16="http://schemas.microsoft.com/office/drawing/2014/main" id="{C89397DD-0AD8-4E36-B240-3D4D7205B060}"/>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ProductionOrder và generationKey</a:t>
            </a:r>
          </a:p>
        </p:txBody>
      </p:sp>
      <p:sp>
        <p:nvSpPr>
          <p:cNvPr id="11" name="">
            <a:extLst xmlns:a="http://schemas.openxmlformats.org/drawingml/2006/main">
              <a:ext uri="{FF2B5EF4-FFF2-40B4-BE49-F238E27FC236}">
                <a16:creationId xmlns:a16="http://schemas.microsoft.com/office/drawing/2014/main" id="{F7B91237-EE65-4BC8-B8AF-4A1FA11DFD27}"/>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Sinh lệnh điều xe hoặc vận chuyển</a:t>
            </a:r>
          </a:p>
        </p:txBody>
      </p:sp>
      <p:sp>
        <p:nvSpPr>
          <p:cNvPr id="12" name="">
            <a:extLst xmlns:a="http://schemas.openxmlformats.org/drawingml/2006/main">
              <a:ext uri="{FF2B5EF4-FFF2-40B4-BE49-F238E27FC236}">
                <a16:creationId xmlns:a16="http://schemas.microsoft.com/office/drawing/2014/main" id="{CC3DBA9E-66B2-4392-8067-E81A7217AF82}"/>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Cập nhật tiến độ lô và sản lượng</a:t>
            </a:r>
          </a:p>
        </p:txBody>
      </p:sp>
      <p:sp>
        <p:nvSpPr>
          <p:cNvPr id="13" name="">
            <a:extLst xmlns:a="http://schemas.openxmlformats.org/drawingml/2006/main">
              <a:ext uri="{FF2B5EF4-FFF2-40B4-BE49-F238E27FC236}">
                <a16:creationId xmlns:a16="http://schemas.microsoft.com/office/drawing/2014/main" id="{98C582DF-06F5-4DAC-9A3B-91C1DA47071E}"/>
              </a:ext>
            </a:extLst>
          </p:cNvPr>
          <p:cNvSpPr>
            <a:spLocks xmlns:a="http://schemas.openxmlformats.org/drawingml/2006/main" noGrp="1"/>
          </p:cNvSpPr>
          <p:nvPr/>
        </p:nvSpPr>
        <p:spPr>
          <a:xfrm xmlns:a="http://schemas.openxmlformats.org/drawingml/2006/main">
            <a:off x="46482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CẦN ĐIỀU CHỈNH?</a:t>
            </a:r>
          </a:p>
        </p:txBody>
      </p:sp>
      <p:sp>
        <p:nvSpPr>
          <p:cNvPr id="14" name="">
            <a:extLst xmlns:a="http://schemas.openxmlformats.org/drawingml/2006/main">
              <a:ext uri="{FF2B5EF4-FFF2-40B4-BE49-F238E27FC236}">
                <a16:creationId xmlns:a16="http://schemas.microsoft.com/office/drawing/2014/main" id="{3B9FEC72-D686-4C56-91E6-0785B8D24D5F}"/>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Hoàn thành hoặc quyết toán kế hoạch</a:t>
            </a:r>
          </a:p>
        </p:txBody>
      </p:sp>
      <p:cxnSp>
        <p:nvCxnSpPr>
          <p:cNvPr id="43"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9" idx="2"/>
            <a:endCxn xmlns:a="http://schemas.openxmlformats.org/drawingml/2006/main" id="10" idx="0"/>
          </p:cNvCxnSpPr>
          <p:nvPr/>
        </p:nvCxnSpPr>
        <p:spPr>
          <a:xfrm xmlns:a="http://schemas.openxmlformats.org/drawingml/2006/main">
            <a:off x="60960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8" name="">
            <a:extLst xmlns:a="http://schemas.openxmlformats.org/drawingml/2006/main">
              <a:ext uri="{FF2B5EF4-FFF2-40B4-BE49-F238E27FC236}">
                <a16:creationId xmlns:a16="http://schemas.microsoft.com/office/drawing/2014/main" id="{0CA148F2-3743-404E-9C99-9DFDD10C7AD0}"/>
              </a:ext>
            </a:extLst>
          </p:cNvPr>
          <p:cNvSpPr>
            <a:spLocks xmlns:a="http://schemas.openxmlformats.org/drawingml/2006/main" noGrp="1"/>
          </p:cNvSpPr>
          <p:nvPr/>
        </p:nvSpPr>
        <p:spPr>
          <a:xfrm xmlns:a="http://schemas.openxmlformats.org/drawingml/2006/main">
            <a:off x="6896100" y="35623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1" idx="2"/>
            <a:endCxn xmlns:a="http://schemas.openxmlformats.org/drawingml/2006/main" id="12" idx="2"/>
          </p:cNvCxnSpPr>
          <p:nvPr/>
        </p:nvCxnSpPr>
        <p:spPr>
          <a:xfrm xmlns:a="http://schemas.openxmlformats.org/drawingml/2006/main" flipH="1">
            <a:off x="2247900" y="4476750"/>
            <a:ext cx="7696200" cy="1143000"/>
          </a:xfrm>
          <a:prstGeom xmlns:a="http://schemas.openxmlformats.org/drawingml/2006/main" prst="bentConnector4">
            <a:avLst>
              <a:gd name="adj1" fmla="val 0"/>
              <a:gd name="adj2" fmla="val 50000"/>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2" idx="3"/>
            <a:endCxn xmlns:a="http://schemas.openxmlformats.org/drawingml/2006/main" id="13" idx="1"/>
          </p:cNvCxnSpPr>
          <p:nvPr/>
        </p:nvCxnSpPr>
        <p:spPr>
          <a:xfrm xmlns:a="http://schemas.openxmlformats.org/drawingml/2006/main">
            <a:off x="3695700" y="5276850"/>
            <a:ext cx="952500" cy="895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3" idx="3"/>
            <a:endCxn xmlns:a="http://schemas.openxmlformats.org/drawingml/2006/main" id="14" idx="1"/>
          </p:cNvCxnSpPr>
          <p:nvPr/>
        </p:nvCxnSpPr>
        <p:spPr>
          <a:xfrm xmlns:a="http://schemas.openxmlformats.org/drawingml/2006/main"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A3B55FD2-F3AE-4C8F-BC91-C3567769D3FD}"/>
              </a:ext>
            </a:extLst>
          </p:cNvPr>
          <p:cNvSpPr>
            <a:spLocks xmlns:a="http://schemas.openxmlformats.org/drawingml/2006/main" noGrp="1"/>
          </p:cNvSpPr>
          <p:nvPr/>
        </p:nvSpPr>
        <p:spPr>
          <a:xfrm xmlns:a="http://schemas.openxmlformats.org/drawingml/2006/main">
            <a:off x="7800975" y="52006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52" name=""/>
          <p:cNvCxnSpPr>
            <a:stCxn xmlns:a="http://schemas.openxmlformats.org/drawingml/2006/main" id="13" idx="1"/>
            <a:endCxn xmlns:a="http://schemas.openxmlformats.org/drawingml/2006/main" id="8" idx="3"/>
          </p:cNvCxnSpPr>
          <p:nvPr/>
        </p:nvCxnSpPr>
        <p:spPr>
          <a:xfrm xmlns:a="http://schemas.openxmlformats.org/drawingml/2006/main" flipH="1" flipV="1">
            <a:off x="3695700" y="2990850"/>
            <a:ext cx="952500" cy="3181350"/>
          </a:xfrm>
          <a:prstGeom xmlns:a="http://schemas.openxmlformats.org/drawingml/2006/main" prst="bentConnector4">
            <a:avLst/>
          </a:prstGeom>
          <a:ln xmlns:a="http://schemas.openxmlformats.org/drawingml/2006/main" w="19050">
            <a:solidFill>
              <a:srgbClr val="5FAE3E"/>
            </a:solidFill>
            <a:prstDash val="dash"/>
            <a:tailEnd type="arrow" w="med" len="med"/>
          </a:ln>
        </p:spPr>
      </p:cxnSp>
      <p:sp>
        <p:nvSpPr>
          <p:cNvPr id="25" name="">
            <a:extLst xmlns:a="http://schemas.openxmlformats.org/drawingml/2006/main">
              <a:ext uri="{FF2B5EF4-FFF2-40B4-BE49-F238E27FC236}">
                <a16:creationId xmlns:a16="http://schemas.microsoft.com/office/drawing/2014/main" id="{72000BF3-521F-4ACC-873A-D15EC8036700}"/>
              </a:ext>
            </a:extLst>
          </p:cNvPr>
          <p:cNvSpPr>
            <a:spLocks xmlns:a="http://schemas.openxmlformats.org/drawingml/2006/main" noGrp="1"/>
          </p:cNvSpPr>
          <p:nvPr/>
        </p:nvSpPr>
        <p:spPr>
          <a:xfrm xmlns:a="http://schemas.openxmlformats.org/drawingml/2006/main">
            <a:off x="4095750" y="4305300"/>
            <a:ext cx="1095375"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 ghi lý do</a:t>
            </a:r>
          </a:p>
        </p:txBody>
      </p:sp>
      <p:sp>
        <p:nvSpPr>
          <p:cNvPr id="26" name="">
            <a:extLst xmlns:a="http://schemas.openxmlformats.org/drawingml/2006/main">
              <a:ext uri="{FF2B5EF4-FFF2-40B4-BE49-F238E27FC236}">
                <a16:creationId xmlns:a16="http://schemas.microsoft.com/office/drawing/2014/main" id="{1540B537-01B0-4C6A-BE11-D7C74407352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Điều chỉnh kế hoạch có thể hủy các lệnh sinh tự động chưa bắt đầu và ghi audit thay đổi.</a:t>
            </a:r>
          </a:p>
        </p:txBody>
      </p:sp>
      <p:sp>
        <p:nvSpPr>
          <p:cNvPr id="27" name="">
            <a:extLst xmlns:a="http://schemas.openxmlformats.org/drawingml/2006/main">
              <a:ext uri="{FF2B5EF4-FFF2-40B4-BE49-F238E27FC236}">
                <a16:creationId xmlns:a16="http://schemas.microsoft.com/office/drawing/2014/main" id="{552D36B0-035E-4EB8-8B95-41E07935316A}"/>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8" name="">
            <a:extLst xmlns:a="http://schemas.openxmlformats.org/drawingml/2006/main">
              <a:ext uri="{FF2B5EF4-FFF2-40B4-BE49-F238E27FC236}">
                <a16:creationId xmlns:a16="http://schemas.microsoft.com/office/drawing/2014/main" id="{FC403B65-BA77-433E-AB8E-3A4E5B5D5949}"/>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12</a:t>
            </a:r>
          </a:p>
        </p:txBody>
      </p:sp>
    </p:spTree>
    <p:extLst>
      <p:ext uri="{BB962C8B-B14F-4D97-AF65-F5344CB8AC3E}">
        <p14:creationId xmlns:p14="http://schemas.microsoft.com/office/powerpoint/2010/main" val="108360953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EEF588FF-BF22-4224-B72B-39E6EA9AAE1E}"/>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TẠO LỆNH VÀ CHUYỂN LỆNH ĐẾN TÀI XẾ</a:t>
            </a:r>
          </a:p>
        </p:txBody>
      </p:sp>
      <p:sp>
        <p:nvSpPr>
          <p:cNvPr id="2" name="">
            <a:extLst xmlns:a="http://schemas.openxmlformats.org/drawingml/2006/main">
              <a:ext uri="{FF2B5EF4-FFF2-40B4-BE49-F238E27FC236}">
                <a16:creationId xmlns:a16="http://schemas.microsoft.com/office/drawing/2014/main" id="{8F65BCDD-82A3-4CAF-B6A1-A7F93BAFDDB5}"/>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3" name="">
            <a:extLst xmlns:a="http://schemas.openxmlformats.org/drawingml/2006/main">
              <a:ext uri="{FF2B5EF4-FFF2-40B4-BE49-F238E27FC236}">
                <a16:creationId xmlns:a16="http://schemas.microsoft.com/office/drawing/2014/main" id="{8D24655B-8B2F-42BD-858A-2914A80185BF}"/>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BACKEND</a:t>
            </a:r>
          </a:p>
        </p:txBody>
      </p:sp>
      <p:sp>
        <p:nvSpPr>
          <p:cNvPr id="4" name="">
            <a:extLst xmlns:a="http://schemas.openxmlformats.org/drawingml/2006/main">
              <a:ext uri="{FF2B5EF4-FFF2-40B4-BE49-F238E27FC236}">
                <a16:creationId xmlns:a16="http://schemas.microsoft.com/office/drawing/2014/main" id="{425D58B5-54C7-4D0A-B8AA-6E7EBAF65294}"/>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4076A97D-4E57-41D3-984E-815AE65234BF}"/>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ỨNG DỤNG TÀI XẾ</a:t>
            </a:r>
          </a:p>
        </p:txBody>
      </p:sp>
      <p:sp>
        <p:nvSpPr>
          <p:cNvPr id="6" name="">
            <a:extLst xmlns:a="http://schemas.openxmlformats.org/drawingml/2006/main">
              <a:ext uri="{FF2B5EF4-FFF2-40B4-BE49-F238E27FC236}">
                <a16:creationId xmlns:a16="http://schemas.microsoft.com/office/drawing/2014/main" id="{6E569468-3608-4842-8458-E8C1C14D8CCE}"/>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279E2D01-96AF-4536-9045-6160A95330C2}"/>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Chọn đội, công việc, vị trí, ca và thời gian</a:t>
            </a:r>
          </a:p>
        </p:txBody>
      </p:sp>
      <p:sp>
        <p:nvSpPr>
          <p:cNvPr id="8" name="">
            <a:extLst xmlns:a="http://schemas.openxmlformats.org/drawingml/2006/main">
              <a:ext uri="{FF2B5EF4-FFF2-40B4-BE49-F238E27FC236}">
                <a16:creationId xmlns:a16="http://schemas.microsoft.com/office/drawing/2014/main" id="{82A9B7F0-2BD9-4A3F-B044-C631E689E54F}"/>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GET preparation-context trả xe, tài xế, nông cụ và lý do khóa</a:t>
            </a:r>
          </a:p>
        </p:txBody>
      </p:sp>
      <p:sp>
        <p:nvSpPr>
          <p:cNvPr id="9" name="">
            <a:extLst xmlns:a="http://schemas.openxmlformats.org/drawingml/2006/main">
              <a:ext uri="{FF2B5EF4-FFF2-40B4-BE49-F238E27FC236}">
                <a16:creationId xmlns:a16="http://schemas.microsoft.com/office/drawing/2014/main" id="{6AE84A71-8D0D-45E1-BFC9-8EB78A23B359}"/>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Chọn một xe, tài xế cố định hoặc lệnh mở</a:t>
            </a:r>
          </a:p>
        </p:txBody>
      </p:sp>
      <p:sp>
        <p:nvSpPr>
          <p:cNvPr id="10" name="">
            <a:extLst xmlns:a="http://schemas.openxmlformats.org/drawingml/2006/main">
              <a:ext uri="{FF2B5EF4-FFF2-40B4-BE49-F238E27FC236}">
                <a16:creationId xmlns:a16="http://schemas.microsoft.com/office/drawing/2014/main" id="{29B2FAF0-4054-4CBA-A767-156A3023BB3F}"/>
              </a:ext>
            </a:extLst>
          </p:cNvPr>
          <p:cNvSpPr>
            <a:spLocks xmlns:a="http://schemas.openxmlformats.org/drawingml/2006/main" noGrp="1"/>
          </p:cNvSpPr>
          <p:nvPr/>
        </p:nvSpPr>
        <p:spPr>
          <a:xfrm xmlns:a="http://schemas.openxmlformats.org/drawingml/2006/main">
            <a:off x="46482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92499"/>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NGUỒN LỰC HỢP LỆ?</a:t>
            </a:r>
          </a:p>
        </p:txBody>
      </p:sp>
      <p:sp>
        <p:nvSpPr>
          <p:cNvPr id="11" name="">
            <a:extLst xmlns:a="http://schemas.openxmlformats.org/drawingml/2006/main">
              <a:ext uri="{FF2B5EF4-FFF2-40B4-BE49-F238E27FC236}">
                <a16:creationId xmlns:a16="http://schemas.microsoft.com/office/drawing/2014/main" id="{EAF8C05B-48D9-4411-BCD0-1776F92C4FEF}"/>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ISSUE ghi DispatchOrder, WorkOrder, assignment, event và audit</a:t>
            </a:r>
          </a:p>
        </p:txBody>
      </p:sp>
      <p:sp>
        <p:nvSpPr>
          <p:cNvPr id="12" name="">
            <a:extLst xmlns:a="http://schemas.openxmlformats.org/drawingml/2006/main">
              <a:ext uri="{FF2B5EF4-FFF2-40B4-BE49-F238E27FC236}">
                <a16:creationId xmlns:a16="http://schemas.microsoft.com/office/drawing/2014/main" id="{3CF25E56-B618-4FF3-941C-BA95B8019AB0}"/>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GET /mobile/sync/pull, lưu SQLite, hiển thị Hôm nay và Tuần</a:t>
            </a:r>
          </a:p>
        </p:txBody>
      </p:sp>
      <p:sp>
        <p:nvSpPr>
          <p:cNvPr id="13" name="">
            <a:extLst xmlns:a="http://schemas.openxmlformats.org/drawingml/2006/main">
              <a:ext uri="{FF2B5EF4-FFF2-40B4-BE49-F238E27FC236}">
                <a16:creationId xmlns:a16="http://schemas.microsoft.com/office/drawing/2014/main" id="{A9B2EA7D-681A-4E90-AD7E-7571760F737C}"/>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Nhận nhiệm vụ, gửi ORDER_ACCEPTED khi có mạng</a:t>
            </a:r>
          </a:p>
        </p:txBody>
      </p:sp>
      <p:sp>
        <p:nvSpPr>
          <p:cNvPr id="14" name="">
            <a:extLst xmlns:a="http://schemas.openxmlformats.org/drawingml/2006/main">
              <a:ext uri="{FF2B5EF4-FFF2-40B4-BE49-F238E27FC236}">
                <a16:creationId xmlns:a16="http://schemas.microsoft.com/office/drawing/2014/main" id="{406815A1-29EA-41C0-B0A9-104C1946B6D1}"/>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Phân lại khi tài xế không thể nhận</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1"/>
            <a:endCxn xmlns:a="http://schemas.openxmlformats.org/drawingml/2006/main" id="9" idx="3"/>
          </p:cNvCxnSpPr>
          <p:nvPr/>
        </p:nvCxnSpPr>
        <p:spPr>
          <a:xfrm xmlns:a="http://schemas.openxmlformats.org/drawingml/2006/main" flipH="1">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60960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36AFAA9B-82EF-417A-9094-57CEF3614EF3}"/>
              </a:ext>
            </a:extLst>
          </p:cNvPr>
          <p:cNvSpPr>
            <a:spLocks xmlns:a="http://schemas.openxmlformats.org/drawingml/2006/main" noGrp="1"/>
          </p:cNvSpPr>
          <p:nvPr/>
        </p:nvSpPr>
        <p:spPr>
          <a:xfrm xmlns:a="http://schemas.openxmlformats.org/drawingml/2006/main">
            <a:off x="6858000" y="36195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0" idx="1"/>
            <a:endCxn xmlns:a="http://schemas.openxmlformats.org/drawingml/2006/main" id="9" idx="3"/>
          </p:cNvCxnSpPr>
          <p:nvPr/>
        </p:nvCxnSpPr>
        <p:spPr>
          <a:xfrm xmlns:a="http://schemas.openxmlformats.org/drawingml/2006/main" flipH="1" flipV="1">
            <a:off x="3695700" y="2990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21" name="">
            <a:extLst xmlns:a="http://schemas.openxmlformats.org/drawingml/2006/main">
              <a:ext uri="{FF2B5EF4-FFF2-40B4-BE49-F238E27FC236}">
                <a16:creationId xmlns:a16="http://schemas.microsoft.com/office/drawing/2014/main" id="{C3B0276E-5B78-4C92-B977-5E289FAB00D0}"/>
              </a:ext>
            </a:extLst>
          </p:cNvPr>
          <p:cNvSpPr>
            <a:spLocks xmlns:a="http://schemas.openxmlformats.org/drawingml/2006/main" noGrp="1"/>
          </p:cNvSpPr>
          <p:nvPr/>
        </p:nvSpPr>
        <p:spPr>
          <a:xfrm xmlns:a="http://schemas.openxmlformats.org/drawingml/2006/main">
            <a:off x="3800475" y="299085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9"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1" name=""/>
          <p:cNvCxnSpPr>
            <a:stCxn xmlns:a="http://schemas.openxmlformats.org/drawingml/2006/main" id="13" idx="1"/>
            <a:endCxn xmlns:a="http://schemas.openxmlformats.org/drawingml/2006/main" id="14" idx="3"/>
          </p:cNvCxnSpPr>
          <p:nvPr/>
        </p:nvCxnSpPr>
        <p:spPr>
          <a:xfrm xmlns:a="http://schemas.openxmlformats.org/drawingml/2006/main" flipH="1">
            <a:off x="3695700" y="5276850"/>
            <a:ext cx="4800600" cy="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5" name="">
            <a:extLst xmlns:a="http://schemas.openxmlformats.org/drawingml/2006/main">
              <a:ext uri="{FF2B5EF4-FFF2-40B4-BE49-F238E27FC236}">
                <a16:creationId xmlns:a16="http://schemas.microsoft.com/office/drawing/2014/main" id="{4294CABE-F10E-4A8F-B313-A895276DE45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Hiện trạng code: lệnh đến ứng dụng qua đồng bộ pull. Chưa thấy cơ chế push notification của hệ điều hành.</a:t>
            </a:r>
          </a:p>
        </p:txBody>
      </p:sp>
      <p:sp>
        <p:nvSpPr>
          <p:cNvPr id="26" name="">
            <a:extLst xmlns:a="http://schemas.openxmlformats.org/drawingml/2006/main">
              <a:ext uri="{FF2B5EF4-FFF2-40B4-BE49-F238E27FC236}">
                <a16:creationId xmlns:a16="http://schemas.microsoft.com/office/drawing/2014/main" id="{D67CB5FD-D636-48D6-AE62-7F19427B348F}"/>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7E10CD9D-32AC-4D65-B817-DD35CBBCF5B4}"/>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13</a:t>
            </a:r>
          </a:p>
        </p:txBody>
      </p:sp>
    </p:spTree>
    <p:extLst>
      <p:ext uri="{BB962C8B-B14F-4D97-AF65-F5344CB8AC3E}">
        <p14:creationId xmlns:p14="http://schemas.microsoft.com/office/powerpoint/2010/main" val="10836095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50080C36-A945-4C90-801D-B29A896936E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TÀI XẾ THỰC HIỆN VÀ NGHIỆM THU CÔNG VIỆC</a:t>
            </a:r>
          </a:p>
        </p:txBody>
      </p:sp>
      <p:sp>
        <p:nvSpPr>
          <p:cNvPr id="2" name="">
            <a:extLst xmlns:a="http://schemas.openxmlformats.org/drawingml/2006/main">
              <a:ext uri="{FF2B5EF4-FFF2-40B4-BE49-F238E27FC236}">
                <a16:creationId xmlns:a16="http://schemas.microsoft.com/office/drawing/2014/main" id="{3B5E58A6-E4E9-476D-B18A-A27DF3A6BFF6}"/>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a:t>
            </a:r>
          </a:p>
        </p:txBody>
      </p:sp>
      <p:sp>
        <p:nvSpPr>
          <p:cNvPr id="3" name="">
            <a:extLst xmlns:a="http://schemas.openxmlformats.org/drawingml/2006/main">
              <a:ext uri="{FF2B5EF4-FFF2-40B4-BE49-F238E27FC236}">
                <a16:creationId xmlns:a16="http://schemas.microsoft.com/office/drawing/2014/main" id="{CFA2C69E-60BF-4816-87A2-4552220273AC}"/>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HỆ THỐNG</a:t>
            </a:r>
          </a:p>
        </p:txBody>
      </p:sp>
      <p:sp>
        <p:nvSpPr>
          <p:cNvPr id="4" name="">
            <a:extLst xmlns:a="http://schemas.openxmlformats.org/drawingml/2006/main">
              <a:ext uri="{FF2B5EF4-FFF2-40B4-BE49-F238E27FC236}">
                <a16:creationId xmlns:a16="http://schemas.microsoft.com/office/drawing/2014/main" id="{072D066C-4DC9-4F51-B615-7EB669DFFBB2}"/>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208B0A06-F366-4C82-9EF7-6F2972BE31FD}"/>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NGƯỜI NGHIỆM THU</a:t>
            </a:r>
          </a:p>
        </p:txBody>
      </p:sp>
      <p:sp>
        <p:nvSpPr>
          <p:cNvPr id="6" name="">
            <a:extLst xmlns:a="http://schemas.openxmlformats.org/drawingml/2006/main">
              <a:ext uri="{FF2B5EF4-FFF2-40B4-BE49-F238E27FC236}">
                <a16:creationId xmlns:a16="http://schemas.microsoft.com/office/drawing/2014/main" id="{491345CE-4799-4717-90DE-68E36E907B37}"/>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F380F5CE-6533-4F49-A877-D5233F951E3F}"/>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Nhận lệnh và bắt đầu phiên làm việc</a:t>
            </a:r>
          </a:p>
        </p:txBody>
      </p:sp>
      <p:sp>
        <p:nvSpPr>
          <p:cNvPr id="8" name="">
            <a:extLst xmlns:a="http://schemas.openxmlformats.org/drawingml/2006/main">
              <a:ext uri="{FF2B5EF4-FFF2-40B4-BE49-F238E27FC236}">
                <a16:creationId xmlns:a16="http://schemas.microsoft.com/office/drawing/2014/main" id="{C63273EF-5579-4258-9B53-5084D65FF6BB}"/>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Nhập ODO hoặc giờ máy, cập nhật tiến độ và ảnh</a:t>
            </a:r>
          </a:p>
        </p:txBody>
      </p:sp>
      <p:sp>
        <p:nvSpPr>
          <p:cNvPr id="9" name="">
            <a:extLst xmlns:a="http://schemas.openxmlformats.org/drawingml/2006/main">
              <a:ext uri="{FF2B5EF4-FFF2-40B4-BE49-F238E27FC236}">
                <a16:creationId xmlns:a16="http://schemas.microsoft.com/office/drawing/2014/main" id="{DCB79BA6-3E7F-4D50-9CAE-4AC290549963}"/>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Lưu WorkSession, progress, break và event</a:t>
            </a:r>
          </a:p>
        </p:txBody>
      </p:sp>
      <p:sp>
        <p:nvSpPr>
          <p:cNvPr id="10" name="">
            <a:extLst xmlns:a="http://schemas.openxmlformats.org/drawingml/2006/main">
              <a:ext uri="{FF2B5EF4-FFF2-40B4-BE49-F238E27FC236}">
                <a16:creationId xmlns:a16="http://schemas.microsoft.com/office/drawing/2014/main" id="{80A14152-9DE7-45CF-9925-63772302A14F}"/>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Kết thúc và gửi đề nghị nghiệm thu</a:t>
            </a:r>
          </a:p>
        </p:txBody>
      </p:sp>
      <p:sp>
        <p:nvSpPr>
          <p:cNvPr id="11" name="">
            <a:extLst xmlns:a="http://schemas.openxmlformats.org/drawingml/2006/main">
              <a:ext uri="{FF2B5EF4-FFF2-40B4-BE49-F238E27FC236}">
                <a16:creationId xmlns:a16="http://schemas.microsoft.com/office/drawing/2014/main" id="{533D43E4-F7E2-45F4-B499-988873AF7EBD}"/>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WorkAcceptance PENDING</a:t>
            </a:r>
          </a:p>
        </p:txBody>
      </p:sp>
      <p:sp>
        <p:nvSpPr>
          <p:cNvPr id="12" name="">
            <a:extLst xmlns:a="http://schemas.openxmlformats.org/drawingml/2006/main">
              <a:ext uri="{FF2B5EF4-FFF2-40B4-BE49-F238E27FC236}">
                <a16:creationId xmlns:a16="http://schemas.microsoft.com/office/drawing/2014/main" id="{A7EB119E-BA77-4758-9542-C6A5CCE4484F}"/>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KẾT QUẢ ĐẠT?</a:t>
            </a:r>
          </a:p>
        </p:txBody>
      </p:sp>
      <p:sp>
        <p:nvSpPr>
          <p:cNvPr id="13" name="">
            <a:extLst xmlns:a="http://schemas.openxmlformats.org/drawingml/2006/main">
              <a:ext uri="{FF2B5EF4-FFF2-40B4-BE49-F238E27FC236}">
                <a16:creationId xmlns:a16="http://schemas.microsoft.com/office/drawing/2014/main" id="{F234881F-6FF2-454E-A49B-56A3F38715DF}"/>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APPROVED, ACCEPTED, sau đó CLOSED</a:t>
            </a:r>
          </a:p>
        </p:txBody>
      </p:sp>
      <p:sp>
        <p:nvSpPr>
          <p:cNvPr id="14" name="">
            <a:extLst xmlns:a="http://schemas.openxmlformats.org/drawingml/2006/main">
              <a:ext uri="{FF2B5EF4-FFF2-40B4-BE49-F238E27FC236}">
                <a16:creationId xmlns:a16="http://schemas.microsoft.com/office/drawing/2014/main" id="{D7987E99-BEA1-4AC7-8D61-9A015DDB5CDF}"/>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REWORK_REQUIRED, trả lại IN_PROGRESS</a:t>
            </a:r>
          </a:p>
        </p:txBody>
      </p:sp>
      <p:cxnSp>
        <p:nvCxnSpPr>
          <p:cNvPr id="42"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1"/>
            <a:endCxn xmlns:a="http://schemas.openxmlformats.org/drawingml/2006/main" id="10" idx="3"/>
          </p:cNvCxnSpPr>
          <p:nvPr/>
        </p:nvCxnSpPr>
        <p:spPr>
          <a:xfrm xmlns:a="http://schemas.openxmlformats.org/drawingml/2006/main" flipH="1">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604BA5DC-B6BD-4112-8442-076668D9EB73}"/>
              </a:ext>
            </a:extLst>
          </p:cNvPr>
          <p:cNvSpPr>
            <a:spLocks xmlns:a="http://schemas.openxmlformats.org/drawingml/2006/main" noGrp="1"/>
          </p:cNvSpPr>
          <p:nvPr/>
        </p:nvSpPr>
        <p:spPr>
          <a:xfrm xmlns:a="http://schemas.openxmlformats.org/drawingml/2006/main">
            <a:off x="10572750" y="47625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Đạt</a:t>
            </a:r>
          </a:p>
        </p:txBody>
      </p:sp>
      <p:cxnSp>
        <p:nvCxnSpPr>
          <p:cNvPr id="49" name=""/>
          <p:cNvCxnSpPr>
            <a:stCxn xmlns:a="http://schemas.openxmlformats.org/drawingml/2006/main" id="12" idx="1"/>
            <a:endCxn xmlns:a="http://schemas.openxmlformats.org/drawingml/2006/main" id="14"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CC6759A0-A22A-4A93-BF05-BF36BC78263F}"/>
              </a:ext>
            </a:extLst>
          </p:cNvPr>
          <p:cNvSpPr>
            <a:spLocks xmlns:a="http://schemas.openxmlformats.org/drawingml/2006/main" noGrp="1"/>
          </p:cNvSpPr>
          <p:nvPr/>
        </p:nvSpPr>
        <p:spPr>
          <a:xfrm xmlns:a="http://schemas.openxmlformats.org/drawingml/2006/main">
            <a:off x="7696200" y="4543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Làm lại</a:t>
            </a:r>
          </a:p>
        </p:txBody>
      </p:sp>
      <p:cxnSp>
        <p:nvCxnSpPr>
          <p:cNvPr id="51" name=""/>
          <p:cNvCxnSpPr>
            <a:stCxn xmlns:a="http://schemas.openxmlformats.org/drawingml/2006/main" id="14" idx="1"/>
            <a:endCxn xmlns:a="http://schemas.openxmlformats.org/drawingml/2006/main" id="8" idx="3"/>
          </p:cNvCxnSpPr>
          <p:nvPr/>
        </p:nvCxnSpPr>
        <p:spPr>
          <a:xfrm xmlns:a="http://schemas.openxmlformats.org/drawingml/2006/main" flipH="1" flipV="1">
            <a:off x="3695700" y="2990850"/>
            <a:ext cx="952500" cy="2286000"/>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25" name="">
            <a:extLst xmlns:a="http://schemas.openxmlformats.org/drawingml/2006/main">
              <a:ext uri="{FF2B5EF4-FFF2-40B4-BE49-F238E27FC236}">
                <a16:creationId xmlns:a16="http://schemas.microsoft.com/office/drawing/2014/main" id="{37D314B4-885A-48D4-99DF-9F32B044AF51}"/>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Nghiệm thu phải giữ người duyệt, thời điểm, minh chứng và lý do yêu cầu làm lại.</a:t>
            </a:r>
          </a:p>
        </p:txBody>
      </p:sp>
      <p:sp>
        <p:nvSpPr>
          <p:cNvPr id="26" name="">
            <a:extLst xmlns:a="http://schemas.openxmlformats.org/drawingml/2006/main">
              <a:ext uri="{FF2B5EF4-FFF2-40B4-BE49-F238E27FC236}">
                <a16:creationId xmlns:a16="http://schemas.microsoft.com/office/drawing/2014/main" id="{DE10D59E-92D8-437D-9F26-78D4D7309165}"/>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9082BC91-AEF7-40B9-A936-00AA0E264B37}"/>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14</a:t>
            </a:r>
          </a:p>
        </p:txBody>
      </p:sp>
    </p:spTree>
    <p:extLst>
      <p:ext uri="{BB962C8B-B14F-4D97-AF65-F5344CB8AC3E}">
        <p14:creationId xmlns:p14="http://schemas.microsoft.com/office/powerpoint/2010/main" val="108360953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6FDCF3E1-D7EE-471E-BBE1-7597FD6B0281}"/>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VẬN CHUYỂN HÀNG HÓA VÀ GIAO NHẬN</a:t>
            </a:r>
          </a:p>
        </p:txBody>
      </p:sp>
      <p:sp>
        <p:nvSpPr>
          <p:cNvPr id="2" name="">
            <a:extLst xmlns:a="http://schemas.openxmlformats.org/drawingml/2006/main">
              <a:ext uri="{FF2B5EF4-FFF2-40B4-BE49-F238E27FC236}">
                <a16:creationId xmlns:a16="http://schemas.microsoft.com/office/drawing/2014/main" id="{CFB38B35-4C77-465D-81B1-365FAE5F408F}"/>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a:t>
            </a:r>
          </a:p>
        </p:txBody>
      </p:sp>
      <p:sp>
        <p:nvSpPr>
          <p:cNvPr id="3" name="">
            <a:extLst xmlns:a="http://schemas.openxmlformats.org/drawingml/2006/main">
              <a:ext uri="{FF2B5EF4-FFF2-40B4-BE49-F238E27FC236}">
                <a16:creationId xmlns:a16="http://schemas.microsoft.com/office/drawing/2014/main" id="{071A744D-71FE-430F-ACA4-E7A476D22742}"/>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TÀI XẾ</a:t>
            </a:r>
          </a:p>
        </p:txBody>
      </p:sp>
      <p:sp>
        <p:nvSpPr>
          <p:cNvPr id="4" name="">
            <a:extLst xmlns:a="http://schemas.openxmlformats.org/drawingml/2006/main">
              <a:ext uri="{FF2B5EF4-FFF2-40B4-BE49-F238E27FC236}">
                <a16:creationId xmlns:a16="http://schemas.microsoft.com/office/drawing/2014/main" id="{F87625C7-96F6-4EB1-AFE3-5470D9A07684}"/>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1C3EEDAC-B739-495F-B80E-66399092E124}"/>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 VÀ NƠI NHẬN</a:t>
            </a:r>
          </a:p>
        </p:txBody>
      </p:sp>
      <p:sp>
        <p:nvSpPr>
          <p:cNvPr id="6" name="">
            <a:extLst xmlns:a="http://schemas.openxmlformats.org/drawingml/2006/main">
              <a:ext uri="{FF2B5EF4-FFF2-40B4-BE49-F238E27FC236}">
                <a16:creationId xmlns:a16="http://schemas.microsoft.com/office/drawing/2014/main" id="{FDD4B034-A14A-4DA2-8379-F6B9DFE2EC8A}"/>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1B7E1639-74AA-4AAB-B63F-FE717A16992D}"/>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vận đơn và ít nhất một dòng hàng</a:t>
            </a:r>
          </a:p>
        </p:txBody>
      </p:sp>
      <p:sp>
        <p:nvSpPr>
          <p:cNvPr id="8" name="">
            <a:extLst xmlns:a="http://schemas.openxmlformats.org/drawingml/2006/main">
              <a:ext uri="{FF2B5EF4-FFF2-40B4-BE49-F238E27FC236}">
                <a16:creationId xmlns:a16="http://schemas.microsoft.com/office/drawing/2014/main" id="{91C1E5DA-585A-4979-A703-21E6D700B4DB}"/>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Trình duyệt, phê duyệt và phân xe, tài xế</a:t>
            </a:r>
          </a:p>
        </p:txBody>
      </p:sp>
      <p:sp>
        <p:nvSpPr>
          <p:cNvPr id="9" name="">
            <a:extLst xmlns:a="http://schemas.openxmlformats.org/drawingml/2006/main">
              <a:ext uri="{FF2B5EF4-FFF2-40B4-BE49-F238E27FC236}">
                <a16:creationId xmlns:a16="http://schemas.microsoft.com/office/drawing/2014/main" id="{667B73C5-D583-4D00-A49E-82921E8C8802}"/>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Nhận lệnh, đến điểm lấy và bốc hàng</a:t>
            </a:r>
          </a:p>
        </p:txBody>
      </p:sp>
      <p:sp>
        <p:nvSpPr>
          <p:cNvPr id="10" name="">
            <a:extLst xmlns:a="http://schemas.openxmlformats.org/drawingml/2006/main">
              <a:ext uri="{FF2B5EF4-FFF2-40B4-BE49-F238E27FC236}">
                <a16:creationId xmlns:a16="http://schemas.microsoft.com/office/drawing/2014/main" id="{C3A9A5E1-2BFB-4162-A9B4-CA0C88B40465}"/>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Rời điểm lấy, đang vận chuyển, gửi telemetry</a:t>
            </a:r>
          </a:p>
        </p:txBody>
      </p:sp>
      <p:sp>
        <p:nvSpPr>
          <p:cNvPr id="11" name="">
            <a:extLst xmlns:a="http://schemas.openxmlformats.org/drawingml/2006/main">
              <a:ext uri="{FF2B5EF4-FFF2-40B4-BE49-F238E27FC236}">
                <a16:creationId xmlns:a16="http://schemas.microsoft.com/office/drawing/2014/main" id="{1238FF9A-62AC-428D-8856-E6908797BA47}"/>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LỆCH TUYẾN HOẶC QUÁ TỐC?</a:t>
            </a:r>
          </a:p>
        </p:txBody>
      </p:sp>
      <p:sp>
        <p:nvSpPr>
          <p:cNvPr id="12" name="">
            <a:extLst xmlns:a="http://schemas.openxmlformats.org/drawingml/2006/main">
              <a:ext uri="{FF2B5EF4-FFF2-40B4-BE49-F238E27FC236}">
                <a16:creationId xmlns:a16="http://schemas.microsoft.com/office/drawing/2014/main" id="{A3F36FD9-A519-4147-9258-748097C430B5}"/>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Đến điểm giao, dỡ hàng và xác nhận đã giao</a:t>
            </a:r>
          </a:p>
        </p:txBody>
      </p:sp>
      <p:sp>
        <p:nvSpPr>
          <p:cNvPr id="13" name="">
            <a:extLst xmlns:a="http://schemas.openxmlformats.org/drawingml/2006/main">
              <a:ext uri="{FF2B5EF4-FFF2-40B4-BE49-F238E27FC236}">
                <a16:creationId xmlns:a16="http://schemas.microsoft.com/office/drawing/2014/main" id="{2A4915C1-551F-4394-9D12-93D4A5752800}"/>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Nơi nhận xác nhận, điều phối hoàn tất</a:t>
            </a:r>
          </a:p>
        </p:txBody>
      </p:sp>
      <p:sp>
        <p:nvSpPr>
          <p:cNvPr id="14" name="">
            <a:extLst xmlns:a="http://schemas.openxmlformats.org/drawingml/2006/main">
              <a:ext uri="{FF2B5EF4-FFF2-40B4-BE49-F238E27FC236}">
                <a16:creationId xmlns:a16="http://schemas.microsoft.com/office/drawing/2014/main" id="{66ABD16F-667D-483D-9DD6-220A0E620BEF}"/>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Giải phóng xe, tài xế và tổng hợp SLA</a:t>
            </a:r>
          </a:p>
        </p:txBody>
      </p:sp>
      <p:cxnSp>
        <p:nvCxnSpPr>
          <p:cNvPr id="42"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824CEF91-263B-4AF7-A074-F8FABC47DC24}"/>
              </a:ext>
            </a:extLst>
          </p:cNvPr>
          <p:cNvSpPr>
            <a:spLocks xmlns:a="http://schemas.openxmlformats.org/drawingml/2006/main" noGrp="1"/>
          </p:cNvSpPr>
          <p:nvPr/>
        </p:nvSpPr>
        <p:spPr>
          <a:xfrm xmlns:a="http://schemas.openxmlformats.org/drawingml/2006/main">
            <a:off x="7724775" y="48863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8" name=""/>
          <p:cNvCxnSpPr>
            <a:stCxn xmlns:a="http://schemas.openxmlformats.org/drawingml/2006/main" id="11" idx="2"/>
            <a:endCxn xmlns:a="http://schemas.openxmlformats.org/drawingml/2006/main" id="13"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2" name="">
            <a:extLst xmlns:a="http://schemas.openxmlformats.org/drawingml/2006/main">
              <a:ext uri="{FF2B5EF4-FFF2-40B4-BE49-F238E27FC236}">
                <a16:creationId xmlns:a16="http://schemas.microsoft.com/office/drawing/2014/main" id="{E90962CA-AD30-4562-82BB-A0E3F697670D}"/>
              </a:ext>
            </a:extLst>
          </p:cNvPr>
          <p:cNvSpPr>
            <a:spLocks xmlns:a="http://schemas.openxmlformats.org/drawingml/2006/main" noGrp="1"/>
          </p:cNvSpPr>
          <p:nvPr/>
        </p:nvSpPr>
        <p:spPr>
          <a:xfrm xmlns:a="http://schemas.openxmlformats.org/drawingml/2006/main">
            <a:off x="9953625" y="4772025"/>
            <a:ext cx="1190625"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 tạo cảnh báo</a:t>
            </a:r>
          </a:p>
        </p:txBody>
      </p:sp>
      <p:cxnSp>
        <p:nvCxnSpPr>
          <p:cNvPr id="50" name=""/>
          <p:cNvCxnSpPr>
            <a:stCxn xmlns:a="http://schemas.openxmlformats.org/drawingml/2006/main" id="12" idx="3"/>
            <a:endCxn xmlns:a="http://schemas.openxmlformats.org/drawingml/2006/main" id="13"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1" name=""/>
          <p:cNvCxnSpPr>
            <a:stCxn xmlns:a="http://schemas.openxmlformats.org/drawingml/2006/main" id="13" idx="2"/>
            <a:endCxn xmlns:a="http://schemas.openxmlformats.org/drawingml/2006/main" id="14" idx="2"/>
          </p:cNvCxnSpPr>
          <p:nvPr/>
        </p:nvCxnSpPr>
        <p:spPr>
          <a:xfrm xmlns:a="http://schemas.openxmlformats.org/drawingml/2006/main" flipH="1">
            <a:off x="2247900" y="5619750"/>
            <a:ext cx="76962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5" name="">
            <a:extLst xmlns:a="http://schemas.openxmlformats.org/drawingml/2006/main">
              <a:ext uri="{FF2B5EF4-FFF2-40B4-BE49-F238E27FC236}">
                <a16:creationId xmlns:a16="http://schemas.microsoft.com/office/drawing/2014/main" id="{AF6A0DDF-4BEB-43C2-A211-51839CF31C5E}"/>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Trạng thái chính: DRAFT, APPROVED, ASSIGNED, DRIVER_ACCEPTED, AT_PICKUP, IN_TRANSIT, DELIVERED, ACCEPTED, COMPLETED.</a:t>
            </a:r>
          </a:p>
        </p:txBody>
      </p:sp>
      <p:sp>
        <p:nvSpPr>
          <p:cNvPr id="26" name="">
            <a:extLst xmlns:a="http://schemas.openxmlformats.org/drawingml/2006/main">
              <a:ext uri="{FF2B5EF4-FFF2-40B4-BE49-F238E27FC236}">
                <a16:creationId xmlns:a16="http://schemas.microsoft.com/office/drawing/2014/main" id="{79FDE5B0-736A-4740-980F-AC482F11F19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221B3271-D9AD-401D-8C15-15809B95E8E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15</a:t>
            </a:r>
          </a:p>
        </p:txBody>
      </p:sp>
    </p:spTree>
    <p:extLst>
      <p:ext uri="{BB962C8B-B14F-4D97-AF65-F5344CB8AC3E}">
        <p14:creationId xmlns:p14="http://schemas.microsoft.com/office/powerpoint/2010/main" val="108360953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B4E15D9F-C494-4C6E-8868-4895B3F8B5FD}"/>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QUẢN LÝ ĐỘI XE, TÀI XẾ VÀ NÔNG CỤ</a:t>
            </a:r>
          </a:p>
        </p:txBody>
      </p:sp>
      <p:sp>
        <p:nvSpPr>
          <p:cNvPr id="2" name="">
            <a:extLst xmlns:a="http://schemas.openxmlformats.org/drawingml/2006/main">
              <a:ext uri="{FF2B5EF4-FFF2-40B4-BE49-F238E27FC236}">
                <a16:creationId xmlns:a16="http://schemas.microsoft.com/office/drawing/2014/main" id="{447710D7-E40B-4FE0-9AD4-54846008988A}"/>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TRỊ DANH MỤC</a:t>
            </a:r>
          </a:p>
        </p:txBody>
      </p:sp>
      <p:sp>
        <p:nvSpPr>
          <p:cNvPr id="3" name="">
            <a:extLst xmlns:a="http://schemas.openxmlformats.org/drawingml/2006/main">
              <a:ext uri="{FF2B5EF4-FFF2-40B4-BE49-F238E27FC236}">
                <a16:creationId xmlns:a16="http://schemas.microsoft.com/office/drawing/2014/main" id="{593951D6-9A2A-4C5C-8845-3314EA6D48DF}"/>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QUẢN LÝ ĐỘI XE</a:t>
            </a:r>
          </a:p>
        </p:txBody>
      </p:sp>
      <p:sp>
        <p:nvSpPr>
          <p:cNvPr id="4" name="">
            <a:extLst xmlns:a="http://schemas.openxmlformats.org/drawingml/2006/main">
              <a:ext uri="{FF2B5EF4-FFF2-40B4-BE49-F238E27FC236}">
                <a16:creationId xmlns:a16="http://schemas.microsoft.com/office/drawing/2014/main" id="{A7280615-622E-4E0E-A146-3194BA01045D}"/>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7B2A9CBC-ABED-4464-AD07-2BD9FB11C04E}"/>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ĐIỀU PHỐI VẬN HÀNH</a:t>
            </a:r>
          </a:p>
        </p:txBody>
      </p:sp>
      <p:sp>
        <p:nvSpPr>
          <p:cNvPr id="6" name="">
            <a:extLst xmlns:a="http://schemas.openxmlformats.org/drawingml/2006/main">
              <a:ext uri="{FF2B5EF4-FFF2-40B4-BE49-F238E27FC236}">
                <a16:creationId xmlns:a16="http://schemas.microsoft.com/office/drawing/2014/main" id="{F3DCE4AF-ABE9-414B-A303-A722E2F862EF}"/>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2462706F-857D-498A-BB0B-1D255EDCFACC}"/>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Khai báo loại xe, xe, nông cụ và thông số kỹ thuật</a:t>
            </a:r>
          </a:p>
        </p:txBody>
      </p:sp>
      <p:sp>
        <p:nvSpPr>
          <p:cNvPr id="8" name="">
            <a:extLst xmlns:a="http://schemas.openxmlformats.org/drawingml/2006/main">
              <a:ext uri="{FF2B5EF4-FFF2-40B4-BE49-F238E27FC236}">
                <a16:creationId xmlns:a16="http://schemas.microsoft.com/office/drawing/2014/main" id="{244807BD-7312-44FB-A58F-0541D2FD1E73}"/>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Gán xe và nông cụ vào đơn vị quản lý cơ giới</a:t>
            </a:r>
          </a:p>
        </p:txBody>
      </p:sp>
      <p:sp>
        <p:nvSpPr>
          <p:cNvPr id="9" name="">
            <a:extLst xmlns:a="http://schemas.openxmlformats.org/drawingml/2006/main">
              <a:ext uri="{FF2B5EF4-FFF2-40B4-BE49-F238E27FC236}">
                <a16:creationId xmlns:a16="http://schemas.microsoft.com/office/drawing/2014/main" id="{88105F11-D9C8-4D85-A5CE-707278433723}"/>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Phân tài xế chính hoặc phụ, lưu thời gian hiệu lực</a:t>
            </a:r>
          </a:p>
        </p:txBody>
      </p:sp>
      <p:sp>
        <p:nvSpPr>
          <p:cNvPr id="10" name="">
            <a:extLst xmlns:a="http://schemas.openxmlformats.org/drawingml/2006/main">
              <a:ext uri="{FF2B5EF4-FFF2-40B4-BE49-F238E27FC236}">
                <a16:creationId xmlns:a16="http://schemas.microsoft.com/office/drawing/2014/main" id="{12F57077-47B3-4774-A9A5-465942678BC0}"/>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NÔNG CỤ TƯƠNG THÍCH VÀ TỐT?</a:t>
            </a:r>
          </a:p>
        </p:txBody>
      </p:sp>
      <p:sp>
        <p:nvSpPr>
          <p:cNvPr id="11" name="">
            <a:extLst xmlns:a="http://schemas.openxmlformats.org/drawingml/2006/main">
              <a:ext uri="{FF2B5EF4-FFF2-40B4-BE49-F238E27FC236}">
                <a16:creationId xmlns:a16="http://schemas.microsoft.com/office/drawing/2014/main" id="{8AD7A9E6-A20C-41B5-B71A-9EA7010B6CAA}"/>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Gắn nông cụ vào xe, tạo attachment log</a:t>
            </a:r>
          </a:p>
        </p:txBody>
      </p:sp>
      <p:sp>
        <p:nvSpPr>
          <p:cNvPr id="12" name="">
            <a:extLst xmlns:a="http://schemas.openxmlformats.org/drawingml/2006/main">
              <a:ext uri="{FF2B5EF4-FFF2-40B4-BE49-F238E27FC236}">
                <a16:creationId xmlns:a16="http://schemas.microsoft.com/office/drawing/2014/main" id="{D2364682-2E09-4FF3-86ED-1F944BB28FB9}"/>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Đưa nguồn lực vào preparation-context</a:t>
            </a:r>
          </a:p>
        </p:txBody>
      </p:sp>
      <p:sp>
        <p:nvSpPr>
          <p:cNvPr id="13" name="">
            <a:extLst xmlns:a="http://schemas.openxmlformats.org/drawingml/2006/main">
              <a:ext uri="{FF2B5EF4-FFF2-40B4-BE49-F238E27FC236}">
                <a16:creationId xmlns:a16="http://schemas.microsoft.com/office/drawing/2014/main" id="{FBFEF902-82D6-4772-9372-60C4FDA4A4D4}"/>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Điều xe theo trạng thái và lịch rảnh</a:t>
            </a:r>
          </a:p>
        </p:txBody>
      </p:sp>
      <p:sp>
        <p:nvSpPr>
          <p:cNvPr id="14" name="">
            <a:extLst xmlns:a="http://schemas.openxmlformats.org/drawingml/2006/main">
              <a:ext uri="{FF2B5EF4-FFF2-40B4-BE49-F238E27FC236}">
                <a16:creationId xmlns:a16="http://schemas.microsoft.com/office/drawing/2014/main" id="{C82E6B59-4F6F-4C7F-9648-7EE25945D780}"/>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Tháo nông cụ hoặc kết thúc phân công, giữ lịch sử</a:t>
            </a:r>
          </a:p>
        </p:txBody>
      </p: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60960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0" idx="2"/>
            <a:endCxn xmlns:a="http://schemas.openxmlformats.org/drawingml/2006/main" id="11" idx="0"/>
          </p:cNvCxnSpPr>
          <p:nvPr/>
        </p:nvCxnSpPr>
        <p:spPr>
          <a:xfrm xmlns:a="http://schemas.openxmlformats.org/drawingml/2006/main">
            <a:off x="6096000" y="4610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9" name="">
            <a:extLst xmlns:a="http://schemas.openxmlformats.org/drawingml/2006/main">
              <a:ext uri="{FF2B5EF4-FFF2-40B4-BE49-F238E27FC236}">
                <a16:creationId xmlns:a16="http://schemas.microsoft.com/office/drawing/2014/main" id="{35266C53-E596-4D92-8D49-BA7EE8F5B771}"/>
              </a:ext>
            </a:extLst>
          </p:cNvPr>
          <p:cNvSpPr>
            <a:spLocks xmlns:a="http://schemas.openxmlformats.org/drawingml/2006/main" noGrp="1"/>
          </p:cNvSpPr>
          <p:nvPr/>
        </p:nvSpPr>
        <p:spPr>
          <a:xfrm xmlns:a="http://schemas.openxmlformats.org/drawingml/2006/main">
            <a:off x="6858000" y="47720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a:off x="75438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2"/>
            <a:endCxn xmlns:a="http://schemas.openxmlformats.org/drawingml/2006/main" id="14"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1" idx="3"/>
            <a:endCxn xmlns:a="http://schemas.openxmlformats.org/drawingml/2006/main" id="14"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4" name="">
            <a:extLst xmlns:a="http://schemas.openxmlformats.org/drawingml/2006/main">
              <a:ext uri="{FF2B5EF4-FFF2-40B4-BE49-F238E27FC236}">
                <a16:creationId xmlns:a16="http://schemas.microsoft.com/office/drawing/2014/main" id="{96005CA9-60BC-459D-9EC4-88DBD26E75B5}"/>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Xe thanh lý lưu TAM_DUNG, không có đơn vị quản lý và không xuất hiện như nguồn lực điều xe.</a:t>
            </a:r>
          </a:p>
        </p:txBody>
      </p:sp>
      <p:sp>
        <p:nvSpPr>
          <p:cNvPr id="25" name="">
            <a:extLst xmlns:a="http://schemas.openxmlformats.org/drawingml/2006/main">
              <a:ext uri="{FF2B5EF4-FFF2-40B4-BE49-F238E27FC236}">
                <a16:creationId xmlns:a16="http://schemas.microsoft.com/office/drawing/2014/main" id="{B35E8B3F-A7BE-4152-AA38-AAAEF8BE8C91}"/>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AB1F154B-4C24-47A1-813D-6DC5AF71714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16</a:t>
            </a:r>
          </a:p>
        </p:txBody>
      </p:sp>
    </p:spTree>
    <p:extLst>
      <p:ext uri="{BB962C8B-B14F-4D97-AF65-F5344CB8AC3E}">
        <p14:creationId xmlns:p14="http://schemas.microsoft.com/office/powerpoint/2010/main" val="10836095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76660AE1-FCF6-4245-BC2D-F6D0484A0B2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BẢO DƯỠNG ĐỊNH KỲ VÀ SỬA CHỮA</a:t>
            </a:r>
          </a:p>
        </p:txBody>
      </p:sp>
      <p:sp>
        <p:nvSpPr>
          <p:cNvPr id="2" name="">
            <a:extLst xmlns:a="http://schemas.openxmlformats.org/drawingml/2006/main">
              <a:ext uri="{FF2B5EF4-FFF2-40B4-BE49-F238E27FC236}">
                <a16:creationId xmlns:a16="http://schemas.microsoft.com/office/drawing/2014/main" id="{F51F320D-824E-49A2-93C6-23A43F501D2C}"/>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TÀI XẾ VÀ TELEMETRY</a:t>
            </a:r>
          </a:p>
        </p:txBody>
      </p:sp>
      <p:sp>
        <p:nvSpPr>
          <p:cNvPr id="3" name="">
            <a:extLst xmlns:a="http://schemas.openxmlformats.org/drawingml/2006/main">
              <a:ext uri="{FF2B5EF4-FFF2-40B4-BE49-F238E27FC236}">
                <a16:creationId xmlns:a16="http://schemas.microsoft.com/office/drawing/2014/main" id="{7BEFA8F9-408A-40D3-9C5C-6FBDC0B3D131}"/>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XƯỞNG BTSC</a:t>
            </a:r>
          </a:p>
        </p:txBody>
      </p:sp>
      <p:sp>
        <p:nvSpPr>
          <p:cNvPr id="4" name="">
            <a:extLst xmlns:a="http://schemas.openxmlformats.org/drawingml/2006/main">
              <a:ext uri="{FF2B5EF4-FFF2-40B4-BE49-F238E27FC236}">
                <a16:creationId xmlns:a16="http://schemas.microsoft.com/office/drawing/2014/main" id="{6086E63A-547B-44E6-9A79-A114CF0A5BE9}"/>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22FE810F-2142-4190-B871-80AF93780D19}"/>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a:t>
            </a:r>
          </a:p>
        </p:txBody>
      </p:sp>
      <p:sp>
        <p:nvSpPr>
          <p:cNvPr id="6" name="">
            <a:extLst xmlns:a="http://schemas.openxmlformats.org/drawingml/2006/main">
              <a:ext uri="{FF2B5EF4-FFF2-40B4-BE49-F238E27FC236}">
                <a16:creationId xmlns:a16="http://schemas.microsoft.com/office/drawing/2014/main" id="{6C67F5DC-3A43-4DFD-9649-E81817365008}"/>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7E313879-888F-4009-B499-AD30AC036AA2}"/>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Nộp checklist BDC1 và cập nhật ODO hoặc giờ máy</a:t>
            </a:r>
          </a:p>
        </p:txBody>
      </p:sp>
      <p:sp>
        <p:nvSpPr>
          <p:cNvPr id="8" name="">
            <a:extLst xmlns:a="http://schemas.openxmlformats.org/drawingml/2006/main">
              <a:ext uri="{FF2B5EF4-FFF2-40B4-BE49-F238E27FC236}">
                <a16:creationId xmlns:a16="http://schemas.microsoft.com/office/drawing/2014/main" id="{EA33D004-299B-41C4-B6D6-2E2C90F3176E}"/>
              </a:ext>
            </a:extLst>
          </p:cNvPr>
          <p:cNvSpPr>
            <a:spLocks xmlns:a="http://schemas.openxmlformats.org/drawingml/2006/main" noGrp="1"/>
          </p:cNvSpPr>
          <p:nvPr/>
        </p:nvSpPr>
        <p:spPr>
          <a:xfrm xmlns:a="http://schemas.openxmlformats.org/drawingml/2006/main">
            <a:off x="84963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Tính mốc bảo dưỡng, phân tầng Xanh, Vàng, Đỏ</a:t>
            </a:r>
          </a:p>
        </p:txBody>
      </p:sp>
      <p:sp>
        <p:nvSpPr>
          <p:cNvPr id="9" name="">
            <a:extLst xmlns:a="http://schemas.openxmlformats.org/drawingml/2006/main">
              <a:ext uri="{FF2B5EF4-FFF2-40B4-BE49-F238E27FC236}">
                <a16:creationId xmlns:a16="http://schemas.microsoft.com/office/drawing/2014/main" id="{0DCDB415-760D-438A-8A9D-8BE4C79B95CD}"/>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phiếu BDC2 hoặc tiếp nhận phiếu sửa chữa</a:t>
            </a:r>
          </a:p>
        </p:txBody>
      </p:sp>
      <p:sp>
        <p:nvSpPr>
          <p:cNvPr id="10" name="">
            <a:extLst xmlns:a="http://schemas.openxmlformats.org/drawingml/2006/main">
              <a:ext uri="{FF2B5EF4-FFF2-40B4-BE49-F238E27FC236}">
                <a16:creationId xmlns:a16="http://schemas.microsoft.com/office/drawing/2014/main" id="{FA2B8B62-65DB-4D58-9360-BD91BB6413DD}"/>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Đánh giá, lập kế hoạch, thực hiện và cập nhật chi phí</a:t>
            </a:r>
          </a:p>
        </p:txBody>
      </p:sp>
      <p:sp>
        <p:nvSpPr>
          <p:cNvPr id="11" name="">
            <a:extLst xmlns:a="http://schemas.openxmlformats.org/drawingml/2006/main">
              <a:ext uri="{FF2B5EF4-FFF2-40B4-BE49-F238E27FC236}">
                <a16:creationId xmlns:a16="http://schemas.microsoft.com/office/drawing/2014/main" id="{83DAABF6-2230-4AAE-BD02-EAE966C64A72}"/>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THIẾU PHỤ TÙNG?</a:t>
            </a:r>
          </a:p>
        </p:txBody>
      </p:sp>
      <p:sp>
        <p:nvSpPr>
          <p:cNvPr id="12" name="">
            <a:extLst xmlns:a="http://schemas.openxmlformats.org/drawingml/2006/main">
              <a:ext uri="{FF2B5EF4-FFF2-40B4-BE49-F238E27FC236}">
                <a16:creationId xmlns:a16="http://schemas.microsoft.com/office/drawing/2014/main" id="{AF367B90-4218-4C5D-B05D-8210483B0F79}"/>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Sẵn sàng nghiệm thu, bàn giao và hoàn tất</a:t>
            </a:r>
          </a:p>
        </p:txBody>
      </p:sp>
      <p:sp>
        <p:nvSpPr>
          <p:cNvPr id="13" name="">
            <a:extLst xmlns:a="http://schemas.openxmlformats.org/drawingml/2006/main">
              <a:ext uri="{FF2B5EF4-FFF2-40B4-BE49-F238E27FC236}">
                <a16:creationId xmlns:a16="http://schemas.microsoft.com/office/drawing/2014/main" id="{DBC80BDC-F202-45D0-BBE0-99F12BE5CD0A}"/>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Đóng mốc bảo dưỡng, cập nhật trạng thái xe</a:t>
            </a:r>
          </a:p>
        </p:txBody>
      </p:sp>
      <p:sp>
        <p:nvSpPr>
          <p:cNvPr id="14" name="">
            <a:extLst xmlns:a="http://schemas.openxmlformats.org/drawingml/2006/main">
              <a:ext uri="{FF2B5EF4-FFF2-40B4-BE49-F238E27FC236}">
                <a16:creationId xmlns:a16="http://schemas.microsoft.com/office/drawing/2014/main" id="{4A156746-E707-41A9-B6B7-22D18F853A85}"/>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Xe trở lại CHO_PHAN_CONG khi đủ điều kiện</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48006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1"/>
            <a:endCxn xmlns:a="http://schemas.openxmlformats.org/drawingml/2006/main" id="9" idx="3"/>
          </p:cNvCxnSpPr>
          <p:nvPr/>
        </p:nvCxnSpPr>
        <p:spPr>
          <a:xfrm xmlns:a="http://schemas.openxmlformats.org/drawingml/2006/main" flipH="1">
            <a:off x="7543800" y="1847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a:off x="7543800" y="4200525"/>
            <a:ext cx="952500" cy="107632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839A68AE-8654-4F01-B6C3-FCA1803897EF}"/>
              </a:ext>
            </a:extLst>
          </p:cNvPr>
          <p:cNvSpPr>
            <a:spLocks xmlns:a="http://schemas.openxmlformats.org/drawingml/2006/main" noGrp="1"/>
          </p:cNvSpPr>
          <p:nvPr/>
        </p:nvSpPr>
        <p:spPr>
          <a:xfrm xmlns:a="http://schemas.openxmlformats.org/drawingml/2006/main">
            <a:off x="7696200" y="4914900"/>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8" name=""/>
          <p:cNvCxnSpPr>
            <a:stCxn xmlns:a="http://schemas.openxmlformats.org/drawingml/2006/main" id="11" idx="1"/>
            <a:endCxn xmlns:a="http://schemas.openxmlformats.org/drawingml/2006/main" id="10" idx="3"/>
          </p:cNvCxnSpPr>
          <p:nvPr/>
        </p:nvCxnSpPr>
        <p:spPr>
          <a:xfrm xmlns:a="http://schemas.openxmlformats.org/drawingml/2006/main" flipH="1"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22" name="">
            <a:extLst xmlns:a="http://schemas.openxmlformats.org/drawingml/2006/main">
              <a:ext uri="{FF2B5EF4-FFF2-40B4-BE49-F238E27FC236}">
                <a16:creationId xmlns:a16="http://schemas.microsoft.com/office/drawing/2014/main" id="{5B12EC65-883B-4A6F-9F6B-7036D5D9A62D}"/>
              </a:ext>
            </a:extLst>
          </p:cNvPr>
          <p:cNvSpPr>
            <a:spLocks xmlns:a="http://schemas.openxmlformats.org/drawingml/2006/main" noGrp="1"/>
          </p:cNvSpPr>
          <p:nvPr/>
        </p:nvSpPr>
        <p:spPr>
          <a:xfrm xmlns:a="http://schemas.openxmlformats.org/drawingml/2006/main">
            <a:off x="7439025" y="4000500"/>
            <a:ext cx="1285875"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 WAITING_PARTS</a:t>
            </a:r>
          </a:p>
        </p:txBody>
      </p:sp>
      <p:cxnSp>
        <p:nvCxnSpPr>
          <p:cNvPr id="50" name=""/>
          <p:cNvCxnSpPr>
            <a:stCxn xmlns:a="http://schemas.openxmlformats.org/drawingml/2006/main" id="12" idx="3"/>
            <a:endCxn xmlns:a="http://schemas.openxmlformats.org/drawingml/2006/main" id="13" idx="1"/>
          </p:cNvCxnSpPr>
          <p:nvPr/>
        </p:nvCxnSpPr>
        <p:spPr>
          <a:xfrm xmlns:a="http://schemas.openxmlformats.org/drawingml/2006/main">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51" name=""/>
          <p:cNvCxnSpPr>
            <a:stCxn xmlns:a="http://schemas.openxmlformats.org/drawingml/2006/main" id="13" idx="2"/>
            <a:endCxn xmlns:a="http://schemas.openxmlformats.org/drawingml/2006/main" id="14" idx="2"/>
          </p:cNvCxnSpPr>
          <p:nvPr/>
        </p:nvCxnSpPr>
        <p:spPr>
          <a:xfrm xmlns:a="http://schemas.openxmlformats.org/drawingml/2006/main" flipH="1">
            <a:off x="2247900" y="5619750"/>
            <a:ext cx="76962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5" name="">
            <a:extLst xmlns:a="http://schemas.openxmlformats.org/drawingml/2006/main">
              <a:ext uri="{FF2B5EF4-FFF2-40B4-BE49-F238E27FC236}">
                <a16:creationId xmlns:a16="http://schemas.microsoft.com/office/drawing/2014/main" id="{82B06F80-CFB8-465C-A715-9DDD7349F9C6}"/>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59636E"/>
                </a:solidFill>
                <a:latin typeface="Cambria"/>
                <a:ea typeface="Cambria"/>
                <a:cs typeface="Cambria"/>
              </a:defRPr>
            </a:pPr>
            <a:r>
              <a:rPr sz="1013" b="0" i="1">
                <a:solidFill>
                  <a:srgbClr val="59636E"/>
                </a:solidFill>
                <a:latin typeface="Cambria"/>
                <a:ea typeface="Cambria"/>
                <a:cs typeface="Cambria"/>
              </a:rPr>
              <a:t>Khi bảo dưỡng phát hiện hư hỏng, hệ thống có thể tạo tiếp phiếu sửa chữa và giữ xe ở trạng thái không sẵn sàng.</a:t>
            </a:r>
          </a:p>
        </p:txBody>
      </p:sp>
      <p:sp>
        <p:nvSpPr>
          <p:cNvPr id="26" name="">
            <a:extLst xmlns:a="http://schemas.openxmlformats.org/drawingml/2006/main">
              <a:ext uri="{FF2B5EF4-FFF2-40B4-BE49-F238E27FC236}">
                <a16:creationId xmlns:a16="http://schemas.microsoft.com/office/drawing/2014/main" id="{D998FEE1-B0DB-4E38-A766-A20902C39307}"/>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7A7F9CA0-541E-4C8B-B954-7D8575CEF58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17</a:t>
            </a:r>
          </a:p>
        </p:txBody>
      </p:sp>
    </p:spTree>
    <p:extLst>
      <p:ext uri="{BB962C8B-B14F-4D97-AF65-F5344CB8AC3E}">
        <p14:creationId xmlns:p14="http://schemas.microsoft.com/office/powerpoint/2010/main" val="108360953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7AC3FB19-72D5-4BEC-B8DA-1605CA1B7C4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CẤP PHÁT VÀ ĐỐI SOÁT NHIÊN LIỆU</a:t>
            </a:r>
          </a:p>
        </p:txBody>
      </p:sp>
      <p:sp>
        <p:nvSpPr>
          <p:cNvPr id="2" name="">
            <a:extLst xmlns:a="http://schemas.openxmlformats.org/drawingml/2006/main">
              <a:ext uri="{FF2B5EF4-FFF2-40B4-BE49-F238E27FC236}">
                <a16:creationId xmlns:a16="http://schemas.microsoft.com/office/drawing/2014/main" id="{0EA50975-3D72-455D-9237-DBE0DA538970}"/>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XE VÀ LỆNH</a:t>
            </a:r>
          </a:p>
        </p:txBody>
      </p:sp>
      <p:sp>
        <p:nvSpPr>
          <p:cNvPr id="3" name="">
            <a:extLst xmlns:a="http://schemas.openxmlformats.org/drawingml/2006/main">
              <a:ext uri="{FF2B5EF4-FFF2-40B4-BE49-F238E27FC236}">
                <a16:creationId xmlns:a16="http://schemas.microsoft.com/office/drawing/2014/main" id="{B4AF30F1-A44D-469C-A74F-CFB07C7249AB}"/>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THỦ KHO NHIÊN LIỆU</a:t>
            </a:r>
          </a:p>
        </p:txBody>
      </p:sp>
      <p:sp>
        <p:nvSpPr>
          <p:cNvPr id="4" name="">
            <a:extLst xmlns:a="http://schemas.openxmlformats.org/drawingml/2006/main">
              <a:ext uri="{FF2B5EF4-FFF2-40B4-BE49-F238E27FC236}">
                <a16:creationId xmlns:a16="http://schemas.microsoft.com/office/drawing/2014/main" id="{B2387213-16E9-4A0E-9F40-C9434E561E5A}"/>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FBA791A7-8B06-4834-9409-65ABF56C7339}"/>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HỆ THỐNG VÀ BÁO CÁO</a:t>
            </a:r>
          </a:p>
        </p:txBody>
      </p:sp>
      <p:sp>
        <p:nvSpPr>
          <p:cNvPr id="6" name="">
            <a:extLst xmlns:a="http://schemas.openxmlformats.org/drawingml/2006/main">
              <a:ext uri="{FF2B5EF4-FFF2-40B4-BE49-F238E27FC236}">
                <a16:creationId xmlns:a16="http://schemas.microsoft.com/office/drawing/2014/main" id="{BCF9CB6D-01F5-4C32-B303-BC49AFC00D88}"/>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EF0E962B-8437-4583-BD1C-418033D78845}"/>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Xác định xe, công việc và định mức áp dụng</a:t>
            </a:r>
          </a:p>
        </p:txBody>
      </p:sp>
      <p:sp>
        <p:nvSpPr>
          <p:cNvPr id="8" name="">
            <a:extLst xmlns:a="http://schemas.openxmlformats.org/drawingml/2006/main">
              <a:ext uri="{FF2B5EF4-FFF2-40B4-BE49-F238E27FC236}">
                <a16:creationId xmlns:a16="http://schemas.microsoft.com/office/drawing/2014/main" id="{233223B3-9CC9-4CAF-8DAF-88A514D25983}"/>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Chọn kho hoặc bồn, quét mã và nhập số lít thực cấp</a:t>
            </a:r>
          </a:p>
        </p:txBody>
      </p:sp>
      <p:sp>
        <p:nvSpPr>
          <p:cNvPr id="9" name="">
            <a:extLst xmlns:a="http://schemas.openxmlformats.org/drawingml/2006/main">
              <a:ext uri="{FF2B5EF4-FFF2-40B4-BE49-F238E27FC236}">
                <a16:creationId xmlns:a16="http://schemas.microsoft.com/office/drawing/2014/main" id="{BEC8A106-CABE-450B-ABAB-7E187F2C8E97}"/>
              </a:ext>
            </a:extLst>
          </p:cNvPr>
          <p:cNvSpPr>
            <a:spLocks xmlns:a="http://schemas.openxmlformats.org/drawingml/2006/main" noGrp="1"/>
          </p:cNvSpPr>
          <p:nvPr/>
        </p:nvSpPr>
        <p:spPr>
          <a:xfrm xmlns:a="http://schemas.openxmlformats.org/drawingml/2006/main">
            <a:off x="8496300" y="2647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TỒN KHO ĐỦ?</a:t>
            </a:r>
          </a:p>
        </p:txBody>
      </p:sp>
      <p:sp>
        <p:nvSpPr>
          <p:cNvPr id="10" name="">
            <a:extLst xmlns:a="http://schemas.openxmlformats.org/drawingml/2006/main">
              <a:ext uri="{FF2B5EF4-FFF2-40B4-BE49-F238E27FC236}">
                <a16:creationId xmlns:a16="http://schemas.microsoft.com/office/drawing/2014/main" id="{552BD0A0-2D32-4253-8ED9-D2966CCA7B4E}"/>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phiếu cấp phát và trừ tồn kho trong transaction</a:t>
            </a:r>
          </a:p>
        </p:txBody>
      </p:sp>
      <p:sp>
        <p:nvSpPr>
          <p:cNvPr id="11" name="">
            <a:extLst xmlns:a="http://schemas.openxmlformats.org/drawingml/2006/main">
              <a:ext uri="{FF2B5EF4-FFF2-40B4-BE49-F238E27FC236}">
                <a16:creationId xmlns:a16="http://schemas.microsoft.com/office/drawing/2014/main" id="{7BC57B10-F7EE-4C91-B35C-A558FF00AB84}"/>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VƯỢT ĐỊNH MỨC TRÊN 5%?</a:t>
            </a:r>
          </a:p>
        </p:txBody>
      </p:sp>
      <p:sp>
        <p:nvSpPr>
          <p:cNvPr id="12" name="">
            <a:extLst xmlns:a="http://schemas.openxmlformats.org/drawingml/2006/main">
              <a:ext uri="{FF2B5EF4-FFF2-40B4-BE49-F238E27FC236}">
                <a16:creationId xmlns:a16="http://schemas.microsoft.com/office/drawing/2014/main" id="{B5E8BC8A-B2B8-4FD3-9E25-2D9DAC808872}"/>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Đối soát actual, quota, variance và người cấp</a:t>
            </a:r>
          </a:p>
        </p:txBody>
      </p:sp>
      <p:sp>
        <p:nvSpPr>
          <p:cNvPr id="13" name="">
            <a:extLst xmlns:a="http://schemas.openxmlformats.org/drawingml/2006/main">
              <a:ext uri="{FF2B5EF4-FFF2-40B4-BE49-F238E27FC236}">
                <a16:creationId xmlns:a16="http://schemas.microsoft.com/office/drawing/2014/main" id="{E279992F-99CF-403A-8758-0A5011964149}"/>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Báo cáo tiêu hao, tồn kho và cảnh báo vượt mức</a:t>
            </a:r>
          </a:p>
        </p:txBody>
      </p: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75438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9" idx="2"/>
            <a:endCxn xmlns:a="http://schemas.openxmlformats.org/drawingml/2006/main" id="10" idx="0"/>
          </p:cNvCxnSpPr>
          <p:nvPr/>
        </p:nvCxnSpPr>
        <p:spPr>
          <a:xfrm xmlns:a="http://schemas.openxmlformats.org/drawingml/2006/main">
            <a:off x="9944100" y="3467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7" name="">
            <a:extLst xmlns:a="http://schemas.openxmlformats.org/drawingml/2006/main">
              <a:ext uri="{FF2B5EF4-FFF2-40B4-BE49-F238E27FC236}">
                <a16:creationId xmlns:a16="http://schemas.microsoft.com/office/drawing/2014/main" id="{DE24E6F7-6559-47E2-8810-F3F0713260ED}"/>
              </a:ext>
            </a:extLst>
          </p:cNvPr>
          <p:cNvSpPr>
            <a:spLocks xmlns:a="http://schemas.openxmlformats.org/drawingml/2006/main" noGrp="1"/>
          </p:cNvSpPr>
          <p:nvPr/>
        </p:nvSpPr>
        <p:spPr>
          <a:xfrm xmlns:a="http://schemas.openxmlformats.org/drawingml/2006/main">
            <a:off x="10572750" y="36099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3" name=""/>
          <p:cNvCxnSpPr>
            <a:stCxn xmlns:a="http://schemas.openxmlformats.org/drawingml/2006/main" id="9" idx="1"/>
            <a:endCxn xmlns:a="http://schemas.openxmlformats.org/drawingml/2006/main" id="8" idx="3"/>
          </p:cNvCxnSpPr>
          <p:nvPr/>
        </p:nvCxnSpPr>
        <p:spPr>
          <a:xfrm xmlns:a="http://schemas.openxmlformats.org/drawingml/2006/main" flipH="1" flipV="1">
            <a:off x="7543800" y="1847850"/>
            <a:ext cx="952500" cy="1209675"/>
          </a:xfrm>
          <a:prstGeom xmlns:a="http://schemas.openxmlformats.org/drawingml/2006/main" prst="bentConnector3">
            <a:avLst>
              <a:gd name="adj1" fmla="val 50000"/>
            </a:avLst>
          </a:prstGeom>
          <a:ln xmlns:a="http://schemas.openxmlformats.org/drawingml/2006/main" w="19050">
            <a:solidFill>
              <a:srgbClr val="5FAE3E"/>
            </a:solidFill>
            <a:prstDash val="dash"/>
            <a:tailEnd type="arrow" w="med" len="med"/>
          </a:ln>
        </p:spPr>
      </p:cxnSp>
      <p:sp>
        <p:nvSpPr>
          <p:cNvPr id="19" name="">
            <a:extLst xmlns:a="http://schemas.openxmlformats.org/drawingml/2006/main">
              <a:ext uri="{FF2B5EF4-FFF2-40B4-BE49-F238E27FC236}">
                <a16:creationId xmlns:a16="http://schemas.microsoft.com/office/drawing/2014/main" id="{96298FE3-3A93-4DC7-9928-C57D48069126}"/>
              </a:ext>
            </a:extLst>
          </p:cNvPr>
          <p:cNvSpPr>
            <a:spLocks xmlns:a="http://schemas.openxmlformats.org/drawingml/2006/main" noGrp="1"/>
          </p:cNvSpPr>
          <p:nvPr/>
        </p:nvSpPr>
        <p:spPr>
          <a:xfrm xmlns:a="http://schemas.openxmlformats.org/drawingml/2006/main">
            <a:off x="7696200" y="30003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1"/>
            <a:endCxn xmlns:a="http://schemas.openxmlformats.org/drawingml/2006/main" id="13" idx="3"/>
          </p:cNvCxnSpPr>
          <p:nvPr/>
        </p:nvCxnSpPr>
        <p:spPr>
          <a:xfrm xmlns:a="http://schemas.openxmlformats.org/drawingml/2006/main" flipH="1">
            <a:off x="36957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EA0608A2-B72B-4E78-BAB0-A950625D9AE1}"/>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Ngưỡng vượt 5% là hành vi đang được cài trong FuelService, cần xác nhận lại trước khi áp dụng chính thức.</a:t>
            </a:r>
          </a:p>
        </p:txBody>
      </p:sp>
      <p:sp>
        <p:nvSpPr>
          <p:cNvPr id="24" name="">
            <a:extLst xmlns:a="http://schemas.openxmlformats.org/drawingml/2006/main">
              <a:ext uri="{FF2B5EF4-FFF2-40B4-BE49-F238E27FC236}">
                <a16:creationId xmlns:a16="http://schemas.microsoft.com/office/drawing/2014/main" id="{BEC176B1-D4E6-4E23-9174-95020CC1D792}"/>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1CBE4C03-1297-489F-A10F-1B495446072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18</a:t>
            </a:r>
          </a:p>
        </p:txBody>
      </p:sp>
    </p:spTree>
    <p:extLst>
      <p:ext uri="{BB962C8B-B14F-4D97-AF65-F5344CB8AC3E}">
        <p14:creationId xmlns:p14="http://schemas.microsoft.com/office/powerpoint/2010/main" val="10836095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852C067E-B227-49EE-B944-D9681EB9B9A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GPS, CẢNH BÁO VẬN HÀNH VÀ SOS</a:t>
            </a:r>
          </a:p>
        </p:txBody>
      </p:sp>
      <p:sp>
        <p:nvSpPr>
          <p:cNvPr id="2" name="">
            <a:extLst xmlns:a="http://schemas.openxmlformats.org/drawingml/2006/main">
              <a:ext uri="{FF2B5EF4-FFF2-40B4-BE49-F238E27FC236}">
                <a16:creationId xmlns:a16="http://schemas.microsoft.com/office/drawing/2014/main" id="{E03AB111-0B11-4CD8-AB82-C2B1D03104E8}"/>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XE VÀ TÀI XẾ</a:t>
            </a:r>
          </a:p>
        </p:txBody>
      </p:sp>
      <p:sp>
        <p:nvSpPr>
          <p:cNvPr id="3" name="">
            <a:extLst xmlns:a="http://schemas.openxmlformats.org/drawingml/2006/main">
              <a:ext uri="{FF2B5EF4-FFF2-40B4-BE49-F238E27FC236}">
                <a16:creationId xmlns:a16="http://schemas.microsoft.com/office/drawing/2014/main" id="{D8E6B6AD-5DB0-4B80-B5CE-6FA42DC0D484}"/>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BỘ MÁY CẢNH BÁO</a:t>
            </a:r>
          </a:p>
        </p:txBody>
      </p:sp>
      <p:sp>
        <p:nvSpPr>
          <p:cNvPr id="4" name="">
            <a:extLst xmlns:a="http://schemas.openxmlformats.org/drawingml/2006/main">
              <a:ext uri="{FF2B5EF4-FFF2-40B4-BE49-F238E27FC236}">
                <a16:creationId xmlns:a16="http://schemas.microsoft.com/office/drawing/2014/main" id="{C9FE7EC3-423B-4152-A99C-F442CB0B6C9F}"/>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D0D728B9-5080-4351-A925-B08974D7B645}"/>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LÝ VÀ XƯỞNG</a:t>
            </a:r>
          </a:p>
        </p:txBody>
      </p:sp>
      <p:sp>
        <p:nvSpPr>
          <p:cNvPr id="6" name="">
            <a:extLst xmlns:a="http://schemas.openxmlformats.org/drawingml/2006/main">
              <a:ext uri="{FF2B5EF4-FFF2-40B4-BE49-F238E27FC236}">
                <a16:creationId xmlns:a16="http://schemas.microsoft.com/office/drawing/2014/main" id="{2B191373-21F3-4F91-946D-62895D9F3A65}"/>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0B202732-F1F7-46D7-B815-104C3EF82BB0}"/>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Gửi vị trí, tốc độ, tuyến và thời điểm GPS</a:t>
            </a:r>
          </a:p>
        </p:txBody>
      </p:sp>
      <p:sp>
        <p:nvSpPr>
          <p:cNvPr id="8" name="">
            <a:extLst xmlns:a="http://schemas.openxmlformats.org/drawingml/2006/main">
              <a:ext uri="{FF2B5EF4-FFF2-40B4-BE49-F238E27FC236}">
                <a16:creationId xmlns:a16="http://schemas.microsoft.com/office/drawing/2014/main" id="{0093449E-CFA6-47A4-9704-9B8515CCD8B2}"/>
              </a:ext>
            </a:extLst>
          </p:cNvPr>
          <p:cNvSpPr>
            <a:spLocks xmlns:a="http://schemas.openxmlformats.org/drawingml/2006/main" noGrp="1"/>
          </p:cNvSpPr>
          <p:nvPr/>
        </p:nvSpPr>
        <p:spPr>
          <a:xfrm xmlns:a="http://schemas.openxmlformats.org/drawingml/2006/main">
            <a:off x="4648200" y="1504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CÓ VI PHẠM HOẶC MẤT DỮ LIỆU?</a:t>
            </a:r>
          </a:p>
        </p:txBody>
      </p:sp>
      <p:sp>
        <p:nvSpPr>
          <p:cNvPr id="9" name="">
            <a:extLst xmlns:a="http://schemas.openxmlformats.org/drawingml/2006/main">
              <a:ext uri="{FF2B5EF4-FFF2-40B4-BE49-F238E27FC236}">
                <a16:creationId xmlns:a16="http://schemas.microsoft.com/office/drawing/2014/main" id="{40F92E61-759B-462B-A634-E95890F3F06B}"/>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cảnh báo quá tốc độ, lệch tuyến hoặc xe chạy không lệnh</a:t>
            </a:r>
          </a:p>
        </p:txBody>
      </p:sp>
      <p:sp>
        <p:nvSpPr>
          <p:cNvPr id="10" name="">
            <a:extLst xmlns:a="http://schemas.openxmlformats.org/drawingml/2006/main">
              <a:ext uri="{FF2B5EF4-FFF2-40B4-BE49-F238E27FC236}">
                <a16:creationId xmlns:a16="http://schemas.microsoft.com/office/drawing/2014/main" id="{D91455F7-12A8-4D30-A413-883817046269}"/>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Tài xế bấm SOS, gửi GPS, mô tả và ảnh</a:t>
            </a:r>
          </a:p>
        </p:txBody>
      </p:sp>
      <p:sp>
        <p:nvSpPr>
          <p:cNvPr id="11" name="">
            <a:extLst xmlns:a="http://schemas.openxmlformats.org/drawingml/2006/main">
              <a:ext uri="{FF2B5EF4-FFF2-40B4-BE49-F238E27FC236}">
                <a16:creationId xmlns:a16="http://schemas.microsoft.com/office/drawing/2014/main" id="{F70B4DA8-1089-4C07-9803-AE8AFC3815B5}"/>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Transaction tạo SOS alert và yêu cầu sửa chữa</a:t>
            </a:r>
          </a:p>
        </p:txBody>
      </p:sp>
      <p:sp>
        <p:nvSpPr>
          <p:cNvPr id="12" name="">
            <a:extLst xmlns:a="http://schemas.openxmlformats.org/drawingml/2006/main">
              <a:ext uri="{FF2B5EF4-FFF2-40B4-BE49-F238E27FC236}">
                <a16:creationId xmlns:a16="http://schemas.microsoft.com/office/drawing/2014/main" id="{AF77D413-7C41-48A9-9019-CBD13D466C55}"/>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Tiếp nhận, chuyển IN_PROGRESS và điều phối xử lý</a:t>
            </a:r>
          </a:p>
        </p:txBody>
      </p:sp>
      <p:sp>
        <p:nvSpPr>
          <p:cNvPr id="13" name="">
            <a:extLst xmlns:a="http://schemas.openxmlformats.org/drawingml/2006/main">
              <a:ext uri="{FF2B5EF4-FFF2-40B4-BE49-F238E27FC236}">
                <a16:creationId xmlns:a16="http://schemas.microsoft.com/office/drawing/2014/main" id="{3D5BA278-C122-4D64-9266-789EFBE8C051}"/>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SỰ CỐ ĐÃ XỬ LÝ?</a:t>
            </a:r>
          </a:p>
        </p:txBody>
      </p:sp>
      <p:sp>
        <p:nvSpPr>
          <p:cNvPr id="14" name="">
            <a:extLst xmlns:a="http://schemas.openxmlformats.org/drawingml/2006/main">
              <a:ext uri="{FF2B5EF4-FFF2-40B4-BE49-F238E27FC236}">
                <a16:creationId xmlns:a16="http://schemas.microsoft.com/office/drawing/2014/main" id="{8B43F20A-21A1-436E-8A6F-3EB4DED652AC}"/>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RESOLVED, bỏ dedupe key và lưu lịch sử</a:t>
            </a:r>
          </a:p>
        </p:txBody>
      </p:sp>
      <p:cxnSp>
        <p:nvCxnSpPr>
          <p:cNvPr id="41"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6096000" y="2324100"/>
            <a:ext cx="0" cy="32385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17" name="">
            <a:extLst xmlns:a="http://schemas.openxmlformats.org/drawingml/2006/main">
              <a:ext uri="{FF2B5EF4-FFF2-40B4-BE49-F238E27FC236}">
                <a16:creationId xmlns:a16="http://schemas.microsoft.com/office/drawing/2014/main" id="{37F5A4E0-99FB-470C-A14E-6C1FD596DD51}"/>
              </a:ext>
            </a:extLst>
          </p:cNvPr>
          <p:cNvSpPr>
            <a:spLocks xmlns:a="http://schemas.openxmlformats.org/drawingml/2006/main" noGrp="1"/>
          </p:cNvSpPr>
          <p:nvPr/>
        </p:nvSpPr>
        <p:spPr>
          <a:xfrm xmlns:a="http://schemas.openxmlformats.org/drawingml/2006/main">
            <a:off x="6858000" y="242887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4" name=""/>
          <p:cNvCxnSpPr>
            <a:stCxn xmlns:a="http://schemas.openxmlformats.org/drawingml/2006/main" id="10"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9" idx="3"/>
            <a:endCxn xmlns:a="http://schemas.openxmlformats.org/drawingml/2006/main" id="12" idx="1"/>
          </p:cNvCxnSpPr>
          <p:nvPr/>
        </p:nvCxnSpPr>
        <p:spPr>
          <a:xfrm xmlns:a="http://schemas.openxmlformats.org/drawingml/2006/main">
            <a:off x="7543800" y="2990850"/>
            <a:ext cx="952500" cy="1143000"/>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7"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8" name=""/>
          <p:cNvCxnSpPr>
            <a:stCxn xmlns:a="http://schemas.openxmlformats.org/drawingml/2006/main" id="13" idx="1"/>
            <a:endCxn xmlns:a="http://schemas.openxmlformats.org/drawingml/2006/main" id="14"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7CF41CD3-6C97-4125-8846-C47368485F0E}"/>
              </a:ext>
            </a:extLst>
          </p:cNvPr>
          <p:cNvSpPr>
            <a:spLocks xmlns:a="http://schemas.openxmlformats.org/drawingml/2006/main" noGrp="1"/>
          </p:cNvSpPr>
          <p:nvPr/>
        </p:nvSpPr>
        <p:spPr>
          <a:xfrm xmlns:a="http://schemas.openxmlformats.org/drawingml/2006/main">
            <a:off x="7705725" y="5305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sp>
        <p:nvSpPr>
          <p:cNvPr id="24" name="">
            <a:extLst xmlns:a="http://schemas.openxmlformats.org/drawingml/2006/main">
              <a:ext uri="{FF2B5EF4-FFF2-40B4-BE49-F238E27FC236}">
                <a16:creationId xmlns:a16="http://schemas.microsoft.com/office/drawing/2014/main" id="{DF28C10E-CB94-452A-8590-DD992FF55142}"/>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Chu kỳ gửi GPS 30 giây chưa được xác nhận thống nhất. Không trình bày đây là quy tắc production đã chốt.</a:t>
            </a:r>
          </a:p>
        </p:txBody>
      </p:sp>
      <p:sp>
        <p:nvSpPr>
          <p:cNvPr id="25" name="">
            <a:extLst xmlns:a="http://schemas.openxmlformats.org/drawingml/2006/main">
              <a:ext uri="{FF2B5EF4-FFF2-40B4-BE49-F238E27FC236}">
                <a16:creationId xmlns:a16="http://schemas.microsoft.com/office/drawing/2014/main" id="{26C55D77-62C8-48CE-A3B5-58AF0C9E027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0E1779A4-A4DC-4E2C-B579-675C0891A5FA}"/>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19</a:t>
            </a:r>
          </a:p>
        </p:txBody>
      </p:sp>
    </p:spTree>
    <p:extLst>
      <p:ext uri="{BB962C8B-B14F-4D97-AF65-F5344CB8AC3E}">
        <p14:creationId xmlns:p14="http://schemas.microsoft.com/office/powerpoint/2010/main" val="108360953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D16BD63C-15FA-4B39-AEE5-25BCB89279BC}"/>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QUẢN LÝ TÀI XẾ VÀ TÍNH KPI</a:t>
            </a:r>
          </a:p>
        </p:txBody>
      </p:sp>
      <p:sp>
        <p:nvSpPr>
          <p:cNvPr id="2" name="">
            <a:extLst xmlns:a="http://schemas.openxmlformats.org/drawingml/2006/main">
              <a:ext uri="{FF2B5EF4-FFF2-40B4-BE49-F238E27FC236}">
                <a16:creationId xmlns:a16="http://schemas.microsoft.com/office/drawing/2014/main" id="{4BCBB2D5-3EAD-423F-8F58-F5938D19DCA9}"/>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LÝ NHÂN SỰ</a:t>
            </a:r>
          </a:p>
        </p:txBody>
      </p:sp>
      <p:sp>
        <p:nvSpPr>
          <p:cNvPr id="3" name="">
            <a:extLst xmlns:a="http://schemas.openxmlformats.org/drawingml/2006/main">
              <a:ext uri="{FF2B5EF4-FFF2-40B4-BE49-F238E27FC236}">
                <a16:creationId xmlns:a16="http://schemas.microsoft.com/office/drawing/2014/main" id="{58A48CDC-92EB-4688-BBD2-70D9F09F41F7}"/>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VẬN HÀNH</a:t>
            </a:r>
          </a:p>
        </p:txBody>
      </p:sp>
      <p:sp>
        <p:nvSpPr>
          <p:cNvPr id="4" name="">
            <a:extLst xmlns:a="http://schemas.openxmlformats.org/drawingml/2006/main">
              <a:ext uri="{FF2B5EF4-FFF2-40B4-BE49-F238E27FC236}">
                <a16:creationId xmlns:a16="http://schemas.microsoft.com/office/drawing/2014/main" id="{3753D715-35A0-41A3-AACF-6241E8C6ECDA}"/>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8FEF44F9-CD26-4143-9EC9-E458FE1BCEA2}"/>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KPI VÀ TÀI XẾ</a:t>
            </a:r>
          </a:p>
        </p:txBody>
      </p:sp>
      <p:sp>
        <p:nvSpPr>
          <p:cNvPr id="6" name="">
            <a:extLst xmlns:a="http://schemas.openxmlformats.org/drawingml/2006/main">
              <a:ext uri="{FF2B5EF4-FFF2-40B4-BE49-F238E27FC236}">
                <a16:creationId xmlns:a16="http://schemas.microsoft.com/office/drawing/2014/main" id="{7047A105-090F-4B54-8FA8-65127EF9D754}"/>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7D9234EC-15FA-46BD-922E-CC2A31A3852F}"/>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Tạo tài khoản DRIVER và hồ sơ giấy phép, sức khỏe</a:t>
            </a:r>
          </a:p>
        </p:txBody>
      </p:sp>
      <p:sp>
        <p:nvSpPr>
          <p:cNvPr id="8" name="">
            <a:extLst xmlns:a="http://schemas.openxmlformats.org/drawingml/2006/main">
              <a:ext uri="{FF2B5EF4-FFF2-40B4-BE49-F238E27FC236}">
                <a16:creationId xmlns:a16="http://schemas.microsoft.com/office/drawing/2014/main" id="{C6C3AFEC-8001-4DDC-8480-9BBCAE713BF0}"/>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Gán đơn vị, ca và xe chính hoặc phụ</a:t>
            </a:r>
          </a:p>
        </p:txBody>
      </p:sp>
      <p:sp>
        <p:nvSpPr>
          <p:cNvPr id="9" name="">
            <a:extLst xmlns:a="http://schemas.openxmlformats.org/drawingml/2006/main">
              <a:ext uri="{FF2B5EF4-FFF2-40B4-BE49-F238E27FC236}">
                <a16:creationId xmlns:a16="http://schemas.microsoft.com/office/drawing/2014/main" id="{EBB1B91F-80DF-4740-858C-32A695B29004}"/>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sự kiện ASSIGNED, ACCEPTED, tiến độ và hoàn thành</a:t>
            </a:r>
          </a:p>
        </p:txBody>
      </p:sp>
      <p:sp>
        <p:nvSpPr>
          <p:cNvPr id="10" name="">
            <a:extLst xmlns:a="http://schemas.openxmlformats.org/drawingml/2006/main">
              <a:ext uri="{FF2B5EF4-FFF2-40B4-BE49-F238E27FC236}">
                <a16:creationId xmlns:a16="http://schemas.microsoft.com/office/drawing/2014/main" id="{62551975-128F-4594-B0D3-7497FC8D278E}"/>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Ghi CANNOT_ACCEPT, REASSIGNED và kết quả nghiệm thu</a:t>
            </a:r>
          </a:p>
        </p:txBody>
      </p:sp>
      <p:sp>
        <p:nvSpPr>
          <p:cNvPr id="11" name="">
            <a:extLst xmlns:a="http://schemas.openxmlformats.org/drawingml/2006/main">
              <a:ext uri="{FF2B5EF4-FFF2-40B4-BE49-F238E27FC236}">
                <a16:creationId xmlns:a16="http://schemas.microsoft.com/office/drawing/2014/main" id="{36AA4D8F-ABDF-45AC-8331-9ED9F1D11DDD}"/>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Tổng hợp số chuyến, km, giờ máy và tiết kiệm dầu</a:t>
            </a:r>
          </a:p>
        </p:txBody>
      </p:sp>
      <p:sp>
        <p:nvSpPr>
          <p:cNvPr id="12" name="">
            <a:extLst xmlns:a="http://schemas.openxmlformats.org/drawingml/2006/main">
              <a:ext uri="{FF2B5EF4-FFF2-40B4-BE49-F238E27FC236}">
                <a16:creationId xmlns:a16="http://schemas.microsoft.com/office/drawing/2014/main" id="{0A651A2A-F4EE-4E4C-9C17-36988170F630}"/>
              </a:ext>
            </a:extLst>
          </p:cNvPr>
          <p:cNvSpPr>
            <a:spLocks xmlns:a="http://schemas.openxmlformats.org/drawingml/2006/main" noGrp="1"/>
          </p:cNvSpPr>
          <p:nvPr/>
        </p:nvSpPr>
        <p:spPr>
          <a:xfrm xmlns:a="http://schemas.openxmlformats.org/drawingml/2006/main">
            <a:off x="8496300" y="4933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95317"/>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ĐỦ DỮ LIỆU KỲ KPI?</a:t>
            </a:r>
          </a:p>
        </p:txBody>
      </p:sp>
      <p:sp>
        <p:nvSpPr>
          <p:cNvPr id="13" name="">
            <a:extLst xmlns:a="http://schemas.openxmlformats.org/drawingml/2006/main">
              <a:ext uri="{FF2B5EF4-FFF2-40B4-BE49-F238E27FC236}">
                <a16:creationId xmlns:a16="http://schemas.microsoft.com/office/drawing/2014/main" id="{2A676A88-E76E-400E-A6CE-30119A34EB2C}"/>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Tính điểm, xếp hạng và thưởng theo code hiện tại</a:t>
            </a:r>
          </a:p>
        </p:txBody>
      </p:sp>
      <p:sp>
        <p:nvSpPr>
          <p:cNvPr id="14" name="">
            <a:extLst xmlns:a="http://schemas.openxmlformats.org/drawingml/2006/main">
              <a:ext uri="{FF2B5EF4-FFF2-40B4-BE49-F238E27FC236}">
                <a16:creationId xmlns:a16="http://schemas.microsoft.com/office/drawing/2014/main" id="{80E7FAD5-D09C-4F92-9416-EC962EC0EB31}"/>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Tài xế xem KPI cá nhân, quản lý xem leaderboard</a:t>
            </a:r>
          </a:p>
        </p:txBody>
      </p:sp>
      <p:cxnSp>
        <p:nvCxnSpPr>
          <p:cNvPr id="40"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1" name=""/>
          <p:cNvCxnSpPr>
            <a:stCxn xmlns:a="http://schemas.openxmlformats.org/drawingml/2006/main" id="8" idx="3"/>
            <a:endCxn xmlns:a="http://schemas.openxmlformats.org/drawingml/2006/main" id="9"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9" idx="2"/>
            <a:endCxn xmlns:a="http://schemas.openxmlformats.org/drawingml/2006/main" id="10"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10" idx="3"/>
            <a:endCxn xmlns:a="http://schemas.openxmlformats.org/drawingml/2006/main" id="11" idx="1"/>
          </p:cNvCxnSpPr>
          <p:nvPr/>
        </p:nvCxnSpPr>
        <p:spPr>
          <a:xfrm xmlns:a="http://schemas.openxmlformats.org/drawingml/2006/main">
            <a:off x="7543800" y="4133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11" idx="2"/>
            <a:endCxn xmlns:a="http://schemas.openxmlformats.org/drawingml/2006/main" id="12"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2" idx="1"/>
            <a:endCxn xmlns:a="http://schemas.openxmlformats.org/drawingml/2006/main" id="13" idx="3"/>
          </p:cNvCxnSpPr>
          <p:nvPr/>
        </p:nvCxnSpPr>
        <p:spPr>
          <a:xfrm xmlns:a="http://schemas.openxmlformats.org/drawingml/2006/main" flipH="1" flipV="1">
            <a:off x="7543800" y="5276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453C8664-B157-4757-B1FD-D67E2DBB72B4}"/>
              </a:ext>
            </a:extLst>
          </p:cNvPr>
          <p:cNvSpPr>
            <a:spLocks xmlns:a="http://schemas.openxmlformats.org/drawingml/2006/main" noGrp="1"/>
          </p:cNvSpPr>
          <p:nvPr/>
        </p:nvSpPr>
        <p:spPr>
          <a:xfrm xmlns:a="http://schemas.openxmlformats.org/drawingml/2006/main">
            <a:off x="7705725" y="5305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7" name=""/>
          <p:cNvCxnSpPr>
            <a:stCxn xmlns:a="http://schemas.openxmlformats.org/drawingml/2006/main" id="13" idx="1"/>
            <a:endCxn xmlns:a="http://schemas.openxmlformats.org/drawingml/2006/main" id="14" idx="3"/>
          </p:cNvCxnSpPr>
          <p:nvPr/>
        </p:nvCxnSpPr>
        <p:spPr>
          <a:xfrm xmlns:a="http://schemas.openxmlformats.org/drawingml/2006/main" flipH="1">
            <a:off x="36957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3" name="">
            <a:extLst xmlns:a="http://schemas.openxmlformats.org/drawingml/2006/main">
              <a:ext uri="{FF2B5EF4-FFF2-40B4-BE49-F238E27FC236}">
                <a16:creationId xmlns:a16="http://schemas.microsoft.com/office/drawing/2014/main" id="{172460A9-236A-4A04-B3B7-4C1E3C16B3DD}"/>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Code đang chia bốn nhóm 25 điểm. Công thức quy đổi và ngưỡng thưởng chính thức vẫn cần chủ nghiệp vụ xác nhận.</a:t>
            </a:r>
          </a:p>
        </p:txBody>
      </p:sp>
      <p:sp>
        <p:nvSpPr>
          <p:cNvPr id="24" name="">
            <a:extLst xmlns:a="http://schemas.openxmlformats.org/drawingml/2006/main">
              <a:ext uri="{FF2B5EF4-FFF2-40B4-BE49-F238E27FC236}">
                <a16:creationId xmlns:a16="http://schemas.microsoft.com/office/drawing/2014/main" id="{30D8C857-9BBB-4366-8706-8F86318B27AF}"/>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5" name="">
            <a:extLst xmlns:a="http://schemas.openxmlformats.org/drawingml/2006/main">
              <a:ext uri="{FF2B5EF4-FFF2-40B4-BE49-F238E27FC236}">
                <a16:creationId xmlns:a16="http://schemas.microsoft.com/office/drawing/2014/main" id="{E3242712-DD52-488C-8FC4-E35F524E6165}"/>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20</a:t>
            </a:r>
          </a:p>
        </p:txBody>
      </p:sp>
    </p:spTree>
    <p:extLst>
      <p:ext uri="{BB962C8B-B14F-4D97-AF65-F5344CB8AC3E}">
        <p14:creationId xmlns:p14="http://schemas.microsoft.com/office/powerpoint/2010/main" val="108360953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8BBEF9DA-50CC-41C4-8FC2-C286F54EEFE4}"/>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DANH MỤC DÙNG CHUNG VÀ PHÂN QUYỀN</a:t>
            </a:r>
          </a:p>
        </p:txBody>
      </p:sp>
      <p:sp>
        <p:nvSpPr>
          <p:cNvPr id="2" name="">
            <a:extLst xmlns:a="http://schemas.openxmlformats.org/drawingml/2006/main">
              <a:ext uri="{FF2B5EF4-FFF2-40B4-BE49-F238E27FC236}">
                <a16:creationId xmlns:a16="http://schemas.microsoft.com/office/drawing/2014/main" id="{E5D617BA-BEB0-4A5C-8667-109AA13DCD24}"/>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QUẢN TRỊ HỆ THỐNG</a:t>
            </a:r>
          </a:p>
        </p:txBody>
      </p:sp>
      <p:sp>
        <p:nvSpPr>
          <p:cNvPr id="3" name="">
            <a:extLst xmlns:a="http://schemas.openxmlformats.org/drawingml/2006/main">
              <a:ext uri="{FF2B5EF4-FFF2-40B4-BE49-F238E27FC236}">
                <a16:creationId xmlns:a16="http://schemas.microsoft.com/office/drawing/2014/main" id="{E0AE8D7F-213F-4AB6-8902-EF2394493068}"/>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XÁC THỰC VÀ PHẠM VI</a:t>
            </a:r>
          </a:p>
        </p:txBody>
      </p:sp>
      <p:sp>
        <p:nvSpPr>
          <p:cNvPr id="4" name="">
            <a:extLst xmlns:a="http://schemas.openxmlformats.org/drawingml/2006/main">
              <a:ext uri="{FF2B5EF4-FFF2-40B4-BE49-F238E27FC236}">
                <a16:creationId xmlns:a16="http://schemas.microsoft.com/office/drawing/2014/main" id="{F5AB01E2-D438-40FC-942B-7AA549CEA583}"/>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F8D0687B-2D71-49FB-9BFE-281D3D7766DC}"/>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CÁC PHÂN HỆ NGHIỆP VỤ</a:t>
            </a:r>
          </a:p>
        </p:txBody>
      </p:sp>
      <p:sp>
        <p:nvSpPr>
          <p:cNvPr id="6" name="">
            <a:extLst xmlns:a="http://schemas.openxmlformats.org/drawingml/2006/main">
              <a:ext uri="{FF2B5EF4-FFF2-40B4-BE49-F238E27FC236}">
                <a16:creationId xmlns:a16="http://schemas.microsoft.com/office/drawing/2014/main" id="{6F60F7D9-ED5A-42A6-AA2D-178E606457BA}"/>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2885982D-2B5F-42FF-BCB5-0B86D19705A5}"/>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Khai báo công ty, đơn vị, đội, loại xe, công việc, lô và tuyến</a:t>
            </a:r>
          </a:p>
        </p:txBody>
      </p:sp>
      <p:sp>
        <p:nvSpPr>
          <p:cNvPr id="8" name="">
            <a:extLst xmlns:a="http://schemas.openxmlformats.org/drawingml/2006/main">
              <a:ext uri="{FF2B5EF4-FFF2-40B4-BE49-F238E27FC236}">
                <a16:creationId xmlns:a16="http://schemas.microsoft.com/office/drawing/2014/main" id="{15ADBE6A-92B8-4B99-8A80-FCC9DD73244B}"/>
              </a:ext>
            </a:extLst>
          </p:cNvPr>
          <p:cNvSpPr>
            <a:spLocks xmlns:a="http://schemas.openxmlformats.org/drawingml/2006/main" noGrp="1"/>
          </p:cNvSpPr>
          <p:nvPr/>
        </p:nvSpPr>
        <p:spPr>
          <a:xfrm xmlns:a="http://schemas.openxmlformats.org/drawingml/2006/main">
            <a:off x="8001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Import preview, kiểm tra lỗi và commit danh mục</a:t>
            </a:r>
          </a:p>
        </p:txBody>
      </p:sp>
      <p:sp>
        <p:nvSpPr>
          <p:cNvPr id="9" name="">
            <a:extLst xmlns:a="http://schemas.openxmlformats.org/drawingml/2006/main">
              <a:ext uri="{FF2B5EF4-FFF2-40B4-BE49-F238E27FC236}">
                <a16:creationId xmlns:a16="http://schemas.microsoft.com/office/drawing/2014/main" id="{3752450F-FF2E-4B32-BD95-75791D7DE18A}"/>
              </a:ext>
            </a:extLst>
          </p:cNvPr>
          <p:cNvSpPr>
            <a:spLocks xmlns:a="http://schemas.openxmlformats.org/drawingml/2006/main" noGrp="1"/>
          </p:cNvSpPr>
          <p:nvPr/>
        </p:nvSpPr>
        <p:spPr>
          <a:xfrm xmlns:a="http://schemas.openxmlformats.org/drawingml/2006/main">
            <a:off x="8001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người dùng, vai trò và phân công đơn vị quản lý</a:t>
            </a:r>
          </a:p>
        </p:txBody>
      </p:sp>
      <p:sp>
        <p:nvSpPr>
          <p:cNvPr id="10" name="">
            <a:extLst xmlns:a="http://schemas.openxmlformats.org/drawingml/2006/main">
              <a:ext uri="{FF2B5EF4-FFF2-40B4-BE49-F238E27FC236}">
                <a16:creationId xmlns:a16="http://schemas.microsoft.com/office/drawing/2014/main" id="{E7F36815-5BE7-48D8-A0D3-F217154F7E43}"/>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Đăng nhập JWT và kiểm tra RolesGuard</a:t>
            </a:r>
          </a:p>
        </p:txBody>
      </p:sp>
      <p:sp>
        <p:nvSpPr>
          <p:cNvPr id="11" name="">
            <a:extLst xmlns:a="http://schemas.openxmlformats.org/drawingml/2006/main">
              <a:ext uri="{FF2B5EF4-FFF2-40B4-BE49-F238E27FC236}">
                <a16:creationId xmlns:a16="http://schemas.microsoft.com/office/drawing/2014/main" id="{336FD037-2662-4501-A635-220EA7D76521}"/>
              </a:ext>
            </a:extLst>
          </p:cNvPr>
          <p:cNvSpPr>
            <a:spLocks xmlns:a="http://schemas.openxmlformats.org/drawingml/2006/main" noGrp="1"/>
          </p:cNvSpPr>
          <p:nvPr/>
        </p:nvSpPr>
        <p:spPr>
          <a:xfrm xmlns:a="http://schemas.openxmlformats.org/drawingml/2006/main">
            <a:off x="46482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ĐƯỢC PHÉP TRUY CẬP PHẠM VI?</a:t>
            </a:r>
          </a:p>
        </p:txBody>
      </p:sp>
      <p:sp>
        <p:nvSpPr>
          <p:cNvPr id="12" name="">
            <a:extLst xmlns:a="http://schemas.openxmlformats.org/drawingml/2006/main">
              <a:ext uri="{FF2B5EF4-FFF2-40B4-BE49-F238E27FC236}">
                <a16:creationId xmlns:a16="http://schemas.microsoft.com/office/drawing/2014/main" id="{B683EEA5-B02F-42F9-80B1-BA64202633ED}"/>
              </a:ext>
            </a:extLst>
          </p:cNvPr>
          <p:cNvSpPr>
            <a:spLocks xmlns:a="http://schemas.openxmlformats.org/drawingml/2006/main" noGrp="1"/>
          </p:cNvSpPr>
          <p:nvPr/>
        </p:nvSpPr>
        <p:spPr>
          <a:xfrm xmlns:a="http://schemas.openxmlformats.org/drawingml/2006/main">
            <a:off x="84963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Lọc dữ liệu và nguồn lực theo management unit</a:t>
            </a:r>
          </a:p>
        </p:txBody>
      </p:sp>
      <p:sp>
        <p:nvSpPr>
          <p:cNvPr id="13" name="">
            <a:extLst xmlns:a="http://schemas.openxmlformats.org/drawingml/2006/main">
              <a:ext uri="{FF2B5EF4-FFF2-40B4-BE49-F238E27FC236}">
                <a16:creationId xmlns:a16="http://schemas.microsoft.com/office/drawing/2014/main" id="{9D267EDF-9215-49C4-8F15-0407E51BD6F4}"/>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Các module dùng cùng mã và quan hệ tham chiếu</a:t>
            </a:r>
          </a:p>
        </p:txBody>
      </p:sp>
      <p:sp>
        <p:nvSpPr>
          <p:cNvPr id="14" name="">
            <a:extLst xmlns:a="http://schemas.openxmlformats.org/drawingml/2006/main">
              <a:ext uri="{FF2B5EF4-FFF2-40B4-BE49-F238E27FC236}">
                <a16:creationId xmlns:a16="http://schemas.microsoft.com/office/drawing/2014/main" id="{96B88D15-31C3-44A5-8375-D6CB28484E16}"/>
              </a:ext>
            </a:extLst>
          </p:cNvPr>
          <p:cNvSpPr>
            <a:spLocks xmlns:a="http://schemas.openxmlformats.org/drawingml/2006/main" noGrp="1"/>
          </p:cNvSpPr>
          <p:nvPr/>
        </p:nvSpPr>
        <p:spPr>
          <a:xfrm xmlns:a="http://schemas.openxmlformats.org/drawingml/2006/main">
            <a:off x="46482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Audit thao tác thay đổi dữ liệu quan trọng</a:t>
            </a:r>
          </a:p>
        </p:txBody>
      </p:sp>
      <p:cxnSp>
        <p:nvCxnSpPr>
          <p:cNvPr id="41" name=""/>
          <p:cNvCxnSpPr>
            <a:stCxn xmlns:a="http://schemas.openxmlformats.org/drawingml/2006/main" id="7" idx="2"/>
            <a:endCxn xmlns:a="http://schemas.openxmlformats.org/drawingml/2006/main" id="8" idx="0"/>
          </p:cNvCxnSpPr>
          <p:nvPr/>
        </p:nvCxnSpPr>
        <p:spPr>
          <a:xfrm xmlns:a="http://schemas.openxmlformats.org/drawingml/2006/main">
            <a:off x="22479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a:off x="22479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3695700" y="2990850"/>
            <a:ext cx="952500" cy="3181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1" idx="1"/>
          </p:cNvCxnSpPr>
          <p:nvPr/>
        </p:nvCxnSpPr>
        <p:spPr>
          <a:xfrm xmlns:a="http://schemas.openxmlformats.org/drawingml/2006/main">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60960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3"/>
            <a:endCxn xmlns:a="http://schemas.openxmlformats.org/drawingml/2006/main" id="12" idx="1"/>
          </p:cNvCxnSpPr>
          <p:nvPr/>
        </p:nvCxnSpPr>
        <p:spPr>
          <a:xfrm xmlns:a="http://schemas.openxmlformats.org/drawingml/2006/main"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1" name="">
            <a:extLst xmlns:a="http://schemas.openxmlformats.org/drawingml/2006/main">
              <a:ext uri="{FF2B5EF4-FFF2-40B4-BE49-F238E27FC236}">
                <a16:creationId xmlns:a16="http://schemas.microsoft.com/office/drawing/2014/main" id="{9E47BA89-63A5-48EA-BA42-970794E427C2}"/>
              </a:ext>
            </a:extLst>
          </p:cNvPr>
          <p:cNvSpPr>
            <a:spLocks xmlns:a="http://schemas.openxmlformats.org/drawingml/2006/main" noGrp="1"/>
          </p:cNvSpPr>
          <p:nvPr/>
        </p:nvSpPr>
        <p:spPr>
          <a:xfrm xmlns:a="http://schemas.openxmlformats.org/drawingml/2006/main">
            <a:off x="7791450" y="41243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8" name=""/>
          <p:cNvCxnSpPr>
            <a:stCxn xmlns:a="http://schemas.openxmlformats.org/drawingml/2006/main" id="12" idx="2"/>
            <a:endCxn xmlns:a="http://schemas.openxmlformats.org/drawingml/2006/main" id="13" idx="0"/>
          </p:cNvCxnSpPr>
          <p:nvPr/>
        </p:nvCxnSpPr>
        <p:spPr>
          <a:xfrm xmlns:a="http://schemas.openxmlformats.org/drawingml/2006/main">
            <a:off x="9944100" y="4476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3" idx="1"/>
            <a:endCxn xmlns:a="http://schemas.openxmlformats.org/drawingml/2006/main" id="14" idx="3"/>
          </p:cNvCxnSpPr>
          <p:nvPr/>
        </p:nvCxnSpPr>
        <p:spPr>
          <a:xfrm xmlns:a="http://schemas.openxmlformats.org/drawingml/2006/main" flipH="1">
            <a:off x="7543800" y="5276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sp>
        <p:nvSpPr>
          <p:cNvPr id="24" name="">
            <a:extLst xmlns:a="http://schemas.openxmlformats.org/drawingml/2006/main">
              <a:ext uri="{FF2B5EF4-FFF2-40B4-BE49-F238E27FC236}">
                <a16:creationId xmlns:a16="http://schemas.microsoft.com/office/drawing/2014/main" id="{C3B51B3E-7A4F-415E-9993-14A83F2B4116}"/>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Khoảng trống hiện tại: quyền theo role đã có nhưng cách ly dữ liệu theo đơn vị chưa đồng nhất ở mọi service.</a:t>
            </a:r>
          </a:p>
        </p:txBody>
      </p:sp>
      <p:sp>
        <p:nvSpPr>
          <p:cNvPr id="25" name="">
            <a:extLst xmlns:a="http://schemas.openxmlformats.org/drawingml/2006/main">
              <a:ext uri="{FF2B5EF4-FFF2-40B4-BE49-F238E27FC236}">
                <a16:creationId xmlns:a16="http://schemas.microsoft.com/office/drawing/2014/main" id="{CF559EEF-5FB6-4422-A53E-C54265CD73DD}"/>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6" name="">
            <a:extLst xmlns:a="http://schemas.openxmlformats.org/drawingml/2006/main">
              <a:ext uri="{FF2B5EF4-FFF2-40B4-BE49-F238E27FC236}">
                <a16:creationId xmlns:a16="http://schemas.microsoft.com/office/drawing/2014/main" id="{5B4EDD33-95E6-4BF7-B2C9-E93AD038333E}"/>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21</a:t>
            </a:r>
          </a:p>
        </p:txBody>
      </p:sp>
    </p:spTree>
    <p:extLst>
      <p:ext uri="{BB962C8B-B14F-4D97-AF65-F5344CB8AC3E}">
        <p14:creationId xmlns:p14="http://schemas.microsoft.com/office/powerpoint/2010/main" val="108360953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4B949E66-AD5E-4DF0-9396-DA7A4D69F4ED}"/>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DASHBOARD, BÁO CÁO VÀ XỬ LÝ NGOẠI LỆ</a:t>
            </a:r>
          </a:p>
        </p:txBody>
      </p:sp>
      <p:sp>
        <p:nvSpPr>
          <p:cNvPr id="2" name="">
            <a:extLst xmlns:a="http://schemas.openxmlformats.org/drawingml/2006/main">
              <a:ext uri="{FF2B5EF4-FFF2-40B4-BE49-F238E27FC236}">
                <a16:creationId xmlns:a16="http://schemas.microsoft.com/office/drawing/2014/main" id="{911DC925-5919-47E9-9052-8F0FCC43C2BC}"/>
              </a:ext>
            </a:extLst>
          </p:cNvPr>
          <p:cNvSpPr>
            <a:spLocks xmlns:a="http://schemas.openxmlformats.org/drawingml/2006/main" noGrp="1"/>
          </p:cNvSpPr>
          <p:nvPr/>
        </p:nvSpPr>
        <p:spPr>
          <a:xfrm xmlns:a="http://schemas.openxmlformats.org/drawingml/2006/main">
            <a:off x="3238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DỮ LIỆU NGHIỆP VỤ</a:t>
            </a:r>
          </a:p>
        </p:txBody>
      </p:sp>
      <p:sp>
        <p:nvSpPr>
          <p:cNvPr id="3" name="">
            <a:extLst xmlns:a="http://schemas.openxmlformats.org/drawingml/2006/main">
              <a:ext uri="{FF2B5EF4-FFF2-40B4-BE49-F238E27FC236}">
                <a16:creationId xmlns:a16="http://schemas.microsoft.com/office/drawing/2014/main" id="{455D1C71-A0A3-44DC-98B0-14F2F1B41031}"/>
              </a:ext>
            </a:extLst>
          </p:cNvPr>
          <p:cNvSpPr>
            <a:spLocks xmlns:a="http://schemas.openxmlformats.org/drawingml/2006/main" noGrp="1"/>
          </p:cNvSpPr>
          <p:nvPr/>
        </p:nvSpPr>
        <p:spPr>
          <a:xfrm xmlns:a="http://schemas.openxmlformats.org/drawingml/2006/main">
            <a:off x="4171950" y="895350"/>
            <a:ext cx="3848100" cy="400050"/>
          </a:xfrm>
          <a:prstGeom xmlns:a="http://schemas.openxmlformats.org/drawingml/2006/main" prst="rect">
            <a:avLst/>
          </a:prstGeom>
          <a:solidFill xmlns:a="http://schemas.openxmlformats.org/drawingml/2006/main">
            <a:srgbClr val="F1F6FB"/>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75AA7"/>
                </a:solidFill>
                <a:latin typeface="Cambria"/>
                <a:ea typeface="Cambria"/>
                <a:cs typeface="Cambria"/>
              </a:defRPr>
            </a:pPr>
            <a:r>
              <a:rPr sz="1275" b="1" i="0">
                <a:solidFill>
                  <a:srgbClr val="075AA7"/>
                </a:solidFill>
                <a:latin typeface="Cambria"/>
                <a:ea typeface="Cambria"/>
                <a:cs typeface="Cambria"/>
              </a:rPr>
              <a:t>TỔNG HỢP VÀ CHỈ SỐ</a:t>
            </a:r>
          </a:p>
        </p:txBody>
      </p:sp>
      <p:sp>
        <p:nvSpPr>
          <p:cNvPr id="4" name="">
            <a:extLst xmlns:a="http://schemas.openxmlformats.org/drawingml/2006/main">
              <a:ext uri="{FF2B5EF4-FFF2-40B4-BE49-F238E27FC236}">
                <a16:creationId xmlns:a16="http://schemas.microsoft.com/office/drawing/2014/main" id="{0955A921-28D2-4D6C-9EDE-224EC734D969}"/>
              </a:ext>
            </a:extLst>
          </p:cNvPr>
          <p:cNvSpPr>
            <a:spLocks xmlns:a="http://schemas.openxmlformats.org/drawingml/2006/main" noGrp="1"/>
          </p:cNvSpPr>
          <p:nvPr/>
        </p:nvSpPr>
        <p:spPr>
          <a:xfrm xmlns:a="http://schemas.openxmlformats.org/drawingml/2006/main">
            <a:off x="41719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5" name="">
            <a:extLst xmlns:a="http://schemas.openxmlformats.org/drawingml/2006/main">
              <a:ext uri="{FF2B5EF4-FFF2-40B4-BE49-F238E27FC236}">
                <a16:creationId xmlns:a16="http://schemas.microsoft.com/office/drawing/2014/main" id="{5EB3044F-2822-41A6-9C92-DE32DB955C67}"/>
              </a:ext>
            </a:extLst>
          </p:cNvPr>
          <p:cNvSpPr>
            <a:spLocks xmlns:a="http://schemas.openxmlformats.org/drawingml/2006/main" noGrp="1"/>
          </p:cNvSpPr>
          <p:nvPr/>
        </p:nvSpPr>
        <p:spPr>
          <a:xfrm xmlns:a="http://schemas.openxmlformats.org/drawingml/2006/main">
            <a:off x="8020050" y="895350"/>
            <a:ext cx="3848100" cy="400050"/>
          </a:xfrm>
          <a:prstGeom xmlns:a="http://schemas.openxmlformats.org/drawingml/2006/main" prst="rect">
            <a:avLst/>
          </a:prstGeom>
          <a:solidFill xmlns:a="http://schemas.openxmlformats.org/drawingml/2006/main">
            <a:srgbClr val="F3F8F0"/>
          </a:solidFill>
          <a:ln xmlns:a="http://schemas.openxmlformats.org/drawingml/2006/main" w="9525">
            <a:solidFill>
              <a:srgbClr val="5FAE3E"/>
            </a:solid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275" b="1" i="0">
                <a:solidFill>
                  <a:srgbClr val="006B35"/>
                </a:solidFill>
                <a:latin typeface="Cambria"/>
                <a:ea typeface="Cambria"/>
                <a:cs typeface="Cambria"/>
              </a:defRPr>
            </a:pPr>
            <a:r>
              <a:rPr sz="1275" b="1" i="0">
                <a:solidFill>
                  <a:srgbClr val="006B35"/>
                </a:solidFill>
                <a:latin typeface="Cambria"/>
                <a:ea typeface="Cambria"/>
                <a:cs typeface="Cambria"/>
              </a:rPr>
              <a:t>NGƯỜI ĐIỀU HÀNH</a:t>
            </a:r>
          </a:p>
        </p:txBody>
      </p:sp>
      <p:sp>
        <p:nvSpPr>
          <p:cNvPr id="6" name="">
            <a:extLst xmlns:a="http://schemas.openxmlformats.org/drawingml/2006/main">
              <a:ext uri="{FF2B5EF4-FFF2-40B4-BE49-F238E27FC236}">
                <a16:creationId xmlns:a16="http://schemas.microsoft.com/office/drawing/2014/main" id="{2BD1C54E-8215-433E-9476-A3DE3728D0BA}"/>
              </a:ext>
            </a:extLst>
          </p:cNvPr>
          <p:cNvSpPr>
            <a:spLocks xmlns:a="http://schemas.openxmlformats.org/drawingml/2006/main" noGrp="1"/>
          </p:cNvSpPr>
          <p:nvPr/>
        </p:nvSpPr>
        <p:spPr>
          <a:xfrm xmlns:a="http://schemas.openxmlformats.org/drawingml/2006/main">
            <a:off x="8020050" y="1295400"/>
            <a:ext cx="14288" cy="476250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7CF030DA-722A-435F-89C0-38B7E0770C9A}"/>
              </a:ext>
            </a:extLst>
          </p:cNvPr>
          <p:cNvSpPr>
            <a:spLocks xmlns:a="http://schemas.openxmlformats.org/drawingml/2006/main" noGrp="1"/>
          </p:cNvSpPr>
          <p:nvPr/>
        </p:nvSpPr>
        <p:spPr>
          <a:xfrm xmlns:a="http://schemas.openxmlformats.org/drawingml/2006/main">
            <a:off x="800100" y="1504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Lệnh, GPS, nhiên liệu, BTSC, KPI và cảnh báo phát sinh</a:t>
            </a:r>
          </a:p>
        </p:txBody>
      </p:sp>
      <p:sp>
        <p:nvSpPr>
          <p:cNvPr id="8" name="">
            <a:extLst xmlns:a="http://schemas.openxmlformats.org/drawingml/2006/main">
              <a:ext uri="{FF2B5EF4-FFF2-40B4-BE49-F238E27FC236}">
                <a16:creationId xmlns:a16="http://schemas.microsoft.com/office/drawing/2014/main" id="{07863445-78E2-4054-8CC9-0537DEB78C9E}"/>
              </a:ext>
            </a:extLst>
          </p:cNvPr>
          <p:cNvSpPr>
            <a:spLocks xmlns:a="http://schemas.openxmlformats.org/drawingml/2006/main" noGrp="1"/>
          </p:cNvSpPr>
          <p:nvPr/>
        </p:nvSpPr>
        <p:spPr>
          <a:xfrm xmlns:a="http://schemas.openxmlformats.org/drawingml/2006/main">
            <a:off x="4648200" y="1504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API tổng hợp theo thời gian, đơn vị và trạng thái</a:t>
            </a:r>
          </a:p>
        </p:txBody>
      </p:sp>
      <p:sp>
        <p:nvSpPr>
          <p:cNvPr id="9" name="">
            <a:extLst xmlns:a="http://schemas.openxmlformats.org/drawingml/2006/main">
              <a:ext uri="{FF2B5EF4-FFF2-40B4-BE49-F238E27FC236}">
                <a16:creationId xmlns:a16="http://schemas.microsoft.com/office/drawing/2014/main" id="{7D4E7E0C-E83B-4785-918E-1C4622BAA621}"/>
              </a:ext>
            </a:extLst>
          </p:cNvPr>
          <p:cNvSpPr>
            <a:spLocks xmlns:a="http://schemas.openxmlformats.org/drawingml/2006/main" noGrp="1"/>
          </p:cNvSpPr>
          <p:nvPr/>
        </p:nvSpPr>
        <p:spPr>
          <a:xfrm xmlns:a="http://schemas.openxmlformats.org/drawingml/2006/main">
            <a:off x="46482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Tạo overview, live fleet, manager view và statistics</a:t>
            </a:r>
          </a:p>
        </p:txBody>
      </p:sp>
      <p:sp>
        <p:nvSpPr>
          <p:cNvPr id="10" name="">
            <a:extLst xmlns:a="http://schemas.openxmlformats.org/drawingml/2006/main">
              <a:ext uri="{FF2B5EF4-FFF2-40B4-BE49-F238E27FC236}">
                <a16:creationId xmlns:a16="http://schemas.microsoft.com/office/drawing/2014/main" id="{35BE74C1-F12C-45C6-8832-E5771E7EBDD6}"/>
              </a:ext>
            </a:extLst>
          </p:cNvPr>
          <p:cNvSpPr>
            <a:spLocks xmlns:a="http://schemas.openxmlformats.org/drawingml/2006/main" noGrp="1"/>
          </p:cNvSpPr>
          <p:nvPr/>
        </p:nvSpPr>
        <p:spPr>
          <a:xfrm xmlns:a="http://schemas.openxmlformats.org/drawingml/2006/main">
            <a:off x="8496300" y="2647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Theo dõi đội xe, tiến độ, tiêu hao, sự cố và năng suất</a:t>
            </a:r>
          </a:p>
        </p:txBody>
      </p:sp>
      <p:sp>
        <p:nvSpPr>
          <p:cNvPr id="11" name="">
            <a:extLst xmlns:a="http://schemas.openxmlformats.org/drawingml/2006/main">
              <a:ext uri="{FF2B5EF4-FFF2-40B4-BE49-F238E27FC236}">
                <a16:creationId xmlns:a16="http://schemas.microsoft.com/office/drawing/2014/main" id="{D4B5ABD5-3043-4F6C-8CE6-21C3B0295556}"/>
              </a:ext>
            </a:extLst>
          </p:cNvPr>
          <p:cNvSpPr>
            <a:spLocks xmlns:a="http://schemas.openxmlformats.org/drawingml/2006/main" noGrp="1"/>
          </p:cNvSpPr>
          <p:nvPr/>
        </p:nvSpPr>
        <p:spPr>
          <a:xfrm xmlns:a="http://schemas.openxmlformats.org/drawingml/2006/main">
            <a:off x="8496300" y="3790950"/>
            <a:ext cx="2895600" cy="819150"/>
          </a:xfrm>
          <a:prstGeom xmlns:a="http://schemas.openxmlformats.org/drawingml/2006/main" prst="diamond">
            <a:avLst/>
          </a:prstGeom>
          <a:solidFill xmlns:a="http://schemas.openxmlformats.org/drawingml/2006/main">
            <a:srgbClr val="F8D1B0"/>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88671"/>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CÓ CHỈ SỐ BẤT THƯỜNG?</a:t>
            </a:r>
          </a:p>
        </p:txBody>
      </p:sp>
      <p:sp>
        <p:nvSpPr>
          <p:cNvPr id="12" name="">
            <a:extLst xmlns:a="http://schemas.openxmlformats.org/drawingml/2006/main">
              <a:ext uri="{FF2B5EF4-FFF2-40B4-BE49-F238E27FC236}">
                <a16:creationId xmlns:a16="http://schemas.microsoft.com/office/drawing/2014/main" id="{60A2F007-639E-4580-B923-1DC560BFCC07}"/>
              </a:ext>
            </a:extLst>
          </p:cNvPr>
          <p:cNvSpPr>
            <a:spLocks xmlns:a="http://schemas.openxmlformats.org/drawingml/2006/main" noGrp="1"/>
          </p:cNvSpPr>
          <p:nvPr/>
        </p:nvSpPr>
        <p:spPr>
          <a:xfrm xmlns:a="http://schemas.openxmlformats.org/drawingml/2006/main">
            <a:off x="4648200" y="3790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Mở chi tiết lệnh, xe, cảnh báo hoặc phiếu xưởng</a:t>
            </a:r>
          </a:p>
        </p:txBody>
      </p:sp>
      <p:sp>
        <p:nvSpPr>
          <p:cNvPr id="13" name="">
            <a:extLst xmlns:a="http://schemas.openxmlformats.org/drawingml/2006/main">
              <a:ext uri="{FF2B5EF4-FFF2-40B4-BE49-F238E27FC236}">
                <a16:creationId xmlns:a16="http://schemas.microsoft.com/office/drawing/2014/main" id="{A1BF1A65-5B92-4619-B72E-65FE97CDA7D1}"/>
              </a:ext>
            </a:extLst>
          </p:cNvPr>
          <p:cNvSpPr>
            <a:spLocks xmlns:a="http://schemas.openxmlformats.org/drawingml/2006/main" noGrp="1"/>
          </p:cNvSpPr>
          <p:nvPr/>
        </p:nvSpPr>
        <p:spPr>
          <a:xfrm xmlns:a="http://schemas.openxmlformats.org/drawingml/2006/main">
            <a:off x="800100" y="4933950"/>
            <a:ext cx="2895600" cy="685800"/>
          </a:xfrm>
          <a:prstGeom xmlns:a="http://schemas.openxmlformats.org/drawingml/2006/main" prst="rect">
            <a:avLst/>
          </a:prstGeom>
          <a:solidFill xmlns:a="http://schemas.openxmlformats.org/drawingml/2006/main">
            <a:srgbClr val="FFF5CE"/>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0">
                <a:solidFill>
                  <a:srgbClr val="17212B"/>
                </a:solidFill>
                <a:latin typeface="Cambria"/>
                <a:ea typeface="Cambria"/>
                <a:cs typeface="Cambria"/>
              </a:defRPr>
            </a:pPr>
            <a:r>
              <a:rPr sz="1163" b="0">
                <a:solidFill>
                  <a:srgbClr val="17212B"/>
                </a:solidFill>
                <a:latin typeface="Cambria"/>
                <a:ea typeface="Cambria"/>
                <a:cs typeface="Cambria"/>
              </a:rPr>
              <a:t>Bổ sung dữ liệu, xử lý ngoại lệ và cập nhật trạng thái</a:t>
            </a:r>
          </a:p>
        </p:txBody>
      </p:sp>
      <p:sp>
        <p:nvSpPr>
          <p:cNvPr id="14" name="">
            <a:extLst xmlns:a="http://schemas.openxmlformats.org/drawingml/2006/main">
              <a:ext uri="{FF2B5EF4-FFF2-40B4-BE49-F238E27FC236}">
                <a16:creationId xmlns:a16="http://schemas.microsoft.com/office/drawing/2014/main" id="{65B8FBF6-3B18-4817-B608-432CC1860519}"/>
              </a:ext>
            </a:extLst>
          </p:cNvPr>
          <p:cNvSpPr>
            <a:spLocks xmlns:a="http://schemas.openxmlformats.org/drawingml/2006/main" noGrp="1"/>
          </p:cNvSpPr>
          <p:nvPr/>
        </p:nvSpPr>
        <p:spPr>
          <a:xfrm xmlns:a="http://schemas.openxmlformats.org/drawingml/2006/main">
            <a:off x="8496300" y="4933950"/>
            <a:ext cx="2895600" cy="685800"/>
          </a:xfrm>
          <a:prstGeom xmlns:a="http://schemas.openxmlformats.org/drawingml/2006/main" prst="roundRect">
            <a:avLst>
              <a:gd name="adj" fmla="val 11111"/>
            </a:avLst>
          </a:prstGeom>
          <a:solidFill xmlns:a="http://schemas.openxmlformats.org/drawingml/2006/main">
            <a:srgbClr val="E8F2E2"/>
          </a:solidFill>
          <a:ln xmlns:a="http://schemas.openxmlformats.org/drawingml/2006/main" w="13335">
            <a:solidFill>
              <a:srgbClr val="006B35"/>
            </a:solidFill>
            <a:prstDash val="solid"/>
          </a:ln>
        </p:spPr>
        <p:txBody>
          <a:bodyPr xmlns:a="http://schemas.openxmlformats.org/drawingml/2006/main" wrap="square" lIns="66675" tIns="47625" rIns="66675" bIns="47625" anchor="ctr">
            <a:normAutofit fontScale="100000"/>
          </a:bodyPr>
          <a:lstStyle xmlns:a="http://schemas.openxmlformats.org/drawingml/2006/main"/>
          <a:p xmlns:a="http://schemas.openxmlformats.org/drawingml/2006/main">
            <a:pPr algn="ctr">
              <a:defRPr sz="1163" b="1">
                <a:solidFill>
                  <a:srgbClr val="17212B"/>
                </a:solidFill>
                <a:latin typeface="Cambria"/>
                <a:ea typeface="Cambria"/>
                <a:cs typeface="Cambria"/>
              </a:defRPr>
            </a:pPr>
            <a:r>
              <a:rPr sz="1163" b="1">
                <a:solidFill>
                  <a:srgbClr val="17212B"/>
                </a:solidFill>
                <a:latin typeface="Cambria"/>
                <a:ea typeface="Cambria"/>
                <a:cs typeface="Cambria"/>
              </a:rPr>
              <a:t>Xuất báo cáo và theo dõi kết quả xử lý</a:t>
            </a:r>
          </a:p>
        </p:txBody>
      </p: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3695700" y="1847850"/>
            <a:ext cx="952500" cy="4324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3" name=""/>
          <p:cNvCxnSpPr>
            <a:stCxn xmlns:a="http://schemas.openxmlformats.org/drawingml/2006/main" id="8" idx="2"/>
            <a:endCxn xmlns:a="http://schemas.openxmlformats.org/drawingml/2006/main" id="9" idx="0"/>
          </p:cNvCxnSpPr>
          <p:nvPr/>
        </p:nvCxnSpPr>
        <p:spPr>
          <a:xfrm xmlns:a="http://schemas.openxmlformats.org/drawingml/2006/main">
            <a:off x="6096000" y="2190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7543800" y="2990850"/>
            <a:ext cx="952500" cy="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5" name=""/>
          <p:cNvCxnSpPr>
            <a:stCxn xmlns:a="http://schemas.openxmlformats.org/drawingml/2006/main" id="10" idx="2"/>
            <a:endCxn xmlns:a="http://schemas.openxmlformats.org/drawingml/2006/main" id="11" idx="0"/>
          </p:cNvCxnSpPr>
          <p:nvPr/>
        </p:nvCxnSpPr>
        <p:spPr>
          <a:xfrm xmlns:a="http://schemas.openxmlformats.org/drawingml/2006/main">
            <a:off x="9944100" y="3333750"/>
            <a:ext cx="0" cy="457200"/>
          </a:xfrm>
          <a:prstGeom xmlns:a="http://schemas.openxmlformats.org/drawingml/2006/main" prst="straightConnector1">
            <a:avLst/>
          </a:prstGeom>
          <a:ln xmlns:a="http://schemas.openxmlformats.org/drawingml/2006/main" w="19050">
            <a:solidFill>
              <a:srgbClr val="5FAE3E"/>
            </a:solidFill>
            <a:prstDash val="solid"/>
            <a:tailEnd type="arrow" w="med" len="med"/>
          </a:ln>
        </p:spPr>
      </p:cxnSp>
      <p:cxnSp>
        <p:nvCxnSpPr>
          <p:cNvPr id="46" name=""/>
          <p:cNvCxnSpPr>
            <a:stCxn xmlns:a="http://schemas.openxmlformats.org/drawingml/2006/main" id="11" idx="1"/>
            <a:endCxn xmlns:a="http://schemas.openxmlformats.org/drawingml/2006/main" id="12" idx="3"/>
          </p:cNvCxnSpPr>
          <p:nvPr/>
        </p:nvCxnSpPr>
        <p:spPr>
          <a:xfrm xmlns:a="http://schemas.openxmlformats.org/drawingml/2006/main" flipH="1" flipV="1">
            <a:off x="7543800" y="4133850"/>
            <a:ext cx="952500" cy="66675"/>
          </a:xfrm>
          <a:prstGeom xmlns:a="http://schemas.openxmlformats.org/drawingml/2006/main" prst="bentConnector3">
            <a:avLst>
              <a:gd name="adj1" fmla="val 50000"/>
            </a:avLst>
          </a:prstGeom>
          <a:ln xmlns:a="http://schemas.openxmlformats.org/drawingml/2006/main" w="19050">
            <a:solidFill>
              <a:srgbClr val="5FAE3E"/>
            </a:solidFill>
            <a:prstDash val="solid"/>
            <a:tailEnd type="arrow" w="med" len="med"/>
          </a:ln>
        </p:spPr>
      </p:cxnSp>
      <p:sp>
        <p:nvSpPr>
          <p:cNvPr id="20" name="">
            <a:extLst xmlns:a="http://schemas.openxmlformats.org/drawingml/2006/main">
              <a:ext uri="{FF2B5EF4-FFF2-40B4-BE49-F238E27FC236}">
                <a16:creationId xmlns:a16="http://schemas.microsoft.com/office/drawing/2014/main" id="{EDC8E7DF-3051-454A-A121-FE74DBA8D8B8}"/>
              </a:ext>
            </a:extLst>
          </p:cNvPr>
          <p:cNvSpPr>
            <a:spLocks xmlns:a="http://schemas.openxmlformats.org/drawingml/2006/main" noGrp="1"/>
          </p:cNvSpPr>
          <p:nvPr/>
        </p:nvSpPr>
        <p:spPr>
          <a:xfrm xmlns:a="http://schemas.openxmlformats.org/drawingml/2006/main">
            <a:off x="7705725" y="41624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Có</a:t>
            </a:r>
          </a:p>
        </p:txBody>
      </p:sp>
      <p:cxnSp>
        <p:nvCxnSpPr>
          <p:cNvPr id="48" name=""/>
          <p:cNvCxnSpPr>
            <a:stCxn xmlns:a="http://schemas.openxmlformats.org/drawingml/2006/main" id="12" idx="1"/>
            <a:endCxn xmlns:a="http://schemas.openxmlformats.org/drawingml/2006/main" id="13" idx="3"/>
          </p:cNvCxnSpPr>
          <p:nvPr/>
        </p:nvCxnSpPr>
        <p:spPr>
          <a:xfrm xmlns:a="http://schemas.openxmlformats.org/drawingml/2006/main" flipH="1">
            <a:off x="3695700" y="4133850"/>
            <a:ext cx="952500" cy="2038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49" name=""/>
          <p:cNvCxnSpPr>
            <a:stCxn xmlns:a="http://schemas.openxmlformats.org/drawingml/2006/main" id="13" idx="3"/>
            <a:endCxn xmlns:a="http://schemas.openxmlformats.org/drawingml/2006/main" id="14" idx="1"/>
          </p:cNvCxnSpPr>
          <p:nvPr/>
        </p:nvCxnSpPr>
        <p:spPr>
          <a:xfrm xmlns:a="http://schemas.openxmlformats.org/drawingml/2006/main">
            <a:off x="3695700" y="5276850"/>
            <a:ext cx="4800600" cy="895350"/>
          </a:xfrm>
          <a:prstGeom xmlns:a="http://schemas.openxmlformats.org/drawingml/2006/main" prst="bentConnector4">
            <a:avLst/>
          </a:prstGeom>
          <a:ln xmlns:a="http://schemas.openxmlformats.org/drawingml/2006/main" w="19050">
            <a:solidFill>
              <a:srgbClr val="5FAE3E"/>
            </a:solidFill>
            <a:prstDash val="solid"/>
            <a:tailEnd type="arrow" w="med" len="med"/>
          </a:ln>
        </p:spPr>
      </p:cxnSp>
      <p:cxnSp>
        <p:nvCxnSpPr>
          <p:cNvPr id="50" name=""/>
          <p:cNvCxnSpPr>
            <a:stCxn xmlns:a="http://schemas.openxmlformats.org/drawingml/2006/main" id="11" idx="2"/>
            <a:endCxn xmlns:a="http://schemas.openxmlformats.org/drawingml/2006/main" id="14" idx="0"/>
          </p:cNvCxnSpPr>
          <p:nvPr/>
        </p:nvCxnSpPr>
        <p:spPr>
          <a:xfrm xmlns:a="http://schemas.openxmlformats.org/drawingml/2006/main">
            <a:off x="9944100" y="4610100"/>
            <a:ext cx="0" cy="323850"/>
          </a:xfrm>
          <a:prstGeom xmlns:a="http://schemas.openxmlformats.org/drawingml/2006/main" prst="straightConnector1">
            <a:avLst/>
          </a:prstGeom>
          <a:ln xmlns:a="http://schemas.openxmlformats.org/drawingml/2006/main" w="19050">
            <a:solidFill>
              <a:srgbClr val="5FAE3E"/>
            </a:solidFill>
            <a:prstDash val="dash"/>
            <a:tailEnd type="arrow" w="med" len="med"/>
          </a:ln>
        </p:spPr>
      </p:cxnSp>
      <p:sp>
        <p:nvSpPr>
          <p:cNvPr id="24" name="">
            <a:extLst xmlns:a="http://schemas.openxmlformats.org/drawingml/2006/main">
              <a:ext uri="{FF2B5EF4-FFF2-40B4-BE49-F238E27FC236}">
                <a16:creationId xmlns:a16="http://schemas.microsoft.com/office/drawing/2014/main" id="{127F88F0-82B7-496B-9B67-F0DAB2C47CB0}"/>
              </a:ext>
            </a:extLst>
          </p:cNvPr>
          <p:cNvSpPr>
            <a:spLocks xmlns:a="http://schemas.openxmlformats.org/drawingml/2006/main" noGrp="1"/>
          </p:cNvSpPr>
          <p:nvPr/>
        </p:nvSpPr>
        <p:spPr>
          <a:xfrm xmlns:a="http://schemas.openxmlformats.org/drawingml/2006/main">
            <a:off x="10582275" y="4848225"/>
            <a:ext cx="666750" cy="209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938" b="1" i="0">
                <a:solidFill>
                  <a:srgbClr val="59636E"/>
                </a:solidFill>
                <a:latin typeface="Cambria"/>
                <a:ea typeface="Cambria"/>
                <a:cs typeface="Cambria"/>
              </a:defRPr>
            </a:pPr>
            <a:r>
              <a:rPr sz="938" b="1" i="0">
                <a:solidFill>
                  <a:srgbClr val="59636E"/>
                </a:solidFill>
                <a:latin typeface="Cambria"/>
                <a:ea typeface="Cambria"/>
                <a:cs typeface="Cambria"/>
              </a:rPr>
              <a:t>Không</a:t>
            </a:r>
          </a:p>
        </p:txBody>
      </p:sp>
      <p:sp>
        <p:nvSpPr>
          <p:cNvPr id="25" name="">
            <a:extLst xmlns:a="http://schemas.openxmlformats.org/drawingml/2006/main">
              <a:ext uri="{FF2B5EF4-FFF2-40B4-BE49-F238E27FC236}">
                <a16:creationId xmlns:a16="http://schemas.microsoft.com/office/drawing/2014/main" id="{5A8E5F44-513E-417A-BA42-02C6B77846B6}"/>
              </a:ext>
            </a:extLst>
          </p:cNvPr>
          <p:cNvSpPr>
            <a:spLocks xmlns:a="http://schemas.openxmlformats.org/drawingml/2006/main" noGrp="1"/>
          </p:cNvSpPr>
          <p:nvPr/>
        </p:nvSpPr>
        <p:spPr>
          <a:xfrm xmlns:a="http://schemas.openxmlformats.org/drawingml/2006/main">
            <a:off x="704850" y="6115050"/>
            <a:ext cx="1078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013" b="0" i="1">
                <a:solidFill>
                  <a:srgbClr val="E00000"/>
                </a:solidFill>
                <a:latin typeface="Cambria"/>
                <a:ea typeface="Cambria"/>
                <a:cs typeface="Cambria"/>
              </a:defRPr>
            </a:pPr>
            <a:r>
              <a:rPr sz="1013" b="0" i="1">
                <a:solidFill>
                  <a:srgbClr val="E00000"/>
                </a:solidFill>
                <a:latin typeface="Cambria"/>
                <a:ea typeface="Cambria"/>
                <a:cs typeface="Cambria"/>
              </a:rPr>
              <a:t>Một số màn hình frontend vẫn có dữ liệu demo hoặc fallback. Chỉ số cần đối chiếu API trước khi dùng làm báo cáo chính thức.</a:t>
            </a:r>
          </a:p>
        </p:txBody>
      </p:sp>
      <p:sp>
        <p:nvSpPr>
          <p:cNvPr id="26" name="">
            <a:extLst xmlns:a="http://schemas.openxmlformats.org/drawingml/2006/main">
              <a:ext uri="{FF2B5EF4-FFF2-40B4-BE49-F238E27FC236}">
                <a16:creationId xmlns:a16="http://schemas.microsoft.com/office/drawing/2014/main" id="{93595C2A-4593-475B-88C2-EE6FCE56AB89}"/>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27" name="">
            <a:extLst xmlns:a="http://schemas.openxmlformats.org/drawingml/2006/main">
              <a:ext uri="{FF2B5EF4-FFF2-40B4-BE49-F238E27FC236}">
                <a16:creationId xmlns:a16="http://schemas.microsoft.com/office/drawing/2014/main" id="{35F6C193-A4B7-4D60-A512-342CC8115AA3}"/>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22</a:t>
            </a:r>
          </a:p>
        </p:txBody>
      </p:sp>
    </p:spTree>
    <p:extLst>
      <p:ext uri="{BB962C8B-B14F-4D97-AF65-F5344CB8AC3E}">
        <p14:creationId xmlns:p14="http://schemas.microsoft.com/office/powerpoint/2010/main" val="108360953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6142BDC8-10A8-4DF6-9F9E-6E6930E2BB68}"/>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TIẾN ĐỘ PHÁT TRIỂN HIỆN TẠI</a:t>
            </a:r>
          </a:p>
        </p:txBody>
      </p:sp>
      <p:sp>
        <p:nvSpPr>
          <p:cNvPr id="2" name="">
            <a:extLst xmlns:a="http://schemas.openxmlformats.org/drawingml/2006/main">
              <a:ext uri="{FF2B5EF4-FFF2-40B4-BE49-F238E27FC236}">
                <a16:creationId xmlns:a16="http://schemas.microsoft.com/office/drawing/2014/main" id="{8D983E16-17D0-425C-95B9-ED105A2D0F5B}"/>
              </a:ext>
            </a:extLst>
          </p:cNvPr>
          <p:cNvSpPr>
            <a:spLocks xmlns:a="http://schemas.openxmlformats.org/drawingml/2006/main" noGrp="1"/>
          </p:cNvSpPr>
          <p:nvPr/>
        </p:nvSpPr>
        <p:spPr>
          <a:xfrm xmlns:a="http://schemas.openxmlformats.org/drawingml/2006/main">
            <a:off x="7239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104</a:t>
            </a:r>
          </a:p>
        </p:txBody>
      </p:sp>
      <p:sp>
        <p:nvSpPr>
          <p:cNvPr id="3" name="">
            <a:extLst xmlns:a="http://schemas.openxmlformats.org/drawingml/2006/main">
              <a:ext uri="{FF2B5EF4-FFF2-40B4-BE49-F238E27FC236}">
                <a16:creationId xmlns:a16="http://schemas.microsoft.com/office/drawing/2014/main" id="{333EB0DD-A486-455E-8B37-8F3E75A75B6F}"/>
              </a:ext>
            </a:extLst>
          </p:cNvPr>
          <p:cNvSpPr>
            <a:spLocks xmlns:a="http://schemas.openxmlformats.org/drawingml/2006/main" noGrp="1"/>
          </p:cNvSpPr>
          <p:nvPr/>
        </p:nvSpPr>
        <p:spPr>
          <a:xfrm xmlns:a="http://schemas.openxmlformats.org/drawingml/2006/main">
            <a:off x="7239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đường dẫn web</a:t>
            </a:r>
          </a:p>
        </p:txBody>
      </p:sp>
      <p:sp>
        <p:nvSpPr>
          <p:cNvPr id="4" name="">
            <a:extLst xmlns:a="http://schemas.openxmlformats.org/drawingml/2006/main">
              <a:ext uri="{FF2B5EF4-FFF2-40B4-BE49-F238E27FC236}">
                <a16:creationId xmlns:a16="http://schemas.microsoft.com/office/drawing/2014/main" id="{203E44A3-5872-403C-BA18-A3FF6B9EE040}"/>
              </a:ext>
            </a:extLst>
          </p:cNvPr>
          <p:cNvSpPr>
            <a:spLocks xmlns:a="http://schemas.openxmlformats.org/drawingml/2006/main" noGrp="1"/>
          </p:cNvSpPr>
          <p:nvPr/>
        </p:nvSpPr>
        <p:spPr>
          <a:xfrm xmlns:a="http://schemas.openxmlformats.org/drawingml/2006/main">
            <a:off x="35052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75AA7"/>
                </a:solidFill>
                <a:latin typeface="Cambria"/>
                <a:ea typeface="Cambria"/>
                <a:cs typeface="Cambria"/>
              </a:defRPr>
            </a:pPr>
            <a:r>
              <a:rPr sz="3600" b="1" i="0">
                <a:solidFill>
                  <a:srgbClr val="075AA7"/>
                </a:solidFill>
                <a:latin typeface="Cambria"/>
                <a:ea typeface="Cambria"/>
                <a:cs typeface="Cambria"/>
              </a:rPr>
              <a:t>27</a:t>
            </a:r>
          </a:p>
        </p:txBody>
      </p:sp>
      <p:sp>
        <p:nvSpPr>
          <p:cNvPr id="5" name="">
            <a:extLst xmlns:a="http://schemas.openxmlformats.org/drawingml/2006/main">
              <a:ext uri="{FF2B5EF4-FFF2-40B4-BE49-F238E27FC236}">
                <a16:creationId xmlns:a16="http://schemas.microsoft.com/office/drawing/2014/main" id="{DD1E3AF5-BF70-4720-BA53-6C13E15ADE40}"/>
              </a:ext>
            </a:extLst>
          </p:cNvPr>
          <p:cNvSpPr>
            <a:spLocks xmlns:a="http://schemas.openxmlformats.org/drawingml/2006/main" noGrp="1"/>
          </p:cNvSpPr>
          <p:nvPr/>
        </p:nvSpPr>
        <p:spPr>
          <a:xfrm xmlns:a="http://schemas.openxmlformats.org/drawingml/2006/main">
            <a:off x="35052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backend controllers</a:t>
            </a:r>
          </a:p>
        </p:txBody>
      </p:sp>
      <p:sp>
        <p:nvSpPr>
          <p:cNvPr id="6" name="">
            <a:extLst xmlns:a="http://schemas.openxmlformats.org/drawingml/2006/main">
              <a:ext uri="{FF2B5EF4-FFF2-40B4-BE49-F238E27FC236}">
                <a16:creationId xmlns:a16="http://schemas.microsoft.com/office/drawing/2014/main" id="{C67FD5AF-6345-455A-A100-66AFBAEC3679}"/>
              </a:ext>
            </a:extLst>
          </p:cNvPr>
          <p:cNvSpPr>
            <a:spLocks xmlns:a="http://schemas.openxmlformats.org/drawingml/2006/main" noGrp="1"/>
          </p:cNvSpPr>
          <p:nvPr/>
        </p:nvSpPr>
        <p:spPr>
          <a:xfrm xmlns:a="http://schemas.openxmlformats.org/drawingml/2006/main">
            <a:off x="62865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87518"/>
                </a:solidFill>
                <a:latin typeface="Cambria"/>
                <a:ea typeface="Cambria"/>
                <a:cs typeface="Cambria"/>
              </a:defRPr>
            </a:pPr>
            <a:r>
              <a:rPr sz="3600" b="1" i="0">
                <a:solidFill>
                  <a:srgbClr val="E87518"/>
                </a:solidFill>
                <a:latin typeface="Cambria"/>
                <a:ea typeface="Cambria"/>
                <a:cs typeface="Cambria"/>
              </a:rPr>
              <a:t>66</a:t>
            </a:r>
          </a:p>
        </p:txBody>
      </p:sp>
      <p:sp>
        <p:nvSpPr>
          <p:cNvPr id="7" name="">
            <a:extLst xmlns:a="http://schemas.openxmlformats.org/drawingml/2006/main">
              <a:ext uri="{FF2B5EF4-FFF2-40B4-BE49-F238E27FC236}">
                <a16:creationId xmlns:a16="http://schemas.microsoft.com/office/drawing/2014/main" id="{740CB0CF-B638-4BC9-AAEA-84A0ED0880C6}"/>
              </a:ext>
            </a:extLst>
          </p:cNvPr>
          <p:cNvSpPr>
            <a:spLocks xmlns:a="http://schemas.openxmlformats.org/drawingml/2006/main" noGrp="1"/>
          </p:cNvSpPr>
          <p:nvPr/>
        </p:nvSpPr>
        <p:spPr>
          <a:xfrm xmlns:a="http://schemas.openxmlformats.org/drawingml/2006/main">
            <a:off x="62865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Prisma models</a:t>
            </a:r>
          </a:p>
        </p:txBody>
      </p:sp>
      <p:sp>
        <p:nvSpPr>
          <p:cNvPr id="8" name="">
            <a:extLst xmlns:a="http://schemas.openxmlformats.org/drawingml/2006/main">
              <a:ext uri="{FF2B5EF4-FFF2-40B4-BE49-F238E27FC236}">
                <a16:creationId xmlns:a16="http://schemas.microsoft.com/office/drawing/2014/main" id="{EF9FC0E7-EDEA-4E3F-B45B-813A2C4B125E}"/>
              </a:ext>
            </a:extLst>
          </p:cNvPr>
          <p:cNvSpPr>
            <a:spLocks xmlns:a="http://schemas.openxmlformats.org/drawingml/2006/main" noGrp="1"/>
          </p:cNvSpPr>
          <p:nvPr/>
        </p:nvSpPr>
        <p:spPr>
          <a:xfrm xmlns:a="http://schemas.openxmlformats.org/drawingml/2006/main">
            <a:off x="9067800" y="1000125"/>
            <a:ext cx="228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E00000"/>
                </a:solidFill>
                <a:latin typeface="Cambria"/>
                <a:ea typeface="Cambria"/>
                <a:cs typeface="Cambria"/>
              </a:defRPr>
            </a:pPr>
            <a:r>
              <a:rPr sz="3600" b="1" i="0">
                <a:solidFill>
                  <a:srgbClr val="E00000"/>
                </a:solidFill>
                <a:latin typeface="Cambria"/>
                <a:ea typeface="Cambria"/>
                <a:cs typeface="Cambria"/>
              </a:rPr>
              <a:t>170</a:t>
            </a:r>
          </a:p>
        </p:txBody>
      </p:sp>
      <p:sp>
        <p:nvSpPr>
          <p:cNvPr id="9" name="">
            <a:extLst xmlns:a="http://schemas.openxmlformats.org/drawingml/2006/main">
              <a:ext uri="{FF2B5EF4-FFF2-40B4-BE49-F238E27FC236}">
                <a16:creationId xmlns:a16="http://schemas.microsoft.com/office/drawing/2014/main" id="{850DCDB6-3B11-4E00-B204-E75CBC7D6EAB}"/>
              </a:ext>
            </a:extLst>
          </p:cNvPr>
          <p:cNvSpPr>
            <a:spLocks xmlns:a="http://schemas.openxmlformats.org/drawingml/2006/main" noGrp="1"/>
          </p:cNvSpPr>
          <p:nvPr/>
        </p:nvSpPr>
        <p:spPr>
          <a:xfrm xmlns:a="http://schemas.openxmlformats.org/drawingml/2006/main">
            <a:off x="9067800" y="1619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1" i="0">
                <a:solidFill>
                  <a:srgbClr val="17212B"/>
                </a:solidFill>
                <a:latin typeface="Cambria"/>
                <a:ea typeface="Cambria"/>
                <a:cs typeface="Cambria"/>
              </a:defRPr>
            </a:pPr>
            <a:r>
              <a:rPr sz="1350" b="1" i="0">
                <a:solidFill>
                  <a:srgbClr val="17212B"/>
                </a:solidFill>
                <a:latin typeface="Cambria"/>
                <a:ea typeface="Cambria"/>
                <a:cs typeface="Cambria"/>
              </a:rPr>
              <a:t>tests đạt</a:t>
            </a:r>
          </a:p>
        </p:txBody>
      </p:sp>
      <p:graphicFrame>
        <p:nvGraphicFramePr>
          <p:cNvPr id="23" name=""/>
          <p:cNvGraphicFramePr/>
          <p:nvPr/>
        </p:nvGraphicFramePr>
        <p:xfrm>
          <a:off xmlns:a="http://schemas.openxmlformats.org/drawingml/2006/main" x="495300" y="2190750"/>
          <a:ext xmlns:a="http://schemas.openxmlformats.org/drawingml/2006/main" cx="11201400" cy="3429000"/>
        </p:xfrm>
        <a:graphic xmlns:a="http://schemas.openxmlformats.org/drawingml/2006/main">
          <a:graphicData uri="http://schemas.openxmlformats.org/drawingml/2006/table">
            <a:tbl>
              <a:tblPr/>
              <a:tblGrid>
                <a:gridCol w="2000250"/>
                <a:gridCol w="4572000"/>
                <a:gridCol w="4629150"/>
              </a:tblGrid>
              <a:tr h="457200">
                <a:tc>
                  <a:txBody>
                    <a:bodyPr/>
                    <a:lstStyle/>
                    <a:p>
                      <a:r>
                        <a:t>LỚP</a:t>
                      </a:r>
                    </a:p>
                  </a:txBody>
                  <a:tcPr marL="91440" marR="91440" marT="45720" marB="45720"/>
                </a:tc>
                <a:tc>
                  <a:txBody>
                    <a:bodyPr/>
                    <a:lstStyle/>
                    <a:p>
                      <a:r>
                        <a:t>BẰNG CHỨNG ĐÃ CÓ</a:t>
                      </a:r>
                    </a:p>
                  </a:txBody>
                  <a:tcPr marL="91440" marR="91440" marT="45720" marB="45720"/>
                </a:tc>
                <a:tc>
                  <a:txBody>
                    <a:bodyPr/>
                    <a:lstStyle/>
                    <a:p>
                      <a:r>
                        <a:t>NHẬN ĐỊNH TIẾN ĐỘ</a:t>
                      </a:r>
                    </a:p>
                  </a:txBody>
                  <a:tcPr marL="91440" marR="91440" marT="45720" marB="45720"/>
                </a:tc>
              </a:tr>
              <a:tr h="590550">
                <a:tc>
                  <a:txBody>
                    <a:bodyPr/>
                    <a:lstStyle/>
                    <a:p>
                      <a:r>
                        <a:t>Web</a:t>
                      </a:r>
                    </a:p>
                  </a:txBody>
                  <a:tcPr marL="91440" marR="91440" marT="45720" marB="45720"/>
                </a:tc>
                <a:tc>
                  <a:txBody>
                    <a:bodyPr/>
                    <a:lstStyle/>
                    <a:p>
                      <a:r>
                        <a:t>Bao phủ module A–K, 70 trang chức năng</a:t>
                      </a:r>
                    </a:p>
                  </a:txBody>
                  <a:tcPr marL="91440" marR="91440" marT="45720" marB="45720"/>
                </a:tc>
                <a:tc>
                  <a:txBody>
                    <a:bodyPr/>
                    <a:lstStyle/>
                    <a:p>
                      <a:r>
                        <a:t>Giao diện rộng, tích hợp API chưa khép kín</a:t>
                      </a:r>
                    </a:p>
                  </a:txBody>
                  <a:tcPr marL="91440" marR="91440" marT="45720" marB="45720"/>
                </a:tc>
              </a:tr>
              <a:tr h="590550">
                <a:tc>
                  <a:txBody>
                    <a:bodyPr/>
                    <a:lstStyle/>
                    <a:p>
                      <a:r>
                        <a:t>Backend</a:t>
                      </a:r>
                    </a:p>
                  </a:txBody>
                  <a:tcPr marL="91440" marR="91440" marT="45720" marB="45720"/>
                </a:tc>
                <a:tc>
                  <a:txBody>
                    <a:bodyPr/>
                    <a:lstStyle/>
                    <a:p>
                      <a:r>
                        <a:t>27 controller, 28 service, transaction ở nhiều luồng</a:t>
                      </a:r>
                    </a:p>
                  </a:txBody>
                  <a:tcPr marL="91440" marR="91440" marT="45720" marB="45720"/>
                </a:tc>
                <a:tc>
                  <a:txBody>
                    <a:bodyPr/>
                    <a:lstStyle/>
                    <a:p>
                      <a:r>
                        <a:t>Mô hình nghiệp vụ đã đi khá sâu</a:t>
                      </a:r>
                    </a:p>
                  </a:txBody>
                  <a:tcPr marL="91440" marR="91440" marT="45720" marB="45720"/>
                </a:tc>
              </a:tr>
              <a:tr h="590550">
                <a:tc>
                  <a:txBody>
                    <a:bodyPr/>
                    <a:lstStyle/>
                    <a:p>
                      <a:r>
                        <a:t>Dữ liệu</a:t>
                      </a:r>
                    </a:p>
                  </a:txBody>
                  <a:tcPr marL="91440" marR="91440" marT="45720" marB="45720"/>
                </a:tc>
                <a:tc>
                  <a:txBody>
                    <a:bodyPr/>
                    <a:lstStyle/>
                    <a:p>
                      <a:r>
                        <a:t>66 model, 85 enum, 27 migration</a:t>
                      </a:r>
                    </a:p>
                  </a:txBody>
                  <a:tcPr marL="91440" marR="91440" marT="45720" marB="45720"/>
                </a:tc>
                <a:tc>
                  <a:txBody>
                    <a:bodyPr/>
                    <a:lstStyle/>
                    <a:p>
                      <a:r>
                        <a:t>Schema phong phú, mapping và backfill cần kiểm soát</a:t>
                      </a:r>
                    </a:p>
                  </a:txBody>
                  <a:tcPr marL="91440" marR="91440" marT="45720" marB="45720"/>
                </a:tc>
              </a:tr>
              <a:tr h="590550">
                <a:tc>
                  <a:txBody>
                    <a:bodyPr/>
                    <a:lstStyle/>
                    <a:p>
                      <a:r>
                        <a:t>Mobile</a:t>
                      </a:r>
                    </a:p>
                  </a:txBody>
                  <a:tcPr marL="91440" marR="91440" marT="45720" marB="45720"/>
                </a:tc>
                <a:tc>
                  <a:txBody>
                    <a:bodyPr/>
                    <a:lstStyle/>
                    <a:p>
                      <a:r>
                        <a:t>Nhận việc, GPS, ảnh, SOS, offline sync</a:t>
                      </a:r>
                    </a:p>
                  </a:txBody>
                  <a:tcPr marL="91440" marR="91440" marT="45720" marB="45720"/>
                </a:tc>
                <a:tc>
                  <a:txBody>
                    <a:bodyPr/>
                    <a:lstStyle/>
                    <a:p>
                      <a:r>
                        <a:t>Năng lực chính đã có, cần thống nhất backend</a:t>
                      </a:r>
                    </a:p>
                  </a:txBody>
                  <a:tcPr marL="91440" marR="91440" marT="45720" marB="45720"/>
                </a:tc>
              </a:tr>
              <a:tr h="590550">
                <a:tc>
                  <a:txBody>
                    <a:bodyPr/>
                    <a:lstStyle/>
                    <a:p>
                      <a:r>
                        <a:t>Phát hành</a:t>
                      </a:r>
                    </a:p>
                  </a:txBody>
                  <a:tcPr marL="91440" marR="91440" marT="45720" marB="45720"/>
                </a:tc>
                <a:tc>
                  <a:txBody>
                    <a:bodyPr/>
                    <a:lstStyle/>
                    <a:p>
                      <a:r>
                        <a:t>170 test đạt và từng lớp build được</a:t>
                      </a:r>
                    </a:p>
                  </a:txBody>
                  <a:tcPr marL="91440" marR="91440" marT="45720" marB="45720"/>
                </a:tc>
                <a:tc>
                  <a:txBody>
                    <a:bodyPr/>
                    <a:lstStyle/>
                    <a:p>
                      <a:r>
                        <a:t>Chưa chốt baseline production và CI</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8A22CF7F-1314-4BB2-B5F3-ED9E23CC6E1C}"/>
              </a:ext>
            </a:extLst>
          </p:cNvPr>
          <p:cNvSpPr>
            <a:spLocks xmlns:a="http://schemas.openxmlformats.org/drawingml/2006/main" noGrp="1"/>
          </p:cNvSpPr>
          <p:nvPr/>
        </p:nvSpPr>
        <p:spPr>
          <a:xfrm xmlns:a="http://schemas.openxmlformats.org/drawingml/2006/main">
            <a:off x="714375" y="58578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275" b="0" i="1">
                <a:solidFill>
                  <a:srgbClr val="59636E"/>
                </a:solidFill>
                <a:latin typeface="Cambria"/>
                <a:ea typeface="Cambria"/>
                <a:cs typeface="Cambria"/>
              </a:defRPr>
            </a:pPr>
            <a:r>
              <a:rPr sz="1275" b="0" i="1">
                <a:solidFill>
                  <a:srgbClr val="59636E"/>
                </a:solidFill>
                <a:latin typeface="Cambria"/>
                <a:ea typeface="Cambria"/>
                <a:cs typeface="Cambria"/>
              </a:rPr>
              <a:t>Không dùng phần trăm hoàn thành vì repository chưa có tiêu chí nghiệm thu chung cho từng module.</a:t>
            </a:r>
          </a:p>
        </p:txBody>
      </p:sp>
      <p:sp>
        <p:nvSpPr>
          <p:cNvPr id="12" name="">
            <a:extLst xmlns:a="http://schemas.openxmlformats.org/drawingml/2006/main">
              <a:ext uri="{FF2B5EF4-FFF2-40B4-BE49-F238E27FC236}">
                <a16:creationId xmlns:a16="http://schemas.microsoft.com/office/drawing/2014/main" id="{599A92B7-8A97-46D0-BD27-A3CB5B0C281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3" name="">
            <a:extLst xmlns:a="http://schemas.openxmlformats.org/drawingml/2006/main">
              <a:ext uri="{FF2B5EF4-FFF2-40B4-BE49-F238E27FC236}">
                <a16:creationId xmlns:a16="http://schemas.microsoft.com/office/drawing/2014/main" id="{6B0585C9-DEB6-49E8-B010-86351E14B06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23</a:t>
            </a:r>
          </a:p>
        </p:txBody>
      </p:sp>
    </p:spTree>
    <p:extLst>
      <p:ext uri="{BB962C8B-B14F-4D97-AF65-F5344CB8AC3E}">
        <p14:creationId xmlns:p14="http://schemas.microsoft.com/office/powerpoint/2010/main" val="369431699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929653da26ae44a7"/>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49" name="slide-title">
            <a:extLst xmlns:a="http://schemas.openxmlformats.org/drawingml/2006/main">
              <a:ext uri="{FF2B5EF4-FFF2-40B4-BE49-F238E27FC236}">
                <a16:creationId xmlns:a16="http://schemas.microsoft.com/office/drawing/2014/main" id="{D14605C6-F5BE-4A03-84AE-F911A6E0E30B}"/>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KẾT QUẢ KIỂM THỬ VÀ BUILD</a:t>
            </a:r>
          </a:p>
        </p:txBody>
      </p:sp>
      <p:graphicFrame>
        <p:nvGraphicFramePr>
          <p:cNvPr id="56" name=""/>
          <p:cNvGraphicFramePr/>
          <p:nvPr/>
        </p:nvGraphicFramePr>
        <p:xfrm>
          <a:off xmlns:a="http://schemas.openxmlformats.org/drawingml/2006/main" x="552450" y="1000125"/>
          <a:ext xmlns:a="http://schemas.openxmlformats.org/drawingml/2006/main" cx="11087100" cy="4810125"/>
        </p:xfrm>
        <a:graphic xmlns:a="http://schemas.openxmlformats.org/drawingml/2006/main">
          <a:graphicData uri="http://schemas.openxmlformats.org/drawingml/2006/table">
            <a:tbl>
              <a:tblPr/>
              <a:tblGrid>
                <a:gridCol w="3238500"/>
                <a:gridCol w="2428875"/>
                <a:gridCol w="5419725"/>
              </a:tblGrid>
              <a:tr h="419100">
                <a:tc>
                  <a:txBody>
                    <a:bodyPr/>
                    <a:lstStyle/>
                    <a:p>
                      <a:r>
                        <a:t>HẠNG MỤC</a:t>
                      </a:r>
                    </a:p>
                  </a:txBody>
                  <a:tcPr marL="91440" marR="91440" marT="45720" marB="45720"/>
                </a:tc>
                <a:tc>
                  <a:txBody>
                    <a:bodyPr/>
                    <a:lstStyle/>
                    <a:p>
                      <a:r>
                        <a:t>KẾT QUẢ</a:t>
                      </a:r>
                    </a:p>
                  </a:txBody>
                  <a:tcPr marL="91440" marR="91440" marT="45720" marB="45720"/>
                </a:tc>
                <a:tc>
                  <a:txBody>
                    <a:bodyPr/>
                    <a:lstStyle/>
                    <a:p>
                      <a:r>
                        <a:t>GHI CHÚ</a:t>
                      </a:r>
                    </a:p>
                  </a:txBody>
                  <a:tcPr marL="91440" marR="91440" marT="45720" marB="45720"/>
                </a:tc>
              </a:tr>
              <a:tr h="485775">
                <a:tc>
                  <a:txBody>
                    <a:bodyPr/>
                    <a:lstStyle/>
                    <a:p>
                      <a:r>
                        <a:t>Backend Jest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31 suites, 129 tests</a:t>
                      </a:r>
                    </a:p>
                  </a:txBody>
                  <a:tcPr marL="91440" marR="91440" marT="45720" marB="45720"/>
                </a:tc>
              </a:tr>
              <a:tr h="485775">
                <a:tc>
                  <a:txBody>
                    <a:bodyPr/>
                    <a:lstStyle/>
                    <a:p>
                      <a:r>
                        <a:t>Frontend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13 files, 37 tests</a:t>
                      </a:r>
                    </a:p>
                  </a:txBody>
                  <a:tcPr marL="91440" marR="91440" marT="45720" marB="45720"/>
                </a:tc>
              </a:tr>
              <a:tr h="485775">
                <a:tc>
                  <a:txBody>
                    <a:bodyPr/>
                    <a:lstStyle/>
                    <a:p>
                      <a:r>
                        <a:t>Driver app Vitest</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1 file, 4 tests</a:t>
                      </a:r>
                    </a:p>
                  </a:txBody>
                  <a:tcPr marL="91440" marR="91440" marT="45720" marB="45720"/>
                </a:tc>
              </a:tr>
              <a:tr h="485775">
                <a:tc>
                  <a:txBody>
                    <a:bodyPr/>
                    <a:lstStyle/>
                    <a:p>
                      <a:r>
                        <a:t>Prisma validate</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Schema hợp lệ</a:t>
                      </a:r>
                    </a:p>
                  </a:txBody>
                  <a:tcPr marL="91440" marR="91440" marT="45720" marB="45720"/>
                </a:tc>
              </a:tr>
              <a:tr h="485775">
                <a:tc>
                  <a:txBody>
                    <a:bodyPr/>
                    <a:lstStyle/>
                    <a:p>
                      <a:r>
                        <a:t>Nest build chính</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Build trực tiếp thành công</a:t>
                      </a:r>
                    </a:p>
                  </a:txBody>
                  <a:tcPr marL="91440" marR="91440" marT="45720" marB="45720"/>
                </a:tc>
              </a:tr>
              <a:tr h="485775">
                <a:tc>
                  <a:txBody>
                    <a:bodyPr/>
                    <a:lstStyle/>
                    <a:p>
                      <a:r>
                        <a:t>Web production build</a:t>
                      </a:r>
                    </a:p>
                  </a:txBody>
                  <a:tcPr marL="91440" marR="91440" marT="45720" marB="45720"/>
                </a:tc>
                <a:tc>
                  <a:txBody>
                    <a:bodyPr/>
                    <a:lstStyle/>
                    <a:p>
                      <a:pPr algn="ctr"/>
                      <a:r>
                        <a:rPr sz="1125" b="1">
                          <a:solidFill>
                            <a:srgbClr val="A95400"/>
                          </a:solidFill>
                          <a:latin typeface="Cambria"/>
                          <a:ea typeface="Cambria"/>
                          <a:cs typeface="Cambria"/>
                        </a:rPr>
                        <a:t>ĐẠT CÓ CẢNH BÁO</a:t>
                      </a:r>
                    </a:p>
                  </a:txBody>
                  <a:tcPr marL="91440" marR="91440" marT="45720" marB="45720" anchor="ctr">
                    <a:solidFill>
                      <a:srgbClr val="FFF1D7"/>
                    </a:solidFill>
                  </a:tcPr>
                </a:tc>
                <a:tc>
                  <a:txBody>
                    <a:bodyPr/>
                    <a:lstStyle/>
                    <a:p>
                      <a:r>
                        <a:t>Main JS 3.39 MB, exceljs 0.94 MB</a:t>
                      </a:r>
                    </a:p>
                  </a:txBody>
                  <a:tcPr marL="91440" marR="91440" marT="45720" marB="45720"/>
                </a:tc>
              </a:tr>
              <a:tr h="485775">
                <a:tc>
                  <a:txBody>
                    <a:bodyPr/>
                    <a:lstStyle/>
                    <a:p>
                      <a:r>
                        <a:t>Driver app typecheck</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tsc --noEmit</a:t>
                      </a:r>
                    </a:p>
                  </a:txBody>
                  <a:tcPr marL="91440" marR="91440" marT="45720" marB="45720"/>
                </a:tc>
              </a:tr>
              <a:tr h="485775">
                <a:tc>
                  <a:txBody>
                    <a:bodyPr/>
                    <a:lstStyle/>
                    <a:p>
                      <a:r>
                        <a:t>Driver backend build</a:t>
                      </a:r>
                    </a:p>
                  </a:txBody>
                  <a:tcPr marL="91440" marR="91440" marT="45720" marB="45720"/>
                </a:tc>
                <a:tc>
                  <a:txBody>
                    <a:bodyPr/>
                    <a:lstStyle/>
                    <a:p>
                      <a:pPr algn="ctr"/>
                      <a:r>
                        <a:rPr sz="1125" b="1">
                          <a:solidFill>
                            <a:srgbClr val="006B35"/>
                          </a:solidFill>
                          <a:latin typeface="Cambria"/>
                          <a:ea typeface="Cambria"/>
                          <a:cs typeface="Cambria"/>
                        </a:rPr>
                        <a:t>ĐẠT</a:t>
                      </a:r>
                    </a:p>
                  </a:txBody>
                  <a:tcPr marL="91440" marR="91440" marT="45720" marB="45720" anchor="ctr">
                    <a:solidFill>
                      <a:srgbClr val="E6F4E3"/>
                    </a:solidFill>
                  </a:tcPr>
                </a:tc>
                <a:tc>
                  <a:txBody>
                    <a:bodyPr/>
                    <a:lstStyle/>
                    <a:p>
                      <a:r>
                        <a:t>Nest build thành công</a:t>
                      </a:r>
                    </a:p>
                  </a:txBody>
                  <a:tcPr marL="91440" marR="91440" marT="45720" marB="45720"/>
                </a:tc>
              </a:tr>
              <a:tr h="485775">
                <a:tc>
                  <a:txBody>
                    <a:bodyPr/>
                    <a:lstStyle/>
                    <a:p>
                      <a:r>
                        <a:t>Root npm run build</a:t>
                      </a:r>
                    </a:p>
                  </a:txBody>
                  <a:tcPr marL="91440" marR="91440" marT="45720" marB="45720"/>
                </a:tc>
                <a:tc>
                  <a:txBody>
                    <a:bodyPr/>
                    <a:lstStyle/>
                    <a:p>
                      <a:pPr algn="ctr"/>
                      <a:r>
                        <a:rPr sz="1125" b="1">
                          <a:solidFill>
                            <a:srgbClr val="E00000"/>
                          </a:solidFill>
                          <a:latin typeface="Cambria"/>
                          <a:ea typeface="Cambria"/>
                          <a:cs typeface="Cambria"/>
                        </a:rPr>
                        <a:t>CHƯA ĐẠT</a:t>
                      </a:r>
                    </a:p>
                  </a:txBody>
                  <a:tcPr marL="91440" marR="91440" marT="45720" marB="45720" anchor="ctr">
                    <a:solidFill>
                      <a:srgbClr val="FFE4E4"/>
                    </a:solidFill>
                  </a:tcPr>
                </a:tc>
                <a:tc>
                  <a:txBody>
                    <a:bodyPr/>
                    <a:lstStyle/>
                    <a:p>
                      <a:r>
                        <a:t>prisma generate bị khóa DLL trên Windows</a:t>
                      </a:r>
                    </a:p>
                  </a:txBody>
                  <a:tcPr marL="91440" marR="91440" marT="45720" marB="45720"/>
                </a:tc>
              </a:tr>
            </a:tbl>
          </a:graphicData>
        </a:graphic>
      </p:graphicFrame>
      <p:sp>
        <p:nvSpPr>
          <p:cNvPr id="51" name="">
            <a:extLst xmlns:a="http://schemas.openxmlformats.org/drawingml/2006/main">
              <a:ext uri="{FF2B5EF4-FFF2-40B4-BE49-F238E27FC236}">
                <a16:creationId xmlns:a16="http://schemas.microsoft.com/office/drawing/2014/main" id="{47808C37-62E3-4903-917F-60F574AF3D45}"/>
              </a:ext>
            </a:extLst>
          </p:cNvPr>
          <p:cNvSpPr>
            <a:spLocks xmlns:a="http://schemas.openxmlformats.org/drawingml/2006/main" noGrp="1"/>
          </p:cNvSpPr>
          <p:nvPr/>
        </p:nvSpPr>
        <p:spPr>
          <a:xfrm xmlns:a="http://schemas.openxmlformats.org/drawingml/2006/main">
            <a:off x="6667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Mã nguồn biên dịch được khi tách bước generate Prisma. Quy trình build tổng cần xử lý khóa tiến trình và chuẩn hóa CI.</a:t>
            </a:r>
          </a:p>
        </p:txBody>
      </p:sp>
      <p:sp>
        <p:nvSpPr>
          <p:cNvPr id="52" name="">
            <a:extLst xmlns:a="http://schemas.openxmlformats.org/drawingml/2006/main">
              <a:ext uri="{FF2B5EF4-FFF2-40B4-BE49-F238E27FC236}">
                <a16:creationId xmlns:a16="http://schemas.microsoft.com/office/drawing/2014/main" id="{0AF61409-6C1D-453D-8512-33174F1CE124}"/>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3" name="">
            <a:extLst xmlns:a="http://schemas.openxmlformats.org/drawingml/2006/main">
              <a:ext uri="{FF2B5EF4-FFF2-40B4-BE49-F238E27FC236}">
                <a16:creationId xmlns:a16="http://schemas.microsoft.com/office/drawing/2014/main" id="{92D747DB-13E1-40BF-B057-FF231900C6E0}"/>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24</a:t>
            </a:r>
          </a:p>
        </p:txBody>
      </p:sp>
    </p:spTree>
    <p:extLst>
      <p:ext uri="{BB962C8B-B14F-4D97-AF65-F5344CB8AC3E}">
        <p14:creationId xmlns:p14="http://schemas.microsoft.com/office/powerpoint/2010/main" val="54713717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CD1B30E-DA4E-4F4A-9987-050D16519EE3}"/>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BẤT CẬP VÀ RỦI RO ƯU TIÊN</a:t>
            </a:r>
          </a:p>
        </p:txBody>
      </p:sp>
      <p:graphicFrame>
        <p:nvGraphicFramePr>
          <p:cNvPr id="7" name=""/>
          <p:cNvGraphicFramePr/>
          <p:nvPr/>
        </p:nvGraphicFramePr>
        <p:xfrm>
          <a:off xmlns:a="http://schemas.openxmlformats.org/drawingml/2006/main" x="323850" y="971550"/>
          <a:ext xmlns:a="http://schemas.openxmlformats.org/drawingml/2006/main" cx="11544300" cy="5143500"/>
        </p:xfrm>
        <a:graphic xmlns:a="http://schemas.openxmlformats.org/drawingml/2006/main">
          <a:graphicData uri="http://schemas.openxmlformats.org/drawingml/2006/table">
            <a:tbl>
              <a:tblPr/>
              <a:tblGrid>
                <a:gridCol w="2571750"/>
                <a:gridCol w="3667125"/>
                <a:gridCol w="3810000"/>
                <a:gridCol w="1495425"/>
              </a:tblGrid>
              <a:tr h="476250">
                <a:tc>
                  <a:txBody>
                    <a:bodyPr/>
                    <a:lstStyle/>
                    <a:p>
                      <a:r>
                        <a:t>RỦI RO</a:t>
                      </a:r>
                    </a:p>
                  </a:txBody>
                  <a:tcPr marL="91440" marR="91440" marT="45720" marB="45720"/>
                </a:tc>
                <a:tc>
                  <a:txBody>
                    <a:bodyPr/>
                    <a:lstStyle/>
                    <a:p>
                      <a:r>
                        <a:t>BẰNG CHỨNG</a:t>
                      </a:r>
                    </a:p>
                  </a:txBody>
                  <a:tcPr marL="91440" marR="91440" marT="45720" marB="45720"/>
                </a:tc>
                <a:tc>
                  <a:txBody>
                    <a:bodyPr/>
                    <a:lstStyle/>
                    <a:p>
                      <a:r>
                        <a:t>TÁC ĐỘNG</a:t>
                      </a:r>
                    </a:p>
                  </a:txBody>
                  <a:tcPr marL="91440" marR="91440" marT="45720" marB="45720"/>
                </a:tc>
                <a:tc>
                  <a:txBody>
                    <a:bodyPr/>
                    <a:lstStyle/>
                    <a:p>
                      <a:r>
                        <a:t>ƯU TIÊN</a:t>
                      </a:r>
                    </a:p>
                  </a:txBody>
                  <a:tcPr marL="91440" marR="91440" marT="45720" marB="45720"/>
                </a:tc>
              </a:tr>
              <a:tr h="647700">
                <a:tc>
                  <a:txBody>
                    <a:bodyPr/>
                    <a:lstStyle/>
                    <a:p>
                      <a:r>
                        <a:t>Mock/fallback trong luồng thật</a:t>
                      </a:r>
                    </a:p>
                  </a:txBody>
                  <a:tcPr marL="91440" marR="91440" marT="45720" marB="45720"/>
                </a:tc>
                <a:tc>
                  <a:txBody>
                    <a:bodyPr/>
                    <a:lstStyle/>
                    <a:p>
                      <a:r>
                        <a:t>24 trang có cả dấu hiệu API và fallback*</a:t>
                      </a:r>
                    </a:p>
                  </a:txBody>
                  <a:tcPr marL="91440" marR="91440" marT="45720" marB="45720"/>
                </a:tc>
                <a:tc>
                  <a:txBody>
                    <a:bodyPr/>
                    <a:lstStyle/>
                    <a:p>
                      <a:r>
                        <a:t>Sai số liệu, khó phát hiện lỗi</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 lập dữ liệu theo đơn vị</a:t>
                      </a:r>
                    </a:p>
                  </a:txBody>
                  <a:tcPr marL="91440" marR="91440" marT="45720" marB="45720"/>
                </a:tc>
                <a:tc>
                  <a:txBody>
                    <a:bodyPr/>
                    <a:lstStyle/>
                    <a:p>
                      <a:r>
                        <a:t>Scope utility mới dùng ở một số service</a:t>
                      </a:r>
                    </a:p>
                  </a:txBody>
                  <a:tcPr marL="91440" marR="91440" marT="45720" marB="45720"/>
                </a:tc>
                <a:tc>
                  <a:txBody>
                    <a:bodyPr/>
                    <a:lstStyle/>
                    <a:p>
                      <a:r>
                        <a:t>Lộ dữ liệu chéo đơn vị</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Xóa vật lý dữ liệu</a:t>
                      </a:r>
                    </a:p>
                  </a:txBody>
                  <a:tcPr marL="91440" marR="91440" marT="45720" marB="45720"/>
                </a:tc>
                <a:tc>
                  <a:txBody>
                    <a:bodyPr/>
                    <a:lstStyle/>
                    <a:p>
                      <a:r>
                        <a:t>Delete/deleteMany ở catalog, vehicle, plan…</a:t>
                      </a:r>
                    </a:p>
                  </a:txBody>
                  <a:tcPr marL="91440" marR="91440" marT="45720" marB="45720"/>
                </a:tc>
                <a:tc>
                  <a:txBody>
                    <a:bodyPr/>
                    <a:lstStyle/>
                    <a:p>
                      <a:r>
                        <a:t>Mất lịch sử, khó audit</a:t>
                      </a:r>
                    </a:p>
                  </a:txBody>
                  <a:tcPr marL="91440" marR="91440" marT="45720" marB="45720"/>
                </a:tc>
                <a:tc>
                  <a:txBody>
                    <a:bodyPr/>
                    <a:lstStyle/>
                    <a:p>
                      <a:pPr algn="ctr"/>
                      <a:r>
                        <a:rPr sz="1350" b="1">
                          <a:solidFill>
                            <a:srgbClr val="E00000"/>
                          </a:solidFill>
                          <a:latin typeface="Cambria"/>
                          <a:ea typeface="Cambria"/>
                          <a:cs typeface="Cambria"/>
                        </a:rPr>
                        <a:t>P0</a:t>
                      </a:r>
                    </a:p>
                  </a:txBody>
                  <a:tcPr marL="91440" marR="91440" marT="45720" marB="45720" anchor="ctr">
                    <a:solidFill>
                      <a:srgbClr val="FFE1E1"/>
                    </a:solidFill>
                  </a:tcPr>
                </a:tc>
              </a:tr>
              <a:tr h="647700">
                <a:tc>
                  <a:txBody>
                    <a:bodyPr/>
                    <a:lstStyle/>
                    <a:p>
                      <a:r>
                        <a:t>Công thức nghiệp vụ chưa chốt</a:t>
                      </a:r>
                    </a:p>
                  </a:txBody>
                  <a:tcPr marL="91440" marR="91440" marT="45720" marB="45720"/>
                </a:tc>
                <a:tc>
                  <a:txBody>
                    <a:bodyPr/>
                    <a:lstStyle/>
                    <a:p>
                      <a:r>
                        <a:t>KPI, năng suất, GPS threshold còn UNKNOWN</a:t>
                      </a:r>
                    </a:p>
                  </a:txBody>
                  <a:tcPr marL="91440" marR="91440" marT="45720" marB="45720"/>
                </a:tc>
                <a:tc>
                  <a:txBody>
                    <a:bodyPr/>
                    <a:lstStyle/>
                    <a:p>
                      <a:r>
                        <a:t>Kết quả báo cáo không được chấp nhận</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Hai backend mobile</a:t>
                      </a:r>
                    </a:p>
                  </a:txBody>
                  <a:tcPr marL="91440" marR="91440" marT="45720" marB="45720"/>
                </a:tc>
                <a:tc>
                  <a:txBody>
                    <a:bodyPr/>
                    <a:lstStyle/>
                    <a:p>
                      <a:r>
                        <a:t>Main backend và Backend_Driver song song</a:t>
                      </a:r>
                    </a:p>
                  </a:txBody>
                  <a:tcPr marL="91440" marR="91440" marT="45720" marB="45720"/>
                </a:tc>
                <a:tc>
                  <a:txBody>
                    <a:bodyPr/>
                    <a:lstStyle/>
                    <a:p>
                      <a:r>
                        <a:t>Lệch API, tăng chi phí bảo trì</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Quy trình phát hành</a:t>
                      </a:r>
                    </a:p>
                  </a:txBody>
                  <a:tcPr marL="91440" marR="91440" marT="45720" marB="45720"/>
                </a:tc>
                <a:tc>
                  <a:txBody>
                    <a:bodyPr/>
                    <a:lstStyle/>
                    <a:p>
                      <a:r>
                        <a:t>Không có GitHub Actions, 325 entry thay đổi</a:t>
                      </a:r>
                    </a:p>
                  </a:txBody>
                  <a:tcPr marL="91440" marR="91440" marT="45720" marB="45720"/>
                </a:tc>
                <a:tc>
                  <a:txBody>
                    <a:bodyPr/>
                    <a:lstStyle/>
                    <a:p>
                      <a:r>
                        <a:t>Khó truy vết và rollback</a:t>
                      </a:r>
                    </a:p>
                  </a:txBody>
                  <a:tcPr marL="91440" marR="91440" marT="45720" marB="45720"/>
                </a:tc>
                <a:tc>
                  <a:txBody>
                    <a:bodyPr/>
                    <a:lstStyle/>
                    <a:p>
                      <a:pPr algn="ctr"/>
                      <a:r>
                        <a:rPr sz="1350" b="1">
                          <a:solidFill>
                            <a:srgbClr val="A95400"/>
                          </a:solidFill>
                          <a:latin typeface="Cambria"/>
                          <a:ea typeface="Cambria"/>
                          <a:cs typeface="Cambria"/>
                        </a:rPr>
                        <a:t>P1</a:t>
                      </a:r>
                    </a:p>
                  </a:txBody>
                  <a:tcPr marL="91440" marR="91440" marT="45720" marB="45720" anchor="ctr">
                    <a:solidFill>
                      <a:srgbClr val="FFF0D3"/>
                    </a:solidFill>
                  </a:tcPr>
                </a:tc>
              </a:tr>
              <a:tr h="647700">
                <a:tc>
                  <a:txBody>
                    <a:bodyPr/>
                    <a:lstStyle/>
                    <a:p>
                      <a:r>
                        <a:t>Kích thước bundle</a:t>
                      </a:r>
                    </a:p>
                  </a:txBody>
                  <a:tcPr marL="91440" marR="91440" marT="45720" marB="45720"/>
                </a:tc>
                <a:tc>
                  <a:txBody>
                    <a:bodyPr/>
                    <a:lstStyle/>
                    <a:p>
                      <a:r>
                        <a:t>Main JS 3.39 MB sau minify</a:t>
                      </a:r>
                    </a:p>
                  </a:txBody>
                  <a:tcPr marL="91440" marR="91440" marT="45720" marB="45720"/>
                </a:tc>
                <a:tc>
                  <a:txBody>
                    <a:bodyPr/>
                    <a:lstStyle/>
                    <a:p>
                      <a:r>
                        <a:t>Tải chậm, khó dùng mạng yếu</a:t>
                      </a:r>
                    </a:p>
                  </a:txBody>
                  <a:tcPr marL="91440" marR="91440" marT="45720" marB="45720"/>
                </a:tc>
                <a:tc>
                  <a:txBody>
                    <a:bodyPr/>
                    <a:lstStyle/>
                    <a:p>
                      <a:pPr algn="ctr"/>
                      <a:r>
                        <a:rPr sz="1350" b="1">
                          <a:solidFill>
                            <a:srgbClr val="075AA7"/>
                          </a:solidFill>
                          <a:latin typeface="Cambria"/>
                          <a:ea typeface="Cambria"/>
                          <a:cs typeface="Cambria"/>
                        </a:rPr>
                        <a:t>P2</a:t>
                      </a:r>
                    </a:p>
                  </a:txBody>
                  <a:tcPr marL="91440" marR="91440" marT="45720" marB="45720" anchor="ctr">
                    <a:solidFill>
                      <a:srgbClr val="E7F0FB"/>
                    </a:solidFill>
                  </a:tcPr>
                </a:tc>
              </a:tr>
            </a:tbl>
          </a:graphicData>
        </a:graphic>
      </p:graphicFrame>
      <p:sp>
        <p:nvSpPr>
          <p:cNvPr id="3" name="">
            <a:extLst xmlns:a="http://schemas.openxmlformats.org/drawingml/2006/main">
              <a:ext uri="{FF2B5EF4-FFF2-40B4-BE49-F238E27FC236}">
                <a16:creationId xmlns:a16="http://schemas.microsoft.com/office/drawing/2014/main" id="{AC902306-5D52-4B58-B12F-5BF607919FD2}"/>
              </a:ext>
            </a:extLst>
          </p:cNvPr>
          <p:cNvSpPr>
            <a:spLocks xmlns:a="http://schemas.openxmlformats.org/drawingml/2006/main" noGrp="1"/>
          </p:cNvSpPr>
          <p:nvPr/>
        </p:nvSpPr>
        <p:spPr>
          <a:xfrm xmlns:a="http://schemas.openxmlformats.org/drawingml/2006/main">
            <a:off x="619125" y="61912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125" b="0" i="1">
                <a:solidFill>
                  <a:srgbClr val="59636E"/>
                </a:solidFill>
                <a:latin typeface="Cambria"/>
                <a:ea typeface="Cambria"/>
                <a:cs typeface="Cambria"/>
              </a:defRPr>
            </a:pPr>
            <a:r>
              <a:rPr sz="1125" b="0" i="1">
                <a:solidFill>
                  <a:srgbClr val="59636E"/>
                </a:solidFill>
                <a:latin typeface="Cambria"/>
                <a:ea typeface="Cambria"/>
                <a:cs typeface="Cambria"/>
              </a:rPr>
              <a:t>* Dấu hiệu từ quét source, chưa phải tỷ lệ hoàn tất chính thức.</a:t>
            </a:r>
          </a:p>
        </p:txBody>
      </p:sp>
      <p:sp>
        <p:nvSpPr>
          <p:cNvPr id="4" name="">
            <a:extLst xmlns:a="http://schemas.openxmlformats.org/drawingml/2006/main">
              <a:ext uri="{FF2B5EF4-FFF2-40B4-BE49-F238E27FC236}">
                <a16:creationId xmlns:a16="http://schemas.microsoft.com/office/drawing/2014/main" id="{6BF40CCD-89CB-4801-9CC2-E85AAD9D8792}"/>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5" name="">
            <a:extLst xmlns:a="http://schemas.openxmlformats.org/drawingml/2006/main">
              <a:ext uri="{FF2B5EF4-FFF2-40B4-BE49-F238E27FC236}">
                <a16:creationId xmlns:a16="http://schemas.microsoft.com/office/drawing/2014/main" id="{201E1D5C-931C-4305-8461-2A297EA6C2FF}"/>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25</a:t>
            </a:r>
          </a:p>
        </p:txBody>
      </p:sp>
    </p:spTree>
    <p:extLst>
      <p:ext uri="{BB962C8B-B14F-4D97-AF65-F5344CB8AC3E}">
        <p14:creationId xmlns:p14="http://schemas.microsoft.com/office/powerpoint/2010/main" val="289647396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E7CE9F13-F20E-4355-B128-4DC67F048F12}"/>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KHÓ KHĂN HIỆN TẠI</a:t>
            </a:r>
          </a:p>
        </p:txBody>
      </p:sp>
      <p:sp>
        <p:nvSpPr>
          <p:cNvPr id="2" name="">
            <a:extLst xmlns:a="http://schemas.openxmlformats.org/drawingml/2006/main">
              <a:ext uri="{FF2B5EF4-FFF2-40B4-BE49-F238E27FC236}">
                <a16:creationId xmlns:a16="http://schemas.microsoft.com/office/drawing/2014/main" id="{D5C38E2D-2222-42FB-B7F0-0F5E9686790F}"/>
              </a:ext>
            </a:extLst>
          </p:cNvPr>
          <p:cNvSpPr>
            <a:spLocks xmlns:a="http://schemas.openxmlformats.org/drawingml/2006/main" noGrp="1"/>
          </p:cNvSpPr>
          <p:nvPr/>
        </p:nvSpPr>
        <p:spPr>
          <a:xfrm xmlns:a="http://schemas.openxmlformats.org/drawingml/2006/main">
            <a:off x="590550" y="10953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NGHIỆP VỤ</a:t>
            </a:r>
          </a:p>
        </p:txBody>
      </p:sp>
      <p:sp>
        <p:nvSpPr>
          <p:cNvPr id="3" name="">
            <a:extLst xmlns:a="http://schemas.openxmlformats.org/drawingml/2006/main">
              <a:ext uri="{FF2B5EF4-FFF2-40B4-BE49-F238E27FC236}">
                <a16:creationId xmlns:a16="http://schemas.microsoft.com/office/drawing/2014/main" id="{2F466635-2FB0-4B62-B740-6FDC61D089F4}"/>
              </a:ext>
            </a:extLst>
          </p:cNvPr>
          <p:cNvSpPr>
            <a:spLocks xmlns:a="http://schemas.openxmlformats.org/drawingml/2006/main" noGrp="1"/>
          </p:cNvSpPr>
          <p:nvPr/>
        </p:nvSpPr>
        <p:spPr>
          <a:xfrm xmlns:a="http://schemas.openxmlformats.org/drawingml/2006/main">
            <a:off x="2905125" y="120967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4" name="">
            <a:extLst xmlns:a="http://schemas.openxmlformats.org/drawingml/2006/main">
              <a:ext uri="{FF2B5EF4-FFF2-40B4-BE49-F238E27FC236}">
                <a16:creationId xmlns:a16="http://schemas.microsoft.com/office/drawing/2014/main" id="{0283F236-F315-43DB-8DB2-7FEF4A1998F8}"/>
              </a:ext>
            </a:extLst>
          </p:cNvPr>
          <p:cNvSpPr>
            <a:spLocks xmlns:a="http://schemas.openxmlformats.org/drawingml/2006/main" noGrp="1"/>
          </p:cNvSpPr>
          <p:nvPr/>
        </p:nvSpPr>
        <p:spPr>
          <a:xfrm xmlns:a="http://schemas.openxmlformats.org/drawingml/2006/main">
            <a:off x="3190875" y="10953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Chưa chốt công thức KPI, năng suất xe, ngưỡng GPS/sai tuyến, ưu tiên xe và loại minh chứng khi đổi kế hoạch.</a:t>
            </a:r>
          </a:p>
        </p:txBody>
      </p:sp>
      <p:sp>
        <p:nvSpPr>
          <p:cNvPr id="5" name="">
            <a:extLst xmlns:a="http://schemas.openxmlformats.org/drawingml/2006/main">
              <a:ext uri="{FF2B5EF4-FFF2-40B4-BE49-F238E27FC236}">
                <a16:creationId xmlns:a16="http://schemas.microsoft.com/office/drawing/2014/main" id="{4FDBA90A-187D-45FC-B0A3-4354A1FEADF0}"/>
              </a:ext>
            </a:extLst>
          </p:cNvPr>
          <p:cNvSpPr>
            <a:spLocks xmlns:a="http://schemas.openxmlformats.org/drawingml/2006/main" noGrp="1"/>
          </p:cNvSpPr>
          <p:nvPr/>
        </p:nvSpPr>
        <p:spPr>
          <a:xfrm xmlns:a="http://schemas.openxmlformats.org/drawingml/2006/main">
            <a:off x="590550" y="23336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006B35"/>
                </a:solidFill>
                <a:latin typeface="Cambria"/>
                <a:ea typeface="Cambria"/>
                <a:cs typeface="Cambria"/>
              </a:defRPr>
            </a:pPr>
            <a:r>
              <a:rPr sz="1725" b="1" i="0">
                <a:solidFill>
                  <a:srgbClr val="006B35"/>
                </a:solidFill>
                <a:latin typeface="Cambria"/>
                <a:ea typeface="Cambria"/>
                <a:cs typeface="Cambria"/>
              </a:rPr>
              <a:t>DỮ LIỆU</a:t>
            </a:r>
          </a:p>
        </p:txBody>
      </p:sp>
      <p:sp>
        <p:nvSpPr>
          <p:cNvPr id="6" name="">
            <a:extLst xmlns:a="http://schemas.openxmlformats.org/drawingml/2006/main">
              <a:ext uri="{FF2B5EF4-FFF2-40B4-BE49-F238E27FC236}">
                <a16:creationId xmlns:a16="http://schemas.microsoft.com/office/drawing/2014/main" id="{9FFD745D-EB3C-4A17-B318-8F4BF35A4C80}"/>
              </a:ext>
            </a:extLst>
          </p:cNvPr>
          <p:cNvSpPr>
            <a:spLocks xmlns:a="http://schemas.openxmlformats.org/drawingml/2006/main" noGrp="1"/>
          </p:cNvSpPr>
          <p:nvPr/>
        </p:nvSpPr>
        <p:spPr>
          <a:xfrm xmlns:a="http://schemas.openxmlformats.org/drawingml/2006/main">
            <a:off x="2905125" y="2447925"/>
            <a:ext cx="28575" cy="704850"/>
          </a:xfrm>
          <a:prstGeom xmlns:a="http://schemas.openxmlformats.org/drawingml/2006/main" prst="rect">
            <a:avLst/>
          </a:prstGeom>
          <a:solidFill xmlns:a="http://schemas.openxmlformats.org/drawingml/2006/main">
            <a:srgbClr val="5FAE3E"/>
          </a:solidFill>
          <a:ln xmlns:a="http://schemas.openxmlformats.org/drawingml/2006/main" w="0">
            <a:solidFill>
              <a:srgbClr val="5FAE3E"/>
            </a:solidFill>
          </a:ln>
        </p:spPr>
      </p:sp>
      <p:sp>
        <p:nvSpPr>
          <p:cNvPr id="7" name="">
            <a:extLst xmlns:a="http://schemas.openxmlformats.org/drawingml/2006/main">
              <a:ext uri="{FF2B5EF4-FFF2-40B4-BE49-F238E27FC236}">
                <a16:creationId xmlns:a16="http://schemas.microsoft.com/office/drawing/2014/main" id="{DB1C8952-7644-492A-B5FD-50B4E782985A}"/>
              </a:ext>
            </a:extLst>
          </p:cNvPr>
          <p:cNvSpPr>
            <a:spLocks xmlns:a="http://schemas.openxmlformats.org/drawingml/2006/main" noGrp="1"/>
          </p:cNvSpPr>
          <p:nvPr/>
        </p:nvSpPr>
        <p:spPr>
          <a:xfrm xmlns:a="http://schemas.openxmlformats.org/drawingml/2006/main">
            <a:off x="3190875" y="23336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Workbook MMTB nhiều sheet, mã cũ không đồng nhất, cần mapping được duyệt và backfill có thể kiểm tra/rollback.</a:t>
            </a:r>
          </a:p>
        </p:txBody>
      </p:sp>
      <p:sp>
        <p:nvSpPr>
          <p:cNvPr id="8" name="">
            <a:extLst xmlns:a="http://schemas.openxmlformats.org/drawingml/2006/main">
              <a:ext uri="{FF2B5EF4-FFF2-40B4-BE49-F238E27FC236}">
                <a16:creationId xmlns:a16="http://schemas.microsoft.com/office/drawing/2014/main" id="{2576591D-1A4E-47A6-AAC9-2DFE9245AB07}"/>
              </a:ext>
            </a:extLst>
          </p:cNvPr>
          <p:cNvSpPr>
            <a:spLocks xmlns:a="http://schemas.openxmlformats.org/drawingml/2006/main" noGrp="1"/>
          </p:cNvSpPr>
          <p:nvPr/>
        </p:nvSpPr>
        <p:spPr>
          <a:xfrm xmlns:a="http://schemas.openxmlformats.org/drawingml/2006/main">
            <a:off x="590550" y="357187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KỸ THUẬT</a:t>
            </a:r>
          </a:p>
        </p:txBody>
      </p:sp>
      <p:sp>
        <p:nvSpPr>
          <p:cNvPr id="9" name="">
            <a:extLst xmlns:a="http://schemas.openxmlformats.org/drawingml/2006/main">
              <a:ext uri="{FF2B5EF4-FFF2-40B4-BE49-F238E27FC236}">
                <a16:creationId xmlns:a16="http://schemas.microsoft.com/office/drawing/2014/main" id="{7339162C-9DEF-4E88-9677-57BE90CB6A85}"/>
              </a:ext>
            </a:extLst>
          </p:cNvPr>
          <p:cNvSpPr>
            <a:spLocks xmlns:a="http://schemas.openxmlformats.org/drawingml/2006/main" noGrp="1"/>
          </p:cNvSpPr>
          <p:nvPr/>
        </p:nvSpPr>
        <p:spPr>
          <a:xfrm xmlns:a="http://schemas.openxmlformats.org/drawingml/2006/main">
            <a:off x="2905125" y="368617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0" name="">
            <a:extLst xmlns:a="http://schemas.openxmlformats.org/drawingml/2006/main">
              <a:ext uri="{FF2B5EF4-FFF2-40B4-BE49-F238E27FC236}">
                <a16:creationId xmlns:a16="http://schemas.microsoft.com/office/drawing/2014/main" id="{891382E2-61DE-4D5A-A951-5C5688BBF98C}"/>
              </a:ext>
            </a:extLst>
          </p:cNvPr>
          <p:cNvSpPr>
            <a:spLocks xmlns:a="http://schemas.openxmlformats.org/drawingml/2006/main" noGrp="1"/>
          </p:cNvSpPr>
          <p:nvPr/>
        </p:nvSpPr>
        <p:spPr>
          <a:xfrm xmlns:a="http://schemas.openxmlformats.org/drawingml/2006/main">
            <a:off x="3190875" y="357187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Frontend vẫn phụ thuộc fallback. Báo cáo thiếu endpoint/mapper. Hai backend mobile có nguy cơ phân kỳ và bundle web còn lớn.</a:t>
            </a:r>
          </a:p>
        </p:txBody>
      </p:sp>
      <p:sp>
        <p:nvSpPr>
          <p:cNvPr id="11" name="">
            <a:extLst xmlns:a="http://schemas.openxmlformats.org/drawingml/2006/main">
              <a:ext uri="{FF2B5EF4-FFF2-40B4-BE49-F238E27FC236}">
                <a16:creationId xmlns:a16="http://schemas.microsoft.com/office/drawing/2014/main" id="{4DAC2402-FAD2-4458-B12E-86D88EE66773}"/>
              </a:ext>
            </a:extLst>
          </p:cNvPr>
          <p:cNvSpPr>
            <a:spLocks xmlns:a="http://schemas.openxmlformats.org/drawingml/2006/main" noGrp="1"/>
          </p:cNvSpPr>
          <p:nvPr/>
        </p:nvSpPr>
        <p:spPr>
          <a:xfrm xmlns:a="http://schemas.openxmlformats.org/drawingml/2006/main">
            <a:off x="590550" y="4810125"/>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TRIỂN KHAI</a:t>
            </a:r>
          </a:p>
        </p:txBody>
      </p:sp>
      <p:sp>
        <p:nvSpPr>
          <p:cNvPr id="12" name="">
            <a:extLst xmlns:a="http://schemas.openxmlformats.org/drawingml/2006/main">
              <a:ext uri="{FF2B5EF4-FFF2-40B4-BE49-F238E27FC236}">
                <a16:creationId xmlns:a16="http://schemas.microsoft.com/office/drawing/2014/main" id="{FE04E3CA-C4DE-49B6-B385-7DCED6EE99AA}"/>
              </a:ext>
            </a:extLst>
          </p:cNvPr>
          <p:cNvSpPr>
            <a:spLocks xmlns:a="http://schemas.openxmlformats.org/drawingml/2006/main" noGrp="1"/>
          </p:cNvSpPr>
          <p:nvPr/>
        </p:nvSpPr>
        <p:spPr>
          <a:xfrm xmlns:a="http://schemas.openxmlformats.org/drawingml/2006/main">
            <a:off x="2905125" y="4924425"/>
            <a:ext cx="28575" cy="704850"/>
          </a:xfrm>
          <a:prstGeom xmlns:a="http://schemas.openxmlformats.org/drawingml/2006/main" prst="rect">
            <a:avLst/>
          </a:prstGeom>
          <a:solidFill xmlns:a="http://schemas.openxmlformats.org/drawingml/2006/main">
            <a:srgbClr val="E00000"/>
          </a:solidFill>
          <a:ln xmlns:a="http://schemas.openxmlformats.org/drawingml/2006/main" w="0">
            <a:solidFill>
              <a:srgbClr val="E00000"/>
            </a:solidFill>
          </a:ln>
        </p:spPr>
      </p:sp>
      <p:sp>
        <p:nvSpPr>
          <p:cNvPr id="13" name="">
            <a:extLst xmlns:a="http://schemas.openxmlformats.org/drawingml/2006/main">
              <a:ext uri="{FF2B5EF4-FFF2-40B4-BE49-F238E27FC236}">
                <a16:creationId xmlns:a16="http://schemas.microsoft.com/office/drawing/2014/main" id="{5C2D0732-FFFD-4E37-B9DE-AC9844DD65E1}"/>
              </a:ext>
            </a:extLst>
          </p:cNvPr>
          <p:cNvSpPr>
            <a:spLocks xmlns:a="http://schemas.openxmlformats.org/drawingml/2006/main" noGrp="1"/>
          </p:cNvSpPr>
          <p:nvPr/>
        </p:nvSpPr>
        <p:spPr>
          <a:xfrm xmlns:a="http://schemas.openxmlformats.org/drawingml/2006/main">
            <a:off x="3190875" y="4810125"/>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1575" b="0" i="0">
                <a:solidFill>
                  <a:srgbClr val="17212B"/>
                </a:solidFill>
                <a:latin typeface="Cambria"/>
                <a:ea typeface="Cambria"/>
                <a:cs typeface="Cambria"/>
              </a:defRPr>
            </a:pPr>
            <a:r>
              <a:rPr sz="1575" b="0" i="0">
                <a:solidFill>
                  <a:srgbClr val="17212B"/>
                </a:solidFill>
                <a:latin typeface="Cambria"/>
                <a:ea typeface="Cambria"/>
                <a:cs typeface="Cambria"/>
              </a:rPr>
              <a:t>Nhiều thay đổi chưa gom baseline, chưa có CI tự động, môi trường Windows đang khóa Prisma engine khi build tổng.</a:t>
            </a:r>
          </a:p>
        </p:txBody>
      </p:sp>
      <p:sp>
        <p:nvSpPr>
          <p:cNvPr id="14" name="">
            <a:extLst xmlns:a="http://schemas.openxmlformats.org/drawingml/2006/main">
              <a:ext uri="{FF2B5EF4-FFF2-40B4-BE49-F238E27FC236}">
                <a16:creationId xmlns:a16="http://schemas.microsoft.com/office/drawing/2014/main" id="{3C793324-4580-4DF0-B111-79D7B096AFD7}"/>
              </a:ext>
            </a:extLst>
          </p:cNvPr>
          <p:cNvSpPr>
            <a:spLocks xmlns:a="http://schemas.openxmlformats.org/drawingml/2006/main" noGrp="1"/>
          </p:cNvSpPr>
          <p:nvPr/>
        </p:nvSpPr>
        <p:spPr>
          <a:xfrm xmlns:a="http://schemas.openxmlformats.org/drawingml/2006/main">
            <a:off x="685800" y="5857875"/>
            <a:ext cx="10763250" cy="495300"/>
          </a:xfrm>
          <a:prstGeom xmlns:a="http://schemas.openxmlformats.org/drawingml/2006/main" prst="roundRect">
            <a:avLst>
              <a:gd name="adj" fmla="val 13462"/>
            </a:avLst>
          </a:prstGeom>
          <a:solidFill xmlns:a="http://schemas.openxmlformats.org/drawingml/2006/main">
            <a:srgbClr val="FFF5CE"/>
          </a:solidFill>
          <a:ln xmlns:a="http://schemas.openxmlformats.org/drawingml/2006/main" w="9525">
            <a:solidFill>
              <a:srgbClr val="E4C45A"/>
            </a:solidFill>
          </a:ln>
        </p:spPr>
        <p:txBody>
          <a:bodyPr xmlns:a="http://schemas.openxmlformats.org/drawingml/2006/main" wrap="square" lIns="38100" tIns="19050" rIns="38100" bIns="19050" anchor="ctr">
            <a:normAutofit fontScale="96271"/>
          </a:bodyPr>
          <a:lstStyle xmlns:a="http://schemas.openxmlformats.org/drawingml/2006/main"/>
          <a:p xmlns:a="http://schemas.openxmlformats.org/drawingml/2006/main">
            <a:pPr algn="ctr">
              <a:lnSpc>
                <a:spcPct val="100000"/>
              </a:lnSpc>
              <a:buNone/>
              <a:defRPr sz="1425" b="0" i="1">
                <a:solidFill>
                  <a:srgbClr val="59636E"/>
                </a:solidFill>
                <a:latin typeface="Cambria"/>
                <a:ea typeface="Cambria"/>
                <a:cs typeface="Cambria"/>
              </a:defRPr>
            </a:pPr>
            <a:r>
              <a:rPr sz="1425" b="0" i="1">
                <a:solidFill>
                  <a:srgbClr val="59636E"/>
                </a:solidFill>
                <a:latin typeface="Cambria"/>
                <a:ea typeface="Cambria"/>
                <a:cs typeface="Cambria"/>
              </a:rPr>
              <a:t>Các khó khăn trên cần được xử lý theo thứ tự rủi ro. Việc bổ sung thêm màn hình trước khi khóa dữ liệu và quyền truy cập sẽ làm tăng chi phí sửa lại.</a:t>
            </a:r>
          </a:p>
        </p:txBody>
      </p:sp>
      <p:sp>
        <p:nvSpPr>
          <p:cNvPr id="15" name="">
            <a:extLst xmlns:a="http://schemas.openxmlformats.org/drawingml/2006/main">
              <a:ext uri="{FF2B5EF4-FFF2-40B4-BE49-F238E27FC236}">
                <a16:creationId xmlns:a16="http://schemas.microsoft.com/office/drawing/2014/main" id="{4E77F29E-3A84-42E5-BA6B-F1EE2F8A4755}"/>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16" name="">
            <a:extLst xmlns:a="http://schemas.openxmlformats.org/drawingml/2006/main">
              <a:ext uri="{FF2B5EF4-FFF2-40B4-BE49-F238E27FC236}">
                <a16:creationId xmlns:a16="http://schemas.microsoft.com/office/drawing/2014/main" id="{1BE3252D-B28B-4F45-8EA6-E3F5291A3AFB}"/>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26</a:t>
            </a:r>
          </a:p>
        </p:txBody>
      </p:sp>
    </p:spTree>
    <p:extLst>
      <p:ext uri="{BB962C8B-B14F-4D97-AF65-F5344CB8AC3E}">
        <p14:creationId xmlns:p14="http://schemas.microsoft.com/office/powerpoint/2010/main" val="32896702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4d196164ebec467c"/>
          <a:stretch xmlns:a="http://schemas.openxmlformats.org/drawingml/2006/main">
            <a:fillRect l="0" t="0" r="0" b="0"/>
          </a:stretch>
        </p:blipFill>
        <p:spPr>
          <a:xfrm xmlns:a="http://schemas.openxmlformats.org/drawingml/2006/main">
            <a:off x="0" y="0"/>
            <a:ext cx="12191695" cy="7062395"/>
          </a:xfrm>
          <a:prstGeom xmlns:a="http://schemas.openxmlformats.org/drawingml/2006/main" prst="rect">
            <a:avLst/>
          </a:prstGeom>
        </p:spPr>
      </p:pic>
      <p:sp>
        <p:nvSpPr>
          <p:cNvPr id="33" name="slide-title">
            <a:extLst xmlns:a="http://schemas.openxmlformats.org/drawingml/2006/main">
              <a:ext uri="{FF2B5EF4-FFF2-40B4-BE49-F238E27FC236}">
                <a16:creationId xmlns:a16="http://schemas.microsoft.com/office/drawing/2014/main" id="{E0189E5E-BFAC-4FF8-B0D5-370D3D7EAA85}"/>
              </a:ext>
            </a:extLst>
          </p:cNvPr>
          <p:cNvSpPr>
            <a:spLocks xmlns:a="http://schemas.openxmlformats.org/drawingml/2006/main" noGrp="1"/>
          </p:cNvSpPr>
          <p:nvPr/>
        </p:nvSpPr>
        <p:spPr>
          <a:xfrm xmlns:a="http://schemas.openxmlformats.org/drawingml/2006/main">
            <a:off x="2571750" y="142875"/>
            <a:ext cx="919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2100" b="1" i="0">
                <a:solidFill>
                  <a:srgbClr val="E00000"/>
                </a:solidFill>
                <a:latin typeface="Cambria"/>
                <a:ea typeface="Cambria"/>
                <a:cs typeface="Cambria"/>
              </a:defRPr>
            </a:pPr>
            <a:r>
              <a:rPr sz="2100" b="1" i="0">
                <a:solidFill>
                  <a:srgbClr val="E00000"/>
                </a:solidFill>
                <a:latin typeface="Cambria"/>
                <a:ea typeface="Cambria"/>
                <a:cs typeface="Cambria"/>
              </a:rPr>
              <a:t>LỘ TRÌNH HOÀN THIỆN ĐỀ XUẤT</a:t>
            </a:r>
          </a:p>
        </p:txBody>
      </p:sp>
      <p:graphicFrame>
        <p:nvGraphicFramePr>
          <p:cNvPr id="40" name=""/>
          <p:cNvGraphicFramePr/>
          <p:nvPr/>
        </p:nvGraphicFramePr>
        <p:xfrm>
          <a:off xmlns:a="http://schemas.openxmlformats.org/drawingml/2006/main" x="457200" y="1000125"/>
          <a:ext xmlns:a="http://schemas.openxmlformats.org/drawingml/2006/main" cx="11277600" cy="4762500"/>
        </p:xfrm>
        <a:graphic xmlns:a="http://schemas.openxmlformats.org/drawingml/2006/main">
          <a:graphicData uri="http://schemas.openxmlformats.org/drawingml/2006/table">
            <a:tbl>
              <a:tblPr/>
              <a:tblGrid>
                <a:gridCol w="2667000"/>
                <a:gridCol w="3333750"/>
                <a:gridCol w="5276850"/>
              </a:tblGrid>
              <a:tr h="476250">
                <a:tc>
                  <a:txBody>
                    <a:bodyPr/>
                    <a:lstStyle/>
                    <a:p>
                      <a:r>
                        <a:t>GIAI ĐOẠN</a:t>
                      </a:r>
                    </a:p>
                  </a:txBody>
                  <a:tcPr marL="91440" marR="91440" marT="45720" marB="45720"/>
                </a:tc>
                <a:tc>
                  <a:txBody>
                    <a:bodyPr/>
                    <a:lstStyle/>
                    <a:p>
                      <a:r>
                        <a:t>MỤC TIÊU</a:t>
                      </a:r>
                    </a:p>
                  </a:txBody>
                  <a:tcPr marL="91440" marR="91440" marT="45720" marB="45720"/>
                </a:tc>
                <a:tc>
                  <a:txBody>
                    <a:bodyPr/>
                    <a:lstStyle/>
                    <a:p>
                      <a:r>
                        <a:t>ĐẦU RA CHÍNH</a:t>
                      </a:r>
                    </a:p>
                  </a:txBody>
                  <a:tcPr marL="91440" marR="91440" marT="45720" marB="45720"/>
                </a:tc>
              </a:tr>
              <a:tr h="857250">
                <a:tc>
                  <a:txBody>
                    <a:bodyPr/>
                    <a:lstStyle/>
                    <a:p>
                      <a:r>
                        <a:t>0. Ổn định baseline</a:t>
                      </a:r>
                    </a:p>
                    <a:p>
                      <a:r>
                        <a:t>2–3 ngày</a:t>
                      </a:r>
                    </a:p>
                  </a:txBody>
                  <a:tcPr marL="91440" marR="91440" marT="45720" marB="45720"/>
                </a:tc>
                <a:tc>
                  <a:txBody>
                    <a:bodyPr/>
                    <a:lstStyle/>
                    <a:p>
                      <a:r>
                        <a:t>Chốt nhánh và build lặp lại</a:t>
                      </a:r>
                    </a:p>
                  </a:txBody>
                  <a:tcPr marL="91440" marR="91440" marT="45720" marB="45720"/>
                </a:tc>
                <a:tc>
                  <a:txBody>
                    <a:bodyPr/>
                    <a:lstStyle/>
                    <a:p>
                      <a:r>
                        <a:t>Dọn working tree, thiết lập CI, xử lý Prisma lock và lập danh sách trang mock</a:t>
                      </a:r>
                    </a:p>
                  </a:txBody>
                  <a:tcPr marL="91440" marR="91440" marT="45720" marB="45720"/>
                </a:tc>
              </a:tr>
              <a:tr h="857250">
                <a:tc>
                  <a:txBody>
                    <a:bodyPr/>
                    <a:lstStyle/>
                    <a:p>
                      <a:r>
                        <a:t>1. Khép kín dữ liệu/API</a:t>
                      </a:r>
                    </a:p>
                    <a:p>
                      <a:r>
                        <a:t>1–2 tuần</a:t>
                      </a:r>
                    </a:p>
                  </a:txBody>
                  <a:tcPr marL="91440" marR="91440" marT="45720" marB="45720"/>
                </a:tc>
                <a:tc>
                  <a:txBody>
                    <a:bodyPr/>
                    <a:lstStyle/>
                    <a:p>
                      <a:r>
                        <a:t>Loại gap P0 trên luồng chính</a:t>
                      </a:r>
                    </a:p>
                  </a:txBody>
                  <a:tcPr marL="91440" marR="91440" marT="45720" marB="45720"/>
                </a:tc>
                <a:tc>
                  <a:txBody>
                    <a:bodyPr/>
                    <a:lstStyle/>
                    <a:p>
                      <a:r>
                        <a:t>Scope đơn vị, policy delete/audit, API báo cáo và bỏ fallback quan trọng</a:t>
                      </a:r>
                    </a:p>
                  </a:txBody>
                  <a:tcPr marL="91440" marR="91440" marT="45720" marB="45720"/>
                </a:tc>
              </a:tr>
              <a:tr h="857250">
                <a:tc>
                  <a:txBody>
                    <a:bodyPr/>
                    <a:lstStyle/>
                    <a:p>
                      <a:r>
                        <a:t>2. Xác nhận nghiệp vụ</a:t>
                      </a:r>
                    </a:p>
                    <a:p>
                      <a:r>
                        <a:t>1–2 tuần</a:t>
                      </a:r>
                    </a:p>
                  </a:txBody>
                  <a:tcPr marL="91440" marR="91440" marT="45720" marB="45720"/>
                </a:tc>
                <a:tc>
                  <a:txBody>
                    <a:bodyPr/>
                    <a:lstStyle/>
                    <a:p>
                      <a:r>
                        <a:t>Chốt các rule UNKNOWN</a:t>
                      </a:r>
                    </a:p>
                  </a:txBody>
                  <a:tcPr marL="91440" marR="91440" marT="45720" marB="45720"/>
                </a:tc>
                <a:tc>
                  <a:txBody>
                    <a:bodyPr/>
                    <a:lstStyle/>
                    <a:p>
                      <a:r>
                        <a:t>KPI, GPS, năng suất, ưu tiên xe, minh chứng và nghiệm thu</a:t>
                      </a:r>
                    </a:p>
                  </a:txBody>
                  <a:tcPr marL="91440" marR="91440" marT="45720" marB="45720"/>
                </a:tc>
              </a:tr>
              <a:tr h="857250">
                <a:tc>
                  <a:txBody>
                    <a:bodyPr/>
                    <a:lstStyle/>
                    <a:p>
                      <a:r>
                        <a:t>3. Pilot có kiểm soát</a:t>
                      </a:r>
                    </a:p>
                    <a:p>
                      <a:r>
                        <a:t>1 tuần</a:t>
                      </a:r>
                    </a:p>
                  </a:txBody>
                  <a:tcPr marL="91440" marR="91440" marT="45720" marB="45720"/>
                </a:tc>
                <a:tc>
                  <a:txBody>
                    <a:bodyPr/>
                    <a:lstStyle/>
                    <a:p>
                      <a:r>
                        <a:t>Kiểm chứng đầu cuối tại một đơn vị</a:t>
                      </a:r>
                    </a:p>
                  </a:txBody>
                  <a:tcPr marL="91440" marR="91440" marT="45720" marB="45720"/>
                </a:tc>
                <a:tc>
                  <a:txBody>
                    <a:bodyPr/>
                    <a:lstStyle/>
                    <a:p>
                      <a:r>
                        <a:t>UAT theo role, đối soát dữ liệu, offline sync và rollback/runbook</a:t>
                      </a:r>
                    </a:p>
                  </a:txBody>
                  <a:tcPr marL="91440" marR="91440" marT="45720" marB="45720"/>
                </a:tc>
              </a:tr>
              <a:tr h="857250">
                <a:tc>
                  <a:txBody>
                    <a:bodyPr/>
                    <a:lstStyle/>
                    <a:p>
                      <a:r>
                        <a:t>4. Mở rộng</a:t>
                      </a:r>
                    </a:p>
                  </a:txBody>
                  <a:tcPr marL="91440" marR="91440" marT="45720" marB="45720"/>
                </a:tc>
                <a:tc>
                  <a:txBody>
                    <a:bodyPr/>
                    <a:lstStyle/>
                    <a:p>
                      <a:r>
                        <a:t>Nhân rộng sau khi pilot đạt</a:t>
                      </a:r>
                    </a:p>
                  </a:txBody>
                  <a:tcPr marL="91440" marR="91440" marT="45720" marB="45720"/>
                </a:tc>
                <a:tc>
                  <a:txBody>
                    <a:bodyPr/>
                    <a:lstStyle/>
                    <a:p>
                      <a:r>
                        <a:t>Theo dõi SLA, lỗi dữ liệu, hiệu năng và adoption</a:t>
                      </a:r>
                    </a:p>
                  </a:txBody>
                  <a:tcPr marL="91440" marR="91440" marT="45720" marB="45720"/>
                </a:tc>
              </a:tr>
            </a:tbl>
          </a:graphicData>
        </a:graphic>
      </p:graphicFrame>
      <p:sp>
        <p:nvSpPr>
          <p:cNvPr id="35" name="">
            <a:extLst xmlns:a="http://schemas.openxmlformats.org/drawingml/2006/main">
              <a:ext uri="{FF2B5EF4-FFF2-40B4-BE49-F238E27FC236}">
                <a16:creationId xmlns:a16="http://schemas.microsoft.com/office/drawing/2014/main" id="{1B666357-37AC-447D-AADF-7B451D158680}"/>
              </a:ext>
            </a:extLst>
          </p:cNvPr>
          <p:cNvSpPr>
            <a:spLocks xmlns:a="http://schemas.openxmlformats.org/drawingml/2006/main" noGrp="1"/>
          </p:cNvSpPr>
          <p:nvPr/>
        </p:nvSpPr>
        <p:spPr>
          <a:xfrm xmlns:a="http://schemas.openxmlformats.org/drawingml/2006/main">
            <a:off x="74295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350" b="0" i="1">
                <a:solidFill>
                  <a:srgbClr val="59636E"/>
                </a:solidFill>
                <a:latin typeface="Cambria"/>
                <a:ea typeface="Cambria"/>
                <a:cs typeface="Cambria"/>
              </a:defRPr>
            </a:pPr>
            <a:r>
              <a:rPr sz="1350" b="0" i="1">
                <a:solidFill>
                  <a:srgbClr val="59636E"/>
                </a:solidFill>
                <a:latin typeface="Cambria"/>
                <a:ea typeface="Cambria"/>
                <a:cs typeface="Cambria"/>
              </a:rPr>
              <a:t>Thời lượng là ước lượng phục vụ lập kế hoạch. Cần điều chỉnh sau khi chốt phạm vi pilot và nguồn lực thực tế.</a:t>
            </a:r>
          </a:p>
        </p:txBody>
      </p:sp>
      <p:sp>
        <p:nvSpPr>
          <p:cNvPr id="36" name="">
            <a:extLst xmlns:a="http://schemas.openxmlformats.org/drawingml/2006/main">
              <a:ext uri="{FF2B5EF4-FFF2-40B4-BE49-F238E27FC236}">
                <a16:creationId xmlns:a16="http://schemas.microsoft.com/office/drawing/2014/main" id="{DDBF898D-CD16-436A-B05F-FFF37F11D1FA}"/>
              </a:ext>
            </a:extLst>
          </p:cNvPr>
          <p:cNvSpPr>
            <a:spLocks xmlns:a="http://schemas.openxmlformats.org/drawingml/2006/main" noGrp="1"/>
          </p:cNvSpPr>
          <p:nvPr/>
        </p:nvSpPr>
        <p:spPr>
          <a:xfrm xmlns:a="http://schemas.openxmlformats.org/drawingml/2006/main">
            <a:off x="266700" y="65341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lnSpc>
                <a:spcPct val="100000"/>
              </a:lnSpc>
              <a:buNone/>
              <a:defRPr sz="825" b="0" i="1">
                <a:solidFill>
                  <a:srgbClr val="8A8F93"/>
                </a:solidFill>
                <a:latin typeface="Cambria"/>
                <a:ea typeface="Cambria"/>
                <a:cs typeface="Cambria"/>
              </a:defRPr>
            </a:pPr>
            <a:r>
              <a:rPr sz="825" b="0" i="1">
                <a:solidFill>
                  <a:srgbClr val="8A8F93"/>
                </a:solidFill>
                <a:latin typeface="Cambria"/>
                <a:ea typeface="Cambria"/>
                <a:cs typeface="Cambria"/>
              </a:rPr>
              <a:t>Giới thiệu phần mềm và tiến độ phát triển | THACO AGRI Fleet | 21/09/2026</a:t>
            </a:r>
          </a:p>
        </p:txBody>
      </p:sp>
      <p:sp>
        <p:nvSpPr>
          <p:cNvPr id="37" name="">
            <a:extLst xmlns:a="http://schemas.openxmlformats.org/drawingml/2006/main">
              <a:ext uri="{FF2B5EF4-FFF2-40B4-BE49-F238E27FC236}">
                <a16:creationId xmlns:a16="http://schemas.microsoft.com/office/drawing/2014/main" id="{D2B6E0EE-CD84-4659-8E9F-4FC381F76AC2}"/>
              </a:ext>
            </a:extLst>
          </p:cNvPr>
          <p:cNvSpPr>
            <a:spLocks xmlns:a="http://schemas.openxmlformats.org/drawingml/2006/main" noGrp="1"/>
          </p:cNvSpPr>
          <p:nvPr/>
        </p:nvSpPr>
        <p:spPr>
          <a:xfrm xmlns:a="http://schemas.openxmlformats.org/drawingml/2006/main">
            <a:off x="11658600" y="6534150"/>
            <a:ext cx="22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r">
              <a:lnSpc>
                <a:spcPct val="100000"/>
              </a:lnSpc>
              <a:buNone/>
              <a:defRPr sz="825" b="0" i="0">
                <a:solidFill>
                  <a:srgbClr val="8A8F93"/>
                </a:solidFill>
                <a:latin typeface="Cambria"/>
                <a:ea typeface="Cambria"/>
                <a:cs typeface="Cambria"/>
              </a:defRPr>
            </a:pPr>
            <a:r>
              <a:rPr sz="825" b="0" i="0">
                <a:solidFill>
                  <a:srgbClr val="8A8F93"/>
                </a:solidFill>
                <a:latin typeface="Cambria"/>
                <a:ea typeface="Cambria"/>
                <a:cs typeface="Cambria"/>
              </a:rPr>
              <a:t>27</a:t>
            </a:r>
          </a:p>
        </p:txBody>
      </p:sp>
    </p:spTree>
    <p:extLst>
      <p:ext uri="{BB962C8B-B14F-4D97-AF65-F5344CB8AC3E}">
        <p14:creationId xmlns:p14="http://schemas.microsoft.com/office/powerpoint/2010/main" val="27166829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a721b9fb04784dc1"/>
          <a:stretch xmlns:a="http://schemas.openxmlformats.org/drawingml/2006/main">
            <a:fillRect l="0" t="0" r="0" b="0"/>
          </a:stretch>
        </p:blipFill>
        <p:spPr>
          <a:xfrm xmlns:a="http://schemas.openxmlformats.org/drawingml/2006/main">
            <a:off x="-83975" y="0"/>
            <a:ext cx="12191695" cy="685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22513E4-0E96-447D-93FB-5BB74914BE1F}"/>
              </a:ext>
            </a:extLst>
          </p:cNvPr>
          <p:cNvSpPr>
            <a:spLocks xmlns:a="http://schemas.openxmlformats.org/drawingml/2006/main" noGrp="1"/>
          </p:cNvSpPr>
          <p:nvPr/>
        </p:nvSpPr>
        <p:spPr>
          <a:xfrm xmlns:a="http://schemas.openxmlformats.org/drawingml/2006/main">
            <a:off x="2381250" y="2476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3600" b="1" i="0">
                <a:solidFill>
                  <a:srgbClr val="006B35"/>
                </a:solidFill>
                <a:latin typeface="Cambria"/>
                <a:ea typeface="Cambria"/>
                <a:cs typeface="Cambria"/>
              </a:defRPr>
            </a:pPr>
            <a:r>
              <a:rPr sz="3600" b="1" i="0">
                <a:solidFill>
                  <a:srgbClr val="006B35"/>
                </a:solidFill>
                <a:latin typeface="Cambria"/>
                <a:ea typeface="Cambria"/>
                <a:cs typeface="Cambria"/>
              </a:rPr>
              <a:t>TRÂN TRỌNG CẢM ƠN</a:t>
            </a:r>
          </a:p>
        </p:txBody>
      </p:sp>
      <p:sp>
        <p:nvSpPr>
          <p:cNvPr id="10" name="">
            <a:extLst xmlns:a="http://schemas.openxmlformats.org/drawingml/2006/main">
              <a:ext uri="{FF2B5EF4-FFF2-40B4-BE49-F238E27FC236}">
                <a16:creationId xmlns:a16="http://schemas.microsoft.com/office/drawing/2014/main" id="{23CC5942-63B0-4FB3-93E6-2E0DE9AFC112}"/>
              </a:ext>
            </a:extLst>
          </p:cNvPr>
          <p:cNvSpPr>
            <a:spLocks xmlns:a="http://schemas.openxmlformats.org/drawingml/2006/main" noGrp="1"/>
          </p:cNvSpPr>
          <p:nvPr/>
        </p:nvSpPr>
        <p:spPr>
          <a:xfrm xmlns:a="http://schemas.openxmlformats.org/drawingml/2006/main">
            <a:off x="3048000" y="363855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rmAutofit fontScale="100000"/>
          </a:bodyPr>
          <a:lstStyle xmlns:a="http://schemas.openxmlformats.org/drawingml/2006/main"/>
          <a:p xmlns:a="http://schemas.openxmlformats.org/drawingml/2006/main">
            <a:pPr algn="ctr">
              <a:lnSpc>
                <a:spcPct val="100000"/>
              </a:lnSpc>
              <a:buNone/>
              <a:defRPr sz="1725" b="1" i="0">
                <a:solidFill>
                  <a:srgbClr val="E00000"/>
                </a:solidFill>
                <a:latin typeface="Cambria"/>
                <a:ea typeface="Cambria"/>
                <a:cs typeface="Cambria"/>
              </a:defRPr>
            </a:pPr>
            <a:r>
              <a:rPr sz="1725" b="1" i="0">
                <a:solidFill>
                  <a:srgbClr val="E00000"/>
                </a:solidFill>
                <a:latin typeface="Cambria"/>
                <a:ea typeface="Cambria"/>
                <a:cs typeface="Cambria"/>
              </a:rPr>
              <a:t>Ba quyết định cần chốt tiếp theo</a:t>
            </a:r>
          </a:p>
        </p:txBody>
      </p:sp>
      <p:sp>
        <p:nvSpPr>
          <p:cNvPr id="11" name="">
            <a:extLst xmlns:a="http://schemas.openxmlformats.org/drawingml/2006/main">
              <a:ext uri="{FF2B5EF4-FFF2-40B4-BE49-F238E27FC236}">
                <a16:creationId xmlns:a16="http://schemas.microsoft.com/office/drawing/2014/main" id="{0A1D80F3-3CAB-4208-AA41-6D10D154CAF4}"/>
              </a:ext>
            </a:extLst>
          </p:cNvPr>
          <p:cNvSpPr>
            <a:spLocks xmlns:a="http://schemas.openxmlformats.org/drawingml/2006/main" noGrp="1"/>
          </p:cNvSpPr>
          <p:nvPr/>
        </p:nvSpPr>
        <p:spPr>
          <a:xfrm xmlns:a="http://schemas.openxmlformats.org/drawingml/2006/main">
            <a:off x="1095375" y="41433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500" b="0" i="0">
                <a:solidFill>
                  <a:srgbClr val="17212B"/>
                </a:solidFill>
                <a:latin typeface="Cambria"/>
                <a:ea typeface="Cambria"/>
                <a:cs typeface="Cambria"/>
              </a:defRPr>
            </a:pPr>
            <a:r>
              <a:rPr sz="1500" b="0" i="0">
                <a:solidFill>
                  <a:srgbClr val="17212B"/>
                </a:solidFill>
                <a:latin typeface="Cambria"/>
                <a:ea typeface="Cambria"/>
                <a:cs typeface="Cambria"/>
              </a:rPr>
              <a:t>1. Phạm vi và đơn vị pilot   2. Quy tắc nghiệp vụ còn UNKNOWN   3. Tiêu chí nghiệm thu production</a:t>
            </a:r>
          </a:p>
        </p:txBody>
      </p:sp>
      <p:sp>
        <p:nvSpPr>
          <p:cNvPr id="12" name="">
            <a:extLst xmlns:a="http://schemas.openxmlformats.org/drawingml/2006/main">
              <a:ext uri="{FF2B5EF4-FFF2-40B4-BE49-F238E27FC236}">
                <a16:creationId xmlns:a16="http://schemas.microsoft.com/office/drawing/2014/main" id="{CDDE0172-B4C1-4292-89E6-78D0781BEFF6}"/>
              </a:ext>
            </a:extLst>
          </p:cNvPr>
          <p:cNvSpPr>
            <a:spLocks xmlns:a="http://schemas.openxmlformats.org/drawingml/2006/main" noGrp="1"/>
          </p:cNvSpPr>
          <p:nvPr/>
        </p:nvSpPr>
        <p:spPr>
          <a:xfrm xmlns:a="http://schemas.openxmlformats.org/drawingml/2006/main">
            <a:off x="2381250" y="56197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PHÒNG VẬN HÀNH SỐ</a:t>
            </a:r>
          </a:p>
          <a:p xmlns:a="http://schemas.openxmlformats.org/drawingml/2006/main">
            <a:pPr algn="ctr">
              <a:lnSpc>
                <a:spcPct val="100000"/>
              </a:lnSpc>
              <a:buNone/>
              <a:defRPr sz="1425" b="1" i="0">
                <a:solidFill>
                  <a:srgbClr val="006B35"/>
                </a:solidFill>
                <a:latin typeface="Cambria"/>
                <a:ea typeface="Cambria"/>
                <a:cs typeface="Cambria"/>
              </a:defRPr>
            </a:pPr>
            <a:r>
              <a:rPr sz="1425" b="1" i="0">
                <a:solidFill>
                  <a:srgbClr val="006B35"/>
                </a:solidFill>
                <a:latin typeface="Cambria"/>
                <a:ea typeface="Cambria"/>
                <a:cs typeface="Cambria"/>
              </a:rPr>
              <a:t>KLH Koun Mom, Ratanakiri, Cambodia | 21.09.2026</a:t>
            </a:r>
          </a:p>
        </p:txBody>
      </p:sp>
    </p:spTree>
    <p:extLst>
      <p:ext uri="{BB962C8B-B14F-4D97-AF65-F5344CB8AC3E}">
        <p14:creationId xmlns:p14="http://schemas.microsoft.com/office/powerpoint/2010/main" val="140226607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2026-09-21T15:34:55.2830000Z</dcterms:created>
  <dcterms:modified xsi:type="dcterms:W3CDTF">2026-09-21T15:34:55.2830000Z</dcterms:modified>
</coreProperties>
</file>