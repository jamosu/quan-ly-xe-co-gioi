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3e60938720441c0" /><Relationship Type="http://schemas.openxmlformats.org/officeDocument/2006/relationships/extended-properties" Target="/docProps/app.xml" Id="R4a064584b4c54ef9" /><Relationship Type="http://schemas.openxmlformats.org/officeDocument/2006/relationships/officeDocument" Target="/ppt/presentation.xml" Id="R50fd301c392f45c4" /></Relationships>
</file>

<file path=ppt/presentation.xml><?xml version="1.0" encoding="utf-8"?>
<p:presentation xmlns:p="http://schemas.openxmlformats.org/presentationml/2006/main">
  <p:sldMasterIdLst>
    <p:sldMasterId xmlns:r="http://schemas.openxmlformats.org/officeDocument/2006/relationships" id="2147483648" r:id="R6644559fa351481f"/>
  </p:sldMasterIdLst>
  <p:notesMasterIdLst>
    <p:notesMasterId xmlns:r="http://schemas.openxmlformats.org/officeDocument/2006/relationships" r:id="R70d5ef93aa544c75"/>
  </p:notesMasterIdLst>
  <p:sldIdLst>
    <p:sldId xmlns:r="http://schemas.openxmlformats.org/officeDocument/2006/relationships" id="256" r:id="Rc8918eb1f3514127"/>
    <p:sldId xmlns:r="http://schemas.openxmlformats.org/officeDocument/2006/relationships" id="257" r:id="Rcc0cc74a2d204fea"/>
    <p:sldId xmlns:r="http://schemas.openxmlformats.org/officeDocument/2006/relationships" id="258" r:id="Rc0fe25f021d44813"/>
    <p:sldId xmlns:r="http://schemas.openxmlformats.org/officeDocument/2006/relationships" id="259" r:id="R934b714ee57e4806"/>
    <p:sldId xmlns:r="http://schemas.openxmlformats.org/officeDocument/2006/relationships" id="260" r:id="R47d4759ada7642e3"/>
    <p:sldId xmlns:r="http://schemas.openxmlformats.org/officeDocument/2006/relationships" id="261" r:id="R01c80e253240496b"/>
    <p:sldId xmlns:r="http://schemas.openxmlformats.org/officeDocument/2006/relationships" id="262" r:id="Rbdf54b0a8d9249ae"/>
    <p:sldId xmlns:r="http://schemas.openxmlformats.org/officeDocument/2006/relationships" id="263" r:id="R3dcd1a44af3c4c87"/>
    <p:sldId xmlns:r="http://schemas.openxmlformats.org/officeDocument/2006/relationships" id="264" r:id="Ra6747d22a58a48b5"/>
    <p:sldId xmlns:r="http://schemas.openxmlformats.org/officeDocument/2006/relationships" id="265" r:id="Rc110fee2f8bc40c5"/>
    <p:sldId xmlns:r="http://schemas.openxmlformats.org/officeDocument/2006/relationships" id="266" r:id="Rcfd5e8b789e646f1"/>
    <p:sldId xmlns:r="http://schemas.openxmlformats.org/officeDocument/2006/relationships" id="267" r:id="Ra60bf97f6c544eb8"/>
    <p:sldId xmlns:r="http://schemas.openxmlformats.org/officeDocument/2006/relationships" id="268" r:id="R41cd756853f54296"/>
    <p:sldId xmlns:r="http://schemas.openxmlformats.org/officeDocument/2006/relationships" id="269" r:id="R28b888d5b6754b88"/>
    <p:sldId xmlns:r="http://schemas.openxmlformats.org/officeDocument/2006/relationships" id="270" r:id="R4013495b4640417c"/>
    <p:sldId xmlns:r="http://schemas.openxmlformats.org/officeDocument/2006/relationships" id="271" r:id="R242e8b77fff341e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70583e750254c53" /><Relationship Type="http://schemas.openxmlformats.org/officeDocument/2006/relationships/slideMaster" Target="/ppt/slideMasters/slideMaster1.xml" Id="R6644559fa351481f" /><Relationship Type="http://schemas.openxmlformats.org/officeDocument/2006/relationships/notesMaster" Target="/ppt/notesMasters/notesMaster1.xml" Id="R70d5ef93aa544c75" /><Relationship Type="http://schemas.openxmlformats.org/officeDocument/2006/relationships/presProps" Target="/ppt/presProps.xml" Id="R60fef2e991884c54" /><Relationship Type="http://schemas.openxmlformats.org/officeDocument/2006/relationships/viewProps" Target="/ppt/viewProps.xml" Id="Rb1f1c4174dc548e1" /><Relationship Type="http://schemas.openxmlformats.org/officeDocument/2006/relationships/tableStyles" Target="/ppt/tableStyles.xml" Id="Re0c2cb1534cd47b6" /><Relationship Type="http://schemas.openxmlformats.org/officeDocument/2006/relationships/slide" Target="/ppt/slides/slide1.xml" Id="Rc8918eb1f3514127" /><Relationship Type="http://schemas.openxmlformats.org/officeDocument/2006/relationships/slide" Target="/ppt/slides/slide2.xml" Id="Rcc0cc74a2d204fea" /><Relationship Type="http://schemas.openxmlformats.org/officeDocument/2006/relationships/slide" Target="/ppt/slides/slide3.xml" Id="Rc0fe25f021d44813" /><Relationship Type="http://schemas.openxmlformats.org/officeDocument/2006/relationships/slide" Target="/ppt/slides/slide4.xml" Id="R934b714ee57e4806" /><Relationship Type="http://schemas.openxmlformats.org/officeDocument/2006/relationships/slide" Target="/ppt/slides/slide5.xml" Id="R47d4759ada7642e3" /><Relationship Type="http://schemas.openxmlformats.org/officeDocument/2006/relationships/slide" Target="/ppt/slides/slide6.xml" Id="R01c80e253240496b" /><Relationship Type="http://schemas.openxmlformats.org/officeDocument/2006/relationships/slide" Target="/ppt/slides/slide7.xml" Id="Rbdf54b0a8d9249ae" /><Relationship Type="http://schemas.openxmlformats.org/officeDocument/2006/relationships/slide" Target="/ppt/slides/slide8.xml" Id="R3dcd1a44af3c4c87" /><Relationship Type="http://schemas.openxmlformats.org/officeDocument/2006/relationships/slide" Target="/ppt/slides/slide9.xml" Id="Ra6747d22a58a48b5" /><Relationship Type="http://schemas.openxmlformats.org/officeDocument/2006/relationships/slide" Target="/ppt/slides/slide10.xml" Id="Rc110fee2f8bc40c5" /><Relationship Type="http://schemas.openxmlformats.org/officeDocument/2006/relationships/slide" Target="/ppt/slides/slide11.xml" Id="Rcfd5e8b789e646f1" /><Relationship Type="http://schemas.openxmlformats.org/officeDocument/2006/relationships/slide" Target="/ppt/slides/slide12.xml" Id="Ra60bf97f6c544eb8" /><Relationship Type="http://schemas.openxmlformats.org/officeDocument/2006/relationships/slide" Target="/ppt/slides/slide13.xml" Id="R41cd756853f54296" /><Relationship Type="http://schemas.openxmlformats.org/officeDocument/2006/relationships/slide" Target="/ppt/slides/slide14.xml" Id="R28b888d5b6754b88" /><Relationship Type="http://schemas.openxmlformats.org/officeDocument/2006/relationships/slide" Target="/ppt/slides/slide15.xml" Id="R4013495b4640417c" /><Relationship Type="http://schemas.openxmlformats.org/officeDocument/2006/relationships/slide" Target="/ppt/slides/slide16.xml" Id="R242e8b77fff341e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cd1031ca7974c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75546198084de3" /><Relationship Type="http://schemas.openxmlformats.org/officeDocument/2006/relationships/notesMaster" Target="/ppt/notesMasters/notesMaster1.xml" Id="Rcc8d3510b5db4daf" /></Relationships>
</file>

<file path=ppt/notesSlides/_rels/notesSlide2.xml.rels>&#65279;<?xml version="1.0" encoding="utf-8"?><Relationships xmlns="http://schemas.openxmlformats.org/package/2006/relationships"><Relationship Type="http://schemas.openxmlformats.org/officeDocument/2006/relationships/slide" Target="/ppt/slides/slide2.xml" Id="R312f9bda69344fcf" /><Relationship Type="http://schemas.openxmlformats.org/officeDocument/2006/relationships/notesMaster" Target="/ppt/notesMasters/notesMaster1.xml" Id="Rcfd4aae1bd4f4c77" /></Relationships>
</file>

<file path=ppt/notesSlides/_rels/notesSlide3.xml.rels>&#65279;<?xml version="1.0" encoding="utf-8"?><Relationships xmlns="http://schemas.openxmlformats.org/package/2006/relationships"><Relationship Type="http://schemas.openxmlformats.org/officeDocument/2006/relationships/slide" Target="/ppt/slides/slide3.xml" Id="R4c5d5a997e1b4ae8" /><Relationship Type="http://schemas.openxmlformats.org/officeDocument/2006/relationships/notesMaster" Target="/ppt/notesMasters/notesMaster1.xml" Id="R31db4443f6174482" /></Relationships>
</file>

<file path=ppt/notesSlides/_rels/notesSlide4.xml.rels>&#65279;<?xml version="1.0" encoding="utf-8"?><Relationships xmlns="http://schemas.openxmlformats.org/package/2006/relationships"><Relationship Type="http://schemas.openxmlformats.org/officeDocument/2006/relationships/slide" Target="/ppt/slides/slide4.xml" Id="Rd75e4ca31d514a52" /><Relationship Type="http://schemas.openxmlformats.org/officeDocument/2006/relationships/notesMaster" Target="/ppt/notesMasters/notesMaster1.xml" Id="Rc60208a6f9554eed" /></Relationships>
</file>

<file path=ppt/notesSlides/_rels/notesSlide5.xml.rels>&#65279;<?xml version="1.0" encoding="utf-8"?><Relationships xmlns="http://schemas.openxmlformats.org/package/2006/relationships"><Relationship Type="http://schemas.openxmlformats.org/officeDocument/2006/relationships/slide" Target="/ppt/slides/slide5.xml" Id="R6e49fc378f8a47ce" /><Relationship Type="http://schemas.openxmlformats.org/officeDocument/2006/relationships/notesMaster" Target="/ppt/notesMasters/notesMaster1.xml" Id="R04b19f2562af4b3f" /></Relationships>
</file>

<file path=ppt/notesSlides/_rels/notesSlide6.xml.rels>&#65279;<?xml version="1.0" encoding="utf-8"?><Relationships xmlns="http://schemas.openxmlformats.org/package/2006/relationships"><Relationship Type="http://schemas.openxmlformats.org/officeDocument/2006/relationships/slide" Target="/ppt/slides/slide6.xml" Id="Re250033587ff4417" /><Relationship Type="http://schemas.openxmlformats.org/officeDocument/2006/relationships/notesMaster" Target="/ppt/notesMasters/notesMaster1.xml" Id="R01af72627a10479a" /></Relationships>
</file>

<file path=ppt/notesSlides/_rels/notesSlide7.xml.rels>&#65279;<?xml version="1.0" encoding="utf-8"?><Relationships xmlns="http://schemas.openxmlformats.org/package/2006/relationships"><Relationship Type="http://schemas.openxmlformats.org/officeDocument/2006/relationships/slide" Target="/ppt/slides/slide7.xml" Id="R40ada11418034448" /><Relationship Type="http://schemas.openxmlformats.org/officeDocument/2006/relationships/notesMaster" Target="/ppt/notesMasters/notesMaster1.xml" Id="R7568997b845c4ac7" /></Relationships>
</file>

<file path=ppt/notesSlides/_rels/notesSlide8.xml.rels>&#65279;<?xml version="1.0" encoding="utf-8"?><Relationships xmlns="http://schemas.openxmlformats.org/package/2006/relationships"><Relationship Type="http://schemas.openxmlformats.org/officeDocument/2006/relationships/slide" Target="/ppt/slides/slide8.xml" Id="Rf612d91fcc4044cf" /><Relationship Type="http://schemas.openxmlformats.org/officeDocument/2006/relationships/notesMaster" Target="/ppt/notesMasters/notesMaster1.xml" Id="Re774bee61a814c75" /></Relationships>
</file>

<file path=ppt/notesSlides/_rels/notesSlide9.xml.rels>&#65279;<?xml version="1.0" encoding="utf-8"?><Relationships xmlns="http://schemas.openxmlformats.org/package/2006/relationships"><Relationship Type="http://schemas.openxmlformats.org/officeDocument/2006/relationships/slide" Target="/ppt/slides/slide9.xml" Id="R490b47d3a17a4924" /><Relationship Type="http://schemas.openxmlformats.org/officeDocument/2006/relationships/notesMaster" Target="/ppt/notesMasters/notesMaster1.xml" Id="R542c255a736c4f7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5e164cfe8a242e8" /><Relationship Type="http://schemas.openxmlformats.org/officeDocument/2006/relationships/notesMaster" Target="/ppt/notesMasters/notesMaster1.xml" Id="R3cbd8479afe64b9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41232af7c404b88" /><Relationship Type="http://schemas.openxmlformats.org/officeDocument/2006/relationships/notesMaster" Target="/ppt/notesMasters/notesMaster1.xml" Id="R560f5763dbf94d8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ac894a1ba4f4c55" /><Relationship Type="http://schemas.openxmlformats.org/officeDocument/2006/relationships/notesMaster" Target="/ppt/notesMasters/notesMaster1.xml" Id="Rd4f4308316ce46d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c5004d4cab049e5" /><Relationship Type="http://schemas.openxmlformats.org/officeDocument/2006/relationships/notesMaster" Target="/ppt/notesMasters/notesMaster1.xml" Id="Rd891d020a134491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f95bc28bde54c0a" /><Relationship Type="http://schemas.openxmlformats.org/officeDocument/2006/relationships/notesMaster" Target="/ppt/notesMasters/notesMaster1.xml" Id="R8b775fa7a59e415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91b0382c1c7449b" /><Relationship Type="http://schemas.openxmlformats.org/officeDocument/2006/relationships/notesMaster" Target="/ppt/notesMasters/notesMaster1.xml" Id="Rca1fe53c04e2424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28a2e9c286942be" /><Relationship Type="http://schemas.openxmlformats.org/officeDocument/2006/relationships/notesMaster" Target="/ppt/notesMasters/notesMaster1.xml" Id="Ra1d574339ea9474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repository D:/ThacoAgri_Code/Mockup, rà soát tại working tree ngày 21/09/2026. File mẫu chỉ được dùng làm chuẩn nhận diện và bố cục.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Cấu trúc báo cáo bám yêu cầu của người dùng: mô tả tiến độ code, bất cập và khó khăn hiện tại.</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AI_PROJECT_CONTEXT.md; CURRENT_SYSTEM_ANALYSIS.md; .agents/context/*.md; frontend/src; backend/src; backend/prisma/schema.prisma.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docs/architecture/SYSTEM_OVERVIEW.md; docs/architecture/INTEGRATION_MAP.md; backend/src/app.module.ts; frontend/src/App.tsx; Backend_Driver/package.json; Frontend_Driver/package.json.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Đếm tại working tree: 104 thẻ Route trong frontend/src/App.tsx; 27 controller; 66 model; 85 enum; 27 thư mục migration. Test đạt: backend 129, web 37, driver app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.agents/context/module-map.md; docs/architecture/MODULE_MAP.md; backend/src/app.module.ts; frontend/src/App.tsx; kiểm tra trực tiếp pages/services/schema.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docs/business/DISPATCH_ORDER_FLOW.md; docs/business/ACCEPTANCE_FLOW.md; backend/src/work-orders; backend/src/operation-confirmations; backend/prisma/schema.prisma.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backend/prisma/schema.prisma; backend/prisma/migrations; backend/scripts/import-*; .agents/context/database-overview.md; workbook MMTB là dữ liệu tham chiếu, không phải schema.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frontend/src/App.tsx; frontend/src/pages; frontend/src/api; quét source code theo dấu hiệu apiClient/apiService và mock/fallback/localStorage. Sáu trang báo cáo trong frontend/src/pages/reports khởi tạo list rỗng và không gọi API trực tiếp.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Frontend_Driver/src; Frontend_Driver/package.json; Backend_Driver/package.json; backend/src/mobile-driver; backend/src/work-orders. Main backend dùng NestJS 10/Prisma 5.10; Backend_Driver dùng NestJS 12/Prisma 5.22.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Lệnh chạy ngày 21/09/2026: npm test; backend nest build; frontend npm run build; Frontend_Driver npm run typecheck và npm test; Backend_Driver npm run build; prisma validate. Root build dừng tại EPERM rename query_engine-windows.dll.node do file đang bị tiến trình khác giữ.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frontend source scan; six report pages; .agents/context/business-rules.md; rg các prisma.*.delete(); git status --porcelain; kết quả build ngày 21/09/2026.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scan source hiện tại và các tài liệu business-rule evidence. P0/P1/P2 là khuyến nghị ưu tiên của báo cáo, không phải trạng thái nghiệp vụ đã được phê duyệt.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.agents/context/business-rules.md; CURRENT_SYSTEM_ANALYSIS.md; build/test output; package versions; repository 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khuyến nghị triển khai dựa trên mức độ rủi ro quan sát được. Thời lượng chưa phải cam kết tiến độ chính thức.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thúc báo cáo. Đề nghị dùng deck này làm tài liệu chốt scope pilot và danh sách quyết định nghiệp vụ.</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2a00365c2af476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a524ca2ad3c4552" /><Relationship Type="http://schemas.openxmlformats.org/officeDocument/2006/relationships/image" Target="/ppt/media/image.jpeg" Id="R770e812f1c8f41b2"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userDrawn="1">
  <p:cSld name="Title and Content">
    <p:spTree>
      <p:nvGrpSpPr>
        <p:cNvPr id="1" name=""/>
        <p:cNvGrpSpPr/>
        <p:nvPr/>
      </p:nvGrpSpPr>
      <p:grpSpPr>
        <a:xfrm xmlns:a="http://schemas.openxmlformats.org/drawingml/2006/main"/>
      </p:grpSpPr>
      <p:pic>
        <p:nvPicPr>
          <p:cNvPr id="7" name="Picture 3"/>
          <p:cNvPicPr>
            <a:picLocks xmlns:a="http://schemas.openxmlformats.org/drawingml/2006/main" noChangeAspect="1"/>
          </p:cNvPicPr>
          <p:nvPr/>
        </p:nvPicPr>
        <p:blipFill>
          <a:blip xmlns:r="http://schemas.openxmlformats.org/officeDocument/2006/relationships" xmlns:a="http://schemas.openxmlformats.org/drawingml/2006/main" r:embed="R770e812f1c8f41b2"/>
          <a:stretch xmlns:a="http://schemas.openxmlformats.org/drawingml/2006/main">
            <a:fillRect l="0" t="0" r="0" b="0"/>
          </a:stretch>
        </p:blipFill>
        <p:spPr>
          <a:xfrm xmlns:a="http://schemas.openxmlformats.org/drawingml/2006/main">
            <a:off x="1185" y="0"/>
            <a:ext cx="12189630" cy="6858000"/>
          </a:xfrm>
          <a:prstGeom xmlns:a="http://schemas.openxmlformats.org/drawingml/2006/main" prst="rect">
            <a:avLst/>
          </a:prstGeom>
        </p:spPr>
      </p:pic>
      <p:sp>
        <p:nvSpPr>
          <p:cNvPr id="5" name="Title 4">
            <a:extLst xmlns:a="http://schemas.openxmlformats.org/drawingml/2006/main">
              <a:ext uri="{FF2B5EF4-FFF2-40B4-BE49-F238E27FC236}">
                <a16:creationId xmlns:a16="http://schemas.microsoft.com/office/drawing/2014/main" id="{F18D8631-A97C-F3DC-31A8-9BCA136F6078}"/>
              </a:ext>
            </a:extLst>
          </p:cNvPr>
          <p:cNvSpPr>
            <a:spLocks xmlns:a="http://schemas.openxmlformats.org/drawingml/2006/main" noGrp="1"/>
          </p:cNvSpPr>
          <p:nvPr>
            <p:ph type="title" idx="0"/>
          </p:nvPr>
        </p:nvSpPr>
        <p:spPr>
          <a:xfrm xmlns:a="http://schemas.openxmlformats.org/drawingml/2006/main">
            <a:off x="2295524" y="0"/>
            <a:ext cx="9896475" cy="752475"/>
          </a:xfrm>
        </p:spPr>
        <p:txBody>
          <a:bodyPr xmlns:a="http://schemas.openxmlformats.org/drawingml/2006/main">
            <a:normAutofit/>
          </a:bodyPr>
          <a:lstStyle xmlns:a="http://schemas.openxmlformats.org/drawingml/2006/main">
            <a:lvl1pPr algn="ctr">
              <a:lnSpc>
                <a:spcPct val="100000"/>
              </a:lnSpc>
              <a:buNone/>
              <a:defRPr sz="2000" b="1">
                <a:solidFill>
                  <a:srgbClr val="39853F"/>
                </a:solidFill>
              </a:defRPr>
            </a:lvl1pPr>
          </a:lstStyle>
          <a:p xmlns:a="http://schemas.openxmlformats.org/drawingml/2006/main">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a4ee170ce8544f1" /><Relationship Type="http://schemas.openxmlformats.org/officeDocument/2006/relationships/slideLayout" Target="/ppt/slideLayouts/slideLayout1.xml" Id="R70d92d8ab0b244f3" /><Relationship Type="http://schemas.openxmlformats.org/officeDocument/2006/relationships/slideLayout" Target="/ppt/slideLayouts/slideLayout2.xml" Id="R5a0e4960fbdc439b"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0d92d8ab0b244f3"/>
    <p:sldLayoutId xmlns:r="http://schemas.openxmlformats.org/officeDocument/2006/relationships" id="2147483650" r:id="R5a0e4960fbdc439b"/>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bb4aebabbb543cf" /><Relationship Type="http://schemas.openxmlformats.org/officeDocument/2006/relationships/image" Target="/ppt/media/image2.jpeg" Id="R5576050785844cc6" /><Relationship Type="http://schemas.openxmlformats.org/officeDocument/2006/relationships/notesSlide" Target="/ppt/notesSlides/notesSlide1.xml" Id="Rf06a0a0d4ad0402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2f29d8827f74ba9" /><Relationship Type="http://schemas.openxmlformats.org/officeDocument/2006/relationships/image" Target="/ppt/media/image.jpeg" Id="R13b2b292c8154337" /><Relationship Type="http://schemas.openxmlformats.org/officeDocument/2006/relationships/notesSlide" Target="/ppt/notesSlides/notesSlide2.xml" Id="R3fa6c57f685640a4"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338ad74be9584efc" /><Relationship Type="http://schemas.openxmlformats.org/officeDocument/2006/relationships/notesSlide" Target="/ppt/notesSlides/notesSlide3.xml" Id="R636bbec96b684fbb"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256165bdd0c64957" /><Relationship Type="http://schemas.openxmlformats.org/officeDocument/2006/relationships/notesSlide" Target="/ppt/notesSlides/notesSlide4.xml" Id="Rdad2a86595874f98"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a1201e611fc1409f" /><Relationship Type="http://schemas.openxmlformats.org/officeDocument/2006/relationships/notesSlide" Target="/ppt/notesSlides/notesSlide5.xml" Id="R341bd7b094354cb0"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f9a63d4ed0734e9f" /><Relationship Type="http://schemas.openxmlformats.org/officeDocument/2006/relationships/notesSlide" Target="/ppt/notesSlides/notesSlide6.xml" Id="Raa4498d9caca4783"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953bf0c5e3874fe5" /><Relationship Type="http://schemas.openxmlformats.org/officeDocument/2006/relationships/notesSlide" Target="/ppt/notesSlides/notesSlide7.xml" Id="Rb83fc566da3940e3"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fd54d9ecb14a4816" /><Relationship Type="http://schemas.openxmlformats.org/officeDocument/2006/relationships/notesSlide" Target="/ppt/notesSlides/notesSlide8.xml" Id="R4794c53a401d42b4"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d2c1e1ef614b43f3" /><Relationship Type="http://schemas.openxmlformats.org/officeDocument/2006/relationships/notesSlide" Target="/ppt/notesSlides/notesSlide9.xml" Id="Rfadfee808902418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f55a3b6a6801443e" /><Relationship Type="http://schemas.openxmlformats.org/officeDocument/2006/relationships/notesSlide" Target="/ppt/notesSlides/notesSlide10.xml" Id="R8ad31193400c496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b253cddb7cf546db" /><Relationship Type="http://schemas.openxmlformats.org/officeDocument/2006/relationships/notesSlide" Target="/ppt/notesSlides/notesSlide11.xml" Id="Re3c6955068b24b7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5fb5ecbc40a4f9b" /><Relationship Type="http://schemas.openxmlformats.org/officeDocument/2006/relationships/image" Target="/ppt/media/image.jpeg" Id="R80a2470793df448a" /><Relationship Type="http://schemas.openxmlformats.org/officeDocument/2006/relationships/notesSlide" Target="/ppt/notesSlides/notesSlide12.xml" Id="R75e8b04b3234451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fb7e9f7651be497d" /><Relationship Type="http://schemas.openxmlformats.org/officeDocument/2006/relationships/notesSlide" Target="/ppt/notesSlides/notesSlide13.xml" Id="Red36f18833ea48b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23af1fef403f4472" /><Relationship Type="http://schemas.openxmlformats.org/officeDocument/2006/relationships/notesSlide" Target="/ppt/notesSlides/notesSlide14.xml" Id="R524c6690aebc409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7fbc82862df435f" /><Relationship Type="http://schemas.openxmlformats.org/officeDocument/2006/relationships/image" Target="/ppt/media/image.jpeg" Id="R11deac5f585943f4" /><Relationship Type="http://schemas.openxmlformats.org/officeDocument/2006/relationships/notesSlide" Target="/ppt/notesSlides/notesSlide15.xml" Id="R58731cb141854b5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d3e6d2047f64977" /><Relationship Type="http://schemas.openxmlformats.org/officeDocument/2006/relationships/image" Target="/ppt/media/image2.jpeg" Id="Raa23d2b63ace4cde" /><Relationship Type="http://schemas.openxmlformats.org/officeDocument/2006/relationships/notesSlide" Target="/ppt/notesSlides/notesSlide16.xml" Id="R0414f914eb8a46cb"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5576050785844cc6"/>
          <a:stretch xmlns:a="http://schemas.openxmlformats.org/drawingml/2006/main">
            <a:fillRect l="0" t="0" r="0" b="0"/>
          </a:stretch>
        </p:blipFill>
        <p:spPr>
          <a:xfrm xmlns:a="http://schemas.openxmlformats.org/drawingml/2006/main">
            <a:off x="-83975" y="0"/>
            <a:ext cx="12191695" cy="68580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A6ED5B1F-CE2B-4534-8735-189ECD5438AA}"/>
              </a:ext>
            </a:extLst>
          </p:cNvPr>
          <p:cNvSpPr>
            <a:spLocks xmlns:a="http://schemas.openxmlformats.org/drawingml/2006/main" noGrp="1"/>
          </p:cNvSpPr>
          <p:nvPr/>
        </p:nvSpPr>
        <p:spPr>
          <a:xfrm xmlns:a="http://schemas.openxmlformats.org/drawingml/2006/main">
            <a:off x="1809750" y="1952625"/>
            <a:ext cx="857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025" b="1" i="0">
                <a:solidFill>
                  <a:srgbClr val="006B35"/>
                </a:solidFill>
                <a:latin typeface="Cambria"/>
                <a:ea typeface="Cambria"/>
                <a:cs typeface="Cambria"/>
              </a:defRPr>
            </a:pPr>
            <a:r>
              <a:rPr sz="2025" b="1" i="0">
                <a:solidFill>
                  <a:srgbClr val="006B35"/>
                </a:solidFill>
                <a:latin typeface="Cambria"/>
                <a:ea typeface="Cambria"/>
                <a:cs typeface="Cambria"/>
              </a:rPr>
              <a:t>BÁO CÁO HIỆN TRẠNG PHÁT TRIỂN</a:t>
            </a:r>
          </a:p>
        </p:txBody>
      </p:sp>
      <p:sp>
        <p:nvSpPr>
          <p:cNvPr id="12" name="">
            <a:extLst xmlns:a="http://schemas.openxmlformats.org/drawingml/2006/main">
              <a:ext uri="{FF2B5EF4-FFF2-40B4-BE49-F238E27FC236}">
                <a16:creationId xmlns:a16="http://schemas.microsoft.com/office/drawing/2014/main" id="{AB679A21-098A-4B05-A57E-A99D9F009784}"/>
              </a:ext>
            </a:extLst>
          </p:cNvPr>
          <p:cNvSpPr>
            <a:spLocks xmlns:a="http://schemas.openxmlformats.org/drawingml/2006/main" noGrp="1"/>
          </p:cNvSpPr>
          <p:nvPr/>
        </p:nvSpPr>
        <p:spPr>
          <a:xfrm xmlns:a="http://schemas.openxmlformats.org/drawingml/2006/main">
            <a:off x="1190625" y="2571750"/>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3150" b="1" i="0">
                <a:solidFill>
                  <a:srgbClr val="E00000"/>
                </a:solidFill>
                <a:latin typeface="Cambria"/>
                <a:ea typeface="Cambria"/>
                <a:cs typeface="Cambria"/>
              </a:defRPr>
            </a:pPr>
            <a:r>
              <a:rPr sz="3150" b="1" i="0">
                <a:solidFill>
                  <a:srgbClr val="E00000"/>
                </a:solidFill>
                <a:latin typeface="Cambria"/>
                <a:ea typeface="Cambria"/>
                <a:cs typeface="Cambria"/>
              </a:rPr>
              <a:t>HỆ THỐNG QUẢN LÝ XE CƠ GIỚI &amp; PTVC</a:t>
            </a:r>
          </a:p>
        </p:txBody>
      </p:sp>
      <p:sp>
        <p:nvSpPr>
          <p:cNvPr id="13" name="">
            <a:extLst xmlns:a="http://schemas.openxmlformats.org/drawingml/2006/main">
              <a:ext uri="{FF2B5EF4-FFF2-40B4-BE49-F238E27FC236}">
                <a16:creationId xmlns:a16="http://schemas.microsoft.com/office/drawing/2014/main" id="{FD3D149D-5F61-4BF5-AA49-4EB1AFD2181A}"/>
              </a:ext>
            </a:extLst>
          </p:cNvPr>
          <p:cNvSpPr>
            <a:spLocks xmlns:a="http://schemas.openxmlformats.org/drawingml/2006/main" noGrp="1"/>
          </p:cNvSpPr>
          <p:nvPr/>
        </p:nvSpPr>
        <p:spPr>
          <a:xfrm xmlns:a="http://schemas.openxmlformats.org/drawingml/2006/main">
            <a:off x="2047875" y="3333750"/>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800" b="0" i="1">
                <a:solidFill>
                  <a:srgbClr val="59636E"/>
                </a:solidFill>
                <a:latin typeface="Cambria"/>
                <a:ea typeface="Cambria"/>
                <a:cs typeface="Cambria"/>
              </a:defRPr>
            </a:pPr>
            <a:r>
              <a:rPr sz="1800" b="0" i="1">
                <a:solidFill>
                  <a:srgbClr val="59636E"/>
                </a:solidFill>
                <a:latin typeface="Cambria"/>
                <a:ea typeface="Cambria"/>
                <a:cs typeface="Cambria"/>
              </a:rPr>
              <a:t>Tiến độ mã nguồn, mức độ tích hợp và các bất cập hiện tại</a:t>
            </a:r>
          </a:p>
        </p:txBody>
      </p:sp>
      <p:sp>
        <p:nvSpPr>
          <p:cNvPr id="14" name="">
            <a:extLst xmlns:a="http://schemas.openxmlformats.org/drawingml/2006/main">
              <a:ext uri="{FF2B5EF4-FFF2-40B4-BE49-F238E27FC236}">
                <a16:creationId xmlns:a16="http://schemas.microsoft.com/office/drawing/2014/main" id="{82115079-ABFC-47C1-9B87-8BDC9F3334DA}"/>
              </a:ext>
            </a:extLst>
          </p:cNvPr>
          <p:cNvSpPr>
            <a:spLocks xmlns:a="http://schemas.openxmlformats.org/drawingml/2006/main" noGrp="1"/>
          </p:cNvSpPr>
          <p:nvPr/>
        </p:nvSpPr>
        <p:spPr>
          <a:xfrm xmlns:a="http://schemas.openxmlformats.org/drawingml/2006/main">
            <a:off x="1714500" y="400050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500" b="1" i="0">
                <a:solidFill>
                  <a:srgbClr val="006B35"/>
                </a:solidFill>
                <a:latin typeface="Cambria"/>
                <a:ea typeface="Cambria"/>
                <a:cs typeface="Cambria"/>
              </a:defRPr>
            </a:pPr>
            <a:r>
              <a:rPr sz="1500" b="1" i="0">
                <a:solidFill>
                  <a:srgbClr val="006B35"/>
                </a:solidFill>
                <a:latin typeface="Cambria"/>
                <a:ea typeface="Cambria"/>
                <a:cs typeface="Cambria"/>
              </a:rPr>
              <a:t>Phạm vi rà soát: web React, API NestJS, Prisma/MySQL và ứng dụng tài xế</a:t>
            </a:r>
          </a:p>
        </p:txBody>
      </p:sp>
      <p:sp>
        <p:nvSpPr>
          <p:cNvPr id="15" name="">
            <a:extLst xmlns:a="http://schemas.openxmlformats.org/drawingml/2006/main">
              <a:ext uri="{FF2B5EF4-FFF2-40B4-BE49-F238E27FC236}">
                <a16:creationId xmlns:a16="http://schemas.microsoft.com/office/drawing/2014/main" id="{F8D4AA42-7656-43DC-9298-837EEB117E7C}"/>
              </a:ext>
            </a:extLst>
          </p:cNvPr>
          <p:cNvSpPr>
            <a:spLocks xmlns:a="http://schemas.openxmlformats.org/drawingml/2006/main" noGrp="1"/>
          </p:cNvSpPr>
          <p:nvPr/>
        </p:nvSpPr>
        <p:spPr>
          <a:xfrm xmlns:a="http://schemas.openxmlformats.org/drawingml/2006/main">
            <a:off x="2381250" y="5638800"/>
            <a:ext cx="742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425" b="1" i="0">
                <a:solidFill>
                  <a:srgbClr val="006B35"/>
                </a:solidFill>
                <a:latin typeface="Cambria"/>
                <a:ea typeface="Cambria"/>
                <a:cs typeface="Cambria"/>
              </a:defRPr>
            </a:pPr>
            <a:r>
              <a:rPr sz="1425" b="1" i="0">
                <a:solidFill>
                  <a:srgbClr val="006B35"/>
                </a:solidFill>
                <a:latin typeface="Cambria"/>
                <a:ea typeface="Cambria"/>
                <a:cs typeface="Cambria"/>
              </a:rPr>
              <a:t>PHÒNG VẬN HÀNH SỐ</a:t>
            </a:r>
          </a:p>
          <a:p xmlns:a="http://schemas.openxmlformats.org/drawingml/2006/main">
            <a:pPr algn="ctr">
              <a:lnSpc>
                <a:spcPct val="100000"/>
              </a:lnSpc>
              <a:buNone/>
              <a:defRPr sz="1425" b="1" i="0">
                <a:solidFill>
                  <a:srgbClr val="006B35"/>
                </a:solidFill>
                <a:latin typeface="Cambria"/>
                <a:ea typeface="Cambria"/>
                <a:cs typeface="Cambria"/>
              </a:defRPr>
            </a:pPr>
            <a:r>
              <a:rPr sz="1425" b="1" i="0">
                <a:solidFill>
                  <a:srgbClr val="006B35"/>
                </a:solidFill>
                <a:latin typeface="Cambria"/>
                <a:ea typeface="Cambria"/>
                <a:cs typeface="Cambria"/>
              </a:rPr>
              <a:t>KLH Koun Mom, Ratanakiri, Cambodia | 21.09.2026</a:t>
            </a:r>
          </a:p>
        </p:txBody>
      </p:sp>
    </p:spTree>
    <p:extLst>
      <p:ext uri="{BB962C8B-B14F-4D97-AF65-F5344CB8AC3E}">
        <p14:creationId xmlns:p14="http://schemas.microsoft.com/office/powerpoint/2010/main" val="195347990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62" name="Image 0"/>
          <p:cNvPicPr>
            <a:picLocks xmlns:a="http://schemas.openxmlformats.org/drawingml/2006/main" noChangeAspect="1"/>
          </p:cNvPicPr>
          <p:nvPr/>
        </p:nvPicPr>
        <p:blipFill>
          <a:blip xmlns:r="http://schemas.openxmlformats.org/officeDocument/2006/relationships" xmlns:a="http://schemas.openxmlformats.org/drawingml/2006/main" r:embed="R13b2b292c8154337"/>
          <a:stretch xmlns:a="http://schemas.openxmlformats.org/drawingml/2006/main">
            <a:fillRect l="0" t="0" r="0" b="0"/>
          </a:stretch>
        </p:blipFill>
        <p:spPr>
          <a:xfrm xmlns:a="http://schemas.openxmlformats.org/drawingml/2006/main">
            <a:off x="0" y="0"/>
            <a:ext cx="12191695" cy="6858000"/>
          </a:xfrm>
          <a:prstGeom xmlns:a="http://schemas.openxmlformats.org/drawingml/2006/main" prst="rect">
            <a:avLst/>
          </a:prstGeom>
        </p:spPr>
      </p:pic>
      <p:sp>
        <p:nvSpPr>
          <p:cNvPr id="43" name="slide-title">
            <a:extLst xmlns:a="http://schemas.openxmlformats.org/drawingml/2006/main">
              <a:ext uri="{FF2B5EF4-FFF2-40B4-BE49-F238E27FC236}">
                <a16:creationId xmlns:a16="http://schemas.microsoft.com/office/drawing/2014/main" id="{595C3EA4-C8CA-4A4D-8D47-5794BA5AC28C}"/>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NỘI DUNG BÁO CÁO</a:t>
            </a:r>
          </a:p>
        </p:txBody>
      </p:sp>
      <p:sp>
        <p:nvSpPr>
          <p:cNvPr id="44" name="">
            <a:extLst xmlns:a="http://schemas.openxmlformats.org/drawingml/2006/main">
              <a:ext uri="{FF2B5EF4-FFF2-40B4-BE49-F238E27FC236}">
                <a16:creationId xmlns:a16="http://schemas.microsoft.com/office/drawing/2014/main" id="{69B4DED9-F056-4344-8377-36919B6E0BCA}"/>
              </a:ext>
            </a:extLst>
          </p:cNvPr>
          <p:cNvSpPr>
            <a:spLocks xmlns:a="http://schemas.openxmlformats.org/drawingml/2006/main" noGrp="1"/>
          </p:cNvSpPr>
          <p:nvPr/>
        </p:nvSpPr>
        <p:spPr>
          <a:xfrm xmlns:a="http://schemas.openxmlformats.org/drawingml/2006/main">
            <a:off x="457200" y="1047750"/>
            <a:ext cx="685800" cy="381000"/>
          </a:xfrm>
          <a:prstGeom xmlns:a="http://schemas.openxmlformats.org/drawingml/2006/main" prst="rect">
            <a:avLst/>
          </a:prstGeom>
          <a:solidFill xmlns:a="http://schemas.openxmlformats.org/drawingml/2006/main">
            <a:srgbClr val="006B35"/>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725" b="1" i="0">
                <a:solidFill>
                  <a:srgbClr val="FFFFFF"/>
                </a:solidFill>
                <a:latin typeface="Cambria"/>
                <a:ea typeface="Cambria"/>
                <a:cs typeface="Cambria"/>
              </a:defRPr>
            </a:pPr>
            <a:r>
              <a:rPr sz="1725" b="1" i="0">
                <a:solidFill>
                  <a:srgbClr val="FFFFFF"/>
                </a:solidFill>
                <a:latin typeface="Cambria"/>
                <a:ea typeface="Cambria"/>
                <a:cs typeface="Cambria"/>
              </a:rPr>
              <a:t>01</a:t>
            </a:r>
          </a:p>
        </p:txBody>
      </p:sp>
      <p:sp>
        <p:nvSpPr>
          <p:cNvPr id="45" name="">
            <a:extLst xmlns:a="http://schemas.openxmlformats.org/drawingml/2006/main">
              <a:ext uri="{FF2B5EF4-FFF2-40B4-BE49-F238E27FC236}">
                <a16:creationId xmlns:a16="http://schemas.microsoft.com/office/drawing/2014/main" id="{C41C1B15-6492-4E14-96D9-985743367D8B}"/>
              </a:ext>
            </a:extLst>
          </p:cNvPr>
          <p:cNvSpPr>
            <a:spLocks xmlns:a="http://schemas.openxmlformats.org/drawingml/2006/main" noGrp="1"/>
          </p:cNvSpPr>
          <p:nvPr/>
        </p:nvSpPr>
        <p:spPr>
          <a:xfrm xmlns:a="http://schemas.openxmlformats.org/drawingml/2006/main">
            <a:off x="1238250" y="1047750"/>
            <a:ext cx="9982200" cy="381000"/>
          </a:xfrm>
          <a:prstGeom xmlns:a="http://schemas.openxmlformats.org/drawingml/2006/main" prst="rect">
            <a:avLst/>
          </a:prstGeom>
          <a:solidFill xmlns:a="http://schemas.openxmlformats.org/drawingml/2006/main">
            <a:srgbClr val="F8F9F8"/>
          </a:solidFill>
          <a:ln xmlns:a="http://schemas.openxmlformats.org/drawingml/2006/main" w="9525">
            <a:solidFill>
              <a:srgbClr val="D8DDD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650" b="0" i="0">
                <a:solidFill>
                  <a:srgbClr val="006B35"/>
                </a:solidFill>
                <a:latin typeface="Cambria"/>
                <a:ea typeface="Cambria"/>
                <a:cs typeface="Cambria"/>
              </a:defRPr>
            </a:pPr>
            <a:r>
              <a:rPr sz="1650" b="0" i="0">
                <a:solidFill>
                  <a:srgbClr val="006B35"/>
                </a:solidFill>
                <a:latin typeface="Cambria"/>
                <a:ea typeface="Cambria"/>
                <a:cs typeface="Cambria"/>
              </a:rPr>
              <a:t>Tóm tắt điều hành</a:t>
            </a:r>
          </a:p>
        </p:txBody>
      </p:sp>
      <p:sp>
        <p:nvSpPr>
          <p:cNvPr id="46" name="">
            <a:extLst xmlns:a="http://schemas.openxmlformats.org/drawingml/2006/main">
              <a:ext uri="{FF2B5EF4-FFF2-40B4-BE49-F238E27FC236}">
                <a16:creationId xmlns:a16="http://schemas.microsoft.com/office/drawing/2014/main" id="{000F9138-6603-4330-A1BC-B1E09729A212}"/>
              </a:ext>
            </a:extLst>
          </p:cNvPr>
          <p:cNvSpPr>
            <a:spLocks xmlns:a="http://schemas.openxmlformats.org/drawingml/2006/main" noGrp="1"/>
          </p:cNvSpPr>
          <p:nvPr/>
        </p:nvSpPr>
        <p:spPr>
          <a:xfrm xmlns:a="http://schemas.openxmlformats.org/drawingml/2006/main">
            <a:off x="457200" y="1600200"/>
            <a:ext cx="685800" cy="381000"/>
          </a:xfrm>
          <a:prstGeom xmlns:a="http://schemas.openxmlformats.org/drawingml/2006/main" prst="rect">
            <a:avLst/>
          </a:prstGeom>
          <a:solidFill xmlns:a="http://schemas.openxmlformats.org/drawingml/2006/main">
            <a:srgbClr val="075AA7"/>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725" b="1" i="0">
                <a:solidFill>
                  <a:srgbClr val="FFFFFF"/>
                </a:solidFill>
                <a:latin typeface="Cambria"/>
                <a:ea typeface="Cambria"/>
                <a:cs typeface="Cambria"/>
              </a:defRPr>
            </a:pPr>
            <a:r>
              <a:rPr sz="1725" b="1" i="0">
                <a:solidFill>
                  <a:srgbClr val="FFFFFF"/>
                </a:solidFill>
                <a:latin typeface="Cambria"/>
                <a:ea typeface="Cambria"/>
                <a:cs typeface="Cambria"/>
              </a:rPr>
              <a:t>02</a:t>
            </a:r>
          </a:p>
        </p:txBody>
      </p:sp>
      <p:sp>
        <p:nvSpPr>
          <p:cNvPr id="47" name="">
            <a:extLst xmlns:a="http://schemas.openxmlformats.org/drawingml/2006/main">
              <a:ext uri="{FF2B5EF4-FFF2-40B4-BE49-F238E27FC236}">
                <a16:creationId xmlns:a16="http://schemas.microsoft.com/office/drawing/2014/main" id="{C6C8DAF9-F09B-4EDC-A1BA-4CED0392E878}"/>
              </a:ext>
            </a:extLst>
          </p:cNvPr>
          <p:cNvSpPr>
            <a:spLocks xmlns:a="http://schemas.openxmlformats.org/drawingml/2006/main" noGrp="1"/>
          </p:cNvSpPr>
          <p:nvPr/>
        </p:nvSpPr>
        <p:spPr>
          <a:xfrm xmlns:a="http://schemas.openxmlformats.org/drawingml/2006/main">
            <a:off x="1238250" y="1600200"/>
            <a:ext cx="9982200" cy="381000"/>
          </a:xfrm>
          <a:prstGeom xmlns:a="http://schemas.openxmlformats.org/drawingml/2006/main" prst="rect">
            <a:avLst/>
          </a:prstGeom>
          <a:solidFill xmlns:a="http://schemas.openxmlformats.org/drawingml/2006/main">
            <a:srgbClr val="F8F9F8"/>
          </a:solidFill>
          <a:ln xmlns:a="http://schemas.openxmlformats.org/drawingml/2006/main" w="9525">
            <a:solidFill>
              <a:srgbClr val="D8DDD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650" b="0" i="0">
                <a:solidFill>
                  <a:srgbClr val="006B35"/>
                </a:solidFill>
                <a:latin typeface="Cambria"/>
                <a:ea typeface="Cambria"/>
                <a:cs typeface="Cambria"/>
              </a:defRPr>
            </a:pPr>
            <a:r>
              <a:rPr sz="1650" b="0" i="0">
                <a:solidFill>
                  <a:srgbClr val="006B35"/>
                </a:solidFill>
                <a:latin typeface="Cambria"/>
                <a:ea typeface="Cambria"/>
                <a:cs typeface="Cambria"/>
              </a:rPr>
              <a:t>Phạm vi và kiến trúc hệ thống</a:t>
            </a:r>
          </a:p>
        </p:txBody>
      </p:sp>
      <p:sp>
        <p:nvSpPr>
          <p:cNvPr id="48" name="">
            <a:extLst xmlns:a="http://schemas.openxmlformats.org/drawingml/2006/main">
              <a:ext uri="{FF2B5EF4-FFF2-40B4-BE49-F238E27FC236}">
                <a16:creationId xmlns:a16="http://schemas.microsoft.com/office/drawing/2014/main" id="{42E44383-D87F-4F5C-BA0B-636A22DE8FC0}"/>
              </a:ext>
            </a:extLst>
          </p:cNvPr>
          <p:cNvSpPr>
            <a:spLocks xmlns:a="http://schemas.openxmlformats.org/drawingml/2006/main" noGrp="1"/>
          </p:cNvSpPr>
          <p:nvPr/>
        </p:nvSpPr>
        <p:spPr>
          <a:xfrm xmlns:a="http://schemas.openxmlformats.org/drawingml/2006/main">
            <a:off x="457200" y="2152650"/>
            <a:ext cx="685800" cy="381000"/>
          </a:xfrm>
          <a:prstGeom xmlns:a="http://schemas.openxmlformats.org/drawingml/2006/main" prst="rect">
            <a:avLst/>
          </a:prstGeom>
          <a:solidFill xmlns:a="http://schemas.openxmlformats.org/drawingml/2006/main">
            <a:srgbClr val="006B35"/>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725" b="1" i="0">
                <a:solidFill>
                  <a:srgbClr val="FFFFFF"/>
                </a:solidFill>
                <a:latin typeface="Cambria"/>
                <a:ea typeface="Cambria"/>
                <a:cs typeface="Cambria"/>
              </a:defRPr>
            </a:pPr>
            <a:r>
              <a:rPr sz="1725" b="1" i="0">
                <a:solidFill>
                  <a:srgbClr val="FFFFFF"/>
                </a:solidFill>
                <a:latin typeface="Cambria"/>
                <a:ea typeface="Cambria"/>
                <a:cs typeface="Cambria"/>
              </a:rPr>
              <a:t>03</a:t>
            </a:r>
          </a:p>
        </p:txBody>
      </p:sp>
      <p:sp>
        <p:nvSpPr>
          <p:cNvPr id="49" name="">
            <a:extLst xmlns:a="http://schemas.openxmlformats.org/drawingml/2006/main">
              <a:ext uri="{FF2B5EF4-FFF2-40B4-BE49-F238E27FC236}">
                <a16:creationId xmlns:a16="http://schemas.microsoft.com/office/drawing/2014/main" id="{CD7ADCA4-653F-41DC-AF2E-C30F308053D1}"/>
              </a:ext>
            </a:extLst>
          </p:cNvPr>
          <p:cNvSpPr>
            <a:spLocks xmlns:a="http://schemas.openxmlformats.org/drawingml/2006/main" noGrp="1"/>
          </p:cNvSpPr>
          <p:nvPr/>
        </p:nvSpPr>
        <p:spPr>
          <a:xfrm xmlns:a="http://schemas.openxmlformats.org/drawingml/2006/main">
            <a:off x="1238250" y="2152650"/>
            <a:ext cx="9982200" cy="381000"/>
          </a:xfrm>
          <a:prstGeom xmlns:a="http://schemas.openxmlformats.org/drawingml/2006/main" prst="rect">
            <a:avLst/>
          </a:prstGeom>
          <a:solidFill xmlns:a="http://schemas.openxmlformats.org/drawingml/2006/main">
            <a:srgbClr val="F8F9F8"/>
          </a:solidFill>
          <a:ln xmlns:a="http://schemas.openxmlformats.org/drawingml/2006/main" w="9525">
            <a:solidFill>
              <a:srgbClr val="D8DDD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650" b="0" i="0">
                <a:solidFill>
                  <a:srgbClr val="006B35"/>
                </a:solidFill>
                <a:latin typeface="Cambria"/>
                <a:ea typeface="Cambria"/>
                <a:cs typeface="Cambria"/>
              </a:defRPr>
            </a:pPr>
            <a:r>
              <a:rPr sz="1650" b="0" i="0">
                <a:solidFill>
                  <a:srgbClr val="006B35"/>
                </a:solidFill>
                <a:latin typeface="Cambria"/>
                <a:ea typeface="Cambria"/>
                <a:cs typeface="Cambria"/>
              </a:rPr>
              <a:t>Tiến độ mã nguồn theo bằng chứng</a:t>
            </a:r>
          </a:p>
        </p:txBody>
      </p:sp>
      <p:sp>
        <p:nvSpPr>
          <p:cNvPr id="50" name="">
            <a:extLst xmlns:a="http://schemas.openxmlformats.org/drawingml/2006/main">
              <a:ext uri="{FF2B5EF4-FFF2-40B4-BE49-F238E27FC236}">
                <a16:creationId xmlns:a16="http://schemas.microsoft.com/office/drawing/2014/main" id="{D88BA10F-2984-491F-B532-37B118A9547F}"/>
              </a:ext>
            </a:extLst>
          </p:cNvPr>
          <p:cNvSpPr>
            <a:spLocks xmlns:a="http://schemas.openxmlformats.org/drawingml/2006/main" noGrp="1"/>
          </p:cNvSpPr>
          <p:nvPr/>
        </p:nvSpPr>
        <p:spPr>
          <a:xfrm xmlns:a="http://schemas.openxmlformats.org/drawingml/2006/main">
            <a:off x="457200" y="2705100"/>
            <a:ext cx="685800" cy="381000"/>
          </a:xfrm>
          <a:prstGeom xmlns:a="http://schemas.openxmlformats.org/drawingml/2006/main" prst="rect">
            <a:avLst/>
          </a:prstGeom>
          <a:solidFill xmlns:a="http://schemas.openxmlformats.org/drawingml/2006/main">
            <a:srgbClr val="075AA7"/>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725" b="1" i="0">
                <a:solidFill>
                  <a:srgbClr val="FFFFFF"/>
                </a:solidFill>
                <a:latin typeface="Cambria"/>
                <a:ea typeface="Cambria"/>
                <a:cs typeface="Cambria"/>
              </a:defRPr>
            </a:pPr>
            <a:r>
              <a:rPr sz="1725" b="1" i="0">
                <a:solidFill>
                  <a:srgbClr val="FFFFFF"/>
                </a:solidFill>
                <a:latin typeface="Cambria"/>
                <a:ea typeface="Cambria"/>
                <a:cs typeface="Cambria"/>
              </a:rPr>
              <a:t>04</a:t>
            </a:r>
          </a:p>
        </p:txBody>
      </p:sp>
      <p:sp>
        <p:nvSpPr>
          <p:cNvPr id="51" name="">
            <a:extLst xmlns:a="http://schemas.openxmlformats.org/drawingml/2006/main">
              <a:ext uri="{FF2B5EF4-FFF2-40B4-BE49-F238E27FC236}">
                <a16:creationId xmlns:a16="http://schemas.microsoft.com/office/drawing/2014/main" id="{B51F515E-762A-4C7B-A3EF-81BCB06986AD}"/>
              </a:ext>
            </a:extLst>
          </p:cNvPr>
          <p:cNvSpPr>
            <a:spLocks xmlns:a="http://schemas.openxmlformats.org/drawingml/2006/main" noGrp="1"/>
          </p:cNvSpPr>
          <p:nvPr/>
        </p:nvSpPr>
        <p:spPr>
          <a:xfrm xmlns:a="http://schemas.openxmlformats.org/drawingml/2006/main">
            <a:off x="1238250" y="2705100"/>
            <a:ext cx="9982200" cy="381000"/>
          </a:xfrm>
          <a:prstGeom xmlns:a="http://schemas.openxmlformats.org/drawingml/2006/main" prst="rect">
            <a:avLst/>
          </a:prstGeom>
          <a:solidFill xmlns:a="http://schemas.openxmlformats.org/drawingml/2006/main">
            <a:srgbClr val="F8F9F8"/>
          </a:solidFill>
          <a:ln xmlns:a="http://schemas.openxmlformats.org/drawingml/2006/main" w="9525">
            <a:solidFill>
              <a:srgbClr val="D8DDD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650" b="0" i="0">
                <a:solidFill>
                  <a:srgbClr val="006B35"/>
                </a:solidFill>
                <a:latin typeface="Cambria"/>
                <a:ea typeface="Cambria"/>
                <a:cs typeface="Cambria"/>
              </a:defRPr>
            </a:pPr>
            <a:r>
              <a:rPr sz="1650" b="0" i="0">
                <a:solidFill>
                  <a:srgbClr val="006B35"/>
                </a:solidFill>
                <a:latin typeface="Cambria"/>
                <a:ea typeface="Cambria"/>
                <a:cs typeface="Cambria"/>
              </a:rPr>
              <a:t>Hiện trạng các module A–K</a:t>
            </a:r>
          </a:p>
        </p:txBody>
      </p:sp>
      <p:sp>
        <p:nvSpPr>
          <p:cNvPr id="52" name="">
            <a:extLst xmlns:a="http://schemas.openxmlformats.org/drawingml/2006/main">
              <a:ext uri="{FF2B5EF4-FFF2-40B4-BE49-F238E27FC236}">
                <a16:creationId xmlns:a16="http://schemas.microsoft.com/office/drawing/2014/main" id="{A0C7A6C2-0397-4A74-9862-5220F851746E}"/>
              </a:ext>
            </a:extLst>
          </p:cNvPr>
          <p:cNvSpPr>
            <a:spLocks xmlns:a="http://schemas.openxmlformats.org/drawingml/2006/main" noGrp="1"/>
          </p:cNvSpPr>
          <p:nvPr/>
        </p:nvSpPr>
        <p:spPr>
          <a:xfrm xmlns:a="http://schemas.openxmlformats.org/drawingml/2006/main">
            <a:off x="457200" y="3257550"/>
            <a:ext cx="685800" cy="381000"/>
          </a:xfrm>
          <a:prstGeom xmlns:a="http://schemas.openxmlformats.org/drawingml/2006/main" prst="rect">
            <a:avLst/>
          </a:prstGeom>
          <a:solidFill xmlns:a="http://schemas.openxmlformats.org/drawingml/2006/main">
            <a:srgbClr val="006B35"/>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725" b="1" i="0">
                <a:solidFill>
                  <a:srgbClr val="FFFFFF"/>
                </a:solidFill>
                <a:latin typeface="Cambria"/>
                <a:ea typeface="Cambria"/>
                <a:cs typeface="Cambria"/>
              </a:defRPr>
            </a:pPr>
            <a:r>
              <a:rPr sz="1725" b="1" i="0">
                <a:solidFill>
                  <a:srgbClr val="FFFFFF"/>
                </a:solidFill>
                <a:latin typeface="Cambria"/>
                <a:ea typeface="Cambria"/>
                <a:cs typeface="Cambria"/>
              </a:rPr>
              <a:t>05</a:t>
            </a:r>
          </a:p>
        </p:txBody>
      </p:sp>
      <p:sp>
        <p:nvSpPr>
          <p:cNvPr id="53" name="">
            <a:extLst xmlns:a="http://schemas.openxmlformats.org/drawingml/2006/main">
              <a:ext uri="{FF2B5EF4-FFF2-40B4-BE49-F238E27FC236}">
                <a16:creationId xmlns:a16="http://schemas.microsoft.com/office/drawing/2014/main" id="{F50B55CF-D6F4-4D17-BED1-FAB766CC0CF4}"/>
              </a:ext>
            </a:extLst>
          </p:cNvPr>
          <p:cNvSpPr>
            <a:spLocks xmlns:a="http://schemas.openxmlformats.org/drawingml/2006/main" noGrp="1"/>
          </p:cNvSpPr>
          <p:nvPr/>
        </p:nvSpPr>
        <p:spPr>
          <a:xfrm xmlns:a="http://schemas.openxmlformats.org/drawingml/2006/main">
            <a:off x="1238250" y="3257550"/>
            <a:ext cx="9982200" cy="381000"/>
          </a:xfrm>
          <a:prstGeom xmlns:a="http://schemas.openxmlformats.org/drawingml/2006/main" prst="rect">
            <a:avLst/>
          </a:prstGeom>
          <a:solidFill xmlns:a="http://schemas.openxmlformats.org/drawingml/2006/main">
            <a:srgbClr val="F8F9F8"/>
          </a:solidFill>
          <a:ln xmlns:a="http://schemas.openxmlformats.org/drawingml/2006/main" w="9525">
            <a:solidFill>
              <a:srgbClr val="D8DDD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650" b="0" i="0">
                <a:solidFill>
                  <a:srgbClr val="006B35"/>
                </a:solidFill>
                <a:latin typeface="Cambria"/>
                <a:ea typeface="Cambria"/>
                <a:cs typeface="Cambria"/>
              </a:defRPr>
            </a:pPr>
            <a:r>
              <a:rPr sz="1650" b="0" i="0">
                <a:solidFill>
                  <a:srgbClr val="006B35"/>
                </a:solidFill>
                <a:latin typeface="Cambria"/>
                <a:ea typeface="Cambria"/>
                <a:cs typeface="Cambria"/>
              </a:rPr>
              <a:t>Luồng nghiệp vụ và tích hợp dữ liệu</a:t>
            </a:r>
          </a:p>
        </p:txBody>
      </p:sp>
      <p:sp>
        <p:nvSpPr>
          <p:cNvPr id="54" name="">
            <a:extLst xmlns:a="http://schemas.openxmlformats.org/drawingml/2006/main">
              <a:ext uri="{FF2B5EF4-FFF2-40B4-BE49-F238E27FC236}">
                <a16:creationId xmlns:a16="http://schemas.microsoft.com/office/drawing/2014/main" id="{C07ECA9C-AF96-4673-841E-A4809975684D}"/>
              </a:ext>
            </a:extLst>
          </p:cNvPr>
          <p:cNvSpPr>
            <a:spLocks xmlns:a="http://schemas.openxmlformats.org/drawingml/2006/main" noGrp="1"/>
          </p:cNvSpPr>
          <p:nvPr/>
        </p:nvSpPr>
        <p:spPr>
          <a:xfrm xmlns:a="http://schemas.openxmlformats.org/drawingml/2006/main">
            <a:off x="457200" y="3810000"/>
            <a:ext cx="685800" cy="381000"/>
          </a:xfrm>
          <a:prstGeom xmlns:a="http://schemas.openxmlformats.org/drawingml/2006/main" prst="rect">
            <a:avLst/>
          </a:prstGeom>
          <a:solidFill xmlns:a="http://schemas.openxmlformats.org/drawingml/2006/main">
            <a:srgbClr val="075AA7"/>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725" b="1" i="0">
                <a:solidFill>
                  <a:srgbClr val="FFFFFF"/>
                </a:solidFill>
                <a:latin typeface="Cambria"/>
                <a:ea typeface="Cambria"/>
                <a:cs typeface="Cambria"/>
              </a:defRPr>
            </a:pPr>
            <a:r>
              <a:rPr sz="1725" b="1" i="0">
                <a:solidFill>
                  <a:srgbClr val="FFFFFF"/>
                </a:solidFill>
                <a:latin typeface="Cambria"/>
                <a:ea typeface="Cambria"/>
                <a:cs typeface="Cambria"/>
              </a:rPr>
              <a:t>06</a:t>
            </a:r>
          </a:p>
        </p:txBody>
      </p:sp>
      <p:sp>
        <p:nvSpPr>
          <p:cNvPr id="55" name="">
            <a:extLst xmlns:a="http://schemas.openxmlformats.org/drawingml/2006/main">
              <a:ext uri="{FF2B5EF4-FFF2-40B4-BE49-F238E27FC236}">
                <a16:creationId xmlns:a16="http://schemas.microsoft.com/office/drawing/2014/main" id="{73ED4820-A112-40AA-B4C5-F7382897B5C2}"/>
              </a:ext>
            </a:extLst>
          </p:cNvPr>
          <p:cNvSpPr>
            <a:spLocks xmlns:a="http://schemas.openxmlformats.org/drawingml/2006/main" noGrp="1"/>
          </p:cNvSpPr>
          <p:nvPr/>
        </p:nvSpPr>
        <p:spPr>
          <a:xfrm xmlns:a="http://schemas.openxmlformats.org/drawingml/2006/main">
            <a:off x="1238250" y="3810000"/>
            <a:ext cx="9982200" cy="381000"/>
          </a:xfrm>
          <a:prstGeom xmlns:a="http://schemas.openxmlformats.org/drawingml/2006/main" prst="rect">
            <a:avLst/>
          </a:prstGeom>
          <a:solidFill xmlns:a="http://schemas.openxmlformats.org/drawingml/2006/main">
            <a:srgbClr val="F8F9F8"/>
          </a:solidFill>
          <a:ln xmlns:a="http://schemas.openxmlformats.org/drawingml/2006/main" w="9525">
            <a:solidFill>
              <a:srgbClr val="D8DDD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650" b="0" i="0">
                <a:solidFill>
                  <a:srgbClr val="006B35"/>
                </a:solidFill>
                <a:latin typeface="Cambria"/>
                <a:ea typeface="Cambria"/>
                <a:cs typeface="Cambria"/>
              </a:defRPr>
            </a:pPr>
            <a:r>
              <a:rPr sz="1650" b="0" i="0">
                <a:solidFill>
                  <a:srgbClr val="006B35"/>
                </a:solidFill>
                <a:latin typeface="Cambria"/>
                <a:ea typeface="Cambria"/>
                <a:cs typeface="Cambria"/>
              </a:rPr>
              <a:t>Kết quả test / build</a:t>
            </a:r>
          </a:p>
        </p:txBody>
      </p:sp>
      <p:sp>
        <p:nvSpPr>
          <p:cNvPr id="56" name="">
            <a:extLst xmlns:a="http://schemas.openxmlformats.org/drawingml/2006/main">
              <a:ext uri="{FF2B5EF4-FFF2-40B4-BE49-F238E27FC236}">
                <a16:creationId xmlns:a16="http://schemas.microsoft.com/office/drawing/2014/main" id="{64144BFE-F042-47AB-902D-1CD99FFF1E2D}"/>
              </a:ext>
            </a:extLst>
          </p:cNvPr>
          <p:cNvSpPr>
            <a:spLocks xmlns:a="http://schemas.openxmlformats.org/drawingml/2006/main" noGrp="1"/>
          </p:cNvSpPr>
          <p:nvPr/>
        </p:nvSpPr>
        <p:spPr>
          <a:xfrm xmlns:a="http://schemas.openxmlformats.org/drawingml/2006/main">
            <a:off x="457200" y="4362450"/>
            <a:ext cx="685800" cy="381000"/>
          </a:xfrm>
          <a:prstGeom xmlns:a="http://schemas.openxmlformats.org/drawingml/2006/main" prst="rect">
            <a:avLst/>
          </a:prstGeom>
          <a:solidFill xmlns:a="http://schemas.openxmlformats.org/drawingml/2006/main">
            <a:srgbClr val="006B35"/>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725" b="1" i="0">
                <a:solidFill>
                  <a:srgbClr val="FFFFFF"/>
                </a:solidFill>
                <a:latin typeface="Cambria"/>
                <a:ea typeface="Cambria"/>
                <a:cs typeface="Cambria"/>
              </a:defRPr>
            </a:pPr>
            <a:r>
              <a:rPr sz="1725" b="1" i="0">
                <a:solidFill>
                  <a:srgbClr val="FFFFFF"/>
                </a:solidFill>
                <a:latin typeface="Cambria"/>
                <a:ea typeface="Cambria"/>
                <a:cs typeface="Cambria"/>
              </a:rPr>
              <a:t>07</a:t>
            </a:r>
          </a:p>
        </p:txBody>
      </p:sp>
      <p:sp>
        <p:nvSpPr>
          <p:cNvPr id="57" name="">
            <a:extLst xmlns:a="http://schemas.openxmlformats.org/drawingml/2006/main">
              <a:ext uri="{FF2B5EF4-FFF2-40B4-BE49-F238E27FC236}">
                <a16:creationId xmlns:a16="http://schemas.microsoft.com/office/drawing/2014/main" id="{E9D95561-0DBA-4F5E-B93C-5CB927F9C1A6}"/>
              </a:ext>
            </a:extLst>
          </p:cNvPr>
          <p:cNvSpPr>
            <a:spLocks xmlns:a="http://schemas.openxmlformats.org/drawingml/2006/main" noGrp="1"/>
          </p:cNvSpPr>
          <p:nvPr/>
        </p:nvSpPr>
        <p:spPr>
          <a:xfrm xmlns:a="http://schemas.openxmlformats.org/drawingml/2006/main">
            <a:off x="1238250" y="4362450"/>
            <a:ext cx="9982200" cy="381000"/>
          </a:xfrm>
          <a:prstGeom xmlns:a="http://schemas.openxmlformats.org/drawingml/2006/main" prst="rect">
            <a:avLst/>
          </a:prstGeom>
          <a:solidFill xmlns:a="http://schemas.openxmlformats.org/drawingml/2006/main">
            <a:srgbClr val="F8F9F8"/>
          </a:solidFill>
          <a:ln xmlns:a="http://schemas.openxmlformats.org/drawingml/2006/main" w="9525">
            <a:solidFill>
              <a:srgbClr val="D8DDD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650" b="0" i="0">
                <a:solidFill>
                  <a:srgbClr val="006B35"/>
                </a:solidFill>
                <a:latin typeface="Cambria"/>
                <a:ea typeface="Cambria"/>
                <a:cs typeface="Cambria"/>
              </a:defRPr>
            </a:pPr>
            <a:r>
              <a:rPr sz="1650" b="0" i="0">
                <a:solidFill>
                  <a:srgbClr val="006B35"/>
                </a:solidFill>
                <a:latin typeface="Cambria"/>
                <a:ea typeface="Cambria"/>
                <a:cs typeface="Cambria"/>
              </a:rPr>
              <a:t>Bất cập, khó khăn và rủi ro</a:t>
            </a:r>
          </a:p>
        </p:txBody>
      </p:sp>
      <p:sp>
        <p:nvSpPr>
          <p:cNvPr id="58" name="">
            <a:extLst xmlns:a="http://schemas.openxmlformats.org/drawingml/2006/main">
              <a:ext uri="{FF2B5EF4-FFF2-40B4-BE49-F238E27FC236}">
                <a16:creationId xmlns:a16="http://schemas.microsoft.com/office/drawing/2014/main" id="{355E2EAC-7566-47E9-B46A-EEE26CF62013}"/>
              </a:ext>
            </a:extLst>
          </p:cNvPr>
          <p:cNvSpPr>
            <a:spLocks xmlns:a="http://schemas.openxmlformats.org/drawingml/2006/main" noGrp="1"/>
          </p:cNvSpPr>
          <p:nvPr/>
        </p:nvSpPr>
        <p:spPr>
          <a:xfrm xmlns:a="http://schemas.openxmlformats.org/drawingml/2006/main">
            <a:off x="457200" y="4914900"/>
            <a:ext cx="685800" cy="381000"/>
          </a:xfrm>
          <a:prstGeom xmlns:a="http://schemas.openxmlformats.org/drawingml/2006/main" prst="rect">
            <a:avLst/>
          </a:prstGeom>
          <a:solidFill xmlns:a="http://schemas.openxmlformats.org/drawingml/2006/main">
            <a:srgbClr val="075AA7"/>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725" b="1" i="0">
                <a:solidFill>
                  <a:srgbClr val="FFFFFF"/>
                </a:solidFill>
                <a:latin typeface="Cambria"/>
                <a:ea typeface="Cambria"/>
                <a:cs typeface="Cambria"/>
              </a:defRPr>
            </a:pPr>
            <a:r>
              <a:rPr sz="1725" b="1" i="0">
                <a:solidFill>
                  <a:srgbClr val="FFFFFF"/>
                </a:solidFill>
                <a:latin typeface="Cambria"/>
                <a:ea typeface="Cambria"/>
                <a:cs typeface="Cambria"/>
              </a:rPr>
              <a:t>08</a:t>
            </a:r>
          </a:p>
        </p:txBody>
      </p:sp>
      <p:sp>
        <p:nvSpPr>
          <p:cNvPr id="59" name="">
            <a:extLst xmlns:a="http://schemas.openxmlformats.org/drawingml/2006/main">
              <a:ext uri="{FF2B5EF4-FFF2-40B4-BE49-F238E27FC236}">
                <a16:creationId xmlns:a16="http://schemas.microsoft.com/office/drawing/2014/main" id="{B29F0604-7FE9-4271-BAC5-F96CD7E3D9E9}"/>
              </a:ext>
            </a:extLst>
          </p:cNvPr>
          <p:cNvSpPr>
            <a:spLocks xmlns:a="http://schemas.openxmlformats.org/drawingml/2006/main" noGrp="1"/>
          </p:cNvSpPr>
          <p:nvPr/>
        </p:nvSpPr>
        <p:spPr>
          <a:xfrm xmlns:a="http://schemas.openxmlformats.org/drawingml/2006/main">
            <a:off x="1238250" y="4914900"/>
            <a:ext cx="9982200" cy="381000"/>
          </a:xfrm>
          <a:prstGeom xmlns:a="http://schemas.openxmlformats.org/drawingml/2006/main" prst="rect">
            <a:avLst/>
          </a:prstGeom>
          <a:solidFill xmlns:a="http://schemas.openxmlformats.org/drawingml/2006/main">
            <a:srgbClr val="F8F9F8"/>
          </a:solidFill>
          <a:ln xmlns:a="http://schemas.openxmlformats.org/drawingml/2006/main" w="9525">
            <a:solidFill>
              <a:srgbClr val="D8DDD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650" b="0" i="0">
                <a:solidFill>
                  <a:srgbClr val="006B35"/>
                </a:solidFill>
                <a:latin typeface="Cambria"/>
                <a:ea typeface="Cambria"/>
                <a:cs typeface="Cambria"/>
              </a:defRPr>
            </a:pPr>
            <a:r>
              <a:rPr sz="1650" b="0" i="0">
                <a:solidFill>
                  <a:srgbClr val="006B35"/>
                </a:solidFill>
                <a:latin typeface="Cambria"/>
                <a:ea typeface="Cambria"/>
                <a:cs typeface="Cambria"/>
              </a:rPr>
              <a:t>Lộ trình hoàn thiện đề xuất</a:t>
            </a:r>
          </a:p>
        </p:txBody>
      </p:sp>
      <p:sp>
        <p:nvSpPr>
          <p:cNvPr id="60" name="">
            <a:extLst xmlns:a="http://schemas.openxmlformats.org/drawingml/2006/main">
              <a:ext uri="{FF2B5EF4-FFF2-40B4-BE49-F238E27FC236}">
                <a16:creationId xmlns:a16="http://schemas.microsoft.com/office/drawing/2014/main" id="{4E6BD322-22C6-422E-810F-C3B2CC97B72B}"/>
              </a:ext>
            </a:extLst>
          </p:cNvPr>
          <p:cNvSpPr>
            <a:spLocks xmlns:a="http://schemas.openxmlformats.org/drawingml/2006/main" noGrp="1"/>
          </p:cNvSpPr>
          <p:nvPr/>
        </p:nvSpPr>
        <p:spPr>
          <a:xfrm xmlns:a="http://schemas.openxmlformats.org/drawingml/2006/main">
            <a:off x="266700" y="6534150"/>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Báo cáo hiện trạng phát triển | THACO AGRI Fleet | 21/09/2026</a:t>
            </a:r>
          </a:p>
        </p:txBody>
      </p:sp>
      <p:sp>
        <p:nvSpPr>
          <p:cNvPr id="61" name="">
            <a:extLst xmlns:a="http://schemas.openxmlformats.org/drawingml/2006/main">
              <a:ext uri="{FF2B5EF4-FFF2-40B4-BE49-F238E27FC236}">
                <a16:creationId xmlns:a16="http://schemas.microsoft.com/office/drawing/2014/main" id="{B5FAAEBA-BF70-4E7C-8A39-1AB67F9DE9A1}"/>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2</a:t>
            </a:r>
          </a:p>
        </p:txBody>
      </p:sp>
    </p:spTree>
    <p:extLst>
      <p:ext uri="{BB962C8B-B14F-4D97-AF65-F5344CB8AC3E}">
        <p14:creationId xmlns:p14="http://schemas.microsoft.com/office/powerpoint/2010/main" val="107706156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7D30D0BA-599F-40D7-90C2-5094F7B38907}"/>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TÓM TẮT ĐIỀU HÀNH</a:t>
            </a:r>
          </a:p>
        </p:txBody>
      </p:sp>
      <p:sp>
        <p:nvSpPr>
          <p:cNvPr id="2" name="">
            <a:extLst xmlns:a="http://schemas.openxmlformats.org/drawingml/2006/main">
              <a:ext uri="{FF2B5EF4-FFF2-40B4-BE49-F238E27FC236}">
                <a16:creationId xmlns:a16="http://schemas.microsoft.com/office/drawing/2014/main" id="{0724804D-E514-4897-92FE-17387078C3CB}"/>
              </a:ext>
            </a:extLst>
          </p:cNvPr>
          <p:cNvSpPr>
            <a:spLocks xmlns:a="http://schemas.openxmlformats.org/drawingml/2006/main" noGrp="1"/>
          </p:cNvSpPr>
          <p:nvPr/>
        </p:nvSpPr>
        <p:spPr>
          <a:xfrm xmlns:a="http://schemas.openxmlformats.org/drawingml/2006/main">
            <a:off x="781050" y="1066800"/>
            <a:ext cx="10629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92262"/>
          </a:bodyPr>
          <a:lstStyle xmlns:a="http://schemas.openxmlformats.org/drawingml/2006/main"/>
          <a:p xmlns:a="http://schemas.openxmlformats.org/drawingml/2006/main">
            <a:pPr algn="ctr">
              <a:lnSpc>
                <a:spcPct val="100000"/>
              </a:lnSpc>
              <a:buNone/>
              <a:defRPr sz="2100" b="1" i="0">
                <a:solidFill>
                  <a:srgbClr val="006B35"/>
                </a:solidFill>
                <a:latin typeface="Cambria"/>
                <a:ea typeface="Cambria"/>
                <a:cs typeface="Cambria"/>
              </a:defRPr>
            </a:pPr>
            <a:r>
              <a:rPr sz="2100" b="1" i="0">
                <a:solidFill>
                  <a:srgbClr val="006B35"/>
                </a:solidFill>
                <a:latin typeface="Cambria"/>
                <a:ea typeface="Cambria"/>
                <a:cs typeface="Cambria"/>
              </a:rPr>
              <a:t>Nền tảng đã hình thành đầy đủ các lớp chính, nhưng chưa đạt trạng thái sẵn sàng vận hành production</a:t>
            </a:r>
          </a:p>
        </p:txBody>
      </p:sp>
      <p:sp>
        <p:nvSpPr>
          <p:cNvPr id="3" name="">
            <a:extLst xmlns:a="http://schemas.openxmlformats.org/drawingml/2006/main">
              <a:ext uri="{FF2B5EF4-FFF2-40B4-BE49-F238E27FC236}">
                <a16:creationId xmlns:a16="http://schemas.microsoft.com/office/drawing/2014/main" id="{EDF4F160-6AC2-4DAC-8D82-AE7854DF5FD7}"/>
              </a:ext>
            </a:extLst>
          </p:cNvPr>
          <p:cNvSpPr>
            <a:spLocks xmlns:a="http://schemas.openxmlformats.org/drawingml/2006/main" noGrp="1"/>
          </p:cNvSpPr>
          <p:nvPr/>
        </p:nvSpPr>
        <p:spPr>
          <a:xfrm xmlns:a="http://schemas.openxmlformats.org/drawingml/2006/main">
            <a:off x="857250" y="1828800"/>
            <a:ext cx="10477500" cy="1905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4" name="">
            <a:extLst xmlns:a="http://schemas.openxmlformats.org/drawingml/2006/main">
              <a:ext uri="{FF2B5EF4-FFF2-40B4-BE49-F238E27FC236}">
                <a16:creationId xmlns:a16="http://schemas.microsoft.com/office/drawing/2014/main" id="{86622326-5B9A-42A5-9571-BFAA57F3B9CE}"/>
              </a:ext>
            </a:extLst>
          </p:cNvPr>
          <p:cNvSpPr>
            <a:spLocks xmlns:a="http://schemas.openxmlformats.org/drawingml/2006/main" noGrp="1"/>
          </p:cNvSpPr>
          <p:nvPr/>
        </p:nvSpPr>
        <p:spPr>
          <a:xfrm xmlns:a="http://schemas.openxmlformats.org/drawingml/2006/main">
            <a:off x="838200" y="20955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725" b="1" i="0">
                <a:solidFill>
                  <a:srgbClr val="006B35"/>
                </a:solidFill>
                <a:latin typeface="Cambria"/>
                <a:ea typeface="Cambria"/>
                <a:cs typeface="Cambria"/>
              </a:defRPr>
            </a:pPr>
            <a:r>
              <a:rPr sz="1725" b="1" i="0">
                <a:solidFill>
                  <a:srgbClr val="006B35"/>
                </a:solidFill>
                <a:latin typeface="Cambria"/>
                <a:ea typeface="Cambria"/>
                <a:cs typeface="Cambria"/>
              </a:rPr>
              <a:t>ĐÃ CÓ</a:t>
            </a:r>
          </a:p>
        </p:txBody>
      </p:sp>
      <p:sp>
        <p:nvSpPr>
          <p:cNvPr id="5" name="">
            <a:extLst xmlns:a="http://schemas.openxmlformats.org/drawingml/2006/main">
              <a:ext uri="{FF2B5EF4-FFF2-40B4-BE49-F238E27FC236}">
                <a16:creationId xmlns:a16="http://schemas.microsoft.com/office/drawing/2014/main" id="{6AE17266-1C67-422D-A9F1-BAC7F365A1FE}"/>
              </a:ext>
            </a:extLst>
          </p:cNvPr>
          <p:cNvSpPr>
            <a:spLocks xmlns:a="http://schemas.openxmlformats.org/drawingml/2006/main" noGrp="1"/>
          </p:cNvSpPr>
          <p:nvPr/>
        </p:nvSpPr>
        <p:spPr>
          <a:xfrm xmlns:a="http://schemas.openxmlformats.org/drawingml/2006/main">
            <a:off x="781050" y="2457450"/>
            <a:ext cx="48577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marL="241300" indent="-114300" algn="l">
              <a:lnSpc>
                <a:spcPct val="104000"/>
              </a:lnSpc>
              <a:spcAft>
                <a:spcPts val="7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Web React, API NestJS, Prisma/MySQL và ứng dụng tài xế</a:t>
            </a:r>
          </a:p>
          <a:p xmlns:a="http://schemas.openxmlformats.org/drawingml/2006/main">
            <a:pPr marL="241300" indent="-114300" algn="l">
              <a:lnSpc>
                <a:spcPct val="104000"/>
              </a:lnSpc>
              <a:spcAft>
                <a:spcPts val="7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Luồng điều xe, work order, nghiệm thu, BTSC, nhiên liệu và danh mục</a:t>
            </a:r>
          </a:p>
          <a:p xmlns:a="http://schemas.openxmlformats.org/drawingml/2006/main">
            <a:pPr marL="241300" indent="-114300" algn="l">
              <a:lnSpc>
                <a:spcPct val="104000"/>
              </a:lnSpc>
              <a:spcAft>
                <a:spcPts val="7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Bộ test tự động cho backend, frontend và mobile</a:t>
            </a:r>
          </a:p>
        </p:txBody>
      </p:sp>
      <p:sp>
        <p:nvSpPr>
          <p:cNvPr id="6" name="">
            <a:extLst xmlns:a="http://schemas.openxmlformats.org/drawingml/2006/main">
              <a:ext uri="{FF2B5EF4-FFF2-40B4-BE49-F238E27FC236}">
                <a16:creationId xmlns:a16="http://schemas.microsoft.com/office/drawing/2014/main" id="{73576E89-BAAB-48B2-8945-51D9B76438FF}"/>
              </a:ext>
            </a:extLst>
          </p:cNvPr>
          <p:cNvSpPr>
            <a:spLocks xmlns:a="http://schemas.openxmlformats.org/drawingml/2006/main" noGrp="1"/>
          </p:cNvSpPr>
          <p:nvPr/>
        </p:nvSpPr>
        <p:spPr>
          <a:xfrm xmlns:a="http://schemas.openxmlformats.org/drawingml/2006/main">
            <a:off x="6343650" y="209550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725" b="1" i="0">
                <a:solidFill>
                  <a:srgbClr val="E00000"/>
                </a:solidFill>
                <a:latin typeface="Cambria"/>
                <a:ea typeface="Cambria"/>
                <a:cs typeface="Cambria"/>
              </a:defRPr>
            </a:pPr>
            <a:r>
              <a:rPr sz="1725" b="1" i="0">
                <a:solidFill>
                  <a:srgbClr val="E00000"/>
                </a:solidFill>
                <a:latin typeface="Cambria"/>
                <a:ea typeface="Cambria"/>
                <a:cs typeface="Cambria"/>
              </a:rPr>
              <a:t>CHƯA KHÉP KÍN</a:t>
            </a:r>
          </a:p>
        </p:txBody>
      </p:sp>
      <p:sp>
        <p:nvSpPr>
          <p:cNvPr id="7" name="">
            <a:extLst xmlns:a="http://schemas.openxmlformats.org/drawingml/2006/main">
              <a:ext uri="{FF2B5EF4-FFF2-40B4-BE49-F238E27FC236}">
                <a16:creationId xmlns:a16="http://schemas.microsoft.com/office/drawing/2014/main" id="{E60439AD-1E5A-40CF-9F62-C6EA8C817475}"/>
              </a:ext>
            </a:extLst>
          </p:cNvPr>
          <p:cNvSpPr>
            <a:spLocks xmlns:a="http://schemas.openxmlformats.org/drawingml/2006/main" noGrp="1"/>
          </p:cNvSpPr>
          <p:nvPr/>
        </p:nvSpPr>
        <p:spPr>
          <a:xfrm xmlns:a="http://schemas.openxmlformats.org/drawingml/2006/main">
            <a:off x="6286500" y="2457450"/>
            <a:ext cx="50482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marL="241300" indent="-114300" algn="l">
              <a:lnSpc>
                <a:spcPct val="104000"/>
              </a:lnSpc>
              <a:spcAft>
                <a:spcPts val="7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Nhiều trang vẫn dùng mock, localStorage hoặc fallback khi API lỗi</a:t>
            </a:r>
          </a:p>
          <a:p xmlns:a="http://schemas.openxmlformats.org/drawingml/2006/main">
            <a:pPr marL="241300" indent="-114300" algn="l">
              <a:lnSpc>
                <a:spcPct val="104000"/>
              </a:lnSpc>
              <a:spcAft>
                <a:spcPts val="7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Các báo cáo chính đang có khung UI nhưng chưa nạp dữ liệu thật</a:t>
            </a:r>
          </a:p>
          <a:p xmlns:a="http://schemas.openxmlformats.org/drawingml/2006/main">
            <a:pPr marL="241300" indent="-114300" algn="l">
              <a:lnSpc>
                <a:spcPct val="104000"/>
              </a:lnSpc>
              <a:spcAft>
                <a:spcPts val="7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Phân quyền theo đơn vị và chính sách lưu vết chưa đồng nhất</a:t>
            </a:r>
          </a:p>
        </p:txBody>
      </p:sp>
      <p:sp>
        <p:nvSpPr>
          <p:cNvPr id="8" name="">
            <a:extLst xmlns:a="http://schemas.openxmlformats.org/drawingml/2006/main">
              <a:ext uri="{FF2B5EF4-FFF2-40B4-BE49-F238E27FC236}">
                <a16:creationId xmlns:a16="http://schemas.microsoft.com/office/drawing/2014/main" id="{417B5444-31CF-46E3-BD57-2200ECCDB063}"/>
              </a:ext>
            </a:extLst>
          </p:cNvPr>
          <p:cNvSpPr>
            <a:spLocks xmlns:a="http://schemas.openxmlformats.org/drawingml/2006/main" noGrp="1"/>
          </p:cNvSpPr>
          <p:nvPr/>
        </p:nvSpPr>
        <p:spPr>
          <a:xfrm xmlns:a="http://schemas.openxmlformats.org/drawingml/2006/main">
            <a:off x="781050" y="478155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725" b="1" i="0">
                <a:solidFill>
                  <a:srgbClr val="075AA7"/>
                </a:solidFill>
                <a:latin typeface="Cambria"/>
                <a:ea typeface="Cambria"/>
                <a:cs typeface="Cambria"/>
              </a:defRPr>
            </a:pPr>
            <a:r>
              <a:rPr sz="1725" b="1" i="0">
                <a:solidFill>
                  <a:srgbClr val="075AA7"/>
                </a:solidFill>
                <a:latin typeface="Cambria"/>
                <a:ea typeface="Cambria"/>
                <a:cs typeface="Cambria"/>
              </a:rPr>
              <a:t>NHẬN ĐỊNH</a:t>
            </a:r>
          </a:p>
        </p:txBody>
      </p:sp>
      <p:sp>
        <p:nvSpPr>
          <p:cNvPr id="9" name="">
            <a:extLst xmlns:a="http://schemas.openxmlformats.org/drawingml/2006/main">
              <a:ext uri="{FF2B5EF4-FFF2-40B4-BE49-F238E27FC236}">
                <a16:creationId xmlns:a16="http://schemas.microsoft.com/office/drawing/2014/main" id="{332DCDD5-1BA0-4B68-8E37-EDD0C2C88296}"/>
              </a:ext>
            </a:extLst>
          </p:cNvPr>
          <p:cNvSpPr>
            <a:spLocks xmlns:a="http://schemas.openxmlformats.org/drawingml/2006/main" noGrp="1"/>
          </p:cNvSpPr>
          <p:nvPr/>
        </p:nvSpPr>
        <p:spPr>
          <a:xfrm xmlns:a="http://schemas.openxmlformats.org/drawingml/2006/main">
            <a:off x="781050" y="5143500"/>
            <a:ext cx="10553700" cy="857250"/>
          </a:xfrm>
          <a:prstGeom xmlns:a="http://schemas.openxmlformats.org/drawingml/2006/main" prst="roundRect">
            <a:avLst>
              <a:gd name="adj" fmla="val 8889"/>
            </a:avLst>
          </a:prstGeom>
          <a:solidFill xmlns:a="http://schemas.openxmlformats.org/drawingml/2006/main">
            <a:srgbClr val="E8F2E2"/>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725" b="1" i="0">
                <a:solidFill>
                  <a:srgbClr val="17212B"/>
                </a:solidFill>
                <a:latin typeface="Cambria"/>
                <a:ea typeface="Cambria"/>
                <a:cs typeface="Cambria"/>
              </a:defRPr>
            </a:pPr>
            <a:r>
              <a:rPr sz="1725" b="1" i="0">
                <a:solidFill>
                  <a:srgbClr val="17212B"/>
                </a:solidFill>
                <a:latin typeface="Cambria"/>
                <a:ea typeface="Cambria"/>
                <a:cs typeface="Cambria"/>
              </a:rPr>
              <a:t>Backend và mô hình nghiệp vụ đã đi khá sâu. Rủi ro lớn nhất nằm ở tích hợp đầu cuối, tính nhất quán dữ liệu, quyết định nghiệp vụ còn thiếu và kỷ luật phát hành.</a:t>
            </a:r>
          </a:p>
        </p:txBody>
      </p:sp>
      <p:sp>
        <p:nvSpPr>
          <p:cNvPr id="10" name="">
            <a:extLst xmlns:a="http://schemas.openxmlformats.org/drawingml/2006/main">
              <a:ext uri="{FF2B5EF4-FFF2-40B4-BE49-F238E27FC236}">
                <a16:creationId xmlns:a16="http://schemas.microsoft.com/office/drawing/2014/main" id="{23EF15AF-42E9-4D8E-A4FF-A713B5426225}"/>
              </a:ext>
            </a:extLst>
          </p:cNvPr>
          <p:cNvSpPr>
            <a:spLocks xmlns:a="http://schemas.openxmlformats.org/drawingml/2006/main" noGrp="1"/>
          </p:cNvSpPr>
          <p:nvPr/>
        </p:nvSpPr>
        <p:spPr>
          <a:xfrm xmlns:a="http://schemas.openxmlformats.org/drawingml/2006/main">
            <a:off x="266700" y="6534150"/>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Báo cáo hiện trạng phát triển | THACO AGRI Fleet | 21/09/2026</a:t>
            </a:r>
          </a:p>
        </p:txBody>
      </p:sp>
      <p:sp>
        <p:nvSpPr>
          <p:cNvPr id="11" name="">
            <a:extLst xmlns:a="http://schemas.openxmlformats.org/drawingml/2006/main">
              <a:ext uri="{FF2B5EF4-FFF2-40B4-BE49-F238E27FC236}">
                <a16:creationId xmlns:a16="http://schemas.microsoft.com/office/drawing/2014/main" id="{DF9BB88C-5970-406C-995B-30EBE01E6918}"/>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3</a:t>
            </a:r>
          </a:p>
        </p:txBody>
      </p:sp>
    </p:spTree>
    <p:extLst>
      <p:ext uri="{BB962C8B-B14F-4D97-AF65-F5344CB8AC3E}">
        <p14:creationId xmlns:p14="http://schemas.microsoft.com/office/powerpoint/2010/main" val="205022823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97D9501B-EE0F-4A3A-8781-79D0EE126784}"/>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PHẠM VI VÀ KIẾN TRÚC HIỆN TẠI</a:t>
            </a:r>
          </a:p>
        </p:txBody>
      </p:sp>
      <p:sp>
        <p:nvSpPr>
          <p:cNvPr id="2" name="">
            <a:extLst xmlns:a="http://schemas.openxmlformats.org/drawingml/2006/main">
              <a:ext uri="{FF2B5EF4-FFF2-40B4-BE49-F238E27FC236}">
                <a16:creationId xmlns:a16="http://schemas.microsoft.com/office/drawing/2014/main" id="{F369BBB8-5DD1-4EBC-AEA6-3D3A4E0E559B}"/>
              </a:ext>
            </a:extLst>
          </p:cNvPr>
          <p:cNvSpPr>
            <a:spLocks xmlns:a="http://schemas.openxmlformats.org/drawingml/2006/main" noGrp="1"/>
          </p:cNvSpPr>
          <p:nvPr/>
        </p:nvSpPr>
        <p:spPr>
          <a:xfrm xmlns:a="http://schemas.openxmlformats.org/drawingml/2006/main">
            <a:off x="523875" y="106680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725" b="1" i="0">
                <a:solidFill>
                  <a:srgbClr val="006B35"/>
                </a:solidFill>
                <a:latin typeface="Cambria"/>
                <a:ea typeface="Cambria"/>
                <a:cs typeface="Cambria"/>
              </a:defRPr>
            </a:pPr>
            <a:r>
              <a:rPr sz="1725" b="1" i="0">
                <a:solidFill>
                  <a:srgbClr val="006B35"/>
                </a:solidFill>
                <a:latin typeface="Cambria"/>
                <a:ea typeface="Cambria"/>
                <a:cs typeface="Cambria"/>
              </a:rPr>
              <a:t>Luồng kỹ thuật chính</a:t>
            </a:r>
          </a:p>
        </p:txBody>
      </p:sp>
      <p:graphicFrame>
        <p:nvGraphicFramePr>
          <p:cNvPr id="11" name=""/>
          <p:cNvGraphicFramePr/>
          <p:nvPr/>
        </p:nvGraphicFramePr>
        <p:xfrm>
          <a:off xmlns:a="http://schemas.openxmlformats.org/drawingml/2006/main" x="476250" y="1476375"/>
          <a:ext xmlns:a="http://schemas.openxmlformats.org/drawingml/2006/main" cx="11239500" cy="1476375"/>
        </p:xfrm>
        <a:graphic xmlns:a="http://schemas.openxmlformats.org/drawingml/2006/main">
          <a:graphicData uri="http://schemas.openxmlformats.org/drawingml/2006/table">
            <a:tbl>
              <a:tblPr/>
              <a:tblGrid>
                <a:gridCol w="2247900"/>
                <a:gridCol w="2247900"/>
                <a:gridCol w="2247900"/>
                <a:gridCol w="2247900"/>
                <a:gridCol w="2247900"/>
              </a:tblGrid>
              <a:tr h="457200">
                <a:tc>
                  <a:txBody>
                    <a:bodyPr/>
                    <a:lstStyle/>
                    <a:p>
                      <a:r>
                        <a:t>WEB</a:t>
                      </a:r>
                    </a:p>
                  </a:txBody>
                  <a:tcPr marL="91440" marR="91440" marT="45720" marB="45720"/>
                </a:tc>
                <a:tc>
                  <a:txBody>
                    <a:bodyPr/>
                    <a:lstStyle/>
                    <a:p>
                      <a:r>
                        <a:t>API</a:t>
                      </a:r>
                    </a:p>
                  </a:txBody>
                  <a:tcPr marL="91440" marR="91440" marT="45720" marB="45720"/>
                </a:tc>
                <a:tc>
                  <a:txBody>
                    <a:bodyPr/>
                    <a:lstStyle/>
                    <a:p>
                      <a:r>
                        <a:t>NGHIỆP VỤ</a:t>
                      </a:r>
                    </a:p>
                  </a:txBody>
                  <a:tcPr marL="91440" marR="91440" marT="45720" marB="45720"/>
                </a:tc>
                <a:tc>
                  <a:txBody>
                    <a:bodyPr/>
                    <a:lstStyle/>
                    <a:p>
                      <a:r>
                        <a:t>DỮ LIỆU</a:t>
                      </a:r>
                    </a:p>
                  </a:txBody>
                  <a:tcPr marL="91440" marR="91440" marT="45720" marB="45720"/>
                </a:tc>
                <a:tc>
                  <a:txBody>
                    <a:bodyPr/>
                    <a:lstStyle/>
                    <a:p>
                      <a:r>
                        <a:t>MOBILE</a:t>
                      </a:r>
                    </a:p>
                  </a:txBody>
                  <a:tcPr marL="91440" marR="91440" marT="45720" marB="45720"/>
                </a:tc>
              </a:tr>
              <a:tr h="990600">
                <a:tc>
                  <a:txBody>
                    <a:bodyPr/>
                    <a:lstStyle/>
                    <a:p>
                      <a:r>
                        <a:t>React 18 / Vite</a:t>
                      </a:r>
                    </a:p>
                    <a:p>
                      <a:r>
                        <a:t>Router, Zustand, Axios</a:t>
                      </a:r>
                    </a:p>
                  </a:txBody>
                  <a:tcPr marL="91440" marR="91440" marT="45720" marB="45720"/>
                </a:tc>
                <a:tc>
                  <a:txBody>
                    <a:bodyPr/>
                    <a:lstStyle/>
                    <a:p>
                      <a:r>
                        <a:t>NestJS 10</a:t>
                      </a:r>
                    </a:p>
                    <a:p>
                      <a:r>
                        <a:t>JWT, DTO, Swagger</a:t>
                      </a:r>
                    </a:p>
                  </a:txBody>
                  <a:tcPr marL="91440" marR="91440" marT="45720" marB="45720"/>
                </a:tc>
                <a:tc>
                  <a:txBody>
                    <a:bodyPr/>
                    <a:lstStyle/>
                    <a:p>
                      <a:r>
                        <a:t>Service theo domain</a:t>
                      </a:r>
                    </a:p>
                    <a:p>
                      <a:r>
                        <a:t>Transaction, trạng thái</a:t>
                      </a:r>
                    </a:p>
                  </a:txBody>
                  <a:tcPr marL="91440" marR="91440" marT="45720" marB="45720"/>
                </a:tc>
                <a:tc>
                  <a:txBody>
                    <a:bodyPr/>
                    <a:lstStyle/>
                    <a:p>
                      <a:r>
                        <a:t>Prisma 5 / MySQL</a:t>
                      </a:r>
                    </a:p>
                    <a:p>
                      <a:r>
                        <a:t>Migration, import MMTB</a:t>
                      </a:r>
                    </a:p>
                  </a:txBody>
                  <a:tcPr marL="91440" marR="91440" marT="45720" marB="45720"/>
                </a:tc>
                <a:tc>
                  <a:txBody>
                    <a:bodyPr/>
                    <a:lstStyle/>
                    <a:p>
                      <a:r>
                        <a:t>Expo / React Native</a:t>
                      </a:r>
                    </a:p>
                    <a:p>
                      <a:r>
                        <a:t>Offline sync, GPS, SOS</a:t>
                      </a:r>
                    </a:p>
                  </a:txBody>
                  <a:tcPr marL="91440" marR="91440" marT="45720" marB="45720"/>
                </a:tc>
              </a:tr>
            </a:tbl>
          </a:graphicData>
        </a:graphic>
      </p:graphicFrame>
      <p:sp>
        <p:nvSpPr>
          <p:cNvPr id="4" name="">
            <a:extLst xmlns:a="http://schemas.openxmlformats.org/drawingml/2006/main">
              <a:ext uri="{FF2B5EF4-FFF2-40B4-BE49-F238E27FC236}">
                <a16:creationId xmlns:a16="http://schemas.microsoft.com/office/drawing/2014/main" id="{1319BB08-7662-4566-97C1-70DF06B3E21C}"/>
              </a:ext>
            </a:extLst>
          </p:cNvPr>
          <p:cNvSpPr>
            <a:spLocks xmlns:a="http://schemas.openxmlformats.org/drawingml/2006/main" noGrp="1"/>
          </p:cNvSpPr>
          <p:nvPr/>
        </p:nvSpPr>
        <p:spPr>
          <a:xfrm xmlns:a="http://schemas.openxmlformats.org/drawingml/2006/main">
            <a:off x="523875" y="329565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725" b="1" i="0">
                <a:solidFill>
                  <a:srgbClr val="006B35"/>
                </a:solidFill>
                <a:latin typeface="Cambria"/>
                <a:ea typeface="Cambria"/>
                <a:cs typeface="Cambria"/>
              </a:defRPr>
            </a:pPr>
            <a:r>
              <a:rPr sz="1725" b="1" i="0">
                <a:solidFill>
                  <a:srgbClr val="006B35"/>
                </a:solidFill>
                <a:latin typeface="Cambria"/>
                <a:ea typeface="Cambria"/>
                <a:cs typeface="Cambria"/>
              </a:rPr>
              <a:t>Phạm vi nghiệp vụ</a:t>
            </a:r>
          </a:p>
        </p:txBody>
      </p:sp>
      <p:sp>
        <p:nvSpPr>
          <p:cNvPr id="5" name="">
            <a:extLst xmlns:a="http://schemas.openxmlformats.org/drawingml/2006/main">
              <a:ext uri="{FF2B5EF4-FFF2-40B4-BE49-F238E27FC236}">
                <a16:creationId xmlns:a16="http://schemas.microsoft.com/office/drawing/2014/main" id="{6C3A9C17-8177-492D-B683-95A6766FE409}"/>
              </a:ext>
            </a:extLst>
          </p:cNvPr>
          <p:cNvSpPr>
            <a:spLocks xmlns:a="http://schemas.openxmlformats.org/drawingml/2006/main" noGrp="1"/>
          </p:cNvSpPr>
          <p:nvPr/>
        </p:nvSpPr>
        <p:spPr>
          <a:xfrm xmlns:a="http://schemas.openxmlformats.org/drawingml/2006/main">
            <a:off x="523875" y="3638550"/>
            <a:ext cx="10715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Đội xe, thiết bị và phân công theo đơn vị quản lý cơ giới</a:t>
            </a:r>
          </a:p>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Kế hoạch sản xuất, điều xe, vận chuyển, nghiệm thu và hoàn tất</a:t>
            </a:r>
          </a:p>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GPS, cảnh báo, nhiên liệu, bảo dưỡng, sửa chữa và ứng dụng tài xế</a:t>
            </a:r>
          </a:p>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Dashboard, báo cáo, danh mục dùng chung và phân quyền</a:t>
            </a:r>
          </a:p>
        </p:txBody>
      </p:sp>
      <p:sp>
        <p:nvSpPr>
          <p:cNvPr id="6" name="">
            <a:extLst xmlns:a="http://schemas.openxmlformats.org/drawingml/2006/main">
              <a:ext uri="{FF2B5EF4-FFF2-40B4-BE49-F238E27FC236}">
                <a16:creationId xmlns:a16="http://schemas.microsoft.com/office/drawing/2014/main" id="{B3516961-F839-43B2-A3A1-E47A9015695C}"/>
              </a:ext>
            </a:extLst>
          </p:cNvPr>
          <p:cNvSpPr>
            <a:spLocks xmlns:a="http://schemas.openxmlformats.org/drawingml/2006/main" noGrp="1"/>
          </p:cNvSpPr>
          <p:nvPr/>
        </p:nvSpPr>
        <p:spPr>
          <a:xfrm xmlns:a="http://schemas.openxmlformats.org/drawingml/2006/main">
            <a:off x="523875" y="5762625"/>
            <a:ext cx="10715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425" b="0" i="1">
                <a:solidFill>
                  <a:srgbClr val="59636E"/>
                </a:solidFill>
                <a:latin typeface="Cambria"/>
                <a:ea typeface="Cambria"/>
                <a:cs typeface="Cambria"/>
              </a:defRPr>
            </a:pPr>
            <a:r>
              <a:rPr sz="1425" b="0" i="1">
                <a:solidFill>
                  <a:srgbClr val="59636E"/>
                </a:solidFill>
                <a:latin typeface="Cambria"/>
                <a:ea typeface="Cambria"/>
                <a:cs typeface="Cambria"/>
              </a:rPr>
              <a:t>OperationalWorkOrder là vòng đời nghiệp vụ trung tâm; DispatchOrder và các nguồn lệnh khác được đồng bộ theo luồng tương ứng.</a:t>
            </a:r>
          </a:p>
        </p:txBody>
      </p:sp>
      <p:sp>
        <p:nvSpPr>
          <p:cNvPr id="7" name="">
            <a:extLst xmlns:a="http://schemas.openxmlformats.org/drawingml/2006/main">
              <a:ext uri="{FF2B5EF4-FFF2-40B4-BE49-F238E27FC236}">
                <a16:creationId xmlns:a16="http://schemas.microsoft.com/office/drawing/2014/main" id="{46E71D58-9F38-4869-86B2-CF3C7A0A7459}"/>
              </a:ext>
            </a:extLst>
          </p:cNvPr>
          <p:cNvSpPr>
            <a:spLocks xmlns:a="http://schemas.openxmlformats.org/drawingml/2006/main" noGrp="1"/>
          </p:cNvSpPr>
          <p:nvPr/>
        </p:nvSpPr>
        <p:spPr>
          <a:xfrm xmlns:a="http://schemas.openxmlformats.org/drawingml/2006/main">
            <a:off x="266700" y="6534150"/>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Báo cáo hiện trạng phát triển | THACO AGRI Fleet | 21/09/2026</a:t>
            </a:r>
          </a:p>
        </p:txBody>
      </p:sp>
      <p:sp>
        <p:nvSpPr>
          <p:cNvPr id="8" name="">
            <a:extLst xmlns:a="http://schemas.openxmlformats.org/drawingml/2006/main">
              <a:ext uri="{FF2B5EF4-FFF2-40B4-BE49-F238E27FC236}">
                <a16:creationId xmlns:a16="http://schemas.microsoft.com/office/drawing/2014/main" id="{F92959BF-BC3A-45D1-97A0-6080586384A3}"/>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4</a:t>
            </a:r>
          </a:p>
        </p:txBody>
      </p:sp>
    </p:spTree>
    <p:extLst>
      <p:ext uri="{BB962C8B-B14F-4D97-AF65-F5344CB8AC3E}">
        <p14:creationId xmlns:p14="http://schemas.microsoft.com/office/powerpoint/2010/main" val="30465962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2" name="slide-title">
            <a:extLst xmlns:a="http://schemas.openxmlformats.org/drawingml/2006/main">
              <a:ext uri="{FF2B5EF4-FFF2-40B4-BE49-F238E27FC236}">
                <a16:creationId xmlns:a16="http://schemas.microsoft.com/office/drawing/2014/main" id="{45640EAC-9D09-430D-BDD1-2BF24A346BB2}"/>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ẢNH CHỤP TIẾN ĐỘ MÃ NGUỒN</a:t>
            </a:r>
          </a:p>
        </p:txBody>
      </p:sp>
      <p:sp>
        <p:nvSpPr>
          <p:cNvPr id="2" name="">
            <a:extLst xmlns:a="http://schemas.openxmlformats.org/drawingml/2006/main">
              <a:ext uri="{FF2B5EF4-FFF2-40B4-BE49-F238E27FC236}">
                <a16:creationId xmlns:a16="http://schemas.microsoft.com/office/drawing/2014/main" id="{87B41A26-BC50-4D43-9480-0FC4F849AF49}"/>
              </a:ext>
            </a:extLst>
          </p:cNvPr>
          <p:cNvSpPr>
            <a:spLocks xmlns:a="http://schemas.openxmlformats.org/drawingml/2006/main" noGrp="1"/>
          </p:cNvSpPr>
          <p:nvPr/>
        </p:nvSpPr>
        <p:spPr>
          <a:xfrm xmlns:a="http://schemas.openxmlformats.org/drawingml/2006/main">
            <a:off x="666750" y="100012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0000"/>
              </a:lnSpc>
              <a:buNone/>
              <a:defRPr sz="1575" b="0" i="1">
                <a:solidFill>
                  <a:srgbClr val="59636E"/>
                </a:solidFill>
                <a:latin typeface="Cambria"/>
                <a:ea typeface="Cambria"/>
                <a:cs typeface="Cambria"/>
              </a:defRPr>
            </a:pPr>
            <a:r>
              <a:rPr sz="1575" b="0" i="1">
                <a:solidFill>
                  <a:srgbClr val="59636E"/>
                </a:solidFill>
                <a:latin typeface="Cambria"/>
                <a:ea typeface="Cambria"/>
                <a:cs typeface="Cambria"/>
              </a:rPr>
              <a:t>Bằng chứng cấu trúc tại ngày rà soát</a:t>
            </a:r>
          </a:p>
        </p:txBody>
      </p:sp>
      <p:sp>
        <p:nvSpPr>
          <p:cNvPr id="3" name="">
            <a:extLst xmlns:a="http://schemas.openxmlformats.org/drawingml/2006/main">
              <a:ext uri="{FF2B5EF4-FFF2-40B4-BE49-F238E27FC236}">
                <a16:creationId xmlns:a16="http://schemas.microsoft.com/office/drawing/2014/main" id="{9FA81332-5D2D-4217-B9C7-7BF827D7CCC8}"/>
              </a:ext>
            </a:extLst>
          </p:cNvPr>
          <p:cNvSpPr>
            <a:spLocks xmlns:a="http://schemas.openxmlformats.org/drawingml/2006/main" noGrp="1"/>
          </p:cNvSpPr>
          <p:nvPr/>
        </p:nvSpPr>
        <p:spPr>
          <a:xfrm xmlns:a="http://schemas.openxmlformats.org/drawingml/2006/main">
            <a:off x="933450" y="1666875"/>
            <a:ext cx="266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3900" b="1" i="0">
                <a:solidFill>
                  <a:srgbClr val="006B35"/>
                </a:solidFill>
                <a:latin typeface="Cambria"/>
                <a:ea typeface="Cambria"/>
                <a:cs typeface="Cambria"/>
              </a:defRPr>
            </a:pPr>
            <a:r>
              <a:rPr sz="3900" b="1" i="0">
                <a:solidFill>
                  <a:srgbClr val="006B35"/>
                </a:solidFill>
                <a:latin typeface="Cambria"/>
                <a:ea typeface="Cambria"/>
                <a:cs typeface="Cambria"/>
              </a:rPr>
              <a:t>104</a:t>
            </a:r>
          </a:p>
        </p:txBody>
      </p:sp>
      <p:sp>
        <p:nvSpPr>
          <p:cNvPr id="4" name="">
            <a:extLst xmlns:a="http://schemas.openxmlformats.org/drawingml/2006/main">
              <a:ext uri="{FF2B5EF4-FFF2-40B4-BE49-F238E27FC236}">
                <a16:creationId xmlns:a16="http://schemas.microsoft.com/office/drawing/2014/main" id="{FDB90357-5781-4994-B44F-EC89FA5CC9E5}"/>
              </a:ext>
            </a:extLst>
          </p:cNvPr>
          <p:cNvSpPr>
            <a:spLocks xmlns:a="http://schemas.openxmlformats.org/drawingml/2006/main" noGrp="1"/>
          </p:cNvSpPr>
          <p:nvPr/>
        </p:nvSpPr>
        <p:spPr>
          <a:xfrm xmlns:a="http://schemas.openxmlformats.org/drawingml/2006/main">
            <a:off x="933450" y="2428875"/>
            <a:ext cx="266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575" b="1" i="0">
                <a:solidFill>
                  <a:srgbClr val="17212B"/>
                </a:solidFill>
                <a:latin typeface="Cambria"/>
                <a:ea typeface="Cambria"/>
                <a:cs typeface="Cambria"/>
              </a:defRPr>
            </a:pPr>
            <a:r>
              <a:rPr sz="1575" b="1" i="0">
                <a:solidFill>
                  <a:srgbClr val="17212B"/>
                </a:solidFill>
                <a:latin typeface="Cambria"/>
                <a:ea typeface="Cambria"/>
                <a:cs typeface="Cambria"/>
              </a:rPr>
              <a:t>route elements</a:t>
            </a:r>
          </a:p>
          <a:p xmlns:a="http://schemas.openxmlformats.org/drawingml/2006/main">
            <a:pPr algn="ctr">
              <a:lnSpc>
                <a:spcPct val="100000"/>
              </a:lnSpc>
              <a:buNone/>
              <a:defRPr sz="1575" b="1" i="0">
                <a:solidFill>
                  <a:srgbClr val="17212B"/>
                </a:solidFill>
                <a:latin typeface="Cambria"/>
                <a:ea typeface="Cambria"/>
                <a:cs typeface="Cambria"/>
              </a:defRPr>
            </a:pPr>
            <a:r>
              <a:rPr sz="1575" b="1" i="0">
                <a:solidFill>
                  <a:srgbClr val="17212B"/>
                </a:solidFill>
                <a:latin typeface="Cambria"/>
                <a:ea typeface="Cambria"/>
                <a:cs typeface="Cambria"/>
              </a:rPr>
              <a:t>trên web</a:t>
            </a:r>
          </a:p>
        </p:txBody>
      </p:sp>
      <p:sp>
        <p:nvSpPr>
          <p:cNvPr id="5" name="">
            <a:extLst xmlns:a="http://schemas.openxmlformats.org/drawingml/2006/main">
              <a:ext uri="{FF2B5EF4-FFF2-40B4-BE49-F238E27FC236}">
                <a16:creationId xmlns:a16="http://schemas.microsoft.com/office/drawing/2014/main" id="{184A7E6D-55CD-48D0-AB53-0683A5F00B16}"/>
              </a:ext>
            </a:extLst>
          </p:cNvPr>
          <p:cNvSpPr>
            <a:spLocks xmlns:a="http://schemas.openxmlformats.org/drawingml/2006/main" noGrp="1"/>
          </p:cNvSpPr>
          <p:nvPr/>
        </p:nvSpPr>
        <p:spPr>
          <a:xfrm xmlns:a="http://schemas.openxmlformats.org/drawingml/2006/main">
            <a:off x="4076700" y="1857375"/>
            <a:ext cx="19050" cy="1143000"/>
          </a:xfrm>
          <a:prstGeom xmlns:a="http://schemas.openxmlformats.org/drawingml/2006/main" prst="rect">
            <a:avLst/>
          </a:prstGeom>
          <a:solidFill xmlns:a="http://schemas.openxmlformats.org/drawingml/2006/main">
            <a:srgbClr val="D4DAD6"/>
          </a:solidFill>
          <a:ln xmlns:a="http://schemas.openxmlformats.org/drawingml/2006/main" w="0">
            <a:solidFill>
              <a:srgbClr val="D4DAD6"/>
            </a:solidFill>
          </a:ln>
        </p:spPr>
      </p:sp>
      <p:sp>
        <p:nvSpPr>
          <p:cNvPr id="6" name="">
            <a:extLst xmlns:a="http://schemas.openxmlformats.org/drawingml/2006/main">
              <a:ext uri="{FF2B5EF4-FFF2-40B4-BE49-F238E27FC236}">
                <a16:creationId xmlns:a16="http://schemas.microsoft.com/office/drawing/2014/main" id="{E24BB487-386D-4059-BF35-0286EE035E44}"/>
              </a:ext>
            </a:extLst>
          </p:cNvPr>
          <p:cNvSpPr>
            <a:spLocks xmlns:a="http://schemas.openxmlformats.org/drawingml/2006/main" noGrp="1"/>
          </p:cNvSpPr>
          <p:nvPr/>
        </p:nvSpPr>
        <p:spPr>
          <a:xfrm xmlns:a="http://schemas.openxmlformats.org/drawingml/2006/main">
            <a:off x="4695825" y="1666875"/>
            <a:ext cx="266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3900" b="1" i="0">
                <a:solidFill>
                  <a:srgbClr val="075AA7"/>
                </a:solidFill>
                <a:latin typeface="Cambria"/>
                <a:ea typeface="Cambria"/>
                <a:cs typeface="Cambria"/>
              </a:defRPr>
            </a:pPr>
            <a:r>
              <a:rPr sz="3900" b="1" i="0">
                <a:solidFill>
                  <a:srgbClr val="075AA7"/>
                </a:solidFill>
                <a:latin typeface="Cambria"/>
                <a:ea typeface="Cambria"/>
                <a:cs typeface="Cambria"/>
              </a:rPr>
              <a:t>27</a:t>
            </a:r>
          </a:p>
        </p:txBody>
      </p:sp>
      <p:sp>
        <p:nvSpPr>
          <p:cNvPr id="7" name="">
            <a:extLst xmlns:a="http://schemas.openxmlformats.org/drawingml/2006/main">
              <a:ext uri="{FF2B5EF4-FFF2-40B4-BE49-F238E27FC236}">
                <a16:creationId xmlns:a16="http://schemas.microsoft.com/office/drawing/2014/main" id="{66BD2DD5-A18D-4322-ADB3-F9656D80AD1C}"/>
              </a:ext>
            </a:extLst>
          </p:cNvPr>
          <p:cNvSpPr>
            <a:spLocks xmlns:a="http://schemas.openxmlformats.org/drawingml/2006/main" noGrp="1"/>
          </p:cNvSpPr>
          <p:nvPr/>
        </p:nvSpPr>
        <p:spPr>
          <a:xfrm xmlns:a="http://schemas.openxmlformats.org/drawingml/2006/main">
            <a:off x="4695825" y="2428875"/>
            <a:ext cx="266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575" b="1" i="0">
                <a:solidFill>
                  <a:srgbClr val="17212B"/>
                </a:solidFill>
                <a:latin typeface="Cambria"/>
                <a:ea typeface="Cambria"/>
                <a:cs typeface="Cambria"/>
              </a:defRPr>
            </a:pPr>
            <a:r>
              <a:rPr sz="1575" b="1" i="0">
                <a:solidFill>
                  <a:srgbClr val="17212B"/>
                </a:solidFill>
                <a:latin typeface="Cambria"/>
                <a:ea typeface="Cambria"/>
                <a:cs typeface="Cambria"/>
              </a:rPr>
              <a:t>backend</a:t>
            </a:r>
          </a:p>
          <a:p xmlns:a="http://schemas.openxmlformats.org/drawingml/2006/main">
            <a:pPr algn="ctr">
              <a:lnSpc>
                <a:spcPct val="100000"/>
              </a:lnSpc>
              <a:buNone/>
              <a:defRPr sz="1575" b="1" i="0">
                <a:solidFill>
                  <a:srgbClr val="17212B"/>
                </a:solidFill>
                <a:latin typeface="Cambria"/>
                <a:ea typeface="Cambria"/>
                <a:cs typeface="Cambria"/>
              </a:defRPr>
            </a:pPr>
            <a:r>
              <a:rPr sz="1575" b="1" i="0">
                <a:solidFill>
                  <a:srgbClr val="17212B"/>
                </a:solidFill>
                <a:latin typeface="Cambria"/>
                <a:ea typeface="Cambria"/>
                <a:cs typeface="Cambria"/>
              </a:rPr>
              <a:t>controllers</a:t>
            </a:r>
          </a:p>
        </p:txBody>
      </p:sp>
      <p:sp>
        <p:nvSpPr>
          <p:cNvPr id="8" name="">
            <a:extLst xmlns:a="http://schemas.openxmlformats.org/drawingml/2006/main">
              <a:ext uri="{FF2B5EF4-FFF2-40B4-BE49-F238E27FC236}">
                <a16:creationId xmlns:a16="http://schemas.microsoft.com/office/drawing/2014/main" id="{4A455CD2-F1AC-4701-8C90-F7B3B38F2EF6}"/>
              </a:ext>
            </a:extLst>
          </p:cNvPr>
          <p:cNvSpPr>
            <a:spLocks xmlns:a="http://schemas.openxmlformats.org/drawingml/2006/main" noGrp="1"/>
          </p:cNvSpPr>
          <p:nvPr/>
        </p:nvSpPr>
        <p:spPr>
          <a:xfrm xmlns:a="http://schemas.openxmlformats.org/drawingml/2006/main">
            <a:off x="7839075" y="1857375"/>
            <a:ext cx="19050" cy="1143000"/>
          </a:xfrm>
          <a:prstGeom xmlns:a="http://schemas.openxmlformats.org/drawingml/2006/main" prst="rect">
            <a:avLst/>
          </a:prstGeom>
          <a:solidFill xmlns:a="http://schemas.openxmlformats.org/drawingml/2006/main">
            <a:srgbClr val="D4DAD6"/>
          </a:solidFill>
          <a:ln xmlns:a="http://schemas.openxmlformats.org/drawingml/2006/main" w="0">
            <a:solidFill>
              <a:srgbClr val="D4DAD6"/>
            </a:solidFill>
          </a:ln>
        </p:spPr>
      </p:sp>
      <p:sp>
        <p:nvSpPr>
          <p:cNvPr id="9" name="">
            <a:extLst xmlns:a="http://schemas.openxmlformats.org/drawingml/2006/main">
              <a:ext uri="{FF2B5EF4-FFF2-40B4-BE49-F238E27FC236}">
                <a16:creationId xmlns:a16="http://schemas.microsoft.com/office/drawing/2014/main" id="{DBAE665F-0860-46DD-A0BC-023C4C0E34A6}"/>
              </a:ext>
            </a:extLst>
          </p:cNvPr>
          <p:cNvSpPr>
            <a:spLocks xmlns:a="http://schemas.openxmlformats.org/drawingml/2006/main" noGrp="1"/>
          </p:cNvSpPr>
          <p:nvPr/>
        </p:nvSpPr>
        <p:spPr>
          <a:xfrm xmlns:a="http://schemas.openxmlformats.org/drawingml/2006/main">
            <a:off x="8458200" y="1666875"/>
            <a:ext cx="266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3900" b="1" i="0">
                <a:solidFill>
                  <a:srgbClr val="E87518"/>
                </a:solidFill>
                <a:latin typeface="Cambria"/>
                <a:ea typeface="Cambria"/>
                <a:cs typeface="Cambria"/>
              </a:defRPr>
            </a:pPr>
            <a:r>
              <a:rPr sz="3900" b="1" i="0">
                <a:solidFill>
                  <a:srgbClr val="E87518"/>
                </a:solidFill>
                <a:latin typeface="Cambria"/>
                <a:ea typeface="Cambria"/>
                <a:cs typeface="Cambria"/>
              </a:rPr>
              <a:t>66</a:t>
            </a:r>
          </a:p>
        </p:txBody>
      </p:sp>
      <p:sp>
        <p:nvSpPr>
          <p:cNvPr id="10" name="">
            <a:extLst xmlns:a="http://schemas.openxmlformats.org/drawingml/2006/main">
              <a:ext uri="{FF2B5EF4-FFF2-40B4-BE49-F238E27FC236}">
                <a16:creationId xmlns:a16="http://schemas.microsoft.com/office/drawing/2014/main" id="{FA428FFF-5282-4016-B4A1-6C4FB7EB464B}"/>
              </a:ext>
            </a:extLst>
          </p:cNvPr>
          <p:cNvSpPr>
            <a:spLocks xmlns:a="http://schemas.openxmlformats.org/drawingml/2006/main" noGrp="1"/>
          </p:cNvSpPr>
          <p:nvPr/>
        </p:nvSpPr>
        <p:spPr>
          <a:xfrm xmlns:a="http://schemas.openxmlformats.org/drawingml/2006/main">
            <a:off x="8458200" y="2428875"/>
            <a:ext cx="266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575" b="1" i="0">
                <a:solidFill>
                  <a:srgbClr val="17212B"/>
                </a:solidFill>
                <a:latin typeface="Cambria"/>
                <a:ea typeface="Cambria"/>
                <a:cs typeface="Cambria"/>
              </a:defRPr>
            </a:pPr>
            <a:r>
              <a:rPr sz="1575" b="1" i="0">
                <a:solidFill>
                  <a:srgbClr val="17212B"/>
                </a:solidFill>
                <a:latin typeface="Cambria"/>
                <a:ea typeface="Cambria"/>
                <a:cs typeface="Cambria"/>
              </a:rPr>
              <a:t>Prisma</a:t>
            </a:r>
          </a:p>
          <a:p xmlns:a="http://schemas.openxmlformats.org/drawingml/2006/main">
            <a:pPr algn="ctr">
              <a:lnSpc>
                <a:spcPct val="100000"/>
              </a:lnSpc>
              <a:buNone/>
              <a:defRPr sz="1575" b="1" i="0">
                <a:solidFill>
                  <a:srgbClr val="17212B"/>
                </a:solidFill>
                <a:latin typeface="Cambria"/>
                <a:ea typeface="Cambria"/>
                <a:cs typeface="Cambria"/>
              </a:defRPr>
            </a:pPr>
            <a:r>
              <a:rPr sz="1575" b="1" i="0">
                <a:solidFill>
                  <a:srgbClr val="17212B"/>
                </a:solidFill>
                <a:latin typeface="Cambria"/>
                <a:ea typeface="Cambria"/>
                <a:cs typeface="Cambria"/>
              </a:rPr>
              <a:t>models</a:t>
            </a:r>
          </a:p>
        </p:txBody>
      </p:sp>
      <p:sp>
        <p:nvSpPr>
          <p:cNvPr id="11" name="">
            <a:extLst xmlns:a="http://schemas.openxmlformats.org/drawingml/2006/main">
              <a:ext uri="{FF2B5EF4-FFF2-40B4-BE49-F238E27FC236}">
                <a16:creationId xmlns:a16="http://schemas.microsoft.com/office/drawing/2014/main" id="{AF8D64B9-3D43-4CE0-B871-2BC2689B8DE7}"/>
              </a:ext>
            </a:extLst>
          </p:cNvPr>
          <p:cNvSpPr>
            <a:spLocks xmlns:a="http://schemas.openxmlformats.org/drawingml/2006/main" noGrp="1"/>
          </p:cNvSpPr>
          <p:nvPr/>
        </p:nvSpPr>
        <p:spPr>
          <a:xfrm xmlns:a="http://schemas.openxmlformats.org/drawingml/2006/main">
            <a:off x="933450" y="3619500"/>
            <a:ext cx="266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3900" b="1" i="0">
                <a:solidFill>
                  <a:srgbClr val="006B35"/>
                </a:solidFill>
                <a:latin typeface="Cambria"/>
                <a:ea typeface="Cambria"/>
                <a:cs typeface="Cambria"/>
              </a:defRPr>
            </a:pPr>
            <a:r>
              <a:rPr sz="3900" b="1" i="0">
                <a:solidFill>
                  <a:srgbClr val="006B35"/>
                </a:solidFill>
                <a:latin typeface="Cambria"/>
                <a:ea typeface="Cambria"/>
                <a:cs typeface="Cambria"/>
              </a:rPr>
              <a:t>85</a:t>
            </a:r>
          </a:p>
        </p:txBody>
      </p:sp>
      <p:sp>
        <p:nvSpPr>
          <p:cNvPr id="12" name="">
            <a:extLst xmlns:a="http://schemas.openxmlformats.org/drawingml/2006/main">
              <a:ext uri="{FF2B5EF4-FFF2-40B4-BE49-F238E27FC236}">
                <a16:creationId xmlns:a16="http://schemas.microsoft.com/office/drawing/2014/main" id="{61E87153-96DA-4090-87BA-837C2A18FF0F}"/>
              </a:ext>
            </a:extLst>
          </p:cNvPr>
          <p:cNvSpPr>
            <a:spLocks xmlns:a="http://schemas.openxmlformats.org/drawingml/2006/main" noGrp="1"/>
          </p:cNvSpPr>
          <p:nvPr/>
        </p:nvSpPr>
        <p:spPr>
          <a:xfrm xmlns:a="http://schemas.openxmlformats.org/drawingml/2006/main">
            <a:off x="933450" y="4381500"/>
            <a:ext cx="266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575" b="1" i="0">
                <a:solidFill>
                  <a:srgbClr val="17212B"/>
                </a:solidFill>
                <a:latin typeface="Cambria"/>
                <a:ea typeface="Cambria"/>
                <a:cs typeface="Cambria"/>
              </a:defRPr>
            </a:pPr>
            <a:r>
              <a:rPr sz="1575" b="1" i="0">
                <a:solidFill>
                  <a:srgbClr val="17212B"/>
                </a:solidFill>
                <a:latin typeface="Cambria"/>
                <a:ea typeface="Cambria"/>
                <a:cs typeface="Cambria"/>
              </a:rPr>
              <a:t>Prisma</a:t>
            </a:r>
          </a:p>
          <a:p xmlns:a="http://schemas.openxmlformats.org/drawingml/2006/main">
            <a:pPr algn="ctr">
              <a:lnSpc>
                <a:spcPct val="100000"/>
              </a:lnSpc>
              <a:buNone/>
              <a:defRPr sz="1575" b="1" i="0">
                <a:solidFill>
                  <a:srgbClr val="17212B"/>
                </a:solidFill>
                <a:latin typeface="Cambria"/>
                <a:ea typeface="Cambria"/>
                <a:cs typeface="Cambria"/>
              </a:defRPr>
            </a:pPr>
            <a:r>
              <a:rPr sz="1575" b="1" i="0">
                <a:solidFill>
                  <a:srgbClr val="17212B"/>
                </a:solidFill>
                <a:latin typeface="Cambria"/>
                <a:ea typeface="Cambria"/>
                <a:cs typeface="Cambria"/>
              </a:rPr>
              <a:t>enums</a:t>
            </a:r>
          </a:p>
        </p:txBody>
      </p:sp>
      <p:sp>
        <p:nvSpPr>
          <p:cNvPr id="13" name="">
            <a:extLst xmlns:a="http://schemas.openxmlformats.org/drawingml/2006/main">
              <a:ext uri="{FF2B5EF4-FFF2-40B4-BE49-F238E27FC236}">
                <a16:creationId xmlns:a16="http://schemas.microsoft.com/office/drawing/2014/main" id="{92FBF308-5558-44EE-B456-935EA9EB74CE}"/>
              </a:ext>
            </a:extLst>
          </p:cNvPr>
          <p:cNvSpPr>
            <a:spLocks xmlns:a="http://schemas.openxmlformats.org/drawingml/2006/main" noGrp="1"/>
          </p:cNvSpPr>
          <p:nvPr/>
        </p:nvSpPr>
        <p:spPr>
          <a:xfrm xmlns:a="http://schemas.openxmlformats.org/drawingml/2006/main">
            <a:off x="4076700" y="3810000"/>
            <a:ext cx="19050" cy="1143000"/>
          </a:xfrm>
          <a:prstGeom xmlns:a="http://schemas.openxmlformats.org/drawingml/2006/main" prst="rect">
            <a:avLst/>
          </a:prstGeom>
          <a:solidFill xmlns:a="http://schemas.openxmlformats.org/drawingml/2006/main">
            <a:srgbClr val="D4DAD6"/>
          </a:solidFill>
          <a:ln xmlns:a="http://schemas.openxmlformats.org/drawingml/2006/main" w="0">
            <a:solidFill>
              <a:srgbClr val="D4DAD6"/>
            </a:solidFill>
          </a:ln>
        </p:spPr>
      </p:sp>
      <p:sp>
        <p:nvSpPr>
          <p:cNvPr id="14" name="">
            <a:extLst xmlns:a="http://schemas.openxmlformats.org/drawingml/2006/main">
              <a:ext uri="{FF2B5EF4-FFF2-40B4-BE49-F238E27FC236}">
                <a16:creationId xmlns:a16="http://schemas.microsoft.com/office/drawing/2014/main" id="{40DD889B-36AE-4919-BA41-48E37390DE88}"/>
              </a:ext>
            </a:extLst>
          </p:cNvPr>
          <p:cNvSpPr>
            <a:spLocks xmlns:a="http://schemas.openxmlformats.org/drawingml/2006/main" noGrp="1"/>
          </p:cNvSpPr>
          <p:nvPr/>
        </p:nvSpPr>
        <p:spPr>
          <a:xfrm xmlns:a="http://schemas.openxmlformats.org/drawingml/2006/main">
            <a:off x="4695825" y="3619500"/>
            <a:ext cx="266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3900" b="1" i="0">
                <a:solidFill>
                  <a:srgbClr val="075AA7"/>
                </a:solidFill>
                <a:latin typeface="Cambria"/>
                <a:ea typeface="Cambria"/>
                <a:cs typeface="Cambria"/>
              </a:defRPr>
            </a:pPr>
            <a:r>
              <a:rPr sz="3900" b="1" i="0">
                <a:solidFill>
                  <a:srgbClr val="075AA7"/>
                </a:solidFill>
                <a:latin typeface="Cambria"/>
                <a:ea typeface="Cambria"/>
                <a:cs typeface="Cambria"/>
              </a:rPr>
              <a:t>27</a:t>
            </a:r>
          </a:p>
        </p:txBody>
      </p:sp>
      <p:sp>
        <p:nvSpPr>
          <p:cNvPr id="15" name="">
            <a:extLst xmlns:a="http://schemas.openxmlformats.org/drawingml/2006/main">
              <a:ext uri="{FF2B5EF4-FFF2-40B4-BE49-F238E27FC236}">
                <a16:creationId xmlns:a16="http://schemas.microsoft.com/office/drawing/2014/main" id="{613477AF-82F6-448B-AB5F-286058970CC9}"/>
              </a:ext>
            </a:extLst>
          </p:cNvPr>
          <p:cNvSpPr>
            <a:spLocks xmlns:a="http://schemas.openxmlformats.org/drawingml/2006/main" noGrp="1"/>
          </p:cNvSpPr>
          <p:nvPr/>
        </p:nvSpPr>
        <p:spPr>
          <a:xfrm xmlns:a="http://schemas.openxmlformats.org/drawingml/2006/main">
            <a:off x="4695825" y="4381500"/>
            <a:ext cx="266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575" b="1" i="0">
                <a:solidFill>
                  <a:srgbClr val="17212B"/>
                </a:solidFill>
                <a:latin typeface="Cambria"/>
                <a:ea typeface="Cambria"/>
                <a:cs typeface="Cambria"/>
              </a:defRPr>
            </a:pPr>
            <a:r>
              <a:rPr sz="1575" b="1" i="0">
                <a:solidFill>
                  <a:srgbClr val="17212B"/>
                </a:solidFill>
                <a:latin typeface="Cambria"/>
                <a:ea typeface="Cambria"/>
                <a:cs typeface="Cambria"/>
              </a:rPr>
              <a:t>thư mục</a:t>
            </a:r>
          </a:p>
          <a:p xmlns:a="http://schemas.openxmlformats.org/drawingml/2006/main">
            <a:pPr algn="ctr">
              <a:lnSpc>
                <a:spcPct val="100000"/>
              </a:lnSpc>
              <a:buNone/>
              <a:defRPr sz="1575" b="1" i="0">
                <a:solidFill>
                  <a:srgbClr val="17212B"/>
                </a:solidFill>
                <a:latin typeface="Cambria"/>
                <a:ea typeface="Cambria"/>
                <a:cs typeface="Cambria"/>
              </a:defRPr>
            </a:pPr>
            <a:r>
              <a:rPr sz="1575" b="1" i="0">
                <a:solidFill>
                  <a:srgbClr val="17212B"/>
                </a:solidFill>
                <a:latin typeface="Cambria"/>
                <a:ea typeface="Cambria"/>
                <a:cs typeface="Cambria"/>
              </a:rPr>
              <a:t>migration</a:t>
            </a:r>
          </a:p>
        </p:txBody>
      </p:sp>
      <p:sp>
        <p:nvSpPr>
          <p:cNvPr id="16" name="">
            <a:extLst xmlns:a="http://schemas.openxmlformats.org/drawingml/2006/main">
              <a:ext uri="{FF2B5EF4-FFF2-40B4-BE49-F238E27FC236}">
                <a16:creationId xmlns:a16="http://schemas.microsoft.com/office/drawing/2014/main" id="{3ED73712-E706-47A5-B967-DF211B8B7765}"/>
              </a:ext>
            </a:extLst>
          </p:cNvPr>
          <p:cNvSpPr>
            <a:spLocks xmlns:a="http://schemas.openxmlformats.org/drawingml/2006/main" noGrp="1"/>
          </p:cNvSpPr>
          <p:nvPr/>
        </p:nvSpPr>
        <p:spPr>
          <a:xfrm xmlns:a="http://schemas.openxmlformats.org/drawingml/2006/main">
            <a:off x="7839075" y="3810000"/>
            <a:ext cx="19050" cy="1143000"/>
          </a:xfrm>
          <a:prstGeom xmlns:a="http://schemas.openxmlformats.org/drawingml/2006/main" prst="rect">
            <a:avLst/>
          </a:prstGeom>
          <a:solidFill xmlns:a="http://schemas.openxmlformats.org/drawingml/2006/main">
            <a:srgbClr val="D4DAD6"/>
          </a:solidFill>
          <a:ln xmlns:a="http://schemas.openxmlformats.org/drawingml/2006/main" w="0">
            <a:solidFill>
              <a:srgbClr val="D4DAD6"/>
            </a:solidFill>
          </a:ln>
        </p:spPr>
      </p:sp>
      <p:sp>
        <p:nvSpPr>
          <p:cNvPr id="17" name="">
            <a:extLst xmlns:a="http://schemas.openxmlformats.org/drawingml/2006/main">
              <a:ext uri="{FF2B5EF4-FFF2-40B4-BE49-F238E27FC236}">
                <a16:creationId xmlns:a16="http://schemas.microsoft.com/office/drawing/2014/main" id="{F43D48E4-3026-4F36-A8D6-F885C9E7DAE5}"/>
              </a:ext>
            </a:extLst>
          </p:cNvPr>
          <p:cNvSpPr>
            <a:spLocks xmlns:a="http://schemas.openxmlformats.org/drawingml/2006/main" noGrp="1"/>
          </p:cNvSpPr>
          <p:nvPr/>
        </p:nvSpPr>
        <p:spPr>
          <a:xfrm xmlns:a="http://schemas.openxmlformats.org/drawingml/2006/main">
            <a:off x="8458200" y="3619500"/>
            <a:ext cx="266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3900" b="1" i="0">
                <a:solidFill>
                  <a:srgbClr val="E87518"/>
                </a:solidFill>
                <a:latin typeface="Cambria"/>
                <a:ea typeface="Cambria"/>
                <a:cs typeface="Cambria"/>
              </a:defRPr>
            </a:pPr>
            <a:r>
              <a:rPr sz="3900" b="1" i="0">
                <a:solidFill>
                  <a:srgbClr val="E87518"/>
                </a:solidFill>
                <a:latin typeface="Cambria"/>
                <a:ea typeface="Cambria"/>
                <a:cs typeface="Cambria"/>
              </a:rPr>
              <a:t>170</a:t>
            </a:r>
          </a:p>
        </p:txBody>
      </p:sp>
      <p:sp>
        <p:nvSpPr>
          <p:cNvPr id="18" name="">
            <a:extLst xmlns:a="http://schemas.openxmlformats.org/drawingml/2006/main">
              <a:ext uri="{FF2B5EF4-FFF2-40B4-BE49-F238E27FC236}">
                <a16:creationId xmlns:a16="http://schemas.microsoft.com/office/drawing/2014/main" id="{5728C46D-A4A1-4E53-AE5F-DCA7169D4A64}"/>
              </a:ext>
            </a:extLst>
          </p:cNvPr>
          <p:cNvSpPr>
            <a:spLocks xmlns:a="http://schemas.openxmlformats.org/drawingml/2006/main" noGrp="1"/>
          </p:cNvSpPr>
          <p:nvPr/>
        </p:nvSpPr>
        <p:spPr>
          <a:xfrm xmlns:a="http://schemas.openxmlformats.org/drawingml/2006/main">
            <a:off x="8458200" y="4381500"/>
            <a:ext cx="266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575" b="1" i="0">
                <a:solidFill>
                  <a:srgbClr val="17212B"/>
                </a:solidFill>
                <a:latin typeface="Cambria"/>
                <a:ea typeface="Cambria"/>
                <a:cs typeface="Cambria"/>
              </a:defRPr>
            </a:pPr>
            <a:r>
              <a:rPr sz="1575" b="1" i="0">
                <a:solidFill>
                  <a:srgbClr val="17212B"/>
                </a:solidFill>
                <a:latin typeface="Cambria"/>
                <a:ea typeface="Cambria"/>
                <a:cs typeface="Cambria"/>
              </a:rPr>
              <a:t>tests đạt</a:t>
            </a:r>
          </a:p>
          <a:p xmlns:a="http://schemas.openxmlformats.org/drawingml/2006/main">
            <a:pPr algn="ctr">
              <a:lnSpc>
                <a:spcPct val="100000"/>
              </a:lnSpc>
              <a:buNone/>
              <a:defRPr sz="1575" b="1" i="0">
                <a:solidFill>
                  <a:srgbClr val="17212B"/>
                </a:solidFill>
                <a:latin typeface="Cambria"/>
                <a:ea typeface="Cambria"/>
                <a:cs typeface="Cambria"/>
              </a:defRPr>
            </a:pPr>
            <a:r>
              <a:rPr sz="1575" b="1" i="0">
                <a:solidFill>
                  <a:srgbClr val="17212B"/>
                </a:solidFill>
                <a:latin typeface="Cambria"/>
                <a:ea typeface="Cambria"/>
                <a:cs typeface="Cambria"/>
              </a:rPr>
              <a:t>qua 3 codebase</a:t>
            </a:r>
          </a:p>
        </p:txBody>
      </p:sp>
      <p:sp>
        <p:nvSpPr>
          <p:cNvPr id="19" name="">
            <a:extLst xmlns:a="http://schemas.openxmlformats.org/drawingml/2006/main">
              <a:ext uri="{FF2B5EF4-FFF2-40B4-BE49-F238E27FC236}">
                <a16:creationId xmlns:a16="http://schemas.microsoft.com/office/drawing/2014/main" id="{D3A58DB3-6A97-4F4D-AF3A-33788029C809}"/>
              </a:ext>
            </a:extLst>
          </p:cNvPr>
          <p:cNvSpPr>
            <a:spLocks xmlns:a="http://schemas.openxmlformats.org/drawingml/2006/main" noGrp="1"/>
          </p:cNvSpPr>
          <p:nvPr/>
        </p:nvSpPr>
        <p:spPr>
          <a:xfrm xmlns:a="http://schemas.openxmlformats.org/drawingml/2006/main">
            <a:off x="1047750" y="5638800"/>
            <a:ext cx="10096500" cy="476250"/>
          </a:xfrm>
          <a:prstGeom xmlns:a="http://schemas.openxmlformats.org/drawingml/2006/main" prst="roundRect">
            <a:avLst>
              <a:gd name="adj" fmla="val 14000"/>
            </a:avLst>
          </a:prstGeom>
          <a:solidFill xmlns:a="http://schemas.openxmlformats.org/drawingml/2006/main">
            <a:srgbClr val="FFF5CE"/>
          </a:solidFill>
          <a:ln xmlns:a="http://schemas.openxmlformats.org/drawingml/2006/main" w="9525">
            <a:solidFill>
              <a:srgbClr val="E4C45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425" b="0" i="1">
                <a:solidFill>
                  <a:srgbClr val="59636E"/>
                </a:solidFill>
                <a:latin typeface="Cambria"/>
                <a:ea typeface="Cambria"/>
                <a:cs typeface="Cambria"/>
              </a:defRPr>
            </a:pPr>
            <a:r>
              <a:rPr sz="1425" b="0" i="1">
                <a:solidFill>
                  <a:srgbClr val="59636E"/>
                </a:solidFill>
                <a:latin typeface="Cambria"/>
                <a:ea typeface="Cambria"/>
                <a:cs typeface="Cambria"/>
              </a:rPr>
              <a:t>Các con số phản ánh độ rộng codebase, không thay thế đánh giá hoàn tất nghiệp vụ hoặc mức sẵn sàng production.</a:t>
            </a:r>
          </a:p>
        </p:txBody>
      </p:sp>
      <p:sp>
        <p:nvSpPr>
          <p:cNvPr id="20" name="">
            <a:extLst xmlns:a="http://schemas.openxmlformats.org/drawingml/2006/main">
              <a:ext uri="{FF2B5EF4-FFF2-40B4-BE49-F238E27FC236}">
                <a16:creationId xmlns:a16="http://schemas.microsoft.com/office/drawing/2014/main" id="{27CB38EC-9864-41C0-AA0D-A9AEB345741B}"/>
              </a:ext>
            </a:extLst>
          </p:cNvPr>
          <p:cNvSpPr>
            <a:spLocks xmlns:a="http://schemas.openxmlformats.org/drawingml/2006/main" noGrp="1"/>
          </p:cNvSpPr>
          <p:nvPr/>
        </p:nvSpPr>
        <p:spPr>
          <a:xfrm xmlns:a="http://schemas.openxmlformats.org/drawingml/2006/main">
            <a:off x="266700" y="6534150"/>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Báo cáo hiện trạng phát triển | THACO AGRI Fleet | 21/09/2026</a:t>
            </a:r>
          </a:p>
        </p:txBody>
      </p:sp>
      <p:sp>
        <p:nvSpPr>
          <p:cNvPr id="21" name="">
            <a:extLst xmlns:a="http://schemas.openxmlformats.org/drawingml/2006/main">
              <a:ext uri="{FF2B5EF4-FFF2-40B4-BE49-F238E27FC236}">
                <a16:creationId xmlns:a16="http://schemas.microsoft.com/office/drawing/2014/main" id="{E3D08C42-6FAE-47F1-8BE2-4D3FB8EC1D8E}"/>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5</a:t>
            </a:r>
          </a:p>
        </p:txBody>
      </p:sp>
    </p:spTree>
    <p:extLst>
      <p:ext uri="{BB962C8B-B14F-4D97-AF65-F5344CB8AC3E}">
        <p14:creationId xmlns:p14="http://schemas.microsoft.com/office/powerpoint/2010/main" val="391748871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1C22646A-0D08-4B6D-B878-E465D8BC40D6}"/>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HIỆN TRẠNG CÁC MODULE A–K</a:t>
            </a:r>
          </a:p>
        </p:txBody>
      </p:sp>
      <p:graphicFrame>
        <p:nvGraphicFramePr>
          <p:cNvPr id="6" name=""/>
          <p:cNvGraphicFramePr/>
          <p:nvPr/>
        </p:nvGraphicFramePr>
        <p:xfrm>
          <a:off xmlns:a="http://schemas.openxmlformats.org/drawingml/2006/main" x="342900" y="952500"/>
          <a:ext xmlns:a="http://schemas.openxmlformats.org/drawingml/2006/main" cx="11506200" cy="5257800"/>
        </p:xfrm>
        <a:graphic xmlns:a="http://schemas.openxmlformats.org/drawingml/2006/main">
          <a:graphicData uri="http://schemas.openxmlformats.org/drawingml/2006/table">
            <a:tbl>
              <a:tblPr/>
              <a:tblGrid>
                <a:gridCol w="495300"/>
                <a:gridCol w="1809750"/>
                <a:gridCol w="4476750"/>
                <a:gridCol w="4724400"/>
              </a:tblGrid>
              <a:tr h="438150">
                <a:tc>
                  <a:txBody>
                    <a:bodyPr/>
                    <a:lstStyle/>
                    <a:p>
                      <a:r>
                        <a:t>M</a:t>
                      </a:r>
                    </a:p>
                  </a:txBody>
                  <a:tcPr marL="91440" marR="91440" marT="45720" marB="45720"/>
                </a:tc>
                <a:tc>
                  <a:txBody>
                    <a:bodyPr/>
                    <a:lstStyle/>
                    <a:p>
                      <a:r>
                        <a:t>PHÂN HỆ</a:t>
                      </a:r>
                    </a:p>
                  </a:txBody>
                  <a:tcPr marL="91440" marR="91440" marT="45720" marB="45720"/>
                </a:tc>
                <a:tc>
                  <a:txBody>
                    <a:bodyPr/>
                    <a:lstStyle/>
                    <a:p>
                      <a:r>
                        <a:t>BẰNG CHỨNG ĐÃ CÓ</a:t>
                      </a:r>
                    </a:p>
                  </a:txBody>
                  <a:tcPr marL="91440" marR="91440" marT="45720" marB="45720"/>
                </a:tc>
                <a:tc>
                  <a:txBody>
                    <a:bodyPr/>
                    <a:lstStyle/>
                    <a:p>
                      <a:r>
                        <a:t>NHẬN ĐỊNH HIỆN TẠI</a:t>
                      </a:r>
                    </a:p>
                  </a:txBody>
                  <a:tcPr marL="91440" marR="91440" marT="45720" marB="45720"/>
                </a:tc>
              </a:tr>
              <a:tr h="438150">
                <a:tc>
                  <a:txBody>
                    <a:bodyPr/>
                    <a:lstStyle/>
                    <a:p>
                      <a:pPr algn="ctr"/>
                      <a:r>
                        <a:rPr sz="1200" b="1">
                          <a:solidFill>
                            <a:srgbClr val="006B35"/>
                          </a:solidFill>
                          <a:latin typeface="Cambria"/>
                          <a:ea typeface="Cambria"/>
                          <a:cs typeface="Cambria"/>
                        </a:rPr>
                        <a:t>A</a:t>
                      </a:r>
                    </a:p>
                  </a:txBody>
                  <a:tcPr marL="91440" marR="91440" marT="45720" marB="45720">
                    <a:solidFill>
                      <a:srgbClr val="EAF2E6"/>
                    </a:solidFill>
                  </a:tcPr>
                </a:tc>
                <a:tc>
                  <a:txBody>
                    <a:bodyPr/>
                    <a:lstStyle/>
                    <a:p>
                      <a:r>
                        <a:t>Dashboard</a:t>
                      </a:r>
                    </a:p>
                  </a:txBody>
                  <a:tcPr marL="91440" marR="91440" marT="45720" marB="45720"/>
                </a:tc>
                <a:tc>
                  <a:txBody>
                    <a:bodyPr/>
                    <a:lstStyle/>
                    <a:p>
                      <a:r>
                        <a:t>Có API tổng hợp; UI đã nối</a:t>
                      </a:r>
                    </a:p>
                  </a:txBody>
                  <a:tcPr marL="91440" marR="91440" marT="45720" marB="45720"/>
                </a:tc>
                <a:tc>
                  <a:txBody>
                    <a:bodyPr/>
                    <a:lstStyle/>
                    <a:p>
                      <a:r>
                        <a:t>Đang hoàn thiện số liệu</a:t>
                      </a:r>
                    </a:p>
                  </a:txBody>
                  <a:tcPr marL="91440" marR="91440" marT="45720" marB="45720"/>
                </a:tc>
              </a:tr>
              <a:tr h="438150">
                <a:tc>
                  <a:txBody>
                    <a:bodyPr/>
                    <a:lstStyle/>
                    <a:p>
                      <a:pPr algn="ctr"/>
                      <a:r>
                        <a:rPr sz="1200" b="1">
                          <a:solidFill>
                            <a:srgbClr val="006B35"/>
                          </a:solidFill>
                          <a:latin typeface="Cambria"/>
                          <a:ea typeface="Cambria"/>
                          <a:cs typeface="Cambria"/>
                        </a:rPr>
                        <a:t>B</a:t>
                      </a:r>
                    </a:p>
                  </a:txBody>
                  <a:tcPr marL="91440" marR="91440" marT="45720" marB="45720">
                    <a:solidFill>
                      <a:srgbClr val="EAF2E6"/>
                    </a:solidFill>
                  </a:tcPr>
                </a:tc>
                <a:tc>
                  <a:txBody>
                    <a:bodyPr/>
                    <a:lstStyle/>
                    <a:p>
                      <a:r>
                        <a:t>GPS</a:t>
                      </a:r>
                    </a:p>
                  </a:txBody>
                  <a:tcPr marL="91440" marR="91440" marT="45720" marB="45720"/>
                </a:tc>
                <a:tc>
                  <a:txBody>
                    <a:bodyPr/>
                    <a:lstStyle/>
                    <a:p>
                      <a:r>
                        <a:t>Telemetry, realtime, SOS</a:t>
                      </a:r>
                    </a:p>
                  </a:txBody>
                  <a:tcPr marL="91440" marR="91440" marT="45720" marB="45720"/>
                </a:tc>
                <a:tc>
                  <a:txBody>
                    <a:bodyPr/>
                    <a:lstStyle/>
                    <a:p>
                      <a:r>
                        <a:t>Hybrid / cần tích hợp thiết bị</a:t>
                      </a:r>
                    </a:p>
                  </a:txBody>
                  <a:tcPr marL="91440" marR="91440" marT="45720" marB="45720"/>
                </a:tc>
              </a:tr>
              <a:tr h="438150">
                <a:tc>
                  <a:txBody>
                    <a:bodyPr/>
                    <a:lstStyle/>
                    <a:p>
                      <a:pPr algn="ctr"/>
                      <a:r>
                        <a:rPr sz="1200" b="1">
                          <a:solidFill>
                            <a:srgbClr val="006B35"/>
                          </a:solidFill>
                          <a:latin typeface="Cambria"/>
                          <a:ea typeface="Cambria"/>
                          <a:cs typeface="Cambria"/>
                        </a:rPr>
                        <a:t>C</a:t>
                      </a:r>
                    </a:p>
                  </a:txBody>
                  <a:tcPr marL="91440" marR="91440" marT="45720" marB="45720">
                    <a:solidFill>
                      <a:srgbClr val="EAF2E6"/>
                    </a:solidFill>
                  </a:tcPr>
                </a:tc>
                <a:tc>
                  <a:txBody>
                    <a:bodyPr/>
                    <a:lstStyle/>
                    <a:p>
                      <a:r>
                        <a:t>Đội xe</a:t>
                      </a:r>
                    </a:p>
                  </a:txBody>
                  <a:tcPr marL="91440" marR="91440" marT="45720" marB="45720"/>
                </a:tc>
                <a:tc>
                  <a:txBody>
                    <a:bodyPr/>
                    <a:lstStyle/>
                    <a:p>
                      <a:r>
                        <a:t>Vehicle, implement, lịch sử</a:t>
                      </a:r>
                    </a:p>
                  </a:txBody>
                  <a:tcPr marL="91440" marR="91440" marT="45720" marB="45720"/>
                </a:tc>
                <a:tc>
                  <a:txBody>
                    <a:bodyPr/>
                    <a:lstStyle/>
                    <a:p>
                      <a:r>
                        <a:t>Tích hợp tương đối sâu</a:t>
                      </a:r>
                    </a:p>
                  </a:txBody>
                  <a:tcPr marL="91440" marR="91440" marT="45720" marB="45720"/>
                </a:tc>
              </a:tr>
              <a:tr h="438150">
                <a:tc>
                  <a:txBody>
                    <a:bodyPr/>
                    <a:lstStyle/>
                    <a:p>
                      <a:pPr algn="ctr"/>
                      <a:r>
                        <a:rPr sz="1200" b="1">
                          <a:solidFill>
                            <a:srgbClr val="006B35"/>
                          </a:solidFill>
                          <a:latin typeface="Cambria"/>
                          <a:ea typeface="Cambria"/>
                          <a:cs typeface="Cambria"/>
                        </a:rPr>
                        <a:t>D</a:t>
                      </a:r>
                    </a:p>
                  </a:txBody>
                  <a:tcPr marL="91440" marR="91440" marT="45720" marB="45720">
                    <a:solidFill>
                      <a:srgbClr val="EAF2E6"/>
                    </a:solidFill>
                  </a:tcPr>
                </a:tc>
                <a:tc>
                  <a:txBody>
                    <a:bodyPr/>
                    <a:lstStyle/>
                    <a:p>
                      <a:r>
                        <a:t>Điều xe</a:t>
                      </a:r>
                    </a:p>
                  </a:txBody>
                  <a:tcPr marL="91440" marR="91440" marT="45720" marB="45720"/>
                </a:tc>
                <a:tc>
                  <a:txBody>
                    <a:bodyPr/>
                    <a:lstStyle/>
                    <a:p>
                      <a:r>
                        <a:t>Plan, dispatch, work order</a:t>
                      </a:r>
                    </a:p>
                  </a:txBody>
                  <a:tcPr marL="91440" marR="91440" marT="45720" marB="45720"/>
                </a:tc>
                <a:tc>
                  <a:txBody>
                    <a:bodyPr/>
                    <a:lstStyle/>
                    <a:p>
                      <a:r>
                        <a:t>Luồng chính đã có</a:t>
                      </a:r>
                    </a:p>
                  </a:txBody>
                  <a:tcPr marL="91440" marR="91440" marT="45720" marB="45720"/>
                </a:tc>
              </a:tr>
              <a:tr h="438150">
                <a:tc>
                  <a:txBody>
                    <a:bodyPr/>
                    <a:lstStyle/>
                    <a:p>
                      <a:pPr algn="ctr"/>
                      <a:r>
                        <a:rPr sz="1200" b="1">
                          <a:solidFill>
                            <a:srgbClr val="006B35"/>
                          </a:solidFill>
                          <a:latin typeface="Cambria"/>
                          <a:ea typeface="Cambria"/>
                          <a:cs typeface="Cambria"/>
                        </a:rPr>
                        <a:t>E</a:t>
                      </a:r>
                    </a:p>
                  </a:txBody>
                  <a:tcPr marL="91440" marR="91440" marT="45720" marB="45720">
                    <a:solidFill>
                      <a:srgbClr val="EAF2E6"/>
                    </a:solidFill>
                  </a:tcPr>
                </a:tc>
                <a:tc>
                  <a:txBody>
                    <a:bodyPr/>
                    <a:lstStyle/>
                    <a:p>
                      <a:r>
                        <a:t>BTSC</a:t>
                      </a:r>
                    </a:p>
                  </a:txBody>
                  <a:tcPr marL="91440" marR="91440" marT="45720" marB="45720"/>
                </a:tc>
                <a:tc>
                  <a:txBody>
                    <a:bodyPr/>
                    <a:lstStyle/>
                    <a:p>
                      <a:r>
                        <a:t>Maintenance, repair, workshop</a:t>
                      </a:r>
                    </a:p>
                  </a:txBody>
                  <a:tcPr marL="91440" marR="91440" marT="45720" marB="45720"/>
                </a:tc>
                <a:tc>
                  <a:txBody>
                    <a:bodyPr/>
                    <a:lstStyle/>
                    <a:p>
                      <a:r>
                        <a:t>Luồng chính đã có</a:t>
                      </a:r>
                    </a:p>
                  </a:txBody>
                  <a:tcPr marL="91440" marR="91440" marT="45720" marB="45720"/>
                </a:tc>
              </a:tr>
              <a:tr h="438150">
                <a:tc>
                  <a:txBody>
                    <a:bodyPr/>
                    <a:lstStyle/>
                    <a:p>
                      <a:pPr algn="ctr"/>
                      <a:r>
                        <a:rPr sz="1200" b="1">
                          <a:solidFill>
                            <a:srgbClr val="006B35"/>
                          </a:solidFill>
                          <a:latin typeface="Cambria"/>
                          <a:ea typeface="Cambria"/>
                          <a:cs typeface="Cambria"/>
                        </a:rPr>
                        <a:t>F</a:t>
                      </a:r>
                    </a:p>
                  </a:txBody>
                  <a:tcPr marL="91440" marR="91440" marT="45720" marB="45720">
                    <a:solidFill>
                      <a:srgbClr val="EAF2E6"/>
                    </a:solidFill>
                  </a:tcPr>
                </a:tc>
                <a:tc>
                  <a:txBody>
                    <a:bodyPr/>
                    <a:lstStyle/>
                    <a:p>
                      <a:r>
                        <a:t>Báo cáo</a:t>
                      </a:r>
                    </a:p>
                  </a:txBody>
                  <a:tcPr marL="91440" marR="91440" marT="45720" marB="45720"/>
                </a:tc>
                <a:tc>
                  <a:txBody>
                    <a:bodyPr/>
                    <a:lstStyle/>
                    <a:p>
                      <a:r>
                        <a:t>6 trang báo cáo khởi tạo rỗng</a:t>
                      </a:r>
                    </a:p>
                  </a:txBody>
                  <a:tcPr marL="91440" marR="91440" marT="45720" marB="45720"/>
                </a:tc>
                <a:tc>
                  <a:txBody>
                    <a:bodyPr/>
                    <a:lstStyle/>
                    <a:p>
                      <a:r>
                        <a:t>Khoảng trống rõ</a:t>
                      </a:r>
                    </a:p>
                  </a:txBody>
                  <a:tcPr marL="91440" marR="91440" marT="45720" marB="45720"/>
                </a:tc>
              </a:tr>
              <a:tr h="438150">
                <a:tc>
                  <a:txBody>
                    <a:bodyPr/>
                    <a:lstStyle/>
                    <a:p>
                      <a:pPr algn="ctr"/>
                      <a:r>
                        <a:rPr sz="1200" b="1">
                          <a:solidFill>
                            <a:srgbClr val="006B35"/>
                          </a:solidFill>
                          <a:latin typeface="Cambria"/>
                          <a:ea typeface="Cambria"/>
                          <a:cs typeface="Cambria"/>
                        </a:rPr>
                        <a:t>G</a:t>
                      </a:r>
                    </a:p>
                  </a:txBody>
                  <a:tcPr marL="91440" marR="91440" marT="45720" marB="45720">
                    <a:solidFill>
                      <a:srgbClr val="EAF2E6"/>
                    </a:solidFill>
                  </a:tcPr>
                </a:tc>
                <a:tc>
                  <a:txBody>
                    <a:bodyPr/>
                    <a:lstStyle/>
                    <a:p>
                      <a:r>
                        <a:t>Phân quyền</a:t>
                      </a:r>
                    </a:p>
                  </a:txBody>
                  <a:tcPr marL="91440" marR="91440" marT="45720" marB="45720"/>
                </a:tc>
                <a:tc>
                  <a:txBody>
                    <a:bodyPr/>
                    <a:lstStyle/>
                    <a:p>
                      <a:r>
                        <a:t>JWT, roles, scope utilities</a:t>
                      </a:r>
                    </a:p>
                  </a:txBody>
                  <a:tcPr marL="91440" marR="91440" marT="45720" marB="45720"/>
                </a:tc>
                <a:tc>
                  <a:txBody>
                    <a:bodyPr/>
                    <a:lstStyle/>
                    <a:p>
                      <a:r>
                        <a:t>Scope đơn vị chưa đồng đều</a:t>
                      </a:r>
                    </a:p>
                  </a:txBody>
                  <a:tcPr marL="91440" marR="91440" marT="45720" marB="45720"/>
                </a:tc>
              </a:tr>
              <a:tr h="438150">
                <a:tc>
                  <a:txBody>
                    <a:bodyPr/>
                    <a:lstStyle/>
                    <a:p>
                      <a:pPr algn="ctr"/>
                      <a:r>
                        <a:rPr sz="1200" b="1">
                          <a:solidFill>
                            <a:srgbClr val="006B35"/>
                          </a:solidFill>
                          <a:latin typeface="Cambria"/>
                          <a:ea typeface="Cambria"/>
                          <a:cs typeface="Cambria"/>
                        </a:rPr>
                        <a:t>H</a:t>
                      </a:r>
                    </a:p>
                  </a:txBody>
                  <a:tcPr marL="91440" marR="91440" marT="45720" marB="45720">
                    <a:solidFill>
                      <a:srgbClr val="EAF2E6"/>
                    </a:solidFill>
                  </a:tcPr>
                </a:tc>
                <a:tc>
                  <a:txBody>
                    <a:bodyPr/>
                    <a:lstStyle/>
                    <a:p>
                      <a:r>
                        <a:t>Danh mục</a:t>
                      </a:r>
                    </a:p>
                  </a:txBody>
                  <a:tcPr marL="91440" marR="91440" marT="45720" marB="45720"/>
                </a:tc>
                <a:tc>
                  <a:txBody>
                    <a:bodyPr/>
                    <a:lstStyle/>
                    <a:p>
                      <a:r>
                        <a:t>Catalog API và import Excel</a:t>
                      </a:r>
                    </a:p>
                  </a:txBody>
                  <a:tcPr marL="91440" marR="91440" marT="45720" marB="45720"/>
                </a:tc>
                <a:tc>
                  <a:txBody>
                    <a:bodyPr/>
                    <a:lstStyle/>
                    <a:p>
                      <a:r>
                        <a:t>Còn fallback local</a:t>
                      </a:r>
                    </a:p>
                  </a:txBody>
                  <a:tcPr marL="91440" marR="91440" marT="45720" marB="45720"/>
                </a:tc>
              </a:tr>
              <a:tr h="438150">
                <a:tc>
                  <a:txBody>
                    <a:bodyPr/>
                    <a:lstStyle/>
                    <a:p>
                      <a:pPr algn="ctr"/>
                      <a:r>
                        <a:rPr sz="1200" b="1">
                          <a:solidFill>
                            <a:srgbClr val="006B35"/>
                          </a:solidFill>
                          <a:latin typeface="Cambria"/>
                          <a:ea typeface="Cambria"/>
                          <a:cs typeface="Cambria"/>
                        </a:rPr>
                        <a:t>I</a:t>
                      </a:r>
                    </a:p>
                  </a:txBody>
                  <a:tcPr marL="91440" marR="91440" marT="45720" marB="45720">
                    <a:solidFill>
                      <a:srgbClr val="EAF2E6"/>
                    </a:solidFill>
                  </a:tcPr>
                </a:tc>
                <a:tc>
                  <a:txBody>
                    <a:bodyPr/>
                    <a:lstStyle/>
                    <a:p>
                      <a:r>
                        <a:t>Lái xe</a:t>
                      </a:r>
                    </a:p>
                  </a:txBody>
                  <a:tcPr marL="91440" marR="91440" marT="45720" marB="45720"/>
                </a:tc>
                <a:tc>
                  <a:txBody>
                    <a:bodyPr/>
                    <a:lstStyle/>
                    <a:p>
                      <a:r>
                        <a:t>Web, mobile, KPI, sync</a:t>
                      </a:r>
                    </a:p>
                  </a:txBody>
                  <a:tcPr marL="91440" marR="91440" marT="45720" marB="45720"/>
                </a:tc>
                <a:tc>
                  <a:txBody>
                    <a:bodyPr/>
                    <a:lstStyle/>
                    <a:p>
                      <a:r>
                        <a:t>Đang hoàn thiện đầu cuối</a:t>
                      </a:r>
                    </a:p>
                  </a:txBody>
                  <a:tcPr marL="91440" marR="91440" marT="45720" marB="45720"/>
                </a:tc>
              </a:tr>
              <a:tr h="438150">
                <a:tc>
                  <a:txBody>
                    <a:bodyPr/>
                    <a:lstStyle/>
                    <a:p>
                      <a:pPr algn="ctr"/>
                      <a:r>
                        <a:rPr sz="1200" b="1">
                          <a:solidFill>
                            <a:srgbClr val="006B35"/>
                          </a:solidFill>
                          <a:latin typeface="Cambria"/>
                          <a:ea typeface="Cambria"/>
                          <a:cs typeface="Cambria"/>
                        </a:rPr>
                        <a:t>J</a:t>
                      </a:r>
                    </a:p>
                  </a:txBody>
                  <a:tcPr marL="91440" marR="91440" marT="45720" marB="45720">
                    <a:solidFill>
                      <a:srgbClr val="EAF2E6"/>
                    </a:solidFill>
                  </a:tcPr>
                </a:tc>
                <a:tc>
                  <a:txBody>
                    <a:bodyPr/>
                    <a:lstStyle/>
                    <a:p>
                      <a:r>
                        <a:t>Nhiên liệu</a:t>
                      </a:r>
                    </a:p>
                  </a:txBody>
                  <a:tcPr marL="91440" marR="91440" marT="45720" marB="45720"/>
                </a:tc>
                <a:tc>
                  <a:txBody>
                    <a:bodyPr/>
                    <a:lstStyle/>
                    <a:p>
                      <a:r>
                        <a:t>Kho, phiếu cấp phát, variance</a:t>
                      </a:r>
                    </a:p>
                  </a:txBody>
                  <a:tcPr marL="91440" marR="91440" marT="45720" marB="45720"/>
                </a:tc>
                <a:tc>
                  <a:txBody>
                    <a:bodyPr/>
                    <a:lstStyle/>
                    <a:p>
                      <a:r>
                        <a:t>UI còn màn hình demo</a:t>
                      </a:r>
                    </a:p>
                  </a:txBody>
                  <a:tcPr marL="91440" marR="91440" marT="45720" marB="45720"/>
                </a:tc>
              </a:tr>
              <a:tr h="438150">
                <a:tc>
                  <a:txBody>
                    <a:bodyPr/>
                    <a:lstStyle/>
                    <a:p>
                      <a:pPr algn="ctr"/>
                      <a:r>
                        <a:rPr sz="1200" b="1">
                          <a:solidFill>
                            <a:srgbClr val="006B35"/>
                          </a:solidFill>
                          <a:latin typeface="Cambria"/>
                          <a:ea typeface="Cambria"/>
                          <a:cs typeface="Cambria"/>
                        </a:rPr>
                        <a:t>K</a:t>
                      </a:r>
                    </a:p>
                  </a:txBody>
                  <a:tcPr marL="91440" marR="91440" marT="45720" marB="45720">
                    <a:solidFill>
                      <a:srgbClr val="EAF2E6"/>
                    </a:solidFill>
                  </a:tcPr>
                </a:tc>
                <a:tc>
                  <a:txBody>
                    <a:bodyPr/>
                    <a:lstStyle/>
                    <a:p>
                      <a:r>
                        <a:t>Cảnh báo</a:t>
                      </a:r>
                    </a:p>
                  </a:txBody>
                  <a:tcPr marL="91440" marR="91440" marT="45720" marB="45720"/>
                </a:tc>
                <a:tc>
                  <a:txBody>
                    <a:bodyPr/>
                    <a:lstStyle/>
                    <a:p>
                      <a:r>
                        <a:t>Alert theo nhiều domain</a:t>
                      </a:r>
                    </a:p>
                  </a:txBody>
                  <a:tcPr marL="91440" marR="91440" marT="45720" marB="45720"/>
                </a:tc>
                <a:tc>
                  <a:txBody>
                    <a:bodyPr/>
                    <a:lstStyle/>
                    <a:p>
                      <a:r>
                        <a:t>Alert center còn phân tán</a:t>
                      </a:r>
                    </a:p>
                  </a:txBody>
                  <a:tcPr marL="91440" marR="91440" marT="45720" marB="45720"/>
                </a:tc>
              </a:tr>
            </a:tbl>
          </a:graphicData>
        </a:graphic>
      </p:graphicFrame>
      <p:sp>
        <p:nvSpPr>
          <p:cNvPr id="3" name="">
            <a:extLst xmlns:a="http://schemas.openxmlformats.org/drawingml/2006/main">
              <a:ext uri="{FF2B5EF4-FFF2-40B4-BE49-F238E27FC236}">
                <a16:creationId xmlns:a16="http://schemas.microsoft.com/office/drawing/2014/main" id="{F4F774F1-E511-4D4E-80C9-435B87C68F7B}"/>
              </a:ext>
            </a:extLst>
          </p:cNvPr>
          <p:cNvSpPr>
            <a:spLocks xmlns:a="http://schemas.openxmlformats.org/drawingml/2006/main" noGrp="1"/>
          </p:cNvSpPr>
          <p:nvPr/>
        </p:nvSpPr>
        <p:spPr>
          <a:xfrm xmlns:a="http://schemas.openxmlformats.org/drawingml/2006/main">
            <a:off x="266700" y="6534150"/>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Báo cáo hiện trạng phát triển | THACO AGRI Fleet | 21/09/2026</a:t>
            </a:r>
          </a:p>
        </p:txBody>
      </p:sp>
      <p:sp>
        <p:nvSpPr>
          <p:cNvPr id="4" name="">
            <a:extLst xmlns:a="http://schemas.openxmlformats.org/drawingml/2006/main">
              <a:ext uri="{FF2B5EF4-FFF2-40B4-BE49-F238E27FC236}">
                <a16:creationId xmlns:a16="http://schemas.microsoft.com/office/drawing/2014/main" id="{8E9038AF-B25E-4E02-9BD2-CE883259361E}"/>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6</a:t>
            </a:r>
          </a:p>
        </p:txBody>
      </p:sp>
    </p:spTree>
    <p:extLst>
      <p:ext uri="{BB962C8B-B14F-4D97-AF65-F5344CB8AC3E}">
        <p14:creationId xmlns:p14="http://schemas.microsoft.com/office/powerpoint/2010/main" val="420839429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D63E44DD-92A7-4112-91DC-BBACE9FC2C3A}"/>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LUỒNG NGHIỆP VỤ ĐÃ HÌNH THÀNH</a:t>
            </a:r>
          </a:p>
        </p:txBody>
      </p:sp>
      <p:graphicFrame>
        <p:nvGraphicFramePr>
          <p:cNvPr id="8" name=""/>
          <p:cNvGraphicFramePr/>
          <p:nvPr/>
        </p:nvGraphicFramePr>
        <p:xfrm>
          <a:off xmlns:a="http://schemas.openxmlformats.org/drawingml/2006/main" x="523875" y="1333500"/>
          <a:ext xmlns:a="http://schemas.openxmlformats.org/drawingml/2006/main" cx="11144250" cy="2524125"/>
        </p:xfrm>
        <a:graphic xmlns:a="http://schemas.openxmlformats.org/drawingml/2006/main">
          <a:graphicData uri="http://schemas.openxmlformats.org/drawingml/2006/table">
            <a:tbl>
              <a:tblPr/>
              <a:tblGrid>
                <a:gridCol w="2781300"/>
                <a:gridCol w="2781300"/>
                <a:gridCol w="2781300"/>
                <a:gridCol w="2800350"/>
              </a:tblGrid>
              <a:tr h="523875">
                <a:tc>
                  <a:txBody>
                    <a:bodyPr/>
                    <a:lstStyle/>
                    <a:p>
                      <a:r>
                        <a:t>1. CHUẨN BỊ</a:t>
                      </a:r>
                    </a:p>
                  </a:txBody>
                  <a:tcPr marL="91440" marR="91440" marT="45720" marB="45720"/>
                </a:tc>
                <a:tc>
                  <a:txBody>
                    <a:bodyPr/>
                    <a:lstStyle/>
                    <a:p>
                      <a:r>
                        <a:t>2. PHÂN CÔNG</a:t>
                      </a:r>
                    </a:p>
                  </a:txBody>
                  <a:tcPr marL="91440" marR="91440" marT="45720" marB="45720"/>
                </a:tc>
                <a:tc>
                  <a:txBody>
                    <a:bodyPr/>
                    <a:lstStyle/>
                    <a:p>
                      <a:r>
                        <a:t>3. THỰC HIỆN</a:t>
                      </a:r>
                    </a:p>
                  </a:txBody>
                  <a:tcPr marL="91440" marR="91440" marT="45720" marB="45720"/>
                </a:tc>
                <a:tc>
                  <a:txBody>
                    <a:bodyPr/>
                    <a:lstStyle/>
                    <a:p>
                      <a:r>
                        <a:t>4. NGHIỆM THU</a:t>
                      </a:r>
                    </a:p>
                  </a:txBody>
                  <a:tcPr marL="91440" marR="91440" marT="45720" marB="45720"/>
                </a:tc>
              </a:tr>
              <a:tr h="1952625">
                <a:tc>
                  <a:txBody>
                    <a:bodyPr/>
                    <a:lstStyle/>
                    <a:p>
                      <a:r>
                        <a:t>DRAFT</a:t>
                      </a:r>
                    </a:p>
                    <a:p>
                      <a:r>
                        <a:t>PENDING_APPROVAL</a:t>
                      </a:r>
                    </a:p>
                    <a:p>
                      <a:r>
                        <a:t>APPROVED</a:t>
                      </a:r>
                    </a:p>
                  </a:txBody>
                  <a:tcPr marL="91440" marR="91440" marT="45720" marB="45720"/>
                </a:tc>
                <a:tc>
                  <a:txBody>
                    <a:bodyPr/>
                    <a:lstStyle/>
                    <a:p>
                      <a:r>
                        <a:t>ASSIGNED</a:t>
                      </a:r>
                    </a:p>
                    <a:p>
                      <a:r>
                        <a:t>OPEN_FOR_CLAIM</a:t>
                      </a:r>
                    </a:p>
                    <a:p>
                      <a:r>
                        <a:t>DRIVER_ACCEPTED</a:t>
                      </a:r>
                    </a:p>
                  </a:txBody>
                  <a:tcPr marL="91440" marR="91440" marT="45720" marB="45720"/>
                </a:tc>
                <a:tc>
                  <a:txBody>
                    <a:bodyPr/>
                    <a:lstStyle/>
                    <a:p>
                      <a:r>
                        <a:t>IN_PROGRESS</a:t>
                      </a:r>
                    </a:p>
                    <a:p>
                      <a:r>
                        <a:t>Ghi nhận hành trình</a:t>
                      </a:r>
                    </a:p>
                    <a:p>
                      <a:r>
                        <a:t>Sự cố / SOS</a:t>
                      </a:r>
                    </a:p>
                  </a:txBody>
                  <a:tcPr marL="91440" marR="91440" marT="45720" marB="45720"/>
                </a:tc>
                <a:tc>
                  <a:txBody>
                    <a:bodyPr/>
                    <a:lstStyle/>
                    <a:p>
                      <a:r>
                        <a:t>SUBMITTED</a:t>
                      </a:r>
                    </a:p>
                    <a:p>
                      <a:r>
                        <a:t>ACCEPTED hoặc REWORK</a:t>
                      </a:r>
                    </a:p>
                    <a:p>
                      <a:r>
                        <a:t>CLOSED</a:t>
                      </a:r>
                    </a:p>
                  </a:txBody>
                  <a:tcPr marL="91440" marR="91440" marT="45720" marB="45720"/>
                </a:tc>
              </a:tr>
            </a:tbl>
          </a:graphicData>
        </a:graphic>
      </p:graphicFrame>
      <p:sp>
        <p:nvSpPr>
          <p:cNvPr id="3" name="">
            <a:extLst xmlns:a="http://schemas.openxmlformats.org/drawingml/2006/main">
              <a:ext uri="{FF2B5EF4-FFF2-40B4-BE49-F238E27FC236}">
                <a16:creationId xmlns:a16="http://schemas.microsoft.com/office/drawing/2014/main" id="{81D70E85-8DB2-4822-BB5A-E29E9B2D07F2}"/>
              </a:ext>
            </a:extLst>
          </p:cNvPr>
          <p:cNvSpPr>
            <a:spLocks xmlns:a="http://schemas.openxmlformats.org/drawingml/2006/main" noGrp="1"/>
          </p:cNvSpPr>
          <p:nvPr/>
        </p:nvSpPr>
        <p:spPr>
          <a:xfrm xmlns:a="http://schemas.openxmlformats.org/drawingml/2006/main">
            <a:off x="571500" y="4238625"/>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725" b="1" i="0">
                <a:solidFill>
                  <a:srgbClr val="006B35"/>
                </a:solidFill>
                <a:latin typeface="Cambria"/>
                <a:ea typeface="Cambria"/>
                <a:cs typeface="Cambria"/>
              </a:defRPr>
            </a:pPr>
            <a:r>
              <a:rPr sz="1725" b="1" i="0">
                <a:solidFill>
                  <a:srgbClr val="006B35"/>
                </a:solidFill>
                <a:latin typeface="Cambria"/>
                <a:ea typeface="Cambria"/>
                <a:cs typeface="Cambria"/>
              </a:rPr>
              <a:t>Điểm đã triển khai</a:t>
            </a:r>
          </a:p>
        </p:txBody>
      </p:sp>
      <p:sp>
        <p:nvSpPr>
          <p:cNvPr id="4" name="">
            <a:extLst xmlns:a="http://schemas.openxmlformats.org/drawingml/2006/main">
              <a:ext uri="{FF2B5EF4-FFF2-40B4-BE49-F238E27FC236}">
                <a16:creationId xmlns:a16="http://schemas.microsoft.com/office/drawing/2014/main" id="{A9562D5A-884B-44BF-A2C6-F2287C47769A}"/>
              </a:ext>
            </a:extLst>
          </p:cNvPr>
          <p:cNvSpPr>
            <a:spLocks xmlns:a="http://schemas.openxmlformats.org/drawingml/2006/main" noGrp="1"/>
          </p:cNvSpPr>
          <p:nvPr/>
        </p:nvSpPr>
        <p:spPr>
          <a:xfrm xmlns:a="http://schemas.openxmlformats.org/drawingml/2006/main">
            <a:off x="523875" y="4572000"/>
            <a:ext cx="11096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marL="241300" indent="-114300" algn="l">
              <a:lnSpc>
                <a:spcPct val="104000"/>
              </a:lnSpc>
              <a:spcAft>
                <a:spcPts val="8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WorkOrderEvent ghi nhận actor, trạng thái cũ/mới, thời gian và lý do</a:t>
            </a:r>
          </a:p>
          <a:p xmlns:a="http://schemas.openxmlformats.org/drawingml/2006/main">
            <a:pPr marL="241300" indent="-114300" algn="l">
              <a:lnSpc>
                <a:spcPct val="104000"/>
              </a:lnSpc>
              <a:spcAft>
                <a:spcPts val="8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Nghiệm thu lưu reviewer, minh chứng, kết quả và luồng làm lại</a:t>
            </a:r>
          </a:p>
          <a:p xmlns:a="http://schemas.openxmlformats.org/drawingml/2006/main">
            <a:pPr marL="241300" indent="-114300" algn="l">
              <a:lnSpc>
                <a:spcPct val="104000"/>
              </a:lnSpc>
              <a:spcAft>
                <a:spcPts val="8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Maintenance, repair và mobile workflow đồng bộ trạng thái xe</a:t>
            </a:r>
          </a:p>
        </p:txBody>
      </p:sp>
      <p:sp>
        <p:nvSpPr>
          <p:cNvPr id="5" name="">
            <a:extLst xmlns:a="http://schemas.openxmlformats.org/drawingml/2006/main">
              <a:ext uri="{FF2B5EF4-FFF2-40B4-BE49-F238E27FC236}">
                <a16:creationId xmlns:a16="http://schemas.microsoft.com/office/drawing/2014/main" id="{7F18BA0B-72F6-469A-9C51-1ED0550389DF}"/>
              </a:ext>
            </a:extLst>
          </p:cNvPr>
          <p:cNvSpPr>
            <a:spLocks xmlns:a="http://schemas.openxmlformats.org/drawingml/2006/main" noGrp="1"/>
          </p:cNvSpPr>
          <p:nvPr/>
        </p:nvSpPr>
        <p:spPr>
          <a:xfrm xmlns:a="http://schemas.openxmlformats.org/drawingml/2006/main">
            <a:off x="266700" y="6534150"/>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Báo cáo hiện trạng phát triển | THACO AGRI Fleet | 21/09/2026</a:t>
            </a:r>
          </a:p>
        </p:txBody>
      </p:sp>
      <p:sp>
        <p:nvSpPr>
          <p:cNvPr id="6" name="">
            <a:extLst xmlns:a="http://schemas.openxmlformats.org/drawingml/2006/main">
              <a:ext uri="{FF2B5EF4-FFF2-40B4-BE49-F238E27FC236}">
                <a16:creationId xmlns:a16="http://schemas.microsoft.com/office/drawing/2014/main" id="{540CF46F-070A-4393-88A6-897193A72DDB}"/>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7</a:t>
            </a:r>
          </a:p>
        </p:txBody>
      </p:sp>
    </p:spTree>
    <p:extLst>
      <p:ext uri="{BB962C8B-B14F-4D97-AF65-F5344CB8AC3E}">
        <p14:creationId xmlns:p14="http://schemas.microsoft.com/office/powerpoint/2010/main" val="74802756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6CEB6802-06A3-4CAA-9676-E4A1EE9CE775}"/>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DỮ LIỆU VÀ TÍCH HỢP</a:t>
            </a:r>
          </a:p>
        </p:txBody>
      </p:sp>
      <p:graphicFrame>
        <p:nvGraphicFramePr>
          <p:cNvPr id="10" name=""/>
          <p:cNvGraphicFramePr/>
          <p:nvPr/>
        </p:nvGraphicFramePr>
        <p:xfrm>
          <a:off xmlns:a="http://schemas.openxmlformats.org/drawingml/2006/main" x="523875" y="1143000"/>
          <a:ext xmlns:a="http://schemas.openxmlformats.org/drawingml/2006/main" cx="11144250" cy="3905250"/>
        </p:xfrm>
        <a:graphic xmlns:a="http://schemas.openxmlformats.org/drawingml/2006/main">
          <a:graphicData uri="http://schemas.openxmlformats.org/drawingml/2006/table">
            <a:tbl>
              <a:tblPr/>
              <a:tblGrid>
                <a:gridCol w="2476500"/>
                <a:gridCol w="4429125"/>
                <a:gridCol w="4238625"/>
              </a:tblGrid>
              <a:tr h="457200">
                <a:tc>
                  <a:txBody>
                    <a:bodyPr/>
                    <a:lstStyle/>
                    <a:p>
                      <a:r>
                        <a:t>LỚP</a:t>
                      </a:r>
                    </a:p>
                  </a:txBody>
                  <a:tcPr marL="91440" marR="91440" marT="45720" marB="45720"/>
                </a:tc>
                <a:tc>
                  <a:txBody>
                    <a:bodyPr/>
                    <a:lstStyle/>
                    <a:p>
                      <a:r>
                        <a:t>HIỆN TRẠNG</a:t>
                      </a:r>
                    </a:p>
                  </a:txBody>
                  <a:tcPr marL="91440" marR="91440" marT="45720" marB="45720"/>
                </a:tc>
                <a:tc>
                  <a:txBody>
                    <a:bodyPr/>
                    <a:lstStyle/>
                    <a:p>
                      <a:r>
                        <a:t>ĐIỂM CẦN KIỂM SOÁT</a:t>
                      </a:r>
                    </a:p>
                  </a:txBody>
                  <a:tcPr marL="91440" marR="91440" marT="45720" marB="45720"/>
                </a:tc>
              </a:tr>
              <a:tr h="666750">
                <a:tc>
                  <a:txBody>
                    <a:bodyPr/>
                    <a:lstStyle/>
                    <a:p>
                      <a:r>
                        <a:t>Danh mục nền</a:t>
                      </a:r>
                    </a:p>
                  </a:txBody>
                  <a:tcPr marL="91440" marR="91440" marT="45720" marB="45720"/>
                </a:tc>
                <a:tc>
                  <a:txBody>
                    <a:bodyPr/>
                    <a:lstStyle/>
                    <a:p>
                      <a:r>
                        <a:t>Company, đơn vị, đội, loại xe, tuyến, công việc</a:t>
                      </a:r>
                    </a:p>
                  </a:txBody>
                  <a:tcPr marL="91440" marR="91440" marT="45720" marB="45720"/>
                </a:tc>
                <a:tc>
                  <a:txBody>
                    <a:bodyPr/>
                    <a:lstStyle/>
                    <a:p>
                      <a:r>
                        <a:t>Chuẩn hóa mã và quan hệ cha–con</a:t>
                      </a:r>
                    </a:p>
                  </a:txBody>
                  <a:tcPr marL="91440" marR="91440" marT="45720" marB="45720"/>
                </a:tc>
              </a:tr>
              <a:tr h="666750">
                <a:tc>
                  <a:txBody>
                    <a:bodyPr/>
                    <a:lstStyle/>
                    <a:p>
                      <a:r>
                        <a:t>Đội xe / thiết bị</a:t>
                      </a:r>
                    </a:p>
                  </a:txBody>
                  <a:tcPr marL="91440" marR="91440" marT="45720" marB="45720"/>
                </a:tc>
                <a:tc>
                  <a:txBody>
                    <a:bodyPr/>
                    <a:lstStyle/>
                    <a:p>
                      <a:r>
                        <a:t>Vehicle, VehicleType, Implement, assignment</a:t>
                      </a:r>
                    </a:p>
                  </a:txBody>
                  <a:tcPr marL="91440" marR="91440" marT="45720" marB="45720"/>
                </a:tc>
                <a:tc>
                  <a:txBody>
                    <a:bodyPr/>
                    <a:lstStyle/>
                    <a:p>
                      <a:r>
                        <a:t>Mapping workbook MMTB và lịch sử phân công</a:t>
                      </a:r>
                    </a:p>
                  </a:txBody>
                  <a:tcPr marL="91440" marR="91440" marT="45720" marB="45720"/>
                </a:tc>
              </a:tr>
              <a:tr h="666750">
                <a:tc>
                  <a:txBody>
                    <a:bodyPr/>
                    <a:lstStyle/>
                    <a:p>
                      <a:r>
                        <a:t>Vận hành</a:t>
                      </a:r>
                    </a:p>
                  </a:txBody>
                  <a:tcPr marL="91440" marR="91440" marT="45720" marB="45720"/>
                </a:tc>
                <a:tc>
                  <a:txBody>
                    <a:bodyPr/>
                    <a:lstStyle/>
                    <a:p>
                      <a:r>
                        <a:t>Plan, DispatchOrder, OperationalWorkOrder, event</a:t>
                      </a:r>
                    </a:p>
                  </a:txBody>
                  <a:tcPr marL="91440" marR="91440" marT="45720" marB="45720"/>
                </a:tc>
                <a:tc>
                  <a:txBody>
                    <a:bodyPr/>
                    <a:lstStyle/>
                    <a:p>
                      <a:r>
                        <a:t>Đồng bộ nguồn lệnh và idempotency</a:t>
                      </a:r>
                    </a:p>
                  </a:txBody>
                  <a:tcPr marL="91440" marR="91440" marT="45720" marB="45720"/>
                </a:tc>
              </a:tr>
              <a:tr h="666750">
                <a:tc>
                  <a:txBody>
                    <a:bodyPr/>
                    <a:lstStyle/>
                    <a:p>
                      <a:r>
                        <a:t>Hỗ trợ</a:t>
                      </a:r>
                    </a:p>
                  </a:txBody>
                  <a:tcPr marL="91440" marR="91440" marT="45720" marB="45720"/>
                </a:tc>
                <a:tc>
                  <a:txBody>
                    <a:bodyPr/>
                    <a:lstStyle/>
                    <a:p>
                      <a:r>
                        <a:t>Fuel, maintenance, repair, alerts, KPI</a:t>
                      </a:r>
                    </a:p>
                  </a:txBody>
                  <a:tcPr marL="91440" marR="91440" marT="45720" marB="45720"/>
                </a:tc>
                <a:tc>
                  <a:txBody>
                    <a:bodyPr/>
                    <a:lstStyle/>
                    <a:p>
                      <a:r>
                        <a:t>Quy tắc còn thiếu xác nhận nghiệp vụ</a:t>
                      </a:r>
                    </a:p>
                  </a:txBody>
                  <a:tcPr marL="91440" marR="91440" marT="45720" marB="45720"/>
                </a:tc>
              </a:tr>
              <a:tr h="666750">
                <a:tc>
                  <a:txBody>
                    <a:bodyPr/>
                    <a:lstStyle/>
                    <a:p>
                      <a:r>
                        <a:t>Kênh sử dụng</a:t>
                      </a:r>
                    </a:p>
                  </a:txBody>
                  <a:tcPr marL="91440" marR="91440" marT="45720" marB="45720"/>
                </a:tc>
                <a:tc>
                  <a:txBody>
                    <a:bodyPr/>
                    <a:lstStyle/>
                    <a:p>
                      <a:r>
                        <a:t>Web, mobile, realtime, import/export Excel</a:t>
                      </a:r>
                    </a:p>
                  </a:txBody>
                  <a:tcPr marL="91440" marR="91440" marT="45720" marB="45720"/>
                </a:tc>
                <a:tc>
                  <a:txBody>
                    <a:bodyPr/>
                    <a:lstStyle/>
                    <a:p>
                      <a:r>
                        <a:t>Không để fallback che lỗi dữ liệu thật</a:t>
                      </a:r>
                    </a:p>
                  </a:txBody>
                  <a:tcPr marL="91440" marR="91440" marT="45720" marB="45720"/>
                </a:tc>
              </a:tr>
            </a:tbl>
          </a:graphicData>
        </a:graphic>
      </p:graphicFrame>
      <p:sp>
        <p:nvSpPr>
          <p:cNvPr id="3" name="">
            <a:extLst xmlns:a="http://schemas.openxmlformats.org/drawingml/2006/main">
              <a:ext uri="{FF2B5EF4-FFF2-40B4-BE49-F238E27FC236}">
                <a16:creationId xmlns:a16="http://schemas.microsoft.com/office/drawing/2014/main" id="{0574C50B-C6E2-490D-ACA1-2462EA220D30}"/>
              </a:ext>
            </a:extLst>
          </p:cNvPr>
          <p:cNvSpPr>
            <a:spLocks xmlns:a="http://schemas.openxmlformats.org/drawingml/2006/main" noGrp="1"/>
          </p:cNvSpPr>
          <p:nvPr/>
        </p:nvSpPr>
        <p:spPr>
          <a:xfrm xmlns:a="http://schemas.openxmlformats.org/drawingml/2006/main">
            <a:off x="571500" y="538162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8485"/>
          </a:bodyPr>
          <a:lstStyle xmlns:a="http://schemas.openxmlformats.org/drawingml/2006/main"/>
          <a:p xmlns:a="http://schemas.openxmlformats.org/drawingml/2006/main">
            <a:pPr algn="l">
              <a:lnSpc>
                <a:spcPct val="100000"/>
              </a:lnSpc>
              <a:buNone/>
              <a:defRPr sz="1650" b="1" i="0">
                <a:solidFill>
                  <a:srgbClr val="006B35"/>
                </a:solidFill>
                <a:latin typeface="Cambria"/>
                <a:ea typeface="Cambria"/>
                <a:cs typeface="Cambria"/>
              </a:defRPr>
            </a:pPr>
            <a:r>
              <a:rPr sz="1650" b="1" i="0">
                <a:solidFill>
                  <a:srgbClr val="006B35"/>
                </a:solidFill>
                <a:latin typeface="Cambria"/>
                <a:ea typeface="Cambria"/>
                <a:cs typeface="Cambria"/>
              </a:rPr>
              <a:t>Điểm tích cực</a:t>
            </a:r>
          </a:p>
        </p:txBody>
      </p:sp>
      <p:sp>
        <p:nvSpPr>
          <p:cNvPr id="4" name="">
            <a:extLst xmlns:a="http://schemas.openxmlformats.org/drawingml/2006/main">
              <a:ext uri="{FF2B5EF4-FFF2-40B4-BE49-F238E27FC236}">
                <a16:creationId xmlns:a16="http://schemas.microsoft.com/office/drawing/2014/main" id="{D01A81B7-6B60-4145-8A2C-3DC04C6D8483}"/>
              </a:ext>
            </a:extLst>
          </p:cNvPr>
          <p:cNvSpPr>
            <a:spLocks xmlns:a="http://schemas.openxmlformats.org/drawingml/2006/main" noGrp="1"/>
          </p:cNvSpPr>
          <p:nvPr/>
        </p:nvSpPr>
        <p:spPr>
          <a:xfrm xmlns:a="http://schemas.openxmlformats.org/drawingml/2006/main">
            <a:off x="2476500" y="5381625"/>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500" b="0" i="0">
                <a:solidFill>
                  <a:srgbClr val="17212B"/>
                </a:solidFill>
                <a:latin typeface="Cambria"/>
                <a:ea typeface="Cambria"/>
                <a:cs typeface="Cambria"/>
              </a:defRPr>
            </a:pPr>
            <a:r>
              <a:rPr sz="1500" b="0" i="0">
                <a:solidFill>
                  <a:srgbClr val="17212B"/>
                </a:solidFill>
                <a:latin typeface="Cambria"/>
                <a:ea typeface="Cambria"/>
                <a:cs typeface="Cambria"/>
              </a:rPr>
              <a:t>Schema đã mô hình hóa quan hệ vận hành và có migration/backfill gần đây.</a:t>
            </a:r>
          </a:p>
        </p:txBody>
      </p:sp>
      <p:sp>
        <p:nvSpPr>
          <p:cNvPr id="5" name="">
            <a:extLst xmlns:a="http://schemas.openxmlformats.org/drawingml/2006/main">
              <a:ext uri="{FF2B5EF4-FFF2-40B4-BE49-F238E27FC236}">
                <a16:creationId xmlns:a16="http://schemas.microsoft.com/office/drawing/2014/main" id="{9C298B72-897A-4B19-99A3-8B63328A13BC}"/>
              </a:ext>
            </a:extLst>
          </p:cNvPr>
          <p:cNvSpPr>
            <a:spLocks xmlns:a="http://schemas.openxmlformats.org/drawingml/2006/main" noGrp="1"/>
          </p:cNvSpPr>
          <p:nvPr/>
        </p:nvSpPr>
        <p:spPr>
          <a:xfrm xmlns:a="http://schemas.openxmlformats.org/drawingml/2006/main">
            <a:off x="571500" y="58102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8485"/>
          </a:bodyPr>
          <a:lstStyle xmlns:a="http://schemas.openxmlformats.org/drawingml/2006/main"/>
          <a:p xmlns:a="http://schemas.openxmlformats.org/drawingml/2006/main">
            <a:pPr algn="l">
              <a:lnSpc>
                <a:spcPct val="100000"/>
              </a:lnSpc>
              <a:buNone/>
              <a:defRPr sz="1650" b="1" i="0">
                <a:solidFill>
                  <a:srgbClr val="E00000"/>
                </a:solidFill>
                <a:latin typeface="Cambria"/>
                <a:ea typeface="Cambria"/>
                <a:cs typeface="Cambria"/>
              </a:defRPr>
            </a:pPr>
            <a:r>
              <a:rPr sz="1650" b="1" i="0">
                <a:solidFill>
                  <a:srgbClr val="E00000"/>
                </a:solidFill>
                <a:latin typeface="Cambria"/>
                <a:ea typeface="Cambria"/>
                <a:cs typeface="Cambria"/>
              </a:rPr>
              <a:t>Rủi ro</a:t>
            </a:r>
          </a:p>
        </p:txBody>
      </p:sp>
      <p:sp>
        <p:nvSpPr>
          <p:cNvPr id="6" name="">
            <a:extLst xmlns:a="http://schemas.openxmlformats.org/drawingml/2006/main">
              <a:ext uri="{FF2B5EF4-FFF2-40B4-BE49-F238E27FC236}">
                <a16:creationId xmlns:a16="http://schemas.microsoft.com/office/drawing/2014/main" id="{B0B8B91C-3C50-4781-B721-B12A7E23DC4A}"/>
              </a:ext>
            </a:extLst>
          </p:cNvPr>
          <p:cNvSpPr>
            <a:spLocks xmlns:a="http://schemas.openxmlformats.org/drawingml/2006/main" noGrp="1"/>
          </p:cNvSpPr>
          <p:nvPr/>
        </p:nvSpPr>
        <p:spPr>
          <a:xfrm xmlns:a="http://schemas.openxmlformats.org/drawingml/2006/main">
            <a:off x="2476500" y="581025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500" b="0" i="0">
                <a:solidFill>
                  <a:srgbClr val="17212B"/>
                </a:solidFill>
                <a:latin typeface="Cambria"/>
                <a:ea typeface="Cambria"/>
                <a:cs typeface="Cambria"/>
              </a:defRPr>
            </a:pPr>
            <a:r>
              <a:rPr sz="1500" b="0" i="0">
                <a:solidFill>
                  <a:srgbClr val="17212B"/>
                </a:solidFill>
                <a:latin typeface="Cambria"/>
                <a:ea typeface="Cambria"/>
                <a:cs typeface="Cambria"/>
              </a:rPr>
              <a:t>Mapping đầy đủ giữa workbook nhiều sheet và dữ liệu chuẩn vẫn chưa được xác nhận.</a:t>
            </a:r>
          </a:p>
        </p:txBody>
      </p:sp>
      <p:sp>
        <p:nvSpPr>
          <p:cNvPr id="7" name="">
            <a:extLst xmlns:a="http://schemas.openxmlformats.org/drawingml/2006/main">
              <a:ext uri="{FF2B5EF4-FFF2-40B4-BE49-F238E27FC236}">
                <a16:creationId xmlns:a16="http://schemas.microsoft.com/office/drawing/2014/main" id="{5DCACB41-1F14-49C5-A90C-72F1BE492622}"/>
              </a:ext>
            </a:extLst>
          </p:cNvPr>
          <p:cNvSpPr>
            <a:spLocks xmlns:a="http://schemas.openxmlformats.org/drawingml/2006/main" noGrp="1"/>
          </p:cNvSpPr>
          <p:nvPr/>
        </p:nvSpPr>
        <p:spPr>
          <a:xfrm xmlns:a="http://schemas.openxmlformats.org/drawingml/2006/main">
            <a:off x="266700" y="6534150"/>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Báo cáo hiện trạng phát triển | THACO AGRI Fleet | 21/09/2026</a:t>
            </a:r>
          </a:p>
        </p:txBody>
      </p:sp>
      <p:sp>
        <p:nvSpPr>
          <p:cNvPr id="8" name="">
            <a:extLst xmlns:a="http://schemas.openxmlformats.org/drawingml/2006/main">
              <a:ext uri="{FF2B5EF4-FFF2-40B4-BE49-F238E27FC236}">
                <a16:creationId xmlns:a16="http://schemas.microsoft.com/office/drawing/2014/main" id="{67EBB7A7-C214-4F72-AECE-72B617A6D2BF}"/>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8</a:t>
            </a:r>
          </a:p>
        </p:txBody>
      </p:sp>
    </p:spTree>
    <p:extLst>
      <p:ext uri="{BB962C8B-B14F-4D97-AF65-F5344CB8AC3E}">
        <p14:creationId xmlns:p14="http://schemas.microsoft.com/office/powerpoint/2010/main" val="212217796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AC720657-96F1-45BB-B88D-9794B6C6A4DB}"/>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HIỆN TRẠNG WEB FRONTEND</a:t>
            </a:r>
          </a:p>
        </p:txBody>
      </p:sp>
      <p:sp>
        <p:nvSpPr>
          <p:cNvPr id="2" name="">
            <a:extLst xmlns:a="http://schemas.openxmlformats.org/drawingml/2006/main">
              <a:ext uri="{FF2B5EF4-FFF2-40B4-BE49-F238E27FC236}">
                <a16:creationId xmlns:a16="http://schemas.microsoft.com/office/drawing/2014/main" id="{6894A25B-FA50-45B7-92C2-144A3A832987}"/>
              </a:ext>
            </a:extLst>
          </p:cNvPr>
          <p:cNvSpPr>
            <a:spLocks xmlns:a="http://schemas.openxmlformats.org/drawingml/2006/main" noGrp="1"/>
          </p:cNvSpPr>
          <p:nvPr/>
        </p:nvSpPr>
        <p:spPr>
          <a:xfrm xmlns:a="http://schemas.openxmlformats.org/drawingml/2006/main">
            <a:off x="704850" y="1257300"/>
            <a:ext cx="2000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4200" b="1" i="0">
                <a:solidFill>
                  <a:srgbClr val="006B35"/>
                </a:solidFill>
                <a:latin typeface="Cambria"/>
                <a:ea typeface="Cambria"/>
                <a:cs typeface="Cambria"/>
              </a:defRPr>
            </a:pPr>
            <a:r>
              <a:rPr sz="4200" b="1" i="0">
                <a:solidFill>
                  <a:srgbClr val="006B35"/>
                </a:solidFill>
                <a:latin typeface="Cambria"/>
                <a:ea typeface="Cambria"/>
                <a:cs typeface="Cambria"/>
              </a:rPr>
              <a:t>70</a:t>
            </a:r>
          </a:p>
        </p:txBody>
      </p:sp>
      <p:sp>
        <p:nvSpPr>
          <p:cNvPr id="3" name="">
            <a:extLst xmlns:a="http://schemas.openxmlformats.org/drawingml/2006/main">
              <a:ext uri="{FF2B5EF4-FFF2-40B4-BE49-F238E27FC236}">
                <a16:creationId xmlns:a16="http://schemas.microsoft.com/office/drawing/2014/main" id="{FBE9A39B-71EE-4009-86D0-0E942AA9909E}"/>
              </a:ext>
            </a:extLst>
          </p:cNvPr>
          <p:cNvSpPr>
            <a:spLocks xmlns:a="http://schemas.openxmlformats.org/drawingml/2006/main" noGrp="1"/>
          </p:cNvSpPr>
          <p:nvPr/>
        </p:nvSpPr>
        <p:spPr>
          <a:xfrm xmlns:a="http://schemas.openxmlformats.org/drawingml/2006/main">
            <a:off x="704850" y="1981200"/>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0000"/>
              </a:lnSpc>
              <a:buNone/>
              <a:defRPr sz="1500" b="1" i="0">
                <a:solidFill>
                  <a:srgbClr val="17212B"/>
                </a:solidFill>
                <a:latin typeface="Cambria"/>
                <a:ea typeface="Cambria"/>
                <a:cs typeface="Cambria"/>
              </a:defRPr>
            </a:pPr>
            <a:r>
              <a:rPr sz="1500" b="1" i="0">
                <a:solidFill>
                  <a:srgbClr val="17212B"/>
                </a:solidFill>
                <a:latin typeface="Cambria"/>
                <a:ea typeface="Cambria"/>
                <a:cs typeface="Cambria"/>
              </a:rPr>
              <a:t>page components</a:t>
            </a:r>
          </a:p>
        </p:txBody>
      </p:sp>
      <p:sp>
        <p:nvSpPr>
          <p:cNvPr id="4" name="">
            <a:extLst xmlns:a="http://schemas.openxmlformats.org/drawingml/2006/main">
              <a:ext uri="{FF2B5EF4-FFF2-40B4-BE49-F238E27FC236}">
                <a16:creationId xmlns:a16="http://schemas.microsoft.com/office/drawing/2014/main" id="{9A11E1FD-663A-4FB8-988D-1617C5A28227}"/>
              </a:ext>
            </a:extLst>
          </p:cNvPr>
          <p:cNvSpPr>
            <a:spLocks xmlns:a="http://schemas.openxmlformats.org/drawingml/2006/main" noGrp="1"/>
          </p:cNvSpPr>
          <p:nvPr/>
        </p:nvSpPr>
        <p:spPr>
          <a:xfrm xmlns:a="http://schemas.openxmlformats.org/drawingml/2006/main">
            <a:off x="3105150" y="1257300"/>
            <a:ext cx="2000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4200" b="1" i="0">
                <a:solidFill>
                  <a:srgbClr val="075AA7"/>
                </a:solidFill>
                <a:latin typeface="Cambria"/>
                <a:ea typeface="Cambria"/>
                <a:cs typeface="Cambria"/>
              </a:defRPr>
            </a:pPr>
            <a:r>
              <a:rPr sz="4200" b="1" i="0">
                <a:solidFill>
                  <a:srgbClr val="075AA7"/>
                </a:solidFill>
                <a:latin typeface="Cambria"/>
                <a:ea typeface="Cambria"/>
                <a:cs typeface="Cambria"/>
              </a:rPr>
              <a:t>104</a:t>
            </a:r>
          </a:p>
        </p:txBody>
      </p:sp>
      <p:sp>
        <p:nvSpPr>
          <p:cNvPr id="5" name="">
            <a:extLst xmlns:a="http://schemas.openxmlformats.org/drawingml/2006/main">
              <a:ext uri="{FF2B5EF4-FFF2-40B4-BE49-F238E27FC236}">
                <a16:creationId xmlns:a16="http://schemas.microsoft.com/office/drawing/2014/main" id="{B7B8B888-8B17-4689-9EF4-7DFC25F0453F}"/>
              </a:ext>
            </a:extLst>
          </p:cNvPr>
          <p:cNvSpPr>
            <a:spLocks xmlns:a="http://schemas.openxmlformats.org/drawingml/2006/main" noGrp="1"/>
          </p:cNvSpPr>
          <p:nvPr/>
        </p:nvSpPr>
        <p:spPr>
          <a:xfrm xmlns:a="http://schemas.openxmlformats.org/drawingml/2006/main">
            <a:off x="3105150" y="1981200"/>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0000"/>
              </a:lnSpc>
              <a:buNone/>
              <a:defRPr sz="1500" b="1" i="0">
                <a:solidFill>
                  <a:srgbClr val="17212B"/>
                </a:solidFill>
                <a:latin typeface="Cambria"/>
                <a:ea typeface="Cambria"/>
                <a:cs typeface="Cambria"/>
              </a:defRPr>
            </a:pPr>
            <a:r>
              <a:rPr sz="1500" b="1" i="0">
                <a:solidFill>
                  <a:srgbClr val="17212B"/>
                </a:solidFill>
                <a:latin typeface="Cambria"/>
                <a:ea typeface="Cambria"/>
                <a:cs typeface="Cambria"/>
              </a:rPr>
              <a:t>route elements</a:t>
            </a:r>
          </a:p>
        </p:txBody>
      </p:sp>
      <p:sp>
        <p:nvSpPr>
          <p:cNvPr id="6" name="">
            <a:extLst xmlns:a="http://schemas.openxmlformats.org/drawingml/2006/main">
              <a:ext uri="{FF2B5EF4-FFF2-40B4-BE49-F238E27FC236}">
                <a16:creationId xmlns:a16="http://schemas.microsoft.com/office/drawing/2014/main" id="{FDB00972-008B-43D9-A0BA-D4A00218F730}"/>
              </a:ext>
            </a:extLst>
          </p:cNvPr>
          <p:cNvSpPr>
            <a:spLocks xmlns:a="http://schemas.openxmlformats.org/drawingml/2006/main" noGrp="1"/>
          </p:cNvSpPr>
          <p:nvPr/>
        </p:nvSpPr>
        <p:spPr>
          <a:xfrm xmlns:a="http://schemas.openxmlformats.org/drawingml/2006/main">
            <a:off x="5505450" y="1257300"/>
            <a:ext cx="2000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4200" b="1" i="0">
                <a:solidFill>
                  <a:srgbClr val="E87518"/>
                </a:solidFill>
                <a:latin typeface="Cambria"/>
                <a:ea typeface="Cambria"/>
                <a:cs typeface="Cambria"/>
              </a:defRPr>
            </a:pPr>
            <a:r>
              <a:rPr sz="4200" b="1" i="0">
                <a:solidFill>
                  <a:srgbClr val="E87518"/>
                </a:solidFill>
                <a:latin typeface="Cambria"/>
                <a:ea typeface="Cambria"/>
                <a:cs typeface="Cambria"/>
              </a:rPr>
              <a:t>24</a:t>
            </a:r>
          </a:p>
        </p:txBody>
      </p:sp>
      <p:sp>
        <p:nvSpPr>
          <p:cNvPr id="7" name="">
            <a:extLst xmlns:a="http://schemas.openxmlformats.org/drawingml/2006/main">
              <a:ext uri="{FF2B5EF4-FFF2-40B4-BE49-F238E27FC236}">
                <a16:creationId xmlns:a16="http://schemas.microsoft.com/office/drawing/2014/main" id="{ED9ACF8B-1631-445E-B04F-68B3B689974F}"/>
              </a:ext>
            </a:extLst>
          </p:cNvPr>
          <p:cNvSpPr>
            <a:spLocks xmlns:a="http://schemas.openxmlformats.org/drawingml/2006/main" noGrp="1"/>
          </p:cNvSpPr>
          <p:nvPr/>
        </p:nvSpPr>
        <p:spPr>
          <a:xfrm xmlns:a="http://schemas.openxmlformats.org/drawingml/2006/main">
            <a:off x="5505450" y="1981200"/>
            <a:ext cx="200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0000"/>
              </a:lnSpc>
              <a:buNone/>
              <a:defRPr sz="1350" b="1" i="0">
                <a:solidFill>
                  <a:srgbClr val="17212B"/>
                </a:solidFill>
                <a:latin typeface="Cambria"/>
                <a:ea typeface="Cambria"/>
                <a:cs typeface="Cambria"/>
              </a:defRPr>
            </a:pPr>
            <a:r>
              <a:rPr sz="1350" b="1" i="0">
                <a:solidFill>
                  <a:srgbClr val="17212B"/>
                </a:solidFill>
                <a:latin typeface="Cambria"/>
                <a:ea typeface="Cambria"/>
                <a:cs typeface="Cambria"/>
              </a:rPr>
              <a:t>trang có cả dấu hiệu</a:t>
            </a:r>
          </a:p>
          <a:p xmlns:a="http://schemas.openxmlformats.org/drawingml/2006/main">
            <a:pPr algn="ctr">
              <a:lnSpc>
                <a:spcPct val="100000"/>
              </a:lnSpc>
              <a:buNone/>
              <a:defRPr sz="1350" b="1" i="0">
                <a:solidFill>
                  <a:srgbClr val="17212B"/>
                </a:solidFill>
                <a:latin typeface="Cambria"/>
                <a:ea typeface="Cambria"/>
                <a:cs typeface="Cambria"/>
              </a:defRPr>
            </a:pPr>
            <a:r>
              <a:rPr sz="1350" b="1" i="0">
                <a:solidFill>
                  <a:srgbClr val="17212B"/>
                </a:solidFill>
                <a:latin typeface="Cambria"/>
                <a:ea typeface="Cambria"/>
                <a:cs typeface="Cambria"/>
              </a:rPr>
              <a:t>API và fallback/mock*</a:t>
            </a:r>
          </a:p>
        </p:txBody>
      </p:sp>
      <p:sp>
        <p:nvSpPr>
          <p:cNvPr id="8" name="">
            <a:extLst xmlns:a="http://schemas.openxmlformats.org/drawingml/2006/main">
              <a:ext uri="{FF2B5EF4-FFF2-40B4-BE49-F238E27FC236}">
                <a16:creationId xmlns:a16="http://schemas.microsoft.com/office/drawing/2014/main" id="{2DE76ED7-6F9F-426F-86AA-E57DD8E589DC}"/>
              </a:ext>
            </a:extLst>
          </p:cNvPr>
          <p:cNvSpPr>
            <a:spLocks xmlns:a="http://schemas.openxmlformats.org/drawingml/2006/main" noGrp="1"/>
          </p:cNvSpPr>
          <p:nvPr/>
        </p:nvSpPr>
        <p:spPr>
          <a:xfrm xmlns:a="http://schemas.openxmlformats.org/drawingml/2006/main">
            <a:off x="7905750" y="1257300"/>
            <a:ext cx="2000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4200" b="1" i="0">
                <a:solidFill>
                  <a:srgbClr val="E00000"/>
                </a:solidFill>
                <a:latin typeface="Cambria"/>
                <a:ea typeface="Cambria"/>
                <a:cs typeface="Cambria"/>
              </a:defRPr>
            </a:pPr>
            <a:r>
              <a:rPr sz="4200" b="1" i="0">
                <a:solidFill>
                  <a:srgbClr val="E00000"/>
                </a:solidFill>
                <a:latin typeface="Cambria"/>
                <a:ea typeface="Cambria"/>
                <a:cs typeface="Cambria"/>
              </a:rPr>
              <a:t>6</a:t>
            </a:r>
          </a:p>
        </p:txBody>
      </p:sp>
      <p:sp>
        <p:nvSpPr>
          <p:cNvPr id="9" name="">
            <a:extLst xmlns:a="http://schemas.openxmlformats.org/drawingml/2006/main">
              <a:ext uri="{FF2B5EF4-FFF2-40B4-BE49-F238E27FC236}">
                <a16:creationId xmlns:a16="http://schemas.microsoft.com/office/drawing/2014/main" id="{C9ED5D47-82CA-44A9-B53B-F9B0C0E79919}"/>
              </a:ext>
            </a:extLst>
          </p:cNvPr>
          <p:cNvSpPr>
            <a:spLocks xmlns:a="http://schemas.openxmlformats.org/drawingml/2006/main" noGrp="1"/>
          </p:cNvSpPr>
          <p:nvPr/>
        </p:nvSpPr>
        <p:spPr>
          <a:xfrm xmlns:a="http://schemas.openxmlformats.org/drawingml/2006/main">
            <a:off x="7905750" y="1981200"/>
            <a:ext cx="200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0000"/>
              </a:lnSpc>
              <a:buNone/>
              <a:defRPr sz="1350" b="1" i="0">
                <a:solidFill>
                  <a:srgbClr val="17212B"/>
                </a:solidFill>
                <a:latin typeface="Cambria"/>
                <a:ea typeface="Cambria"/>
                <a:cs typeface="Cambria"/>
              </a:defRPr>
            </a:pPr>
            <a:r>
              <a:rPr sz="1350" b="1" i="0">
                <a:solidFill>
                  <a:srgbClr val="17212B"/>
                </a:solidFill>
                <a:latin typeface="Cambria"/>
                <a:ea typeface="Cambria"/>
                <a:cs typeface="Cambria"/>
              </a:rPr>
              <a:t>trang báo cáo</a:t>
            </a:r>
          </a:p>
          <a:p xmlns:a="http://schemas.openxmlformats.org/drawingml/2006/main">
            <a:pPr algn="ctr">
              <a:lnSpc>
                <a:spcPct val="100000"/>
              </a:lnSpc>
              <a:buNone/>
              <a:defRPr sz="1350" b="1" i="0">
                <a:solidFill>
                  <a:srgbClr val="17212B"/>
                </a:solidFill>
                <a:latin typeface="Cambria"/>
                <a:ea typeface="Cambria"/>
                <a:cs typeface="Cambria"/>
              </a:defRPr>
            </a:pPr>
            <a:r>
              <a:rPr sz="1350" b="1" i="0">
                <a:solidFill>
                  <a:srgbClr val="17212B"/>
                </a:solidFill>
                <a:latin typeface="Cambria"/>
                <a:ea typeface="Cambria"/>
                <a:cs typeface="Cambria"/>
              </a:rPr>
              <a:t>khởi tạo dữ liệu rỗng</a:t>
            </a:r>
          </a:p>
        </p:txBody>
      </p:sp>
      <p:sp>
        <p:nvSpPr>
          <p:cNvPr id="10" name="">
            <a:extLst xmlns:a="http://schemas.openxmlformats.org/drawingml/2006/main">
              <a:ext uri="{FF2B5EF4-FFF2-40B4-BE49-F238E27FC236}">
                <a16:creationId xmlns:a16="http://schemas.microsoft.com/office/drawing/2014/main" id="{F51E546E-F7E2-49D6-9597-4926BF8876CC}"/>
              </a:ext>
            </a:extLst>
          </p:cNvPr>
          <p:cNvSpPr>
            <a:spLocks xmlns:a="http://schemas.openxmlformats.org/drawingml/2006/main" noGrp="1"/>
          </p:cNvSpPr>
          <p:nvPr/>
        </p:nvSpPr>
        <p:spPr>
          <a:xfrm xmlns:a="http://schemas.openxmlformats.org/drawingml/2006/main">
            <a:off x="666750" y="30670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725" b="1" i="0">
                <a:solidFill>
                  <a:srgbClr val="006B35"/>
                </a:solidFill>
                <a:latin typeface="Cambria"/>
                <a:ea typeface="Cambria"/>
                <a:cs typeface="Cambria"/>
              </a:defRPr>
            </a:pPr>
            <a:r>
              <a:rPr sz="1725" b="1" i="0">
                <a:solidFill>
                  <a:srgbClr val="006B35"/>
                </a:solidFill>
                <a:latin typeface="Cambria"/>
                <a:ea typeface="Cambria"/>
                <a:cs typeface="Cambria"/>
              </a:rPr>
              <a:t>Đã làm tốt</a:t>
            </a:r>
          </a:p>
        </p:txBody>
      </p:sp>
      <p:sp>
        <p:nvSpPr>
          <p:cNvPr id="11" name="">
            <a:extLst xmlns:a="http://schemas.openxmlformats.org/drawingml/2006/main">
              <a:ext uri="{FF2B5EF4-FFF2-40B4-BE49-F238E27FC236}">
                <a16:creationId xmlns:a16="http://schemas.microsoft.com/office/drawing/2014/main" id="{4C8BB6C7-3769-46D4-8723-019B76F2812E}"/>
              </a:ext>
            </a:extLst>
          </p:cNvPr>
          <p:cNvSpPr>
            <a:spLocks xmlns:a="http://schemas.openxmlformats.org/drawingml/2006/main" noGrp="1"/>
          </p:cNvSpPr>
          <p:nvPr/>
        </p:nvSpPr>
        <p:spPr>
          <a:xfrm xmlns:a="http://schemas.openxmlformats.org/drawingml/2006/main">
            <a:off x="619125" y="3429000"/>
            <a:ext cx="50482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marL="241300" indent="-114300" algn="l">
              <a:lnSpc>
                <a:spcPct val="104000"/>
              </a:lnSpc>
              <a:spcAft>
                <a:spcPts val="7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Bao phủ route A–K và tái sử dụng component bảng, filter, modal</a:t>
            </a:r>
          </a:p>
          <a:p xmlns:a="http://schemas.openxmlformats.org/drawingml/2006/main">
            <a:pPr marL="241300" indent="-114300" algn="l">
              <a:lnSpc>
                <a:spcPct val="104000"/>
              </a:lnSpc>
              <a:spcAft>
                <a:spcPts val="7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Có API mapper, enum mapping, realtime connector và import/export Excel</a:t>
            </a:r>
          </a:p>
          <a:p xmlns:a="http://schemas.openxmlformats.org/drawingml/2006/main">
            <a:pPr marL="241300" indent="-114300" algn="l">
              <a:lnSpc>
                <a:spcPct val="104000"/>
              </a:lnSpc>
              <a:spcAft>
                <a:spcPts val="7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Build production thành công</a:t>
            </a:r>
          </a:p>
        </p:txBody>
      </p:sp>
      <p:sp>
        <p:nvSpPr>
          <p:cNvPr id="12" name="">
            <a:extLst xmlns:a="http://schemas.openxmlformats.org/drawingml/2006/main">
              <a:ext uri="{FF2B5EF4-FFF2-40B4-BE49-F238E27FC236}">
                <a16:creationId xmlns:a16="http://schemas.microsoft.com/office/drawing/2014/main" id="{293FABB8-86DD-456A-8007-83E81CC1E278}"/>
              </a:ext>
            </a:extLst>
          </p:cNvPr>
          <p:cNvSpPr>
            <a:spLocks xmlns:a="http://schemas.openxmlformats.org/drawingml/2006/main" noGrp="1"/>
          </p:cNvSpPr>
          <p:nvPr/>
        </p:nvSpPr>
        <p:spPr>
          <a:xfrm xmlns:a="http://schemas.openxmlformats.org/drawingml/2006/main">
            <a:off x="6381750" y="30670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725" b="1" i="0">
                <a:solidFill>
                  <a:srgbClr val="E00000"/>
                </a:solidFill>
                <a:latin typeface="Cambria"/>
                <a:ea typeface="Cambria"/>
                <a:cs typeface="Cambria"/>
              </a:defRPr>
            </a:pPr>
            <a:r>
              <a:rPr sz="1725" b="1" i="0">
                <a:solidFill>
                  <a:srgbClr val="E00000"/>
                </a:solidFill>
                <a:latin typeface="Cambria"/>
                <a:ea typeface="Cambria"/>
                <a:cs typeface="Cambria"/>
              </a:rPr>
              <a:t>Cần hoàn thiện</a:t>
            </a:r>
          </a:p>
        </p:txBody>
      </p:sp>
      <p:sp>
        <p:nvSpPr>
          <p:cNvPr id="13" name="">
            <a:extLst xmlns:a="http://schemas.openxmlformats.org/drawingml/2006/main">
              <a:ext uri="{FF2B5EF4-FFF2-40B4-BE49-F238E27FC236}">
                <a16:creationId xmlns:a16="http://schemas.microsoft.com/office/drawing/2014/main" id="{BD764B66-15EA-4584-8373-BAE9E504646C}"/>
              </a:ext>
            </a:extLst>
          </p:cNvPr>
          <p:cNvSpPr>
            <a:spLocks xmlns:a="http://schemas.openxmlformats.org/drawingml/2006/main" noGrp="1"/>
          </p:cNvSpPr>
          <p:nvPr/>
        </p:nvSpPr>
        <p:spPr>
          <a:xfrm xmlns:a="http://schemas.openxmlformats.org/drawingml/2006/main">
            <a:off x="6334125" y="3429000"/>
            <a:ext cx="50482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marL="241300" indent="-114300" algn="l">
              <a:lnSpc>
                <a:spcPct val="104000"/>
              </a:lnSpc>
              <a:spcAft>
                <a:spcPts val="7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Loại fallback khỏi luồng vận hành quan trọng</a:t>
            </a:r>
          </a:p>
          <a:p xmlns:a="http://schemas.openxmlformats.org/drawingml/2006/main">
            <a:pPr marL="241300" indent="-114300" algn="l">
              <a:lnSpc>
                <a:spcPct val="104000"/>
              </a:lnSpc>
              <a:spcAft>
                <a:spcPts val="7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Nối dữ liệu thật cho báo cáo và các trang cảnh báo/GPS còn tĩnh</a:t>
            </a:r>
          </a:p>
          <a:p xmlns:a="http://schemas.openxmlformats.org/drawingml/2006/main">
            <a:pPr marL="241300" indent="-114300" algn="l">
              <a:lnSpc>
                <a:spcPct val="104000"/>
              </a:lnSpc>
              <a:spcAft>
                <a:spcPts val="7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Tách bundle lớn và kiểm soát lỗi API rõ ràng hơn</a:t>
            </a:r>
          </a:p>
        </p:txBody>
      </p:sp>
      <p:sp>
        <p:nvSpPr>
          <p:cNvPr id="14" name="">
            <a:extLst xmlns:a="http://schemas.openxmlformats.org/drawingml/2006/main">
              <a:ext uri="{FF2B5EF4-FFF2-40B4-BE49-F238E27FC236}">
                <a16:creationId xmlns:a16="http://schemas.microsoft.com/office/drawing/2014/main" id="{745D35D2-3C1B-4346-A2EE-11C5EC2063EC}"/>
              </a:ext>
            </a:extLst>
          </p:cNvPr>
          <p:cNvSpPr>
            <a:spLocks xmlns:a="http://schemas.openxmlformats.org/drawingml/2006/main" noGrp="1"/>
          </p:cNvSpPr>
          <p:nvPr/>
        </p:nvSpPr>
        <p:spPr>
          <a:xfrm xmlns:a="http://schemas.openxmlformats.org/drawingml/2006/main">
            <a:off x="762000" y="58102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0000"/>
              </a:lnSpc>
              <a:buNone/>
              <a:defRPr sz="1275" b="0" i="1">
                <a:solidFill>
                  <a:srgbClr val="59636E"/>
                </a:solidFill>
                <a:latin typeface="Cambria"/>
                <a:ea typeface="Cambria"/>
                <a:cs typeface="Cambria"/>
              </a:defRPr>
            </a:pPr>
            <a:r>
              <a:rPr sz="1275" b="0" i="1">
                <a:solidFill>
                  <a:srgbClr val="59636E"/>
                </a:solidFill>
                <a:latin typeface="Cambria"/>
                <a:ea typeface="Cambria"/>
                <a:cs typeface="Cambria"/>
              </a:rPr>
              <a:t>* Chỉ báo từ quét source code; cần audit từng trang trước khi công bố tỷ lệ hoàn tất.</a:t>
            </a:r>
          </a:p>
        </p:txBody>
      </p:sp>
      <p:sp>
        <p:nvSpPr>
          <p:cNvPr id="15" name="">
            <a:extLst xmlns:a="http://schemas.openxmlformats.org/drawingml/2006/main">
              <a:ext uri="{FF2B5EF4-FFF2-40B4-BE49-F238E27FC236}">
                <a16:creationId xmlns:a16="http://schemas.microsoft.com/office/drawing/2014/main" id="{6BA2BA99-CA1E-4448-962D-8FBE70DFD65C}"/>
              </a:ext>
            </a:extLst>
          </p:cNvPr>
          <p:cNvSpPr>
            <a:spLocks xmlns:a="http://schemas.openxmlformats.org/drawingml/2006/main" noGrp="1"/>
          </p:cNvSpPr>
          <p:nvPr/>
        </p:nvSpPr>
        <p:spPr>
          <a:xfrm xmlns:a="http://schemas.openxmlformats.org/drawingml/2006/main">
            <a:off x="266700" y="6534150"/>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Báo cáo hiện trạng phát triển | THACO AGRI Fleet | 21/09/2026</a:t>
            </a:r>
          </a:p>
        </p:txBody>
      </p:sp>
      <p:sp>
        <p:nvSpPr>
          <p:cNvPr id="16" name="">
            <a:extLst xmlns:a="http://schemas.openxmlformats.org/drawingml/2006/main">
              <a:ext uri="{FF2B5EF4-FFF2-40B4-BE49-F238E27FC236}">
                <a16:creationId xmlns:a16="http://schemas.microsoft.com/office/drawing/2014/main" id="{88F5AB95-FC88-4B43-B781-D5AA648E3C76}"/>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9</a:t>
            </a:r>
          </a:p>
        </p:txBody>
      </p:sp>
    </p:spTree>
    <p:extLst>
      <p:ext uri="{BB962C8B-B14F-4D97-AF65-F5344CB8AC3E}">
        <p14:creationId xmlns:p14="http://schemas.microsoft.com/office/powerpoint/2010/main" val="394717159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35EFE2AD-01E4-4944-9AC5-2686F1A749B8}"/>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ỨNG DỤNG TÀI XẾ VÀ ĐỒNG BỘ MOBILE</a:t>
            </a:r>
          </a:p>
        </p:txBody>
      </p:sp>
      <p:sp>
        <p:nvSpPr>
          <p:cNvPr id="2" name="">
            <a:extLst xmlns:a="http://schemas.openxmlformats.org/drawingml/2006/main">
              <a:ext uri="{FF2B5EF4-FFF2-40B4-BE49-F238E27FC236}">
                <a16:creationId xmlns:a16="http://schemas.microsoft.com/office/drawing/2014/main" id="{B1B96275-0967-4B83-BA6D-14C09181A778}"/>
              </a:ext>
            </a:extLst>
          </p:cNvPr>
          <p:cNvSpPr>
            <a:spLocks xmlns:a="http://schemas.openxmlformats.org/drawingml/2006/main" noGrp="1"/>
          </p:cNvSpPr>
          <p:nvPr/>
        </p:nvSpPr>
        <p:spPr>
          <a:xfrm xmlns:a="http://schemas.openxmlformats.org/drawingml/2006/main">
            <a:off x="619125" y="11239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800" b="1" i="0">
                <a:solidFill>
                  <a:srgbClr val="006B35"/>
                </a:solidFill>
                <a:latin typeface="Cambria"/>
                <a:ea typeface="Cambria"/>
                <a:cs typeface="Cambria"/>
              </a:defRPr>
            </a:pPr>
            <a:r>
              <a:rPr sz="1800" b="1" i="0">
                <a:solidFill>
                  <a:srgbClr val="006B35"/>
                </a:solidFill>
                <a:latin typeface="Cambria"/>
                <a:ea typeface="Cambria"/>
                <a:cs typeface="Cambria"/>
              </a:rPr>
              <a:t>Năng lực đã có trong code</a:t>
            </a:r>
          </a:p>
        </p:txBody>
      </p:sp>
      <p:sp>
        <p:nvSpPr>
          <p:cNvPr id="3" name="">
            <a:extLst xmlns:a="http://schemas.openxmlformats.org/drawingml/2006/main">
              <a:ext uri="{FF2B5EF4-FFF2-40B4-BE49-F238E27FC236}">
                <a16:creationId xmlns:a16="http://schemas.microsoft.com/office/drawing/2014/main" id="{2362BB92-1B4B-4B99-A460-5F241C278BF2}"/>
              </a:ext>
            </a:extLst>
          </p:cNvPr>
          <p:cNvSpPr>
            <a:spLocks xmlns:a="http://schemas.openxmlformats.org/drawingml/2006/main" noGrp="1"/>
          </p:cNvSpPr>
          <p:nvPr/>
        </p:nvSpPr>
        <p:spPr>
          <a:xfrm xmlns:a="http://schemas.openxmlformats.org/drawingml/2006/main">
            <a:off x="571500" y="1571625"/>
            <a:ext cx="53340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Expo / React Native, đăng nhập và lưu token an toàn</a:t>
            </a:r>
          </a:p>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Danh sách nhiệm vụ, chi tiết chuyến, bắt đầu / hoàn tất</a:t>
            </a:r>
          </a:p>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SQLite và sync engine hỗ trợ offline</a:t>
            </a:r>
          </a:p>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GPS nền, ảnh minh chứng, cảnh báo và SOS</a:t>
            </a:r>
          </a:p>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Typecheck đạt; 4 test mobile đạt</a:t>
            </a:r>
          </a:p>
        </p:txBody>
      </p:sp>
      <p:sp>
        <p:nvSpPr>
          <p:cNvPr id="4" name="">
            <a:extLst xmlns:a="http://schemas.openxmlformats.org/drawingml/2006/main">
              <a:ext uri="{FF2B5EF4-FFF2-40B4-BE49-F238E27FC236}">
                <a16:creationId xmlns:a16="http://schemas.microsoft.com/office/drawing/2014/main" id="{39A1935F-6E71-4996-B821-6983CB2316BC}"/>
              </a:ext>
            </a:extLst>
          </p:cNvPr>
          <p:cNvSpPr>
            <a:spLocks xmlns:a="http://schemas.openxmlformats.org/drawingml/2006/main" noGrp="1"/>
          </p:cNvSpPr>
          <p:nvPr/>
        </p:nvSpPr>
        <p:spPr>
          <a:xfrm xmlns:a="http://schemas.openxmlformats.org/drawingml/2006/main">
            <a:off x="6477000" y="11239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800" b="1" i="0">
                <a:solidFill>
                  <a:srgbClr val="E00000"/>
                </a:solidFill>
                <a:latin typeface="Cambria"/>
                <a:ea typeface="Cambria"/>
                <a:cs typeface="Cambria"/>
              </a:defRPr>
            </a:pPr>
            <a:r>
              <a:rPr sz="1800" b="1" i="0">
                <a:solidFill>
                  <a:srgbClr val="E00000"/>
                </a:solidFill>
                <a:latin typeface="Cambria"/>
                <a:ea typeface="Cambria"/>
                <a:cs typeface="Cambria"/>
              </a:rPr>
              <a:t>Rủi ro kiến trúc</a:t>
            </a:r>
          </a:p>
        </p:txBody>
      </p:sp>
      <p:sp>
        <p:nvSpPr>
          <p:cNvPr id="5" name="">
            <a:extLst xmlns:a="http://schemas.openxmlformats.org/drawingml/2006/main">
              <a:ext uri="{FF2B5EF4-FFF2-40B4-BE49-F238E27FC236}">
                <a16:creationId xmlns:a16="http://schemas.microsoft.com/office/drawing/2014/main" id="{69871065-10E0-4284-B144-0B3825EF5EE1}"/>
              </a:ext>
            </a:extLst>
          </p:cNvPr>
          <p:cNvSpPr>
            <a:spLocks xmlns:a="http://schemas.openxmlformats.org/drawingml/2006/main" noGrp="1"/>
          </p:cNvSpPr>
          <p:nvPr/>
        </p:nvSpPr>
        <p:spPr>
          <a:xfrm xmlns:a="http://schemas.openxmlformats.org/drawingml/2006/main">
            <a:off x="6429375" y="1571625"/>
            <a:ext cx="5095875"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Main backend đã có mobile-driver, mobile-sync và work-orders</a:t>
            </a:r>
          </a:p>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Repository đồng thời có Backend_Driver độc lập</a:t>
            </a:r>
          </a:p>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Hai backend dùng phiên bản NestJS và Prisma khác nhau</a:t>
            </a:r>
          </a:p>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Cần chốt một nguồn API và một mô hình dữ liệu chủ đạo để tránh lệch nghiệp vụ</a:t>
            </a:r>
          </a:p>
        </p:txBody>
      </p:sp>
      <p:sp>
        <p:nvSpPr>
          <p:cNvPr id="6" name="">
            <a:extLst xmlns:a="http://schemas.openxmlformats.org/drawingml/2006/main">
              <a:ext uri="{FF2B5EF4-FFF2-40B4-BE49-F238E27FC236}">
                <a16:creationId xmlns:a16="http://schemas.microsoft.com/office/drawing/2014/main" id="{31CDA12A-1FCA-47A4-B052-9F9C66FA4BB6}"/>
              </a:ext>
            </a:extLst>
          </p:cNvPr>
          <p:cNvSpPr>
            <a:spLocks xmlns:a="http://schemas.openxmlformats.org/drawingml/2006/main" noGrp="1"/>
          </p:cNvSpPr>
          <p:nvPr/>
        </p:nvSpPr>
        <p:spPr>
          <a:xfrm xmlns:a="http://schemas.openxmlformats.org/drawingml/2006/main">
            <a:off x="619125" y="495300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725" b="1" i="0">
                <a:solidFill>
                  <a:srgbClr val="075AA7"/>
                </a:solidFill>
                <a:latin typeface="Cambria"/>
                <a:ea typeface="Cambria"/>
                <a:cs typeface="Cambria"/>
              </a:defRPr>
            </a:pPr>
            <a:r>
              <a:rPr sz="1725" b="1" i="0">
                <a:solidFill>
                  <a:srgbClr val="075AA7"/>
                </a:solidFill>
                <a:latin typeface="Cambria"/>
                <a:ea typeface="Cambria"/>
                <a:cs typeface="Cambria"/>
              </a:rPr>
              <a:t>Điểm cần kiểm chứng tại pilot</a:t>
            </a:r>
          </a:p>
        </p:txBody>
      </p:sp>
      <p:sp>
        <p:nvSpPr>
          <p:cNvPr id="7" name="">
            <a:extLst xmlns:a="http://schemas.openxmlformats.org/drawingml/2006/main">
              <a:ext uri="{FF2B5EF4-FFF2-40B4-BE49-F238E27FC236}">
                <a16:creationId xmlns:a16="http://schemas.microsoft.com/office/drawing/2014/main" id="{31CA71E3-FCFF-4CE3-B289-5E9CBAC1442B}"/>
              </a:ext>
            </a:extLst>
          </p:cNvPr>
          <p:cNvSpPr>
            <a:spLocks xmlns:a="http://schemas.openxmlformats.org/drawingml/2006/main" noGrp="1"/>
          </p:cNvSpPr>
          <p:nvPr/>
        </p:nvSpPr>
        <p:spPr>
          <a:xfrm xmlns:a="http://schemas.openxmlformats.org/drawingml/2006/main">
            <a:off x="619125" y="5353050"/>
            <a:ext cx="10858500" cy="628650"/>
          </a:xfrm>
          <a:prstGeom xmlns:a="http://schemas.openxmlformats.org/drawingml/2006/main" prst="roundRect">
            <a:avLst>
              <a:gd name="adj" fmla="val 10606"/>
            </a:avLst>
          </a:prstGeom>
          <a:solidFill xmlns:a="http://schemas.openxmlformats.org/drawingml/2006/main">
            <a:srgbClr val="FFF5CE"/>
          </a:solidFill>
          <a:ln xmlns:a="http://schemas.openxmlformats.org/drawingml/2006/main" w="9525">
            <a:solidFill>
              <a:srgbClr val="E4C45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575" b="0" i="0">
                <a:solidFill>
                  <a:srgbClr val="17212B"/>
                </a:solidFill>
                <a:latin typeface="Cambria"/>
                <a:ea typeface="Cambria"/>
                <a:cs typeface="Cambria"/>
              </a:defRPr>
            </a:pPr>
            <a:r>
              <a:rPr sz="1575" b="0" i="0">
                <a:solidFill>
                  <a:srgbClr val="17212B"/>
                </a:solidFill>
                <a:latin typeface="Cambria"/>
                <a:ea typeface="Cambria"/>
                <a:cs typeface="Cambria"/>
              </a:rPr>
              <a:t>Mất mạng kéo dài, xung đột đồng bộ, quyền theo đơn vị, độ chính xác GPS, kích thước ảnh và tính đầy đủ của audit trail.</a:t>
            </a:r>
          </a:p>
        </p:txBody>
      </p:sp>
      <p:sp>
        <p:nvSpPr>
          <p:cNvPr id="8" name="">
            <a:extLst xmlns:a="http://schemas.openxmlformats.org/drawingml/2006/main">
              <a:ext uri="{FF2B5EF4-FFF2-40B4-BE49-F238E27FC236}">
                <a16:creationId xmlns:a16="http://schemas.microsoft.com/office/drawing/2014/main" id="{58AFB2FB-98ED-4A0D-A9A9-8AE4F4A9F694}"/>
              </a:ext>
            </a:extLst>
          </p:cNvPr>
          <p:cNvSpPr>
            <a:spLocks xmlns:a="http://schemas.openxmlformats.org/drawingml/2006/main" noGrp="1"/>
          </p:cNvSpPr>
          <p:nvPr/>
        </p:nvSpPr>
        <p:spPr>
          <a:xfrm xmlns:a="http://schemas.openxmlformats.org/drawingml/2006/main">
            <a:off x="266700" y="6534150"/>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Báo cáo hiện trạng phát triển | THACO AGRI Fleet | 21/09/2026</a:t>
            </a:r>
          </a:p>
        </p:txBody>
      </p:sp>
      <p:sp>
        <p:nvSpPr>
          <p:cNvPr id="9" name="">
            <a:extLst xmlns:a="http://schemas.openxmlformats.org/drawingml/2006/main">
              <a:ext uri="{FF2B5EF4-FFF2-40B4-BE49-F238E27FC236}">
                <a16:creationId xmlns:a16="http://schemas.microsoft.com/office/drawing/2014/main" id="{D8990157-CF64-4DCD-B8E5-85EEB3AD712A}"/>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10</a:t>
            </a:r>
          </a:p>
        </p:txBody>
      </p:sp>
    </p:spTree>
    <p:extLst>
      <p:ext uri="{BB962C8B-B14F-4D97-AF65-F5344CB8AC3E}">
        <p14:creationId xmlns:p14="http://schemas.microsoft.com/office/powerpoint/2010/main" val="108360953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9261A6ED-4B3E-4808-B159-8D12CD56100C}"/>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KẾT QUẢ KIỂM THỬ VÀ BUILD</a:t>
            </a:r>
          </a:p>
        </p:txBody>
      </p:sp>
      <p:graphicFrame>
        <p:nvGraphicFramePr>
          <p:cNvPr id="7" name=""/>
          <p:cNvGraphicFramePr/>
          <p:nvPr/>
        </p:nvGraphicFramePr>
        <p:xfrm>
          <a:off xmlns:a="http://schemas.openxmlformats.org/drawingml/2006/main" x="552450" y="1000125"/>
          <a:ext xmlns:a="http://schemas.openxmlformats.org/drawingml/2006/main" cx="11087100" cy="4810125"/>
        </p:xfrm>
        <a:graphic xmlns:a="http://schemas.openxmlformats.org/drawingml/2006/main">
          <a:graphicData uri="http://schemas.openxmlformats.org/drawingml/2006/table">
            <a:tbl>
              <a:tblPr/>
              <a:tblGrid>
                <a:gridCol w="3238500"/>
                <a:gridCol w="2428875"/>
                <a:gridCol w="5419725"/>
              </a:tblGrid>
              <a:tr h="419100">
                <a:tc>
                  <a:txBody>
                    <a:bodyPr/>
                    <a:lstStyle/>
                    <a:p>
                      <a:r>
                        <a:t>HẠNG MỤC</a:t>
                      </a:r>
                    </a:p>
                  </a:txBody>
                  <a:tcPr marL="91440" marR="91440" marT="45720" marB="45720"/>
                </a:tc>
                <a:tc>
                  <a:txBody>
                    <a:bodyPr/>
                    <a:lstStyle/>
                    <a:p>
                      <a:r>
                        <a:t>KẾT QUẢ</a:t>
                      </a:r>
                    </a:p>
                  </a:txBody>
                  <a:tcPr marL="91440" marR="91440" marT="45720" marB="45720"/>
                </a:tc>
                <a:tc>
                  <a:txBody>
                    <a:bodyPr/>
                    <a:lstStyle/>
                    <a:p>
                      <a:r>
                        <a:t>GHI CHÚ</a:t>
                      </a:r>
                    </a:p>
                  </a:txBody>
                  <a:tcPr marL="91440" marR="91440" marT="45720" marB="45720"/>
                </a:tc>
              </a:tr>
              <a:tr h="485775">
                <a:tc>
                  <a:txBody>
                    <a:bodyPr/>
                    <a:lstStyle/>
                    <a:p>
                      <a:r>
                        <a:t>Backend Jest</a:t>
                      </a:r>
                    </a:p>
                  </a:txBody>
                  <a:tcPr marL="91440" marR="91440" marT="45720" marB="45720"/>
                </a:tc>
                <a:tc>
                  <a:txBody>
                    <a:bodyPr/>
                    <a:lstStyle/>
                    <a:p>
                      <a:pPr algn="ctr"/>
                      <a:r>
                        <a:rPr sz="1125" b="1">
                          <a:solidFill>
                            <a:srgbClr val="006B35"/>
                          </a:solidFill>
                          <a:latin typeface="Cambria"/>
                          <a:ea typeface="Cambria"/>
                          <a:cs typeface="Cambria"/>
                        </a:rPr>
                        <a:t>ĐẠT</a:t>
                      </a:r>
                    </a:p>
                  </a:txBody>
                  <a:tcPr marL="91440" marR="91440" marT="45720" marB="45720" anchor="ctr">
                    <a:solidFill>
                      <a:srgbClr val="E6F4E3"/>
                    </a:solidFill>
                  </a:tcPr>
                </a:tc>
                <a:tc>
                  <a:txBody>
                    <a:bodyPr/>
                    <a:lstStyle/>
                    <a:p>
                      <a:r>
                        <a:t>31 suites, 129 tests</a:t>
                      </a:r>
                    </a:p>
                  </a:txBody>
                  <a:tcPr marL="91440" marR="91440" marT="45720" marB="45720"/>
                </a:tc>
              </a:tr>
              <a:tr h="485775">
                <a:tc>
                  <a:txBody>
                    <a:bodyPr/>
                    <a:lstStyle/>
                    <a:p>
                      <a:r>
                        <a:t>Frontend Vitest</a:t>
                      </a:r>
                    </a:p>
                  </a:txBody>
                  <a:tcPr marL="91440" marR="91440" marT="45720" marB="45720"/>
                </a:tc>
                <a:tc>
                  <a:txBody>
                    <a:bodyPr/>
                    <a:lstStyle/>
                    <a:p>
                      <a:pPr algn="ctr"/>
                      <a:r>
                        <a:rPr sz="1125" b="1">
                          <a:solidFill>
                            <a:srgbClr val="006B35"/>
                          </a:solidFill>
                          <a:latin typeface="Cambria"/>
                          <a:ea typeface="Cambria"/>
                          <a:cs typeface="Cambria"/>
                        </a:rPr>
                        <a:t>ĐẠT</a:t>
                      </a:r>
                    </a:p>
                  </a:txBody>
                  <a:tcPr marL="91440" marR="91440" marT="45720" marB="45720" anchor="ctr">
                    <a:solidFill>
                      <a:srgbClr val="E6F4E3"/>
                    </a:solidFill>
                  </a:tcPr>
                </a:tc>
                <a:tc>
                  <a:txBody>
                    <a:bodyPr/>
                    <a:lstStyle/>
                    <a:p>
                      <a:r>
                        <a:t>13 files, 37 tests</a:t>
                      </a:r>
                    </a:p>
                  </a:txBody>
                  <a:tcPr marL="91440" marR="91440" marT="45720" marB="45720"/>
                </a:tc>
              </a:tr>
              <a:tr h="485775">
                <a:tc>
                  <a:txBody>
                    <a:bodyPr/>
                    <a:lstStyle/>
                    <a:p>
                      <a:r>
                        <a:t>Driver app Vitest</a:t>
                      </a:r>
                    </a:p>
                  </a:txBody>
                  <a:tcPr marL="91440" marR="91440" marT="45720" marB="45720"/>
                </a:tc>
                <a:tc>
                  <a:txBody>
                    <a:bodyPr/>
                    <a:lstStyle/>
                    <a:p>
                      <a:pPr algn="ctr"/>
                      <a:r>
                        <a:rPr sz="1125" b="1">
                          <a:solidFill>
                            <a:srgbClr val="006B35"/>
                          </a:solidFill>
                          <a:latin typeface="Cambria"/>
                          <a:ea typeface="Cambria"/>
                          <a:cs typeface="Cambria"/>
                        </a:rPr>
                        <a:t>ĐẠT</a:t>
                      </a:r>
                    </a:p>
                  </a:txBody>
                  <a:tcPr marL="91440" marR="91440" marT="45720" marB="45720" anchor="ctr">
                    <a:solidFill>
                      <a:srgbClr val="E6F4E3"/>
                    </a:solidFill>
                  </a:tcPr>
                </a:tc>
                <a:tc>
                  <a:txBody>
                    <a:bodyPr/>
                    <a:lstStyle/>
                    <a:p>
                      <a:r>
                        <a:t>1 file, 4 tests</a:t>
                      </a:r>
                    </a:p>
                  </a:txBody>
                  <a:tcPr marL="91440" marR="91440" marT="45720" marB="45720"/>
                </a:tc>
              </a:tr>
              <a:tr h="485775">
                <a:tc>
                  <a:txBody>
                    <a:bodyPr/>
                    <a:lstStyle/>
                    <a:p>
                      <a:r>
                        <a:t>Prisma validate</a:t>
                      </a:r>
                    </a:p>
                  </a:txBody>
                  <a:tcPr marL="91440" marR="91440" marT="45720" marB="45720"/>
                </a:tc>
                <a:tc>
                  <a:txBody>
                    <a:bodyPr/>
                    <a:lstStyle/>
                    <a:p>
                      <a:pPr algn="ctr"/>
                      <a:r>
                        <a:rPr sz="1125" b="1">
                          <a:solidFill>
                            <a:srgbClr val="006B35"/>
                          </a:solidFill>
                          <a:latin typeface="Cambria"/>
                          <a:ea typeface="Cambria"/>
                          <a:cs typeface="Cambria"/>
                        </a:rPr>
                        <a:t>ĐẠT</a:t>
                      </a:r>
                    </a:p>
                  </a:txBody>
                  <a:tcPr marL="91440" marR="91440" marT="45720" marB="45720" anchor="ctr">
                    <a:solidFill>
                      <a:srgbClr val="E6F4E3"/>
                    </a:solidFill>
                  </a:tcPr>
                </a:tc>
                <a:tc>
                  <a:txBody>
                    <a:bodyPr/>
                    <a:lstStyle/>
                    <a:p>
                      <a:r>
                        <a:t>Schema hợp lệ</a:t>
                      </a:r>
                    </a:p>
                  </a:txBody>
                  <a:tcPr marL="91440" marR="91440" marT="45720" marB="45720"/>
                </a:tc>
              </a:tr>
              <a:tr h="485775">
                <a:tc>
                  <a:txBody>
                    <a:bodyPr/>
                    <a:lstStyle/>
                    <a:p>
                      <a:r>
                        <a:t>Nest build chính</a:t>
                      </a:r>
                    </a:p>
                  </a:txBody>
                  <a:tcPr marL="91440" marR="91440" marT="45720" marB="45720"/>
                </a:tc>
                <a:tc>
                  <a:txBody>
                    <a:bodyPr/>
                    <a:lstStyle/>
                    <a:p>
                      <a:pPr algn="ctr"/>
                      <a:r>
                        <a:rPr sz="1125" b="1">
                          <a:solidFill>
                            <a:srgbClr val="006B35"/>
                          </a:solidFill>
                          <a:latin typeface="Cambria"/>
                          <a:ea typeface="Cambria"/>
                          <a:cs typeface="Cambria"/>
                        </a:rPr>
                        <a:t>ĐẠT</a:t>
                      </a:r>
                    </a:p>
                  </a:txBody>
                  <a:tcPr marL="91440" marR="91440" marT="45720" marB="45720" anchor="ctr">
                    <a:solidFill>
                      <a:srgbClr val="E6F4E3"/>
                    </a:solidFill>
                  </a:tcPr>
                </a:tc>
                <a:tc>
                  <a:txBody>
                    <a:bodyPr/>
                    <a:lstStyle/>
                    <a:p>
                      <a:r>
                        <a:t>Build trực tiếp thành công</a:t>
                      </a:r>
                    </a:p>
                  </a:txBody>
                  <a:tcPr marL="91440" marR="91440" marT="45720" marB="45720"/>
                </a:tc>
              </a:tr>
              <a:tr h="485775">
                <a:tc>
                  <a:txBody>
                    <a:bodyPr/>
                    <a:lstStyle/>
                    <a:p>
                      <a:r>
                        <a:t>Web production build</a:t>
                      </a:r>
                    </a:p>
                  </a:txBody>
                  <a:tcPr marL="91440" marR="91440" marT="45720" marB="45720"/>
                </a:tc>
                <a:tc>
                  <a:txBody>
                    <a:bodyPr/>
                    <a:lstStyle/>
                    <a:p>
                      <a:pPr algn="ctr"/>
                      <a:r>
                        <a:rPr sz="1125" b="1">
                          <a:solidFill>
                            <a:srgbClr val="A95400"/>
                          </a:solidFill>
                          <a:latin typeface="Cambria"/>
                          <a:ea typeface="Cambria"/>
                          <a:cs typeface="Cambria"/>
                        </a:rPr>
                        <a:t>ĐẠT CÓ CẢNH BÁO</a:t>
                      </a:r>
                    </a:p>
                  </a:txBody>
                  <a:tcPr marL="91440" marR="91440" marT="45720" marB="45720" anchor="ctr">
                    <a:solidFill>
                      <a:srgbClr val="FFF1D7"/>
                    </a:solidFill>
                  </a:tcPr>
                </a:tc>
                <a:tc>
                  <a:txBody>
                    <a:bodyPr/>
                    <a:lstStyle/>
                    <a:p>
                      <a:r>
                        <a:t>Main JS 3.39 MB; exceljs 0.94 MB</a:t>
                      </a:r>
                    </a:p>
                  </a:txBody>
                  <a:tcPr marL="91440" marR="91440" marT="45720" marB="45720"/>
                </a:tc>
              </a:tr>
              <a:tr h="485775">
                <a:tc>
                  <a:txBody>
                    <a:bodyPr/>
                    <a:lstStyle/>
                    <a:p>
                      <a:r>
                        <a:t>Driver app typecheck</a:t>
                      </a:r>
                    </a:p>
                  </a:txBody>
                  <a:tcPr marL="91440" marR="91440" marT="45720" marB="45720"/>
                </a:tc>
                <a:tc>
                  <a:txBody>
                    <a:bodyPr/>
                    <a:lstStyle/>
                    <a:p>
                      <a:pPr algn="ctr"/>
                      <a:r>
                        <a:rPr sz="1125" b="1">
                          <a:solidFill>
                            <a:srgbClr val="006B35"/>
                          </a:solidFill>
                          <a:latin typeface="Cambria"/>
                          <a:ea typeface="Cambria"/>
                          <a:cs typeface="Cambria"/>
                        </a:rPr>
                        <a:t>ĐẠT</a:t>
                      </a:r>
                    </a:p>
                  </a:txBody>
                  <a:tcPr marL="91440" marR="91440" marT="45720" marB="45720" anchor="ctr">
                    <a:solidFill>
                      <a:srgbClr val="E6F4E3"/>
                    </a:solidFill>
                  </a:tcPr>
                </a:tc>
                <a:tc>
                  <a:txBody>
                    <a:bodyPr/>
                    <a:lstStyle/>
                    <a:p>
                      <a:r>
                        <a:t>tsc --noEmit</a:t>
                      </a:r>
                    </a:p>
                  </a:txBody>
                  <a:tcPr marL="91440" marR="91440" marT="45720" marB="45720"/>
                </a:tc>
              </a:tr>
              <a:tr h="485775">
                <a:tc>
                  <a:txBody>
                    <a:bodyPr/>
                    <a:lstStyle/>
                    <a:p>
                      <a:r>
                        <a:t>Driver backend build</a:t>
                      </a:r>
                    </a:p>
                  </a:txBody>
                  <a:tcPr marL="91440" marR="91440" marT="45720" marB="45720"/>
                </a:tc>
                <a:tc>
                  <a:txBody>
                    <a:bodyPr/>
                    <a:lstStyle/>
                    <a:p>
                      <a:pPr algn="ctr"/>
                      <a:r>
                        <a:rPr sz="1125" b="1">
                          <a:solidFill>
                            <a:srgbClr val="006B35"/>
                          </a:solidFill>
                          <a:latin typeface="Cambria"/>
                          <a:ea typeface="Cambria"/>
                          <a:cs typeface="Cambria"/>
                        </a:rPr>
                        <a:t>ĐẠT</a:t>
                      </a:r>
                    </a:p>
                  </a:txBody>
                  <a:tcPr marL="91440" marR="91440" marT="45720" marB="45720" anchor="ctr">
                    <a:solidFill>
                      <a:srgbClr val="E6F4E3"/>
                    </a:solidFill>
                  </a:tcPr>
                </a:tc>
                <a:tc>
                  <a:txBody>
                    <a:bodyPr/>
                    <a:lstStyle/>
                    <a:p>
                      <a:r>
                        <a:t>Nest build thành công</a:t>
                      </a:r>
                    </a:p>
                  </a:txBody>
                  <a:tcPr marL="91440" marR="91440" marT="45720" marB="45720"/>
                </a:tc>
              </a:tr>
              <a:tr h="485775">
                <a:tc>
                  <a:txBody>
                    <a:bodyPr/>
                    <a:lstStyle/>
                    <a:p>
                      <a:r>
                        <a:t>Root npm run build</a:t>
                      </a:r>
                    </a:p>
                  </a:txBody>
                  <a:tcPr marL="91440" marR="91440" marT="45720" marB="45720"/>
                </a:tc>
                <a:tc>
                  <a:txBody>
                    <a:bodyPr/>
                    <a:lstStyle/>
                    <a:p>
                      <a:pPr algn="ctr"/>
                      <a:r>
                        <a:rPr sz="1125" b="1">
                          <a:solidFill>
                            <a:srgbClr val="E00000"/>
                          </a:solidFill>
                          <a:latin typeface="Cambria"/>
                          <a:ea typeface="Cambria"/>
                          <a:cs typeface="Cambria"/>
                        </a:rPr>
                        <a:t>CHƯA ĐẠT</a:t>
                      </a:r>
                    </a:p>
                  </a:txBody>
                  <a:tcPr marL="91440" marR="91440" marT="45720" marB="45720" anchor="ctr">
                    <a:solidFill>
                      <a:srgbClr val="FFE4E4"/>
                    </a:solidFill>
                  </a:tcPr>
                </a:tc>
                <a:tc>
                  <a:txBody>
                    <a:bodyPr/>
                    <a:lstStyle/>
                    <a:p>
                      <a:r>
                        <a:t>prisma generate bị khóa DLL trên Windows</a:t>
                      </a:r>
                    </a:p>
                  </a:txBody>
                  <a:tcPr marL="91440" marR="91440" marT="45720" marB="45720"/>
                </a:tc>
              </a:tr>
            </a:tbl>
          </a:graphicData>
        </a:graphic>
      </p:graphicFrame>
      <p:sp>
        <p:nvSpPr>
          <p:cNvPr id="3" name="">
            <a:extLst xmlns:a="http://schemas.openxmlformats.org/drawingml/2006/main">
              <a:ext uri="{FF2B5EF4-FFF2-40B4-BE49-F238E27FC236}">
                <a16:creationId xmlns:a16="http://schemas.microsoft.com/office/drawing/2014/main" id="{B5CD1411-67A4-4596-9841-B226D15AB5EC}"/>
              </a:ext>
            </a:extLst>
          </p:cNvPr>
          <p:cNvSpPr>
            <a:spLocks xmlns:a="http://schemas.openxmlformats.org/drawingml/2006/main" noGrp="1"/>
          </p:cNvSpPr>
          <p:nvPr/>
        </p:nvSpPr>
        <p:spPr>
          <a:xfrm xmlns:a="http://schemas.openxmlformats.org/drawingml/2006/main">
            <a:off x="666750" y="595312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350" b="0" i="1">
                <a:solidFill>
                  <a:srgbClr val="59636E"/>
                </a:solidFill>
                <a:latin typeface="Cambria"/>
                <a:ea typeface="Cambria"/>
                <a:cs typeface="Cambria"/>
              </a:defRPr>
            </a:pPr>
            <a:r>
              <a:rPr sz="1350" b="0" i="1">
                <a:solidFill>
                  <a:srgbClr val="59636E"/>
                </a:solidFill>
                <a:latin typeface="Cambria"/>
                <a:ea typeface="Cambria"/>
                <a:cs typeface="Cambria"/>
              </a:rPr>
              <a:t>Kết luận kỹ thuật: mã nguồn biên dịch được khi tách bước generate Prisma; quy trình build tổng cần xử lý khóa tiến trình và chuẩn hóa CI.</a:t>
            </a:r>
          </a:p>
        </p:txBody>
      </p:sp>
      <p:sp>
        <p:nvSpPr>
          <p:cNvPr id="4" name="">
            <a:extLst xmlns:a="http://schemas.openxmlformats.org/drawingml/2006/main">
              <a:ext uri="{FF2B5EF4-FFF2-40B4-BE49-F238E27FC236}">
                <a16:creationId xmlns:a16="http://schemas.microsoft.com/office/drawing/2014/main" id="{1239249E-E58C-4B6E-BE64-8CC026F59B1C}"/>
              </a:ext>
            </a:extLst>
          </p:cNvPr>
          <p:cNvSpPr>
            <a:spLocks xmlns:a="http://schemas.openxmlformats.org/drawingml/2006/main" noGrp="1"/>
          </p:cNvSpPr>
          <p:nvPr/>
        </p:nvSpPr>
        <p:spPr>
          <a:xfrm xmlns:a="http://schemas.openxmlformats.org/drawingml/2006/main">
            <a:off x="266700" y="6534150"/>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Báo cáo hiện trạng phát triển | THACO AGRI Fleet | 21/09/2026</a:t>
            </a:r>
          </a:p>
        </p:txBody>
      </p:sp>
      <p:sp>
        <p:nvSpPr>
          <p:cNvPr id="5" name="">
            <a:extLst xmlns:a="http://schemas.openxmlformats.org/drawingml/2006/main">
              <a:ext uri="{FF2B5EF4-FFF2-40B4-BE49-F238E27FC236}">
                <a16:creationId xmlns:a16="http://schemas.microsoft.com/office/drawing/2014/main" id="{20758F3B-18A9-47EC-8CEF-04EA70EB28E3}"/>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11</a:t>
            </a:r>
          </a:p>
        </p:txBody>
      </p:sp>
    </p:spTree>
    <p:extLst>
      <p:ext uri="{BB962C8B-B14F-4D97-AF65-F5344CB8AC3E}">
        <p14:creationId xmlns:p14="http://schemas.microsoft.com/office/powerpoint/2010/main" val="369431699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67" name="Image 0"/>
          <p:cNvPicPr>
            <a:picLocks xmlns:a="http://schemas.openxmlformats.org/drawingml/2006/main" noChangeAspect="1"/>
          </p:cNvPicPr>
          <p:nvPr/>
        </p:nvPicPr>
        <p:blipFill>
          <a:blip xmlns:r="http://schemas.openxmlformats.org/officeDocument/2006/relationships" xmlns:a="http://schemas.openxmlformats.org/drawingml/2006/main" r:embed="R80a2470793df448a"/>
          <a:stretch xmlns:a="http://schemas.openxmlformats.org/drawingml/2006/main">
            <a:fillRect l="0" t="0" r="0" b="0"/>
          </a:stretch>
        </p:blipFill>
        <p:spPr>
          <a:xfrm xmlns:a="http://schemas.openxmlformats.org/drawingml/2006/main">
            <a:off x="0" y="0"/>
            <a:ext cx="12191695" cy="6858000"/>
          </a:xfrm>
          <a:prstGeom xmlns:a="http://schemas.openxmlformats.org/drawingml/2006/main" prst="rect">
            <a:avLst/>
          </a:prstGeom>
        </p:spPr>
      </p:pic>
      <p:sp>
        <p:nvSpPr>
          <p:cNvPr id="49" name="slide-title">
            <a:extLst xmlns:a="http://schemas.openxmlformats.org/drawingml/2006/main">
              <a:ext uri="{FF2B5EF4-FFF2-40B4-BE49-F238E27FC236}">
                <a16:creationId xmlns:a16="http://schemas.microsoft.com/office/drawing/2014/main" id="{45A1DDF4-A02E-4B91-A291-4B9DB2A0EA81}"/>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NĂM BẤT CẬP ƯU TIÊN</a:t>
            </a:r>
          </a:p>
        </p:txBody>
      </p:sp>
      <p:sp>
        <p:nvSpPr>
          <p:cNvPr id="50" name="">
            <a:extLst xmlns:a="http://schemas.openxmlformats.org/drawingml/2006/main">
              <a:ext uri="{FF2B5EF4-FFF2-40B4-BE49-F238E27FC236}">
                <a16:creationId xmlns:a16="http://schemas.microsoft.com/office/drawing/2014/main" id="{47EE27D2-2BC9-476D-B5F7-117E87131810}"/>
              </a:ext>
            </a:extLst>
          </p:cNvPr>
          <p:cNvSpPr>
            <a:spLocks xmlns:a="http://schemas.openxmlformats.org/drawingml/2006/main" noGrp="1"/>
          </p:cNvSpPr>
          <p:nvPr/>
        </p:nvSpPr>
        <p:spPr>
          <a:xfrm xmlns:a="http://schemas.openxmlformats.org/drawingml/2006/main">
            <a:off x="742950" y="1152525"/>
            <a:ext cx="457200" cy="457200"/>
          </a:xfrm>
          <a:prstGeom xmlns:a="http://schemas.openxmlformats.org/drawingml/2006/main" prst="roundRect">
            <a:avLst>
              <a:gd name="adj" fmla="val 50000"/>
            </a:avLst>
          </a:prstGeom>
          <a:solidFill xmlns:a="http://schemas.openxmlformats.org/drawingml/2006/main">
            <a:srgbClr val="E00000"/>
          </a:solidFill>
          <a:ln xmlns:a="http://schemas.openxmlformats.org/drawingml/2006/main" w="0">
            <a:noFill/>
          </a:ln>
        </p:spPr>
        <p:txBody>
          <a:bodyPr xmlns:a="http://schemas.openxmlformats.org/drawingml/2006/main" wrap="square" lIns="38100" tIns="19050" rIns="38100" bIns="19050" anchor="ctr">
            <a:normAutofit fontScale="99804"/>
          </a:bodyPr>
          <a:lstStyle xmlns:a="http://schemas.openxmlformats.org/drawingml/2006/main"/>
          <a:p xmlns:a="http://schemas.openxmlformats.org/drawingml/2006/main">
            <a:pPr algn="ctr">
              <a:lnSpc>
                <a:spcPct val="100000"/>
              </a:lnSpc>
              <a:buNone/>
              <a:defRPr sz="1875" b="1" i="0">
                <a:solidFill>
                  <a:srgbClr val="FFFFFF"/>
                </a:solidFill>
                <a:latin typeface="Cambria"/>
                <a:ea typeface="Cambria"/>
                <a:cs typeface="Cambria"/>
              </a:defRPr>
            </a:pPr>
            <a:r>
              <a:rPr sz="1875" b="1" i="0">
                <a:solidFill>
                  <a:srgbClr val="FFFFFF"/>
                </a:solidFill>
                <a:latin typeface="Cambria"/>
                <a:ea typeface="Cambria"/>
                <a:cs typeface="Cambria"/>
              </a:rPr>
              <a:t>1</a:t>
            </a:r>
          </a:p>
        </p:txBody>
      </p:sp>
      <p:sp>
        <p:nvSpPr>
          <p:cNvPr id="51" name="">
            <a:extLst xmlns:a="http://schemas.openxmlformats.org/drawingml/2006/main">
              <a:ext uri="{FF2B5EF4-FFF2-40B4-BE49-F238E27FC236}">
                <a16:creationId xmlns:a16="http://schemas.microsoft.com/office/drawing/2014/main" id="{33BCDB82-CED4-41D6-AE9D-AA57D9F6EC8F}"/>
              </a:ext>
            </a:extLst>
          </p:cNvPr>
          <p:cNvSpPr>
            <a:spLocks xmlns:a="http://schemas.openxmlformats.org/drawingml/2006/main" noGrp="1"/>
          </p:cNvSpPr>
          <p:nvPr/>
        </p:nvSpPr>
        <p:spPr>
          <a:xfrm xmlns:a="http://schemas.openxmlformats.org/drawingml/2006/main">
            <a:off x="1428750" y="11239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650" b="1" i="0">
                <a:solidFill>
                  <a:srgbClr val="006B35"/>
                </a:solidFill>
                <a:latin typeface="Cambria"/>
                <a:ea typeface="Cambria"/>
                <a:cs typeface="Cambria"/>
              </a:defRPr>
            </a:pPr>
            <a:r>
              <a:rPr sz="1650" b="1" i="0">
                <a:solidFill>
                  <a:srgbClr val="006B35"/>
                </a:solidFill>
                <a:latin typeface="Cambria"/>
                <a:ea typeface="Cambria"/>
                <a:cs typeface="Cambria"/>
              </a:rPr>
              <a:t>Frontend lai mock/API</a:t>
            </a:r>
          </a:p>
        </p:txBody>
      </p:sp>
      <p:sp>
        <p:nvSpPr>
          <p:cNvPr id="52" name="">
            <a:extLst xmlns:a="http://schemas.openxmlformats.org/drawingml/2006/main">
              <a:ext uri="{FF2B5EF4-FFF2-40B4-BE49-F238E27FC236}">
                <a16:creationId xmlns:a16="http://schemas.microsoft.com/office/drawing/2014/main" id="{88DF70D6-33F3-4CB6-AABC-6496B76D69A7}"/>
              </a:ext>
            </a:extLst>
          </p:cNvPr>
          <p:cNvSpPr>
            <a:spLocks xmlns:a="http://schemas.openxmlformats.org/drawingml/2006/main" noGrp="1"/>
          </p:cNvSpPr>
          <p:nvPr/>
        </p:nvSpPr>
        <p:spPr>
          <a:xfrm xmlns:a="http://schemas.openxmlformats.org/drawingml/2006/main">
            <a:off x="4762500" y="1123950"/>
            <a:ext cx="6429375" cy="571500"/>
          </a:xfrm>
          <a:prstGeom xmlns:a="http://schemas.openxmlformats.org/drawingml/2006/main" prst="roundRect">
            <a:avLst>
              <a:gd name="adj" fmla="val 10000"/>
            </a:avLst>
          </a:prstGeom>
          <a:solidFill xmlns:a="http://schemas.openxmlformats.org/drawingml/2006/main">
            <a:srgbClr val="FCFCFC"/>
          </a:solidFill>
          <a:ln xmlns:a="http://schemas.openxmlformats.org/drawingml/2006/main" w="9525">
            <a:solidFill>
              <a:srgbClr val="B8C1C7"/>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425" b="0" i="0">
                <a:solidFill>
                  <a:srgbClr val="17212B"/>
                </a:solidFill>
                <a:latin typeface="Cambria"/>
                <a:ea typeface="Cambria"/>
                <a:cs typeface="Cambria"/>
              </a:defRPr>
            </a:pPr>
            <a:r>
              <a:rPr sz="1425" b="0" i="0">
                <a:solidFill>
                  <a:srgbClr val="17212B"/>
                </a:solidFill>
                <a:latin typeface="Cambria"/>
                <a:ea typeface="Cambria"/>
                <a:cs typeface="Cambria"/>
              </a:rPr>
              <a:t>Fallback có thể che lỗi tích hợp và tạo cảm giác dữ liệu đã sẵn sàng.</a:t>
            </a:r>
          </a:p>
        </p:txBody>
      </p:sp>
      <p:sp>
        <p:nvSpPr>
          <p:cNvPr id="53" name="">
            <a:extLst xmlns:a="http://schemas.openxmlformats.org/drawingml/2006/main">
              <a:ext uri="{FF2B5EF4-FFF2-40B4-BE49-F238E27FC236}">
                <a16:creationId xmlns:a16="http://schemas.microsoft.com/office/drawing/2014/main" id="{78C7AB69-46FC-426A-8FEF-E4307049B694}"/>
              </a:ext>
            </a:extLst>
          </p:cNvPr>
          <p:cNvSpPr>
            <a:spLocks xmlns:a="http://schemas.openxmlformats.org/drawingml/2006/main" noGrp="1"/>
          </p:cNvSpPr>
          <p:nvPr/>
        </p:nvSpPr>
        <p:spPr>
          <a:xfrm xmlns:a="http://schemas.openxmlformats.org/drawingml/2006/main">
            <a:off x="742950" y="2124075"/>
            <a:ext cx="457200" cy="457200"/>
          </a:xfrm>
          <a:prstGeom xmlns:a="http://schemas.openxmlformats.org/drawingml/2006/main" prst="roundRect">
            <a:avLst>
              <a:gd name="adj" fmla="val 50000"/>
            </a:avLst>
          </a:prstGeom>
          <a:solidFill xmlns:a="http://schemas.openxmlformats.org/drawingml/2006/main">
            <a:srgbClr val="E00000"/>
          </a:solidFill>
          <a:ln xmlns:a="http://schemas.openxmlformats.org/drawingml/2006/main" w="0">
            <a:noFill/>
          </a:ln>
        </p:spPr>
        <p:txBody>
          <a:bodyPr xmlns:a="http://schemas.openxmlformats.org/drawingml/2006/main" wrap="square" lIns="38100" tIns="19050" rIns="38100" bIns="19050" anchor="ctr">
            <a:normAutofit fontScale="99804"/>
          </a:bodyPr>
          <a:lstStyle xmlns:a="http://schemas.openxmlformats.org/drawingml/2006/main"/>
          <a:p xmlns:a="http://schemas.openxmlformats.org/drawingml/2006/main">
            <a:pPr algn="ctr">
              <a:lnSpc>
                <a:spcPct val="100000"/>
              </a:lnSpc>
              <a:buNone/>
              <a:defRPr sz="1875" b="1" i="0">
                <a:solidFill>
                  <a:srgbClr val="FFFFFF"/>
                </a:solidFill>
                <a:latin typeface="Cambria"/>
                <a:ea typeface="Cambria"/>
                <a:cs typeface="Cambria"/>
              </a:defRPr>
            </a:pPr>
            <a:r>
              <a:rPr sz="1875" b="1" i="0">
                <a:solidFill>
                  <a:srgbClr val="FFFFFF"/>
                </a:solidFill>
                <a:latin typeface="Cambria"/>
                <a:ea typeface="Cambria"/>
                <a:cs typeface="Cambria"/>
              </a:rPr>
              <a:t>2</a:t>
            </a:r>
          </a:p>
        </p:txBody>
      </p:sp>
      <p:sp>
        <p:nvSpPr>
          <p:cNvPr id="54" name="">
            <a:extLst xmlns:a="http://schemas.openxmlformats.org/drawingml/2006/main">
              <a:ext uri="{FF2B5EF4-FFF2-40B4-BE49-F238E27FC236}">
                <a16:creationId xmlns:a16="http://schemas.microsoft.com/office/drawing/2014/main" id="{CECB5246-147E-48A5-B2A3-3F204FEFF25B}"/>
              </a:ext>
            </a:extLst>
          </p:cNvPr>
          <p:cNvSpPr>
            <a:spLocks xmlns:a="http://schemas.openxmlformats.org/drawingml/2006/main" noGrp="1"/>
          </p:cNvSpPr>
          <p:nvPr/>
        </p:nvSpPr>
        <p:spPr>
          <a:xfrm xmlns:a="http://schemas.openxmlformats.org/drawingml/2006/main">
            <a:off x="1428750" y="20955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650" b="1" i="0">
                <a:solidFill>
                  <a:srgbClr val="006B35"/>
                </a:solidFill>
                <a:latin typeface="Cambria"/>
                <a:ea typeface="Cambria"/>
                <a:cs typeface="Cambria"/>
              </a:defRPr>
            </a:pPr>
            <a:r>
              <a:rPr sz="1650" b="1" i="0">
                <a:solidFill>
                  <a:srgbClr val="006B35"/>
                </a:solidFill>
                <a:latin typeface="Cambria"/>
                <a:ea typeface="Cambria"/>
                <a:cs typeface="Cambria"/>
              </a:rPr>
              <a:t>Báo cáo chưa có dữ liệu thật</a:t>
            </a:r>
          </a:p>
        </p:txBody>
      </p:sp>
      <p:sp>
        <p:nvSpPr>
          <p:cNvPr id="55" name="">
            <a:extLst xmlns:a="http://schemas.openxmlformats.org/drawingml/2006/main">
              <a:ext uri="{FF2B5EF4-FFF2-40B4-BE49-F238E27FC236}">
                <a16:creationId xmlns:a16="http://schemas.microsoft.com/office/drawing/2014/main" id="{E818096E-4A93-4255-87B3-E3FFE04DCE06}"/>
              </a:ext>
            </a:extLst>
          </p:cNvPr>
          <p:cNvSpPr>
            <a:spLocks xmlns:a="http://schemas.openxmlformats.org/drawingml/2006/main" noGrp="1"/>
          </p:cNvSpPr>
          <p:nvPr/>
        </p:nvSpPr>
        <p:spPr>
          <a:xfrm xmlns:a="http://schemas.openxmlformats.org/drawingml/2006/main">
            <a:off x="4762500" y="2095500"/>
            <a:ext cx="6429375" cy="571500"/>
          </a:xfrm>
          <a:prstGeom xmlns:a="http://schemas.openxmlformats.org/drawingml/2006/main" prst="roundRect">
            <a:avLst>
              <a:gd name="adj" fmla="val 10000"/>
            </a:avLst>
          </a:prstGeom>
          <a:solidFill xmlns:a="http://schemas.openxmlformats.org/drawingml/2006/main">
            <a:srgbClr val="FCFCFC"/>
          </a:solidFill>
          <a:ln xmlns:a="http://schemas.openxmlformats.org/drawingml/2006/main" w="9525">
            <a:solidFill>
              <a:srgbClr val="B8C1C7"/>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425" b="0" i="0">
                <a:solidFill>
                  <a:srgbClr val="17212B"/>
                </a:solidFill>
                <a:latin typeface="Cambria"/>
                <a:ea typeface="Cambria"/>
                <a:cs typeface="Cambria"/>
              </a:defRPr>
            </a:pPr>
            <a:r>
              <a:rPr sz="1425" b="0" i="0">
                <a:solidFill>
                  <a:srgbClr val="17212B"/>
                </a:solidFill>
                <a:latin typeface="Cambria"/>
                <a:ea typeface="Cambria"/>
                <a:cs typeface="Cambria"/>
              </a:rPr>
              <a:t>Sáu trang báo cáo chính đang khởi tạo danh sách rỗng.</a:t>
            </a:r>
          </a:p>
        </p:txBody>
      </p:sp>
      <p:sp>
        <p:nvSpPr>
          <p:cNvPr id="56" name="">
            <a:extLst xmlns:a="http://schemas.openxmlformats.org/drawingml/2006/main">
              <a:ext uri="{FF2B5EF4-FFF2-40B4-BE49-F238E27FC236}">
                <a16:creationId xmlns:a16="http://schemas.microsoft.com/office/drawing/2014/main" id="{947FA703-ADC9-4E97-9BB3-9269CD1E282E}"/>
              </a:ext>
            </a:extLst>
          </p:cNvPr>
          <p:cNvSpPr>
            <a:spLocks xmlns:a="http://schemas.openxmlformats.org/drawingml/2006/main" noGrp="1"/>
          </p:cNvSpPr>
          <p:nvPr/>
        </p:nvSpPr>
        <p:spPr>
          <a:xfrm xmlns:a="http://schemas.openxmlformats.org/drawingml/2006/main">
            <a:off x="742950" y="3095625"/>
            <a:ext cx="457200" cy="457200"/>
          </a:xfrm>
          <a:prstGeom xmlns:a="http://schemas.openxmlformats.org/drawingml/2006/main" prst="roundRect">
            <a:avLst>
              <a:gd name="adj" fmla="val 50000"/>
            </a:avLst>
          </a:prstGeom>
          <a:solidFill xmlns:a="http://schemas.openxmlformats.org/drawingml/2006/main">
            <a:srgbClr val="E00000"/>
          </a:solidFill>
          <a:ln xmlns:a="http://schemas.openxmlformats.org/drawingml/2006/main" w="0">
            <a:noFill/>
          </a:ln>
        </p:spPr>
        <p:txBody>
          <a:bodyPr xmlns:a="http://schemas.openxmlformats.org/drawingml/2006/main" wrap="square" lIns="38100" tIns="19050" rIns="38100" bIns="19050" anchor="ctr">
            <a:normAutofit fontScale="99804"/>
          </a:bodyPr>
          <a:lstStyle xmlns:a="http://schemas.openxmlformats.org/drawingml/2006/main"/>
          <a:p xmlns:a="http://schemas.openxmlformats.org/drawingml/2006/main">
            <a:pPr algn="ctr">
              <a:lnSpc>
                <a:spcPct val="100000"/>
              </a:lnSpc>
              <a:buNone/>
              <a:defRPr sz="1875" b="1" i="0">
                <a:solidFill>
                  <a:srgbClr val="FFFFFF"/>
                </a:solidFill>
                <a:latin typeface="Cambria"/>
                <a:ea typeface="Cambria"/>
                <a:cs typeface="Cambria"/>
              </a:defRPr>
            </a:pPr>
            <a:r>
              <a:rPr sz="1875" b="1" i="0">
                <a:solidFill>
                  <a:srgbClr val="FFFFFF"/>
                </a:solidFill>
                <a:latin typeface="Cambria"/>
                <a:ea typeface="Cambria"/>
                <a:cs typeface="Cambria"/>
              </a:rPr>
              <a:t>3</a:t>
            </a:r>
          </a:p>
        </p:txBody>
      </p:sp>
      <p:sp>
        <p:nvSpPr>
          <p:cNvPr id="57" name="">
            <a:extLst xmlns:a="http://schemas.openxmlformats.org/drawingml/2006/main">
              <a:ext uri="{FF2B5EF4-FFF2-40B4-BE49-F238E27FC236}">
                <a16:creationId xmlns:a16="http://schemas.microsoft.com/office/drawing/2014/main" id="{4ED72522-D327-458D-B603-18B90453BF18}"/>
              </a:ext>
            </a:extLst>
          </p:cNvPr>
          <p:cNvSpPr>
            <a:spLocks xmlns:a="http://schemas.openxmlformats.org/drawingml/2006/main" noGrp="1"/>
          </p:cNvSpPr>
          <p:nvPr/>
        </p:nvSpPr>
        <p:spPr>
          <a:xfrm xmlns:a="http://schemas.openxmlformats.org/drawingml/2006/main">
            <a:off x="1428750" y="30670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650" b="1" i="0">
                <a:solidFill>
                  <a:srgbClr val="006B35"/>
                </a:solidFill>
                <a:latin typeface="Cambria"/>
                <a:ea typeface="Cambria"/>
                <a:cs typeface="Cambria"/>
              </a:defRPr>
            </a:pPr>
            <a:r>
              <a:rPr sz="1650" b="1" i="0">
                <a:solidFill>
                  <a:srgbClr val="006B35"/>
                </a:solidFill>
                <a:latin typeface="Cambria"/>
                <a:ea typeface="Cambria"/>
                <a:cs typeface="Cambria"/>
              </a:rPr>
              <a:t>Scope theo đơn vị chưa đồng đều</a:t>
            </a:r>
          </a:p>
        </p:txBody>
      </p:sp>
      <p:sp>
        <p:nvSpPr>
          <p:cNvPr id="58" name="">
            <a:extLst xmlns:a="http://schemas.openxmlformats.org/drawingml/2006/main">
              <a:ext uri="{FF2B5EF4-FFF2-40B4-BE49-F238E27FC236}">
                <a16:creationId xmlns:a16="http://schemas.microsoft.com/office/drawing/2014/main" id="{B8C7D8E1-B055-44A9-B875-1DB94F96ECE2}"/>
              </a:ext>
            </a:extLst>
          </p:cNvPr>
          <p:cNvSpPr>
            <a:spLocks xmlns:a="http://schemas.openxmlformats.org/drawingml/2006/main" noGrp="1"/>
          </p:cNvSpPr>
          <p:nvPr/>
        </p:nvSpPr>
        <p:spPr>
          <a:xfrm xmlns:a="http://schemas.openxmlformats.org/drawingml/2006/main">
            <a:off x="4762500" y="3067050"/>
            <a:ext cx="6429375" cy="571500"/>
          </a:xfrm>
          <a:prstGeom xmlns:a="http://schemas.openxmlformats.org/drawingml/2006/main" prst="roundRect">
            <a:avLst>
              <a:gd name="adj" fmla="val 10000"/>
            </a:avLst>
          </a:prstGeom>
          <a:solidFill xmlns:a="http://schemas.openxmlformats.org/drawingml/2006/main">
            <a:srgbClr val="FCFCFC"/>
          </a:solidFill>
          <a:ln xmlns:a="http://schemas.openxmlformats.org/drawingml/2006/main" w="9525">
            <a:solidFill>
              <a:srgbClr val="B8C1C7"/>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425" b="0" i="0">
                <a:solidFill>
                  <a:srgbClr val="17212B"/>
                </a:solidFill>
                <a:latin typeface="Cambria"/>
                <a:ea typeface="Cambria"/>
                <a:cs typeface="Cambria"/>
              </a:defRPr>
            </a:pPr>
            <a:r>
              <a:rPr sz="1425" b="0" i="0">
                <a:solidFill>
                  <a:srgbClr val="17212B"/>
                </a:solidFill>
                <a:latin typeface="Cambria"/>
                <a:ea typeface="Cambria"/>
                <a:cs typeface="Cambria"/>
              </a:rPr>
              <a:t>Role guard không thay thế kiểm soát dòng dữ liệu theo đơn vị quản lý.</a:t>
            </a:r>
          </a:p>
        </p:txBody>
      </p:sp>
      <p:sp>
        <p:nvSpPr>
          <p:cNvPr id="59" name="">
            <a:extLst xmlns:a="http://schemas.openxmlformats.org/drawingml/2006/main">
              <a:ext uri="{FF2B5EF4-FFF2-40B4-BE49-F238E27FC236}">
                <a16:creationId xmlns:a16="http://schemas.microsoft.com/office/drawing/2014/main" id="{866F46BA-C10D-4950-95F1-D66A0607B07A}"/>
              </a:ext>
            </a:extLst>
          </p:cNvPr>
          <p:cNvSpPr>
            <a:spLocks xmlns:a="http://schemas.openxmlformats.org/drawingml/2006/main" noGrp="1"/>
          </p:cNvSpPr>
          <p:nvPr/>
        </p:nvSpPr>
        <p:spPr>
          <a:xfrm xmlns:a="http://schemas.openxmlformats.org/drawingml/2006/main">
            <a:off x="742950" y="4067175"/>
            <a:ext cx="457200" cy="457200"/>
          </a:xfrm>
          <a:prstGeom xmlns:a="http://schemas.openxmlformats.org/drawingml/2006/main" prst="roundRect">
            <a:avLst>
              <a:gd name="adj" fmla="val 50000"/>
            </a:avLst>
          </a:prstGeom>
          <a:solidFill xmlns:a="http://schemas.openxmlformats.org/drawingml/2006/main">
            <a:srgbClr val="E00000"/>
          </a:solidFill>
          <a:ln xmlns:a="http://schemas.openxmlformats.org/drawingml/2006/main" w="0">
            <a:noFill/>
          </a:ln>
        </p:spPr>
        <p:txBody>
          <a:bodyPr xmlns:a="http://schemas.openxmlformats.org/drawingml/2006/main" wrap="square" lIns="38100" tIns="19050" rIns="38100" bIns="19050" anchor="ctr">
            <a:normAutofit fontScale="99804"/>
          </a:bodyPr>
          <a:lstStyle xmlns:a="http://schemas.openxmlformats.org/drawingml/2006/main"/>
          <a:p xmlns:a="http://schemas.openxmlformats.org/drawingml/2006/main">
            <a:pPr algn="ctr">
              <a:lnSpc>
                <a:spcPct val="100000"/>
              </a:lnSpc>
              <a:buNone/>
              <a:defRPr sz="1875" b="1" i="0">
                <a:solidFill>
                  <a:srgbClr val="FFFFFF"/>
                </a:solidFill>
                <a:latin typeface="Cambria"/>
                <a:ea typeface="Cambria"/>
                <a:cs typeface="Cambria"/>
              </a:defRPr>
            </a:pPr>
            <a:r>
              <a:rPr sz="1875" b="1" i="0">
                <a:solidFill>
                  <a:srgbClr val="FFFFFF"/>
                </a:solidFill>
                <a:latin typeface="Cambria"/>
                <a:ea typeface="Cambria"/>
                <a:cs typeface="Cambria"/>
              </a:rPr>
              <a:t>4</a:t>
            </a:r>
          </a:p>
        </p:txBody>
      </p:sp>
      <p:sp>
        <p:nvSpPr>
          <p:cNvPr id="60" name="">
            <a:extLst xmlns:a="http://schemas.openxmlformats.org/drawingml/2006/main">
              <a:ext uri="{FF2B5EF4-FFF2-40B4-BE49-F238E27FC236}">
                <a16:creationId xmlns:a16="http://schemas.microsoft.com/office/drawing/2014/main" id="{2E8CBFA3-30D8-41CE-9A08-E0D984CBDC92}"/>
              </a:ext>
            </a:extLst>
          </p:cNvPr>
          <p:cNvSpPr>
            <a:spLocks xmlns:a="http://schemas.openxmlformats.org/drawingml/2006/main" noGrp="1"/>
          </p:cNvSpPr>
          <p:nvPr/>
        </p:nvSpPr>
        <p:spPr>
          <a:xfrm xmlns:a="http://schemas.openxmlformats.org/drawingml/2006/main">
            <a:off x="1428750" y="40386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91280"/>
          </a:bodyPr>
          <a:lstStyle xmlns:a="http://schemas.openxmlformats.org/drawingml/2006/main"/>
          <a:p xmlns:a="http://schemas.openxmlformats.org/drawingml/2006/main">
            <a:pPr algn="l">
              <a:lnSpc>
                <a:spcPct val="100000"/>
              </a:lnSpc>
              <a:buNone/>
              <a:defRPr sz="1650" b="1" i="0">
                <a:solidFill>
                  <a:srgbClr val="006B35"/>
                </a:solidFill>
                <a:latin typeface="Cambria"/>
                <a:ea typeface="Cambria"/>
                <a:cs typeface="Cambria"/>
              </a:defRPr>
            </a:pPr>
            <a:r>
              <a:rPr sz="1650" b="1" i="0">
                <a:solidFill>
                  <a:srgbClr val="006B35"/>
                </a:solidFill>
                <a:latin typeface="Cambria"/>
                <a:ea typeface="Cambria"/>
                <a:cs typeface="Cambria"/>
              </a:rPr>
              <a:t>Hard delete và audit chưa thống nhất</a:t>
            </a:r>
          </a:p>
        </p:txBody>
      </p:sp>
      <p:sp>
        <p:nvSpPr>
          <p:cNvPr id="61" name="">
            <a:extLst xmlns:a="http://schemas.openxmlformats.org/drawingml/2006/main">
              <a:ext uri="{FF2B5EF4-FFF2-40B4-BE49-F238E27FC236}">
                <a16:creationId xmlns:a16="http://schemas.microsoft.com/office/drawing/2014/main" id="{94FB349C-F97E-46B3-8FCC-F02D7A48C4C9}"/>
              </a:ext>
            </a:extLst>
          </p:cNvPr>
          <p:cNvSpPr>
            <a:spLocks xmlns:a="http://schemas.openxmlformats.org/drawingml/2006/main" noGrp="1"/>
          </p:cNvSpPr>
          <p:nvPr/>
        </p:nvSpPr>
        <p:spPr>
          <a:xfrm xmlns:a="http://schemas.openxmlformats.org/drawingml/2006/main">
            <a:off x="4762500" y="4038600"/>
            <a:ext cx="6429375" cy="571500"/>
          </a:xfrm>
          <a:prstGeom xmlns:a="http://schemas.openxmlformats.org/drawingml/2006/main" prst="roundRect">
            <a:avLst>
              <a:gd name="adj" fmla="val 10000"/>
            </a:avLst>
          </a:prstGeom>
          <a:solidFill xmlns:a="http://schemas.openxmlformats.org/drawingml/2006/main">
            <a:srgbClr val="FCFCFC"/>
          </a:solidFill>
          <a:ln xmlns:a="http://schemas.openxmlformats.org/drawingml/2006/main" w="9525">
            <a:solidFill>
              <a:srgbClr val="B8C1C7"/>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425" b="0" i="0">
                <a:solidFill>
                  <a:srgbClr val="17212B"/>
                </a:solidFill>
                <a:latin typeface="Cambria"/>
                <a:ea typeface="Cambria"/>
                <a:cs typeface="Cambria"/>
              </a:defRPr>
            </a:pPr>
            <a:r>
              <a:rPr sz="1425" b="0" i="0">
                <a:solidFill>
                  <a:srgbClr val="17212B"/>
                </a:solidFill>
                <a:latin typeface="Cambria"/>
                <a:ea typeface="Cambria"/>
                <a:cs typeface="Cambria"/>
              </a:rPr>
              <a:t>Nhiều service vẫn xóa vật lý dù tài liệu yêu cầu khả năng truy vết.</a:t>
            </a:r>
          </a:p>
        </p:txBody>
      </p:sp>
      <p:sp>
        <p:nvSpPr>
          <p:cNvPr id="62" name="">
            <a:extLst xmlns:a="http://schemas.openxmlformats.org/drawingml/2006/main">
              <a:ext uri="{FF2B5EF4-FFF2-40B4-BE49-F238E27FC236}">
                <a16:creationId xmlns:a16="http://schemas.microsoft.com/office/drawing/2014/main" id="{5EC0F385-AA57-4731-8493-125DB7243A64}"/>
              </a:ext>
            </a:extLst>
          </p:cNvPr>
          <p:cNvSpPr>
            <a:spLocks xmlns:a="http://schemas.openxmlformats.org/drawingml/2006/main" noGrp="1"/>
          </p:cNvSpPr>
          <p:nvPr/>
        </p:nvSpPr>
        <p:spPr>
          <a:xfrm xmlns:a="http://schemas.openxmlformats.org/drawingml/2006/main">
            <a:off x="742950" y="5038725"/>
            <a:ext cx="457200" cy="457200"/>
          </a:xfrm>
          <a:prstGeom xmlns:a="http://schemas.openxmlformats.org/drawingml/2006/main" prst="roundRect">
            <a:avLst>
              <a:gd name="adj" fmla="val 50000"/>
            </a:avLst>
          </a:prstGeom>
          <a:solidFill xmlns:a="http://schemas.openxmlformats.org/drawingml/2006/main">
            <a:srgbClr val="E00000"/>
          </a:solidFill>
          <a:ln xmlns:a="http://schemas.openxmlformats.org/drawingml/2006/main" w="0">
            <a:noFill/>
          </a:ln>
        </p:spPr>
        <p:txBody>
          <a:bodyPr xmlns:a="http://schemas.openxmlformats.org/drawingml/2006/main" wrap="square" lIns="38100" tIns="19050" rIns="38100" bIns="19050" anchor="ctr">
            <a:normAutofit fontScale="99804"/>
          </a:bodyPr>
          <a:lstStyle xmlns:a="http://schemas.openxmlformats.org/drawingml/2006/main"/>
          <a:p xmlns:a="http://schemas.openxmlformats.org/drawingml/2006/main">
            <a:pPr algn="ctr">
              <a:lnSpc>
                <a:spcPct val="100000"/>
              </a:lnSpc>
              <a:buNone/>
              <a:defRPr sz="1875" b="1" i="0">
                <a:solidFill>
                  <a:srgbClr val="FFFFFF"/>
                </a:solidFill>
                <a:latin typeface="Cambria"/>
                <a:ea typeface="Cambria"/>
                <a:cs typeface="Cambria"/>
              </a:defRPr>
            </a:pPr>
            <a:r>
              <a:rPr sz="1875" b="1" i="0">
                <a:solidFill>
                  <a:srgbClr val="FFFFFF"/>
                </a:solidFill>
                <a:latin typeface="Cambria"/>
                <a:ea typeface="Cambria"/>
                <a:cs typeface="Cambria"/>
              </a:rPr>
              <a:t>5</a:t>
            </a:r>
          </a:p>
        </p:txBody>
      </p:sp>
      <p:sp>
        <p:nvSpPr>
          <p:cNvPr id="63" name="">
            <a:extLst xmlns:a="http://schemas.openxmlformats.org/drawingml/2006/main">
              <a:ext uri="{FF2B5EF4-FFF2-40B4-BE49-F238E27FC236}">
                <a16:creationId xmlns:a16="http://schemas.microsoft.com/office/drawing/2014/main" id="{199AAAB1-2DDA-4955-9D75-DDAA77A54D52}"/>
              </a:ext>
            </a:extLst>
          </p:cNvPr>
          <p:cNvSpPr>
            <a:spLocks xmlns:a="http://schemas.openxmlformats.org/drawingml/2006/main" noGrp="1"/>
          </p:cNvSpPr>
          <p:nvPr/>
        </p:nvSpPr>
        <p:spPr>
          <a:xfrm xmlns:a="http://schemas.openxmlformats.org/drawingml/2006/main">
            <a:off x="1428750" y="50101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650" b="1" i="0">
                <a:solidFill>
                  <a:srgbClr val="006B35"/>
                </a:solidFill>
                <a:latin typeface="Cambria"/>
                <a:ea typeface="Cambria"/>
                <a:cs typeface="Cambria"/>
              </a:defRPr>
            </a:pPr>
            <a:r>
              <a:rPr sz="1650" b="1" i="0">
                <a:solidFill>
                  <a:srgbClr val="006B35"/>
                </a:solidFill>
                <a:latin typeface="Cambria"/>
                <a:ea typeface="Cambria"/>
                <a:cs typeface="Cambria"/>
              </a:rPr>
              <a:t>Baseline phát hành chưa ổn định</a:t>
            </a:r>
          </a:p>
        </p:txBody>
      </p:sp>
      <p:sp>
        <p:nvSpPr>
          <p:cNvPr id="64" name="">
            <a:extLst xmlns:a="http://schemas.openxmlformats.org/drawingml/2006/main">
              <a:ext uri="{FF2B5EF4-FFF2-40B4-BE49-F238E27FC236}">
                <a16:creationId xmlns:a16="http://schemas.microsoft.com/office/drawing/2014/main" id="{6C7BCEC3-FD16-4D12-A02B-8E33397E04E1}"/>
              </a:ext>
            </a:extLst>
          </p:cNvPr>
          <p:cNvSpPr>
            <a:spLocks xmlns:a="http://schemas.openxmlformats.org/drawingml/2006/main" noGrp="1"/>
          </p:cNvSpPr>
          <p:nvPr/>
        </p:nvSpPr>
        <p:spPr>
          <a:xfrm xmlns:a="http://schemas.openxmlformats.org/drawingml/2006/main">
            <a:off x="4762500" y="5010150"/>
            <a:ext cx="6429375" cy="571500"/>
          </a:xfrm>
          <a:prstGeom xmlns:a="http://schemas.openxmlformats.org/drawingml/2006/main" prst="roundRect">
            <a:avLst>
              <a:gd name="adj" fmla="val 10000"/>
            </a:avLst>
          </a:prstGeom>
          <a:solidFill xmlns:a="http://schemas.openxmlformats.org/drawingml/2006/main">
            <a:srgbClr val="FCFCFC"/>
          </a:solidFill>
          <a:ln xmlns:a="http://schemas.openxmlformats.org/drawingml/2006/main" w="9525">
            <a:solidFill>
              <a:srgbClr val="B8C1C7"/>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425" b="0" i="0">
                <a:solidFill>
                  <a:srgbClr val="17212B"/>
                </a:solidFill>
                <a:latin typeface="Cambria"/>
                <a:ea typeface="Cambria"/>
                <a:cs typeface="Cambria"/>
              </a:defRPr>
            </a:pPr>
            <a:r>
              <a:rPr sz="1425" b="0" i="0">
                <a:solidFill>
                  <a:srgbClr val="17212B"/>
                </a:solidFill>
                <a:latin typeface="Cambria"/>
                <a:ea typeface="Cambria"/>
                <a:cs typeface="Cambria"/>
              </a:rPr>
              <a:t>Working tree có 325 entry thay đổi và build tổng đang vướng khóa Prisma DLL.</a:t>
            </a:r>
          </a:p>
        </p:txBody>
      </p:sp>
      <p:sp>
        <p:nvSpPr>
          <p:cNvPr id="65" name="">
            <a:extLst xmlns:a="http://schemas.openxmlformats.org/drawingml/2006/main">
              <a:ext uri="{FF2B5EF4-FFF2-40B4-BE49-F238E27FC236}">
                <a16:creationId xmlns:a16="http://schemas.microsoft.com/office/drawing/2014/main" id="{C58F7F1B-E648-457D-B2A3-D52B6DEE6F1C}"/>
              </a:ext>
            </a:extLst>
          </p:cNvPr>
          <p:cNvSpPr>
            <a:spLocks xmlns:a="http://schemas.openxmlformats.org/drawingml/2006/main" noGrp="1"/>
          </p:cNvSpPr>
          <p:nvPr/>
        </p:nvSpPr>
        <p:spPr>
          <a:xfrm xmlns:a="http://schemas.openxmlformats.org/drawingml/2006/main">
            <a:off x="266700" y="6534150"/>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Báo cáo hiện trạng phát triển | THACO AGRI Fleet | 21/09/2026</a:t>
            </a:r>
          </a:p>
        </p:txBody>
      </p:sp>
      <p:sp>
        <p:nvSpPr>
          <p:cNvPr id="66" name="">
            <a:extLst xmlns:a="http://schemas.openxmlformats.org/drawingml/2006/main">
              <a:ext uri="{FF2B5EF4-FFF2-40B4-BE49-F238E27FC236}">
                <a16:creationId xmlns:a16="http://schemas.microsoft.com/office/drawing/2014/main" id="{11658B73-88E8-448C-B63A-42A81ECC97B7}"/>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12</a:t>
            </a:r>
          </a:p>
        </p:txBody>
      </p:sp>
    </p:spTree>
    <p:extLst>
      <p:ext uri="{BB962C8B-B14F-4D97-AF65-F5344CB8AC3E}">
        <p14:creationId xmlns:p14="http://schemas.microsoft.com/office/powerpoint/2010/main" val="60837507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A2D1361B-717C-4D31-8EC3-286F63E42940}"/>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MA TRẬN RỦI RO VÀ TÁC ĐỘNG</a:t>
            </a:r>
          </a:p>
        </p:txBody>
      </p:sp>
      <p:graphicFrame>
        <p:nvGraphicFramePr>
          <p:cNvPr id="7" name=""/>
          <p:cNvGraphicFramePr/>
          <p:nvPr/>
        </p:nvGraphicFramePr>
        <p:xfrm>
          <a:off xmlns:a="http://schemas.openxmlformats.org/drawingml/2006/main" x="323850" y="971550"/>
          <a:ext xmlns:a="http://schemas.openxmlformats.org/drawingml/2006/main" cx="11544300" cy="5143500"/>
        </p:xfrm>
        <a:graphic xmlns:a="http://schemas.openxmlformats.org/drawingml/2006/main">
          <a:graphicData uri="http://schemas.openxmlformats.org/drawingml/2006/table">
            <a:tbl>
              <a:tblPr/>
              <a:tblGrid>
                <a:gridCol w="2571750"/>
                <a:gridCol w="3667125"/>
                <a:gridCol w="3810000"/>
                <a:gridCol w="1495425"/>
              </a:tblGrid>
              <a:tr h="476250">
                <a:tc>
                  <a:txBody>
                    <a:bodyPr/>
                    <a:lstStyle/>
                    <a:p>
                      <a:r>
                        <a:t>RỦI RO</a:t>
                      </a:r>
                    </a:p>
                  </a:txBody>
                  <a:tcPr marL="91440" marR="91440" marT="45720" marB="45720"/>
                </a:tc>
                <a:tc>
                  <a:txBody>
                    <a:bodyPr/>
                    <a:lstStyle/>
                    <a:p>
                      <a:r>
                        <a:t>BẰNG CHỨNG</a:t>
                      </a:r>
                    </a:p>
                  </a:txBody>
                  <a:tcPr marL="91440" marR="91440" marT="45720" marB="45720"/>
                </a:tc>
                <a:tc>
                  <a:txBody>
                    <a:bodyPr/>
                    <a:lstStyle/>
                    <a:p>
                      <a:r>
                        <a:t>TÁC ĐỘNG</a:t>
                      </a:r>
                    </a:p>
                  </a:txBody>
                  <a:tcPr marL="91440" marR="91440" marT="45720" marB="45720"/>
                </a:tc>
                <a:tc>
                  <a:txBody>
                    <a:bodyPr/>
                    <a:lstStyle/>
                    <a:p>
                      <a:r>
                        <a:t>ƯU TIÊN</a:t>
                      </a:r>
                    </a:p>
                  </a:txBody>
                  <a:tcPr marL="91440" marR="91440" marT="45720" marB="45720"/>
                </a:tc>
              </a:tr>
              <a:tr h="647700">
                <a:tc>
                  <a:txBody>
                    <a:bodyPr/>
                    <a:lstStyle/>
                    <a:p>
                      <a:r>
                        <a:t>Mock/fallback trong luồng thật</a:t>
                      </a:r>
                    </a:p>
                  </a:txBody>
                  <a:tcPr marL="91440" marR="91440" marT="45720" marB="45720"/>
                </a:tc>
                <a:tc>
                  <a:txBody>
                    <a:bodyPr/>
                    <a:lstStyle/>
                    <a:p>
                      <a:r>
                        <a:t>24 trang có cả dấu hiệu API và fallback*</a:t>
                      </a:r>
                    </a:p>
                  </a:txBody>
                  <a:tcPr marL="91440" marR="91440" marT="45720" marB="45720"/>
                </a:tc>
                <a:tc>
                  <a:txBody>
                    <a:bodyPr/>
                    <a:lstStyle/>
                    <a:p>
                      <a:r>
                        <a:t>Sai số liệu, khó phát hiện lỗi</a:t>
                      </a:r>
                    </a:p>
                  </a:txBody>
                  <a:tcPr marL="91440" marR="91440" marT="45720" marB="45720"/>
                </a:tc>
                <a:tc>
                  <a:txBody>
                    <a:bodyPr/>
                    <a:lstStyle/>
                    <a:p>
                      <a:pPr algn="ctr"/>
                      <a:r>
                        <a:rPr sz="1350" b="1">
                          <a:solidFill>
                            <a:srgbClr val="E00000"/>
                          </a:solidFill>
                          <a:latin typeface="Cambria"/>
                          <a:ea typeface="Cambria"/>
                          <a:cs typeface="Cambria"/>
                        </a:rPr>
                        <a:t>P0</a:t>
                      </a:r>
                    </a:p>
                  </a:txBody>
                  <a:tcPr marL="91440" marR="91440" marT="45720" marB="45720" anchor="ctr">
                    <a:solidFill>
                      <a:srgbClr val="FFE1E1"/>
                    </a:solidFill>
                  </a:tcPr>
                </a:tc>
              </a:tr>
              <a:tr h="647700">
                <a:tc>
                  <a:txBody>
                    <a:bodyPr/>
                    <a:lstStyle/>
                    <a:p>
                      <a:r>
                        <a:t>Cô lập dữ liệu theo đơn vị</a:t>
                      </a:r>
                    </a:p>
                  </a:txBody>
                  <a:tcPr marL="91440" marR="91440" marT="45720" marB="45720"/>
                </a:tc>
                <a:tc>
                  <a:txBody>
                    <a:bodyPr/>
                    <a:lstStyle/>
                    <a:p>
                      <a:r>
                        <a:t>Scope utility mới dùng ở một số service</a:t>
                      </a:r>
                    </a:p>
                  </a:txBody>
                  <a:tcPr marL="91440" marR="91440" marT="45720" marB="45720"/>
                </a:tc>
                <a:tc>
                  <a:txBody>
                    <a:bodyPr/>
                    <a:lstStyle/>
                    <a:p>
                      <a:r>
                        <a:t>Lộ dữ liệu chéo đơn vị</a:t>
                      </a:r>
                    </a:p>
                  </a:txBody>
                  <a:tcPr marL="91440" marR="91440" marT="45720" marB="45720"/>
                </a:tc>
                <a:tc>
                  <a:txBody>
                    <a:bodyPr/>
                    <a:lstStyle/>
                    <a:p>
                      <a:pPr algn="ctr"/>
                      <a:r>
                        <a:rPr sz="1350" b="1">
                          <a:solidFill>
                            <a:srgbClr val="E00000"/>
                          </a:solidFill>
                          <a:latin typeface="Cambria"/>
                          <a:ea typeface="Cambria"/>
                          <a:cs typeface="Cambria"/>
                        </a:rPr>
                        <a:t>P0</a:t>
                      </a:r>
                    </a:p>
                  </a:txBody>
                  <a:tcPr marL="91440" marR="91440" marT="45720" marB="45720" anchor="ctr">
                    <a:solidFill>
                      <a:srgbClr val="FFE1E1"/>
                    </a:solidFill>
                  </a:tcPr>
                </a:tc>
              </a:tr>
              <a:tr h="647700">
                <a:tc>
                  <a:txBody>
                    <a:bodyPr/>
                    <a:lstStyle/>
                    <a:p>
                      <a:r>
                        <a:t>Xóa vật lý dữ liệu</a:t>
                      </a:r>
                    </a:p>
                  </a:txBody>
                  <a:tcPr marL="91440" marR="91440" marT="45720" marB="45720"/>
                </a:tc>
                <a:tc>
                  <a:txBody>
                    <a:bodyPr/>
                    <a:lstStyle/>
                    <a:p>
                      <a:r>
                        <a:t>Delete/deleteMany ở catalog, vehicle, plan…</a:t>
                      </a:r>
                    </a:p>
                  </a:txBody>
                  <a:tcPr marL="91440" marR="91440" marT="45720" marB="45720"/>
                </a:tc>
                <a:tc>
                  <a:txBody>
                    <a:bodyPr/>
                    <a:lstStyle/>
                    <a:p>
                      <a:r>
                        <a:t>Mất lịch sử, khó audit</a:t>
                      </a:r>
                    </a:p>
                  </a:txBody>
                  <a:tcPr marL="91440" marR="91440" marT="45720" marB="45720"/>
                </a:tc>
                <a:tc>
                  <a:txBody>
                    <a:bodyPr/>
                    <a:lstStyle/>
                    <a:p>
                      <a:pPr algn="ctr"/>
                      <a:r>
                        <a:rPr sz="1350" b="1">
                          <a:solidFill>
                            <a:srgbClr val="E00000"/>
                          </a:solidFill>
                          <a:latin typeface="Cambria"/>
                          <a:ea typeface="Cambria"/>
                          <a:cs typeface="Cambria"/>
                        </a:rPr>
                        <a:t>P0</a:t>
                      </a:r>
                    </a:p>
                  </a:txBody>
                  <a:tcPr marL="91440" marR="91440" marT="45720" marB="45720" anchor="ctr">
                    <a:solidFill>
                      <a:srgbClr val="FFE1E1"/>
                    </a:solidFill>
                  </a:tcPr>
                </a:tc>
              </a:tr>
              <a:tr h="647700">
                <a:tc>
                  <a:txBody>
                    <a:bodyPr/>
                    <a:lstStyle/>
                    <a:p>
                      <a:r>
                        <a:t>Công thức nghiệp vụ chưa chốt</a:t>
                      </a:r>
                    </a:p>
                  </a:txBody>
                  <a:tcPr marL="91440" marR="91440" marT="45720" marB="45720"/>
                </a:tc>
                <a:tc>
                  <a:txBody>
                    <a:bodyPr/>
                    <a:lstStyle/>
                    <a:p>
                      <a:r>
                        <a:t>KPI, năng suất, GPS threshold còn UNKNOWN</a:t>
                      </a:r>
                    </a:p>
                  </a:txBody>
                  <a:tcPr marL="91440" marR="91440" marT="45720" marB="45720"/>
                </a:tc>
                <a:tc>
                  <a:txBody>
                    <a:bodyPr/>
                    <a:lstStyle/>
                    <a:p>
                      <a:r>
                        <a:t>Kết quả báo cáo không được chấp nhận</a:t>
                      </a:r>
                    </a:p>
                  </a:txBody>
                  <a:tcPr marL="91440" marR="91440" marT="45720" marB="45720"/>
                </a:tc>
                <a:tc>
                  <a:txBody>
                    <a:bodyPr/>
                    <a:lstStyle/>
                    <a:p>
                      <a:pPr algn="ctr"/>
                      <a:r>
                        <a:rPr sz="1350" b="1">
                          <a:solidFill>
                            <a:srgbClr val="A95400"/>
                          </a:solidFill>
                          <a:latin typeface="Cambria"/>
                          <a:ea typeface="Cambria"/>
                          <a:cs typeface="Cambria"/>
                        </a:rPr>
                        <a:t>P1</a:t>
                      </a:r>
                    </a:p>
                  </a:txBody>
                  <a:tcPr marL="91440" marR="91440" marT="45720" marB="45720" anchor="ctr">
                    <a:solidFill>
                      <a:srgbClr val="FFF0D3"/>
                    </a:solidFill>
                  </a:tcPr>
                </a:tc>
              </a:tr>
              <a:tr h="647700">
                <a:tc>
                  <a:txBody>
                    <a:bodyPr/>
                    <a:lstStyle/>
                    <a:p>
                      <a:r>
                        <a:t>Hai backend mobile</a:t>
                      </a:r>
                    </a:p>
                  </a:txBody>
                  <a:tcPr marL="91440" marR="91440" marT="45720" marB="45720"/>
                </a:tc>
                <a:tc>
                  <a:txBody>
                    <a:bodyPr/>
                    <a:lstStyle/>
                    <a:p>
                      <a:r>
                        <a:t>Main backend và Backend_Driver song song</a:t>
                      </a:r>
                    </a:p>
                  </a:txBody>
                  <a:tcPr marL="91440" marR="91440" marT="45720" marB="45720"/>
                </a:tc>
                <a:tc>
                  <a:txBody>
                    <a:bodyPr/>
                    <a:lstStyle/>
                    <a:p>
                      <a:r>
                        <a:t>Lệch API, tăng chi phí bảo trì</a:t>
                      </a:r>
                    </a:p>
                  </a:txBody>
                  <a:tcPr marL="91440" marR="91440" marT="45720" marB="45720"/>
                </a:tc>
                <a:tc>
                  <a:txBody>
                    <a:bodyPr/>
                    <a:lstStyle/>
                    <a:p>
                      <a:pPr algn="ctr"/>
                      <a:r>
                        <a:rPr sz="1350" b="1">
                          <a:solidFill>
                            <a:srgbClr val="A95400"/>
                          </a:solidFill>
                          <a:latin typeface="Cambria"/>
                          <a:ea typeface="Cambria"/>
                          <a:cs typeface="Cambria"/>
                        </a:rPr>
                        <a:t>P1</a:t>
                      </a:r>
                    </a:p>
                  </a:txBody>
                  <a:tcPr marL="91440" marR="91440" marT="45720" marB="45720" anchor="ctr">
                    <a:solidFill>
                      <a:srgbClr val="FFF0D3"/>
                    </a:solidFill>
                  </a:tcPr>
                </a:tc>
              </a:tr>
              <a:tr h="647700">
                <a:tc>
                  <a:txBody>
                    <a:bodyPr/>
                    <a:lstStyle/>
                    <a:p>
                      <a:r>
                        <a:t>Quy trình phát hành</a:t>
                      </a:r>
                    </a:p>
                  </a:txBody>
                  <a:tcPr marL="91440" marR="91440" marT="45720" marB="45720"/>
                </a:tc>
                <a:tc>
                  <a:txBody>
                    <a:bodyPr/>
                    <a:lstStyle/>
                    <a:p>
                      <a:r>
                        <a:t>Không có GitHub Actions; 325 entry thay đổi</a:t>
                      </a:r>
                    </a:p>
                  </a:txBody>
                  <a:tcPr marL="91440" marR="91440" marT="45720" marB="45720"/>
                </a:tc>
                <a:tc>
                  <a:txBody>
                    <a:bodyPr/>
                    <a:lstStyle/>
                    <a:p>
                      <a:r>
                        <a:t>Khó truy vết và rollback</a:t>
                      </a:r>
                    </a:p>
                  </a:txBody>
                  <a:tcPr marL="91440" marR="91440" marT="45720" marB="45720"/>
                </a:tc>
                <a:tc>
                  <a:txBody>
                    <a:bodyPr/>
                    <a:lstStyle/>
                    <a:p>
                      <a:pPr algn="ctr"/>
                      <a:r>
                        <a:rPr sz="1350" b="1">
                          <a:solidFill>
                            <a:srgbClr val="A95400"/>
                          </a:solidFill>
                          <a:latin typeface="Cambria"/>
                          <a:ea typeface="Cambria"/>
                          <a:cs typeface="Cambria"/>
                        </a:rPr>
                        <a:t>P1</a:t>
                      </a:r>
                    </a:p>
                  </a:txBody>
                  <a:tcPr marL="91440" marR="91440" marT="45720" marB="45720" anchor="ctr">
                    <a:solidFill>
                      <a:srgbClr val="FFF0D3"/>
                    </a:solidFill>
                  </a:tcPr>
                </a:tc>
              </a:tr>
              <a:tr h="647700">
                <a:tc>
                  <a:txBody>
                    <a:bodyPr/>
                    <a:lstStyle/>
                    <a:p>
                      <a:r>
                        <a:t>Kích thước bundle</a:t>
                      </a:r>
                    </a:p>
                  </a:txBody>
                  <a:tcPr marL="91440" marR="91440" marT="45720" marB="45720"/>
                </a:tc>
                <a:tc>
                  <a:txBody>
                    <a:bodyPr/>
                    <a:lstStyle/>
                    <a:p>
                      <a:r>
                        <a:t>Main JS 3.39 MB sau minify</a:t>
                      </a:r>
                    </a:p>
                  </a:txBody>
                  <a:tcPr marL="91440" marR="91440" marT="45720" marB="45720"/>
                </a:tc>
                <a:tc>
                  <a:txBody>
                    <a:bodyPr/>
                    <a:lstStyle/>
                    <a:p>
                      <a:r>
                        <a:t>Tải chậm, khó dùng mạng yếu</a:t>
                      </a:r>
                    </a:p>
                  </a:txBody>
                  <a:tcPr marL="91440" marR="91440" marT="45720" marB="45720"/>
                </a:tc>
                <a:tc>
                  <a:txBody>
                    <a:bodyPr/>
                    <a:lstStyle/>
                    <a:p>
                      <a:pPr algn="ctr"/>
                      <a:r>
                        <a:rPr sz="1350" b="1">
                          <a:solidFill>
                            <a:srgbClr val="075AA7"/>
                          </a:solidFill>
                          <a:latin typeface="Cambria"/>
                          <a:ea typeface="Cambria"/>
                          <a:cs typeface="Cambria"/>
                        </a:rPr>
                        <a:t>P2</a:t>
                      </a:r>
                    </a:p>
                  </a:txBody>
                  <a:tcPr marL="91440" marR="91440" marT="45720" marB="45720" anchor="ctr">
                    <a:solidFill>
                      <a:srgbClr val="E7F0FB"/>
                    </a:solidFill>
                  </a:tcPr>
                </a:tc>
              </a:tr>
            </a:tbl>
          </a:graphicData>
        </a:graphic>
      </p:graphicFrame>
      <p:sp>
        <p:nvSpPr>
          <p:cNvPr id="3" name="">
            <a:extLst xmlns:a="http://schemas.openxmlformats.org/drawingml/2006/main">
              <a:ext uri="{FF2B5EF4-FFF2-40B4-BE49-F238E27FC236}">
                <a16:creationId xmlns:a16="http://schemas.microsoft.com/office/drawing/2014/main" id="{378D92FF-6300-40CB-BE54-F1159C49209D}"/>
              </a:ext>
            </a:extLst>
          </p:cNvPr>
          <p:cNvSpPr>
            <a:spLocks xmlns:a="http://schemas.openxmlformats.org/drawingml/2006/main" noGrp="1"/>
          </p:cNvSpPr>
          <p:nvPr/>
        </p:nvSpPr>
        <p:spPr>
          <a:xfrm xmlns:a="http://schemas.openxmlformats.org/drawingml/2006/main">
            <a:off x="619125" y="61912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0000"/>
              </a:lnSpc>
              <a:buNone/>
              <a:defRPr sz="1125" b="0" i="1">
                <a:solidFill>
                  <a:srgbClr val="59636E"/>
                </a:solidFill>
                <a:latin typeface="Cambria"/>
                <a:ea typeface="Cambria"/>
                <a:cs typeface="Cambria"/>
              </a:defRPr>
            </a:pPr>
            <a:r>
              <a:rPr sz="1125" b="0" i="1">
                <a:solidFill>
                  <a:srgbClr val="59636E"/>
                </a:solidFill>
                <a:latin typeface="Cambria"/>
                <a:ea typeface="Cambria"/>
                <a:cs typeface="Cambria"/>
              </a:rPr>
              <a:t>* Dấu hiệu từ quét source, chưa phải tỷ lệ hoàn tất chính thức.</a:t>
            </a:r>
          </a:p>
        </p:txBody>
      </p:sp>
      <p:sp>
        <p:nvSpPr>
          <p:cNvPr id="4" name="">
            <a:extLst xmlns:a="http://schemas.openxmlformats.org/drawingml/2006/main">
              <a:ext uri="{FF2B5EF4-FFF2-40B4-BE49-F238E27FC236}">
                <a16:creationId xmlns:a16="http://schemas.microsoft.com/office/drawing/2014/main" id="{00F8566F-A20C-41F9-9938-7098FBD96207}"/>
              </a:ext>
            </a:extLst>
          </p:cNvPr>
          <p:cNvSpPr>
            <a:spLocks xmlns:a="http://schemas.openxmlformats.org/drawingml/2006/main" noGrp="1"/>
          </p:cNvSpPr>
          <p:nvPr/>
        </p:nvSpPr>
        <p:spPr>
          <a:xfrm xmlns:a="http://schemas.openxmlformats.org/drawingml/2006/main">
            <a:off x="266700" y="6534150"/>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Báo cáo hiện trạng phát triển | THACO AGRI Fleet | 21/09/2026</a:t>
            </a:r>
          </a:p>
        </p:txBody>
      </p:sp>
      <p:sp>
        <p:nvSpPr>
          <p:cNvPr id="5" name="">
            <a:extLst xmlns:a="http://schemas.openxmlformats.org/drawingml/2006/main">
              <a:ext uri="{FF2B5EF4-FFF2-40B4-BE49-F238E27FC236}">
                <a16:creationId xmlns:a16="http://schemas.microsoft.com/office/drawing/2014/main" id="{20342B80-5C5B-4D07-BB38-518311A40F23}"/>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13</a:t>
            </a:r>
          </a:p>
        </p:txBody>
      </p:sp>
    </p:spTree>
    <p:extLst>
      <p:ext uri="{BB962C8B-B14F-4D97-AF65-F5344CB8AC3E}">
        <p14:creationId xmlns:p14="http://schemas.microsoft.com/office/powerpoint/2010/main" val="289647396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092EA5C4-620F-4514-8639-F2111C7B22E9}"/>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KHÓ KHĂN HIỆN TẠI</a:t>
            </a:r>
          </a:p>
        </p:txBody>
      </p:sp>
      <p:sp>
        <p:nvSpPr>
          <p:cNvPr id="2" name="">
            <a:extLst xmlns:a="http://schemas.openxmlformats.org/drawingml/2006/main">
              <a:ext uri="{FF2B5EF4-FFF2-40B4-BE49-F238E27FC236}">
                <a16:creationId xmlns:a16="http://schemas.microsoft.com/office/drawing/2014/main" id="{00D91E3E-1161-4D67-BD97-F60B02DE1948}"/>
              </a:ext>
            </a:extLst>
          </p:cNvPr>
          <p:cNvSpPr>
            <a:spLocks xmlns:a="http://schemas.openxmlformats.org/drawingml/2006/main" noGrp="1"/>
          </p:cNvSpPr>
          <p:nvPr/>
        </p:nvSpPr>
        <p:spPr>
          <a:xfrm xmlns:a="http://schemas.openxmlformats.org/drawingml/2006/main">
            <a:off x="590550" y="1095375"/>
            <a:ext cx="228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725" b="1" i="0">
                <a:solidFill>
                  <a:srgbClr val="006B35"/>
                </a:solidFill>
                <a:latin typeface="Cambria"/>
                <a:ea typeface="Cambria"/>
                <a:cs typeface="Cambria"/>
              </a:defRPr>
            </a:pPr>
            <a:r>
              <a:rPr sz="1725" b="1" i="0">
                <a:solidFill>
                  <a:srgbClr val="006B35"/>
                </a:solidFill>
                <a:latin typeface="Cambria"/>
                <a:ea typeface="Cambria"/>
                <a:cs typeface="Cambria"/>
              </a:rPr>
              <a:t>NGHIỆP VỤ</a:t>
            </a:r>
          </a:p>
        </p:txBody>
      </p:sp>
      <p:sp>
        <p:nvSpPr>
          <p:cNvPr id="3" name="">
            <a:extLst xmlns:a="http://schemas.openxmlformats.org/drawingml/2006/main">
              <a:ext uri="{FF2B5EF4-FFF2-40B4-BE49-F238E27FC236}">
                <a16:creationId xmlns:a16="http://schemas.microsoft.com/office/drawing/2014/main" id="{FB1B6C68-5F33-4724-BC0B-9F6EDFA81F4F}"/>
              </a:ext>
            </a:extLst>
          </p:cNvPr>
          <p:cNvSpPr>
            <a:spLocks xmlns:a="http://schemas.openxmlformats.org/drawingml/2006/main" noGrp="1"/>
          </p:cNvSpPr>
          <p:nvPr/>
        </p:nvSpPr>
        <p:spPr>
          <a:xfrm xmlns:a="http://schemas.openxmlformats.org/drawingml/2006/main">
            <a:off x="2905125" y="1209675"/>
            <a:ext cx="28575" cy="70485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4" name="">
            <a:extLst xmlns:a="http://schemas.openxmlformats.org/drawingml/2006/main">
              <a:ext uri="{FF2B5EF4-FFF2-40B4-BE49-F238E27FC236}">
                <a16:creationId xmlns:a16="http://schemas.microsoft.com/office/drawing/2014/main" id="{9A45C0D2-C111-4FBD-B2EF-1DC56337D7C4}"/>
              </a:ext>
            </a:extLst>
          </p:cNvPr>
          <p:cNvSpPr>
            <a:spLocks xmlns:a="http://schemas.openxmlformats.org/drawingml/2006/main" noGrp="1"/>
          </p:cNvSpPr>
          <p:nvPr/>
        </p:nvSpPr>
        <p:spPr>
          <a:xfrm xmlns:a="http://schemas.openxmlformats.org/drawingml/2006/main">
            <a:off x="3190875" y="1095375"/>
            <a:ext cx="8143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17212B"/>
                </a:solidFill>
                <a:latin typeface="Cambria"/>
                <a:ea typeface="Cambria"/>
                <a:cs typeface="Cambria"/>
              </a:defRPr>
            </a:pPr>
            <a:r>
              <a:rPr sz="1575" b="0" i="0">
                <a:solidFill>
                  <a:srgbClr val="17212B"/>
                </a:solidFill>
                <a:latin typeface="Cambria"/>
                <a:ea typeface="Cambria"/>
                <a:cs typeface="Cambria"/>
              </a:rPr>
              <a:t>Chưa chốt công thức KPI, năng suất xe, ngưỡng GPS/sai tuyến, ưu tiên xe và loại minh chứng khi đổi kế hoạch.</a:t>
            </a:r>
          </a:p>
        </p:txBody>
      </p:sp>
      <p:sp>
        <p:nvSpPr>
          <p:cNvPr id="5" name="">
            <a:extLst xmlns:a="http://schemas.openxmlformats.org/drawingml/2006/main">
              <a:ext uri="{FF2B5EF4-FFF2-40B4-BE49-F238E27FC236}">
                <a16:creationId xmlns:a16="http://schemas.microsoft.com/office/drawing/2014/main" id="{77AD33C2-9765-47AF-B3EE-5D1BEBB23D69}"/>
              </a:ext>
            </a:extLst>
          </p:cNvPr>
          <p:cNvSpPr>
            <a:spLocks xmlns:a="http://schemas.openxmlformats.org/drawingml/2006/main" noGrp="1"/>
          </p:cNvSpPr>
          <p:nvPr/>
        </p:nvSpPr>
        <p:spPr>
          <a:xfrm xmlns:a="http://schemas.openxmlformats.org/drawingml/2006/main">
            <a:off x="590550" y="2333625"/>
            <a:ext cx="228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725" b="1" i="0">
                <a:solidFill>
                  <a:srgbClr val="006B35"/>
                </a:solidFill>
                <a:latin typeface="Cambria"/>
                <a:ea typeface="Cambria"/>
                <a:cs typeface="Cambria"/>
              </a:defRPr>
            </a:pPr>
            <a:r>
              <a:rPr sz="1725" b="1" i="0">
                <a:solidFill>
                  <a:srgbClr val="006B35"/>
                </a:solidFill>
                <a:latin typeface="Cambria"/>
                <a:ea typeface="Cambria"/>
                <a:cs typeface="Cambria"/>
              </a:rPr>
              <a:t>DỮ LIỆU</a:t>
            </a:r>
          </a:p>
        </p:txBody>
      </p:sp>
      <p:sp>
        <p:nvSpPr>
          <p:cNvPr id="6" name="">
            <a:extLst xmlns:a="http://schemas.openxmlformats.org/drawingml/2006/main">
              <a:ext uri="{FF2B5EF4-FFF2-40B4-BE49-F238E27FC236}">
                <a16:creationId xmlns:a16="http://schemas.microsoft.com/office/drawing/2014/main" id="{B42BA669-AA16-4D52-99A8-3C57CD6F228B}"/>
              </a:ext>
            </a:extLst>
          </p:cNvPr>
          <p:cNvSpPr>
            <a:spLocks xmlns:a="http://schemas.openxmlformats.org/drawingml/2006/main" noGrp="1"/>
          </p:cNvSpPr>
          <p:nvPr/>
        </p:nvSpPr>
        <p:spPr>
          <a:xfrm xmlns:a="http://schemas.openxmlformats.org/drawingml/2006/main">
            <a:off x="2905125" y="2447925"/>
            <a:ext cx="28575" cy="70485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03247100-46BB-46BB-B57C-4C26AAD01643}"/>
              </a:ext>
            </a:extLst>
          </p:cNvPr>
          <p:cNvSpPr>
            <a:spLocks xmlns:a="http://schemas.openxmlformats.org/drawingml/2006/main" noGrp="1"/>
          </p:cNvSpPr>
          <p:nvPr/>
        </p:nvSpPr>
        <p:spPr>
          <a:xfrm xmlns:a="http://schemas.openxmlformats.org/drawingml/2006/main">
            <a:off x="3190875" y="2333625"/>
            <a:ext cx="8143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17212B"/>
                </a:solidFill>
                <a:latin typeface="Cambria"/>
                <a:ea typeface="Cambria"/>
                <a:cs typeface="Cambria"/>
              </a:defRPr>
            </a:pPr>
            <a:r>
              <a:rPr sz="1575" b="0" i="0">
                <a:solidFill>
                  <a:srgbClr val="17212B"/>
                </a:solidFill>
                <a:latin typeface="Cambria"/>
                <a:ea typeface="Cambria"/>
                <a:cs typeface="Cambria"/>
              </a:rPr>
              <a:t>Workbook MMTB nhiều sheet, mã cũ không đồng nhất, cần mapping được duyệt và backfill có thể kiểm tra/rollback.</a:t>
            </a:r>
          </a:p>
        </p:txBody>
      </p:sp>
      <p:sp>
        <p:nvSpPr>
          <p:cNvPr id="8" name="">
            <a:extLst xmlns:a="http://schemas.openxmlformats.org/drawingml/2006/main">
              <a:ext uri="{FF2B5EF4-FFF2-40B4-BE49-F238E27FC236}">
                <a16:creationId xmlns:a16="http://schemas.microsoft.com/office/drawing/2014/main" id="{7187539D-5050-46EA-8F0C-A1C99FED0E76}"/>
              </a:ext>
            </a:extLst>
          </p:cNvPr>
          <p:cNvSpPr>
            <a:spLocks xmlns:a="http://schemas.openxmlformats.org/drawingml/2006/main" noGrp="1"/>
          </p:cNvSpPr>
          <p:nvPr/>
        </p:nvSpPr>
        <p:spPr>
          <a:xfrm xmlns:a="http://schemas.openxmlformats.org/drawingml/2006/main">
            <a:off x="590550" y="3571875"/>
            <a:ext cx="228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725" b="1" i="0">
                <a:solidFill>
                  <a:srgbClr val="E00000"/>
                </a:solidFill>
                <a:latin typeface="Cambria"/>
                <a:ea typeface="Cambria"/>
                <a:cs typeface="Cambria"/>
              </a:defRPr>
            </a:pPr>
            <a:r>
              <a:rPr sz="1725" b="1" i="0">
                <a:solidFill>
                  <a:srgbClr val="E00000"/>
                </a:solidFill>
                <a:latin typeface="Cambria"/>
                <a:ea typeface="Cambria"/>
                <a:cs typeface="Cambria"/>
              </a:rPr>
              <a:t>KỸ THUẬT</a:t>
            </a:r>
          </a:p>
        </p:txBody>
      </p:sp>
      <p:sp>
        <p:nvSpPr>
          <p:cNvPr id="9" name="">
            <a:extLst xmlns:a="http://schemas.openxmlformats.org/drawingml/2006/main">
              <a:ext uri="{FF2B5EF4-FFF2-40B4-BE49-F238E27FC236}">
                <a16:creationId xmlns:a16="http://schemas.microsoft.com/office/drawing/2014/main" id="{61308FE2-1C79-4ED3-A211-3F69666AFDB6}"/>
              </a:ext>
            </a:extLst>
          </p:cNvPr>
          <p:cNvSpPr>
            <a:spLocks xmlns:a="http://schemas.openxmlformats.org/drawingml/2006/main" noGrp="1"/>
          </p:cNvSpPr>
          <p:nvPr/>
        </p:nvSpPr>
        <p:spPr>
          <a:xfrm xmlns:a="http://schemas.openxmlformats.org/drawingml/2006/main">
            <a:off x="2905125" y="3686175"/>
            <a:ext cx="28575" cy="704850"/>
          </a:xfrm>
          <a:prstGeom xmlns:a="http://schemas.openxmlformats.org/drawingml/2006/main" prst="rect">
            <a:avLst/>
          </a:prstGeom>
          <a:solidFill xmlns:a="http://schemas.openxmlformats.org/drawingml/2006/main">
            <a:srgbClr val="E00000"/>
          </a:solidFill>
          <a:ln xmlns:a="http://schemas.openxmlformats.org/drawingml/2006/main" w="0">
            <a:solidFill>
              <a:srgbClr val="E00000"/>
            </a:solidFill>
          </a:ln>
        </p:spPr>
      </p:sp>
      <p:sp>
        <p:nvSpPr>
          <p:cNvPr id="10" name="">
            <a:extLst xmlns:a="http://schemas.openxmlformats.org/drawingml/2006/main">
              <a:ext uri="{FF2B5EF4-FFF2-40B4-BE49-F238E27FC236}">
                <a16:creationId xmlns:a16="http://schemas.microsoft.com/office/drawing/2014/main" id="{98A50676-EAD7-41CE-91B7-B1A71316F5DD}"/>
              </a:ext>
            </a:extLst>
          </p:cNvPr>
          <p:cNvSpPr>
            <a:spLocks xmlns:a="http://schemas.openxmlformats.org/drawingml/2006/main" noGrp="1"/>
          </p:cNvSpPr>
          <p:nvPr/>
        </p:nvSpPr>
        <p:spPr>
          <a:xfrm xmlns:a="http://schemas.openxmlformats.org/drawingml/2006/main">
            <a:off x="3190875" y="3571875"/>
            <a:ext cx="8143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17212B"/>
                </a:solidFill>
                <a:latin typeface="Cambria"/>
                <a:ea typeface="Cambria"/>
                <a:cs typeface="Cambria"/>
              </a:defRPr>
            </a:pPr>
            <a:r>
              <a:rPr sz="1575" b="0" i="0">
                <a:solidFill>
                  <a:srgbClr val="17212B"/>
                </a:solidFill>
                <a:latin typeface="Cambria"/>
                <a:ea typeface="Cambria"/>
                <a:cs typeface="Cambria"/>
              </a:rPr>
              <a:t>Frontend vẫn phụ thuộc fallback; báo cáo thiếu endpoint/mapper; hai backend mobile có nguy cơ phân kỳ; bundle web lớn.</a:t>
            </a:r>
          </a:p>
        </p:txBody>
      </p:sp>
      <p:sp>
        <p:nvSpPr>
          <p:cNvPr id="11" name="">
            <a:extLst xmlns:a="http://schemas.openxmlformats.org/drawingml/2006/main">
              <a:ext uri="{FF2B5EF4-FFF2-40B4-BE49-F238E27FC236}">
                <a16:creationId xmlns:a16="http://schemas.microsoft.com/office/drawing/2014/main" id="{AE6F73B2-7086-4594-824E-33ABF247FCE1}"/>
              </a:ext>
            </a:extLst>
          </p:cNvPr>
          <p:cNvSpPr>
            <a:spLocks xmlns:a="http://schemas.openxmlformats.org/drawingml/2006/main" noGrp="1"/>
          </p:cNvSpPr>
          <p:nvPr/>
        </p:nvSpPr>
        <p:spPr>
          <a:xfrm xmlns:a="http://schemas.openxmlformats.org/drawingml/2006/main">
            <a:off x="590550" y="4810125"/>
            <a:ext cx="228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725" b="1" i="0">
                <a:solidFill>
                  <a:srgbClr val="E00000"/>
                </a:solidFill>
                <a:latin typeface="Cambria"/>
                <a:ea typeface="Cambria"/>
                <a:cs typeface="Cambria"/>
              </a:defRPr>
            </a:pPr>
            <a:r>
              <a:rPr sz="1725" b="1" i="0">
                <a:solidFill>
                  <a:srgbClr val="E00000"/>
                </a:solidFill>
                <a:latin typeface="Cambria"/>
                <a:ea typeface="Cambria"/>
                <a:cs typeface="Cambria"/>
              </a:rPr>
              <a:t>TRIỂN KHAI</a:t>
            </a:r>
          </a:p>
        </p:txBody>
      </p:sp>
      <p:sp>
        <p:nvSpPr>
          <p:cNvPr id="12" name="">
            <a:extLst xmlns:a="http://schemas.openxmlformats.org/drawingml/2006/main">
              <a:ext uri="{FF2B5EF4-FFF2-40B4-BE49-F238E27FC236}">
                <a16:creationId xmlns:a16="http://schemas.microsoft.com/office/drawing/2014/main" id="{B46AFBE5-1416-4510-81F3-2B5B44FCC63B}"/>
              </a:ext>
            </a:extLst>
          </p:cNvPr>
          <p:cNvSpPr>
            <a:spLocks xmlns:a="http://schemas.openxmlformats.org/drawingml/2006/main" noGrp="1"/>
          </p:cNvSpPr>
          <p:nvPr/>
        </p:nvSpPr>
        <p:spPr>
          <a:xfrm xmlns:a="http://schemas.openxmlformats.org/drawingml/2006/main">
            <a:off x="2905125" y="4924425"/>
            <a:ext cx="28575" cy="704850"/>
          </a:xfrm>
          <a:prstGeom xmlns:a="http://schemas.openxmlformats.org/drawingml/2006/main" prst="rect">
            <a:avLst/>
          </a:prstGeom>
          <a:solidFill xmlns:a="http://schemas.openxmlformats.org/drawingml/2006/main">
            <a:srgbClr val="E00000"/>
          </a:solidFill>
          <a:ln xmlns:a="http://schemas.openxmlformats.org/drawingml/2006/main" w="0">
            <a:solidFill>
              <a:srgbClr val="E00000"/>
            </a:solidFill>
          </a:ln>
        </p:spPr>
      </p:sp>
      <p:sp>
        <p:nvSpPr>
          <p:cNvPr id="13" name="">
            <a:extLst xmlns:a="http://schemas.openxmlformats.org/drawingml/2006/main">
              <a:ext uri="{FF2B5EF4-FFF2-40B4-BE49-F238E27FC236}">
                <a16:creationId xmlns:a16="http://schemas.microsoft.com/office/drawing/2014/main" id="{FBDB89D5-3F23-4033-A858-63BE21DDB649}"/>
              </a:ext>
            </a:extLst>
          </p:cNvPr>
          <p:cNvSpPr>
            <a:spLocks xmlns:a="http://schemas.openxmlformats.org/drawingml/2006/main" noGrp="1"/>
          </p:cNvSpPr>
          <p:nvPr/>
        </p:nvSpPr>
        <p:spPr>
          <a:xfrm xmlns:a="http://schemas.openxmlformats.org/drawingml/2006/main">
            <a:off x="3190875" y="4810125"/>
            <a:ext cx="8143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17212B"/>
                </a:solidFill>
                <a:latin typeface="Cambria"/>
                <a:ea typeface="Cambria"/>
                <a:cs typeface="Cambria"/>
              </a:defRPr>
            </a:pPr>
            <a:r>
              <a:rPr sz="1575" b="0" i="0">
                <a:solidFill>
                  <a:srgbClr val="17212B"/>
                </a:solidFill>
                <a:latin typeface="Cambria"/>
                <a:ea typeface="Cambria"/>
                <a:cs typeface="Cambria"/>
              </a:rPr>
              <a:t>Nhiều thay đổi chưa gom baseline, chưa có CI tự động, môi trường Windows đang khóa Prisma engine khi build tổng.</a:t>
            </a:r>
          </a:p>
        </p:txBody>
      </p:sp>
      <p:sp>
        <p:nvSpPr>
          <p:cNvPr id="14" name="">
            <a:extLst xmlns:a="http://schemas.openxmlformats.org/drawingml/2006/main">
              <a:ext uri="{FF2B5EF4-FFF2-40B4-BE49-F238E27FC236}">
                <a16:creationId xmlns:a16="http://schemas.microsoft.com/office/drawing/2014/main" id="{206CF8AF-63D3-4633-9E59-8A92DFC74D01}"/>
              </a:ext>
            </a:extLst>
          </p:cNvPr>
          <p:cNvSpPr>
            <a:spLocks xmlns:a="http://schemas.openxmlformats.org/drawingml/2006/main" noGrp="1"/>
          </p:cNvSpPr>
          <p:nvPr/>
        </p:nvSpPr>
        <p:spPr>
          <a:xfrm xmlns:a="http://schemas.openxmlformats.org/drawingml/2006/main">
            <a:off x="685800" y="5857875"/>
            <a:ext cx="10763250" cy="495300"/>
          </a:xfrm>
          <a:prstGeom xmlns:a="http://schemas.openxmlformats.org/drawingml/2006/main" prst="roundRect">
            <a:avLst>
              <a:gd name="adj" fmla="val 13462"/>
            </a:avLst>
          </a:prstGeom>
          <a:solidFill xmlns:a="http://schemas.openxmlformats.org/drawingml/2006/main">
            <a:srgbClr val="FFF5CE"/>
          </a:solidFill>
          <a:ln xmlns:a="http://schemas.openxmlformats.org/drawingml/2006/main" w="9525">
            <a:solidFill>
              <a:srgbClr val="E4C45A"/>
            </a:solidFill>
          </a:ln>
        </p:spPr>
        <p:txBody>
          <a:bodyPr xmlns:a="http://schemas.openxmlformats.org/drawingml/2006/main" wrap="square" lIns="38100" tIns="19050" rIns="38100" bIns="19050" anchor="ctr">
            <a:normAutofit fontScale="96271"/>
          </a:bodyPr>
          <a:lstStyle xmlns:a="http://schemas.openxmlformats.org/drawingml/2006/main"/>
          <a:p xmlns:a="http://schemas.openxmlformats.org/drawingml/2006/main">
            <a:pPr algn="ctr">
              <a:lnSpc>
                <a:spcPct val="100000"/>
              </a:lnSpc>
              <a:buNone/>
              <a:defRPr sz="1425" b="0" i="1">
                <a:solidFill>
                  <a:srgbClr val="59636E"/>
                </a:solidFill>
                <a:latin typeface="Cambria"/>
                <a:ea typeface="Cambria"/>
                <a:cs typeface="Cambria"/>
              </a:defRPr>
            </a:pPr>
            <a:r>
              <a:rPr sz="1425" b="0" i="1">
                <a:solidFill>
                  <a:srgbClr val="59636E"/>
                </a:solidFill>
                <a:latin typeface="Cambria"/>
                <a:ea typeface="Cambria"/>
                <a:cs typeface="Cambria"/>
              </a:rPr>
              <a:t>Các khó khăn trên cần được xử lý theo thứ tự rủi ro. Việc bổ sung thêm màn hình trước khi khóa dữ liệu và quyền truy cập sẽ làm tăng chi phí sửa lại.</a:t>
            </a:r>
          </a:p>
        </p:txBody>
      </p:sp>
      <p:sp>
        <p:nvSpPr>
          <p:cNvPr id="15" name="">
            <a:extLst xmlns:a="http://schemas.openxmlformats.org/drawingml/2006/main">
              <a:ext uri="{FF2B5EF4-FFF2-40B4-BE49-F238E27FC236}">
                <a16:creationId xmlns:a16="http://schemas.microsoft.com/office/drawing/2014/main" id="{B7BE5F6B-69A6-4055-80AA-DDA2F38EFD5A}"/>
              </a:ext>
            </a:extLst>
          </p:cNvPr>
          <p:cNvSpPr>
            <a:spLocks xmlns:a="http://schemas.openxmlformats.org/drawingml/2006/main" noGrp="1"/>
          </p:cNvSpPr>
          <p:nvPr/>
        </p:nvSpPr>
        <p:spPr>
          <a:xfrm xmlns:a="http://schemas.openxmlformats.org/drawingml/2006/main">
            <a:off x="266700" y="6534150"/>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Báo cáo hiện trạng phát triển | THACO AGRI Fleet | 21/09/2026</a:t>
            </a:r>
          </a:p>
        </p:txBody>
      </p:sp>
      <p:sp>
        <p:nvSpPr>
          <p:cNvPr id="16" name="">
            <a:extLst xmlns:a="http://schemas.openxmlformats.org/drawingml/2006/main">
              <a:ext uri="{FF2B5EF4-FFF2-40B4-BE49-F238E27FC236}">
                <a16:creationId xmlns:a16="http://schemas.microsoft.com/office/drawing/2014/main" id="{72871244-0006-488E-AD2A-64CC3AF376B0}"/>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14</a:t>
            </a:r>
          </a:p>
        </p:txBody>
      </p:sp>
    </p:spTree>
    <p:extLst>
      <p:ext uri="{BB962C8B-B14F-4D97-AF65-F5344CB8AC3E}">
        <p14:creationId xmlns:p14="http://schemas.microsoft.com/office/powerpoint/2010/main" val="32896702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11deac5f585943f4"/>
          <a:stretch xmlns:a="http://schemas.openxmlformats.org/drawingml/2006/main">
            <a:fillRect l="0" t="0" r="0" b="0"/>
          </a:stretch>
        </p:blipFill>
        <p:spPr>
          <a:xfrm xmlns:a="http://schemas.openxmlformats.org/drawingml/2006/main">
            <a:off x="0" y="0"/>
            <a:ext cx="12191695" cy="7062395"/>
          </a:xfrm>
          <a:prstGeom xmlns:a="http://schemas.openxmlformats.org/drawingml/2006/main" prst="rect">
            <a:avLst/>
          </a:prstGeom>
        </p:spPr>
      </p:pic>
      <p:sp>
        <p:nvSpPr>
          <p:cNvPr id="33" name="slide-title">
            <a:extLst xmlns:a="http://schemas.openxmlformats.org/drawingml/2006/main">
              <a:ext uri="{FF2B5EF4-FFF2-40B4-BE49-F238E27FC236}">
                <a16:creationId xmlns:a16="http://schemas.microsoft.com/office/drawing/2014/main" id="{86296DB5-D718-4473-A0E6-2AA3608E56F9}"/>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LỘ TRÌNH HOÀN THIỆN ĐỀ XUẤT</a:t>
            </a:r>
          </a:p>
        </p:txBody>
      </p:sp>
      <p:graphicFrame>
        <p:nvGraphicFramePr>
          <p:cNvPr id="40" name=""/>
          <p:cNvGraphicFramePr/>
          <p:nvPr/>
        </p:nvGraphicFramePr>
        <p:xfrm>
          <a:off xmlns:a="http://schemas.openxmlformats.org/drawingml/2006/main" x="457200" y="1000125"/>
          <a:ext xmlns:a="http://schemas.openxmlformats.org/drawingml/2006/main" cx="11277600" cy="4762500"/>
        </p:xfrm>
        <a:graphic xmlns:a="http://schemas.openxmlformats.org/drawingml/2006/main">
          <a:graphicData uri="http://schemas.openxmlformats.org/drawingml/2006/table">
            <a:tbl>
              <a:tblPr/>
              <a:tblGrid>
                <a:gridCol w="2667000"/>
                <a:gridCol w="3333750"/>
                <a:gridCol w="5276850"/>
              </a:tblGrid>
              <a:tr h="476250">
                <a:tc>
                  <a:txBody>
                    <a:bodyPr/>
                    <a:lstStyle/>
                    <a:p>
                      <a:r>
                        <a:t>GIAI ĐOẠN</a:t>
                      </a:r>
                    </a:p>
                  </a:txBody>
                  <a:tcPr marL="91440" marR="91440" marT="45720" marB="45720"/>
                </a:tc>
                <a:tc>
                  <a:txBody>
                    <a:bodyPr/>
                    <a:lstStyle/>
                    <a:p>
                      <a:r>
                        <a:t>MỤC TIÊU</a:t>
                      </a:r>
                    </a:p>
                  </a:txBody>
                  <a:tcPr marL="91440" marR="91440" marT="45720" marB="45720"/>
                </a:tc>
                <a:tc>
                  <a:txBody>
                    <a:bodyPr/>
                    <a:lstStyle/>
                    <a:p>
                      <a:r>
                        <a:t>ĐẦU RA CHÍNH</a:t>
                      </a:r>
                    </a:p>
                  </a:txBody>
                  <a:tcPr marL="91440" marR="91440" marT="45720" marB="45720"/>
                </a:tc>
              </a:tr>
              <a:tr h="857250">
                <a:tc>
                  <a:txBody>
                    <a:bodyPr/>
                    <a:lstStyle/>
                    <a:p>
                      <a:r>
                        <a:t>0. Ổn định baseline</a:t>
                      </a:r>
                    </a:p>
                    <a:p>
                      <a:r>
                        <a:t>2–3 ngày</a:t>
                      </a:r>
                    </a:p>
                  </a:txBody>
                  <a:tcPr marL="91440" marR="91440" marT="45720" marB="45720"/>
                </a:tc>
                <a:tc>
                  <a:txBody>
                    <a:bodyPr/>
                    <a:lstStyle/>
                    <a:p>
                      <a:r>
                        <a:t>Chốt nhánh và build lặp lại</a:t>
                      </a:r>
                    </a:p>
                  </a:txBody>
                  <a:tcPr marL="91440" marR="91440" marT="45720" marB="45720"/>
                </a:tc>
                <a:tc>
                  <a:txBody>
                    <a:bodyPr/>
                    <a:lstStyle/>
                    <a:p>
                      <a:r>
                        <a:t>Dọn working tree; CI; xử lý Prisma lock; danh sách trang mock</a:t>
                      </a:r>
                    </a:p>
                  </a:txBody>
                  <a:tcPr marL="91440" marR="91440" marT="45720" marB="45720"/>
                </a:tc>
              </a:tr>
              <a:tr h="857250">
                <a:tc>
                  <a:txBody>
                    <a:bodyPr/>
                    <a:lstStyle/>
                    <a:p>
                      <a:r>
                        <a:t>1. Khép kín dữ liệu/API</a:t>
                      </a:r>
                    </a:p>
                    <a:p>
                      <a:r>
                        <a:t>1–2 tuần</a:t>
                      </a:r>
                    </a:p>
                  </a:txBody>
                  <a:tcPr marL="91440" marR="91440" marT="45720" marB="45720"/>
                </a:tc>
                <a:tc>
                  <a:txBody>
                    <a:bodyPr/>
                    <a:lstStyle/>
                    <a:p>
                      <a:r>
                        <a:t>Loại gap P0 trên luồng chính</a:t>
                      </a:r>
                    </a:p>
                  </a:txBody>
                  <a:tcPr marL="91440" marR="91440" marT="45720" marB="45720"/>
                </a:tc>
                <a:tc>
                  <a:txBody>
                    <a:bodyPr/>
                    <a:lstStyle/>
                    <a:p>
                      <a:r>
                        <a:t>Scope đơn vị; policy delete/audit; API báo cáo; bỏ fallback quan trọng</a:t>
                      </a:r>
                    </a:p>
                  </a:txBody>
                  <a:tcPr marL="91440" marR="91440" marT="45720" marB="45720"/>
                </a:tc>
              </a:tr>
              <a:tr h="857250">
                <a:tc>
                  <a:txBody>
                    <a:bodyPr/>
                    <a:lstStyle/>
                    <a:p>
                      <a:r>
                        <a:t>2. Xác nhận nghiệp vụ</a:t>
                      </a:r>
                    </a:p>
                    <a:p>
                      <a:r>
                        <a:t>1–2 tuần</a:t>
                      </a:r>
                    </a:p>
                  </a:txBody>
                  <a:tcPr marL="91440" marR="91440" marT="45720" marB="45720"/>
                </a:tc>
                <a:tc>
                  <a:txBody>
                    <a:bodyPr/>
                    <a:lstStyle/>
                    <a:p>
                      <a:r>
                        <a:t>Chốt các rule UNKNOWN</a:t>
                      </a:r>
                    </a:p>
                  </a:txBody>
                  <a:tcPr marL="91440" marR="91440" marT="45720" marB="45720"/>
                </a:tc>
                <a:tc>
                  <a:txBody>
                    <a:bodyPr/>
                    <a:lstStyle/>
                    <a:p>
                      <a:r>
                        <a:t>KPI; GPS; năng suất; ưu tiên xe; minh chứng và nghiệm thu</a:t>
                      </a:r>
                    </a:p>
                  </a:txBody>
                  <a:tcPr marL="91440" marR="91440" marT="45720" marB="45720"/>
                </a:tc>
              </a:tr>
              <a:tr h="857250">
                <a:tc>
                  <a:txBody>
                    <a:bodyPr/>
                    <a:lstStyle/>
                    <a:p>
                      <a:r>
                        <a:t>3. Pilot có kiểm soát</a:t>
                      </a:r>
                    </a:p>
                    <a:p>
                      <a:r>
                        <a:t>1 tuần</a:t>
                      </a:r>
                    </a:p>
                  </a:txBody>
                  <a:tcPr marL="91440" marR="91440" marT="45720" marB="45720"/>
                </a:tc>
                <a:tc>
                  <a:txBody>
                    <a:bodyPr/>
                    <a:lstStyle/>
                    <a:p>
                      <a:r>
                        <a:t>Kiểm chứng đầu cuối tại một đơn vị</a:t>
                      </a:r>
                    </a:p>
                  </a:txBody>
                  <a:tcPr marL="91440" marR="91440" marT="45720" marB="45720"/>
                </a:tc>
                <a:tc>
                  <a:txBody>
                    <a:bodyPr/>
                    <a:lstStyle/>
                    <a:p>
                      <a:r>
                        <a:t>UAT theo role; đối soát dữ liệu; offline sync; rollback/runbook</a:t>
                      </a:r>
                    </a:p>
                  </a:txBody>
                  <a:tcPr marL="91440" marR="91440" marT="45720" marB="45720"/>
                </a:tc>
              </a:tr>
              <a:tr h="857250">
                <a:tc>
                  <a:txBody>
                    <a:bodyPr/>
                    <a:lstStyle/>
                    <a:p>
                      <a:r>
                        <a:t>4. Mở rộng</a:t>
                      </a:r>
                    </a:p>
                  </a:txBody>
                  <a:tcPr marL="91440" marR="91440" marT="45720" marB="45720"/>
                </a:tc>
                <a:tc>
                  <a:txBody>
                    <a:bodyPr/>
                    <a:lstStyle/>
                    <a:p>
                      <a:r>
                        <a:t>Nhân rộng sau khi pilot đạt</a:t>
                      </a:r>
                    </a:p>
                  </a:txBody>
                  <a:tcPr marL="91440" marR="91440" marT="45720" marB="45720"/>
                </a:tc>
                <a:tc>
                  <a:txBody>
                    <a:bodyPr/>
                    <a:lstStyle/>
                    <a:p>
                      <a:r>
                        <a:t>Theo dõi SLA, lỗi dữ liệu, hiệu năng và adoption</a:t>
                      </a:r>
                    </a:p>
                  </a:txBody>
                  <a:tcPr marL="91440" marR="91440" marT="45720" marB="45720"/>
                </a:tc>
              </a:tr>
            </a:tbl>
          </a:graphicData>
        </a:graphic>
      </p:graphicFrame>
      <p:sp>
        <p:nvSpPr>
          <p:cNvPr id="35" name="">
            <a:extLst xmlns:a="http://schemas.openxmlformats.org/drawingml/2006/main">
              <a:ext uri="{FF2B5EF4-FFF2-40B4-BE49-F238E27FC236}">
                <a16:creationId xmlns:a16="http://schemas.microsoft.com/office/drawing/2014/main" id="{45907BE3-1CCB-44A5-9436-690D08E8F2CB}"/>
              </a:ext>
            </a:extLst>
          </p:cNvPr>
          <p:cNvSpPr>
            <a:spLocks xmlns:a="http://schemas.openxmlformats.org/drawingml/2006/main" noGrp="1"/>
          </p:cNvSpPr>
          <p:nvPr/>
        </p:nvSpPr>
        <p:spPr>
          <a:xfrm xmlns:a="http://schemas.openxmlformats.org/drawingml/2006/main">
            <a:off x="742950" y="59055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350" b="0" i="1">
                <a:solidFill>
                  <a:srgbClr val="59636E"/>
                </a:solidFill>
                <a:latin typeface="Cambria"/>
                <a:ea typeface="Cambria"/>
                <a:cs typeface="Cambria"/>
              </a:defRPr>
            </a:pPr>
            <a:r>
              <a:rPr sz="1350" b="0" i="1">
                <a:solidFill>
                  <a:srgbClr val="59636E"/>
                </a:solidFill>
                <a:latin typeface="Cambria"/>
                <a:ea typeface="Cambria"/>
                <a:cs typeface="Cambria"/>
              </a:rPr>
              <a:t>Thời lượng là ước lượng phục vụ lập kế hoạch. Cần điều chỉnh sau khi chốt phạm vi pilot và nguồn lực thực tế.</a:t>
            </a:r>
          </a:p>
        </p:txBody>
      </p:sp>
      <p:sp>
        <p:nvSpPr>
          <p:cNvPr id="36" name="">
            <a:extLst xmlns:a="http://schemas.openxmlformats.org/drawingml/2006/main">
              <a:ext uri="{FF2B5EF4-FFF2-40B4-BE49-F238E27FC236}">
                <a16:creationId xmlns:a16="http://schemas.microsoft.com/office/drawing/2014/main" id="{7F42EB99-AA83-4CD3-94EA-68BA7C836C48}"/>
              </a:ext>
            </a:extLst>
          </p:cNvPr>
          <p:cNvSpPr>
            <a:spLocks xmlns:a="http://schemas.openxmlformats.org/drawingml/2006/main" noGrp="1"/>
          </p:cNvSpPr>
          <p:nvPr/>
        </p:nvSpPr>
        <p:spPr>
          <a:xfrm xmlns:a="http://schemas.openxmlformats.org/drawingml/2006/main">
            <a:off x="266700" y="6534150"/>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Báo cáo hiện trạng phát triển | THACO AGRI Fleet | 21/09/2026</a:t>
            </a:r>
          </a:p>
        </p:txBody>
      </p:sp>
      <p:sp>
        <p:nvSpPr>
          <p:cNvPr id="37" name="">
            <a:extLst xmlns:a="http://schemas.openxmlformats.org/drawingml/2006/main">
              <a:ext uri="{FF2B5EF4-FFF2-40B4-BE49-F238E27FC236}">
                <a16:creationId xmlns:a16="http://schemas.microsoft.com/office/drawing/2014/main" id="{B42837E4-7CEC-49E2-AB0B-16652EDEEA03}"/>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15</a:t>
            </a:r>
          </a:p>
        </p:txBody>
      </p:sp>
    </p:spTree>
    <p:extLst>
      <p:ext uri="{BB962C8B-B14F-4D97-AF65-F5344CB8AC3E}">
        <p14:creationId xmlns:p14="http://schemas.microsoft.com/office/powerpoint/2010/main" val="271668297"/>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13" name="Image 0"/>
          <p:cNvPicPr>
            <a:picLocks xmlns:a="http://schemas.openxmlformats.org/drawingml/2006/main" noChangeAspect="1"/>
          </p:cNvPicPr>
          <p:nvPr/>
        </p:nvPicPr>
        <p:blipFill>
          <a:blip xmlns:r="http://schemas.openxmlformats.org/officeDocument/2006/relationships" xmlns:a="http://schemas.openxmlformats.org/drawingml/2006/main" r:embed="Raa23d2b63ace4cde"/>
          <a:stretch xmlns:a="http://schemas.openxmlformats.org/drawingml/2006/main">
            <a:fillRect l="0" t="0" r="0" b="0"/>
          </a:stretch>
        </p:blipFill>
        <p:spPr>
          <a:xfrm xmlns:a="http://schemas.openxmlformats.org/drawingml/2006/main">
            <a:off x="-83975" y="0"/>
            <a:ext cx="12191695" cy="68580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85048EB9-8103-493E-AD3A-1F94A0CC4A3C}"/>
              </a:ext>
            </a:extLst>
          </p:cNvPr>
          <p:cNvSpPr>
            <a:spLocks xmlns:a="http://schemas.openxmlformats.org/drawingml/2006/main" noGrp="1"/>
          </p:cNvSpPr>
          <p:nvPr/>
        </p:nvSpPr>
        <p:spPr>
          <a:xfrm xmlns:a="http://schemas.openxmlformats.org/drawingml/2006/main">
            <a:off x="2381250" y="247650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3600" b="1" i="0">
                <a:solidFill>
                  <a:srgbClr val="006B35"/>
                </a:solidFill>
                <a:latin typeface="Cambria"/>
                <a:ea typeface="Cambria"/>
                <a:cs typeface="Cambria"/>
              </a:defRPr>
            </a:pPr>
            <a:r>
              <a:rPr sz="3600" b="1" i="0">
                <a:solidFill>
                  <a:srgbClr val="006B35"/>
                </a:solidFill>
                <a:latin typeface="Cambria"/>
                <a:ea typeface="Cambria"/>
                <a:cs typeface="Cambria"/>
              </a:rPr>
              <a:t>TRÂN TRỌNG CẢM ƠN</a:t>
            </a:r>
          </a:p>
        </p:txBody>
      </p:sp>
      <p:sp>
        <p:nvSpPr>
          <p:cNvPr id="10" name="">
            <a:extLst xmlns:a="http://schemas.openxmlformats.org/drawingml/2006/main">
              <a:ext uri="{FF2B5EF4-FFF2-40B4-BE49-F238E27FC236}">
                <a16:creationId xmlns:a16="http://schemas.microsoft.com/office/drawing/2014/main" id="{6941A0AA-F341-4982-9D38-359909B5C897}"/>
              </a:ext>
            </a:extLst>
          </p:cNvPr>
          <p:cNvSpPr>
            <a:spLocks xmlns:a="http://schemas.openxmlformats.org/drawingml/2006/main" noGrp="1"/>
          </p:cNvSpPr>
          <p:nvPr/>
        </p:nvSpPr>
        <p:spPr>
          <a:xfrm xmlns:a="http://schemas.openxmlformats.org/drawingml/2006/main">
            <a:off x="3048000" y="3638550"/>
            <a:ext cx="609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0000"/>
              </a:lnSpc>
              <a:buNone/>
              <a:defRPr sz="1725" b="1" i="0">
                <a:solidFill>
                  <a:srgbClr val="E00000"/>
                </a:solidFill>
                <a:latin typeface="Cambria"/>
                <a:ea typeface="Cambria"/>
                <a:cs typeface="Cambria"/>
              </a:defRPr>
            </a:pPr>
            <a:r>
              <a:rPr sz="1725" b="1" i="0">
                <a:solidFill>
                  <a:srgbClr val="E00000"/>
                </a:solidFill>
                <a:latin typeface="Cambria"/>
                <a:ea typeface="Cambria"/>
                <a:cs typeface="Cambria"/>
              </a:rPr>
              <a:t>Ba quyết định cần chốt tiếp theo</a:t>
            </a:r>
          </a:p>
        </p:txBody>
      </p:sp>
      <p:sp>
        <p:nvSpPr>
          <p:cNvPr id="11" name="">
            <a:extLst xmlns:a="http://schemas.openxmlformats.org/drawingml/2006/main">
              <a:ext uri="{FF2B5EF4-FFF2-40B4-BE49-F238E27FC236}">
                <a16:creationId xmlns:a16="http://schemas.microsoft.com/office/drawing/2014/main" id="{C5942B10-10BA-44CE-BD0E-FC9B2C13BC57}"/>
              </a:ext>
            </a:extLst>
          </p:cNvPr>
          <p:cNvSpPr>
            <a:spLocks xmlns:a="http://schemas.openxmlformats.org/drawingml/2006/main" noGrp="1"/>
          </p:cNvSpPr>
          <p:nvPr/>
        </p:nvSpPr>
        <p:spPr>
          <a:xfrm xmlns:a="http://schemas.openxmlformats.org/drawingml/2006/main">
            <a:off x="1095375" y="4143375"/>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500" b="0" i="0">
                <a:solidFill>
                  <a:srgbClr val="17212B"/>
                </a:solidFill>
                <a:latin typeface="Cambria"/>
                <a:ea typeface="Cambria"/>
                <a:cs typeface="Cambria"/>
              </a:defRPr>
            </a:pPr>
            <a:r>
              <a:rPr sz="1500" b="0" i="0">
                <a:solidFill>
                  <a:srgbClr val="17212B"/>
                </a:solidFill>
                <a:latin typeface="Cambria"/>
                <a:ea typeface="Cambria"/>
                <a:cs typeface="Cambria"/>
              </a:rPr>
              <a:t>1. Phạm vi và đơn vị pilot   2. Quy tắc nghiệp vụ còn UNKNOWN   3. Tiêu chí nghiệm thu production</a:t>
            </a:r>
          </a:p>
        </p:txBody>
      </p:sp>
      <p:sp>
        <p:nvSpPr>
          <p:cNvPr id="12" name="">
            <a:extLst xmlns:a="http://schemas.openxmlformats.org/drawingml/2006/main">
              <a:ext uri="{FF2B5EF4-FFF2-40B4-BE49-F238E27FC236}">
                <a16:creationId xmlns:a16="http://schemas.microsoft.com/office/drawing/2014/main" id="{63A1C2C9-319D-4CC4-A14D-A8755F9B4C23}"/>
              </a:ext>
            </a:extLst>
          </p:cNvPr>
          <p:cNvSpPr>
            <a:spLocks xmlns:a="http://schemas.openxmlformats.org/drawingml/2006/main" noGrp="1"/>
          </p:cNvSpPr>
          <p:nvPr/>
        </p:nvSpPr>
        <p:spPr>
          <a:xfrm xmlns:a="http://schemas.openxmlformats.org/drawingml/2006/main">
            <a:off x="2381250" y="5619750"/>
            <a:ext cx="742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425" b="1" i="0">
                <a:solidFill>
                  <a:srgbClr val="006B35"/>
                </a:solidFill>
                <a:latin typeface="Cambria"/>
                <a:ea typeface="Cambria"/>
                <a:cs typeface="Cambria"/>
              </a:defRPr>
            </a:pPr>
            <a:r>
              <a:rPr sz="1425" b="1" i="0">
                <a:solidFill>
                  <a:srgbClr val="006B35"/>
                </a:solidFill>
                <a:latin typeface="Cambria"/>
                <a:ea typeface="Cambria"/>
                <a:cs typeface="Cambria"/>
              </a:rPr>
              <a:t>PHÒNG VẬN HÀNH SỐ</a:t>
            </a:r>
          </a:p>
          <a:p xmlns:a="http://schemas.openxmlformats.org/drawingml/2006/main">
            <a:pPr algn="ctr">
              <a:lnSpc>
                <a:spcPct val="100000"/>
              </a:lnSpc>
              <a:buNone/>
              <a:defRPr sz="1425" b="1" i="0">
                <a:solidFill>
                  <a:srgbClr val="006B35"/>
                </a:solidFill>
                <a:latin typeface="Cambria"/>
                <a:ea typeface="Cambria"/>
                <a:cs typeface="Cambria"/>
              </a:defRPr>
            </a:pPr>
            <a:r>
              <a:rPr sz="1425" b="1" i="0">
                <a:solidFill>
                  <a:srgbClr val="006B35"/>
                </a:solidFill>
                <a:latin typeface="Cambria"/>
                <a:ea typeface="Cambria"/>
                <a:cs typeface="Cambria"/>
              </a:rPr>
              <a:t>KLH Koun Mom, Ratanakiri, Cambodia | 21.09.2026</a:t>
            </a:r>
          </a:p>
        </p:txBody>
      </p:sp>
    </p:spTree>
    <p:extLst>
      <p:ext uri="{BB962C8B-B14F-4D97-AF65-F5344CB8AC3E}">
        <p14:creationId xmlns:p14="http://schemas.microsoft.com/office/powerpoint/2010/main" val="140226607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2026-09-21T14:18:53.2970000Z</dcterms:created>
  <dcterms:modified xsi:type="dcterms:W3CDTF">2026-09-21T14:18:53.2970000Z</dcterms:modified>
</coreProperties>
</file>